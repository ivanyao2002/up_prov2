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50" d="100"/>
          <a:sy n="50" d="100"/>
        </p:scale>
        <p:origin x="300" y="-2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2626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pic>
        <p:nvPicPr>
          <p:cNvPr id="4" name="Image 0" descr="gen-dedup-3cb7e1484cb52f35d0d2d95b9fe6d43d.jpg"/>
          <p:cNvPicPr>
            <a:picLocks noChangeAspect="1"/>
          </p:cNvPicPr>
          <p:nvPr/>
        </p:nvPicPr>
        <p:blipFill>
          <a:blip r:embed="rId3"/>
          <a:stretch>
            <a:fillRect/>
          </a:stretch>
        </p:blipFill>
        <p:spPr>
          <a:xfrm>
            <a:off x="8382305" y="0"/>
            <a:ext cx="9906000" cy="10287000"/>
          </a:xfrm>
          <a:prstGeom prst="rect">
            <a:avLst/>
          </a:prstGeom>
        </p:spPr>
      </p:pic>
      <p:pic>
        <p:nvPicPr>
          <p:cNvPr id="5" name="Image 1" descr="gen-dedup-9a40bdda73c100e1d131c94ba3034e2a.png"/>
          <p:cNvPicPr>
            <a:picLocks noChangeAspect="1"/>
          </p:cNvPicPr>
          <p:nvPr/>
        </p:nvPicPr>
        <p:blipFill>
          <a:blip r:embed="rId4"/>
          <a:srcRect t="-201" b="-201"/>
          <a:stretch/>
        </p:blipFill>
        <p:spPr>
          <a:xfrm>
            <a:off x="0" y="0"/>
            <a:ext cx="75895" cy="10287000"/>
          </a:xfrm>
          <a:prstGeom prst="rect">
            <a:avLst/>
          </a:prstGeom>
        </p:spPr>
      </p:pic>
      <p:sp>
        <p:nvSpPr>
          <p:cNvPr id="6" name="Shape 2"/>
          <p:cNvSpPr/>
          <p:nvPr/>
        </p:nvSpPr>
        <p:spPr>
          <a:xfrm>
            <a:off x="914400" y="761695"/>
            <a:ext cx="457200" cy="457200"/>
          </a:xfrm>
          <a:prstGeom prst="roundRect">
            <a:avLst>
              <a:gd name="adj" fmla="val 20800"/>
            </a:avLst>
          </a:prstGeom>
          <a:solidFill>
            <a:srgbClr val="6D28D9"/>
          </a:solidFill>
          <a:ln w="12700">
            <a:solidFill>
              <a:srgbClr val="FFFFFF">
                <a:alpha val="0"/>
              </a:srgbClr>
            </a:solidFill>
            <a:prstDash val="solid"/>
          </a:ln>
        </p:spPr>
        <p:txBody>
          <a:bodyPr/>
          <a:lstStyle/>
          <a:p>
            <a:endParaRPr lang="fr-CI"/>
          </a:p>
        </p:txBody>
      </p:sp>
      <p:sp>
        <p:nvSpPr>
          <p:cNvPr id="7" name="Shape 3"/>
          <p:cNvSpPr/>
          <p:nvPr/>
        </p:nvSpPr>
        <p:spPr>
          <a:xfrm>
            <a:off x="1009498" y="857707"/>
            <a:ext cx="267005" cy="267005"/>
          </a:xfrm>
          <a:prstGeom prst="roundRect">
            <a:avLst>
              <a:gd name="adj" fmla="val 14384"/>
            </a:avLst>
          </a:prstGeom>
          <a:noFill/>
          <a:ln w="25400">
            <a:solidFill>
              <a:srgbClr val="FFFFFF"/>
            </a:solidFill>
            <a:prstDash val="solid"/>
          </a:ln>
        </p:spPr>
        <p:txBody>
          <a:bodyPr/>
          <a:lstStyle/>
          <a:p>
            <a:endParaRPr lang="fr-CI"/>
          </a:p>
        </p:txBody>
      </p:sp>
      <p:sp>
        <p:nvSpPr>
          <p:cNvPr id="8" name="Text 4"/>
          <p:cNvSpPr txBox="1"/>
          <p:nvPr/>
        </p:nvSpPr>
        <p:spPr>
          <a:xfrm>
            <a:off x="1543507" y="847649"/>
            <a:ext cx="1762963" cy="286207"/>
          </a:xfrm>
          <a:prstGeom prst="rect">
            <a:avLst/>
          </a:prstGeom>
          <a:noFill/>
          <a:ln/>
        </p:spPr>
        <p:txBody>
          <a:bodyPr wrap="none" lIns="0" tIns="0" rIns="0" bIns="0" rtlCol="0" anchor="ctr"/>
          <a:lstStyle/>
          <a:p>
            <a:pPr marL="0" indent="0" algn="l">
              <a:buNone/>
            </a:pPr>
            <a:r>
              <a:rPr lang="en-US" sz="1600" b="1" kern="0" spc="198" dirty="0">
                <a:solidFill>
                  <a:srgbClr val="1F2937"/>
                </a:solidFill>
                <a:latin typeface="Manrope" pitchFamily="34" charset="0"/>
                <a:ea typeface="Manrope" pitchFamily="34" charset="-122"/>
                <a:cs typeface="Manrope" pitchFamily="34" charset="-120"/>
              </a:rPr>
              <a:t>UPJUNOO PRO</a:t>
            </a:r>
            <a:endParaRPr lang="en-US" sz="1600" dirty="0"/>
          </a:p>
        </p:txBody>
      </p:sp>
      <p:sp>
        <p:nvSpPr>
          <p:cNvPr id="9" name="Text 5"/>
          <p:cNvSpPr txBox="1"/>
          <p:nvPr/>
        </p:nvSpPr>
        <p:spPr>
          <a:xfrm>
            <a:off x="914400" y="2728570"/>
            <a:ext cx="3733800" cy="286207"/>
          </a:xfrm>
          <a:prstGeom prst="rect">
            <a:avLst/>
          </a:prstGeom>
          <a:noFill/>
          <a:ln/>
        </p:spPr>
        <p:txBody>
          <a:bodyPr wrap="none" lIns="0" tIns="0" rIns="0" bIns="0" rtlCol="0" anchor="ctr"/>
          <a:lstStyle/>
          <a:p>
            <a:pPr marL="0" indent="0" algn="l">
              <a:buNone/>
            </a:pPr>
            <a:r>
              <a:rPr lang="en-US" sz="1400" b="1" kern="0" spc="189" dirty="0">
                <a:solidFill>
                  <a:srgbClr val="6D28D9"/>
                </a:solidFill>
                <a:latin typeface="Manrope" pitchFamily="34" charset="0"/>
                <a:ea typeface="Manrope" pitchFamily="34" charset="-122"/>
                <a:cs typeface="Manrope" pitchFamily="34" charset="-120"/>
              </a:rPr>
              <a:t>Document de référence projet</a:t>
            </a:r>
            <a:endParaRPr lang="en-US" sz="1400" dirty="0"/>
          </a:p>
        </p:txBody>
      </p:sp>
      <p:sp>
        <p:nvSpPr>
          <p:cNvPr id="10" name="Shape 6"/>
          <p:cNvSpPr/>
          <p:nvPr/>
        </p:nvSpPr>
        <p:spPr>
          <a:xfrm>
            <a:off x="914400" y="2728570"/>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1" name="Text 7"/>
          <p:cNvSpPr txBox="1"/>
          <p:nvPr/>
        </p:nvSpPr>
        <p:spPr>
          <a:xfrm>
            <a:off x="914400" y="3143707"/>
            <a:ext cx="7810805" cy="3791102"/>
          </a:xfrm>
          <a:prstGeom prst="rect">
            <a:avLst/>
          </a:prstGeom>
          <a:noFill/>
          <a:ln/>
        </p:spPr>
        <p:txBody>
          <a:bodyPr wrap="square" lIns="0" tIns="0" rIns="0" bIns="0" rtlCol="0" anchor="ctr"/>
          <a:lstStyle/>
          <a:p>
            <a:pPr marL="0" indent="0" algn="l">
              <a:buNone/>
            </a:pPr>
            <a:r>
              <a:rPr lang="en-US" sz="5800" b="1" kern="0" spc="-117" dirty="0">
                <a:solidFill>
                  <a:srgbClr val="1F2937"/>
                </a:solidFill>
                <a:latin typeface="Manrope" pitchFamily="34" charset="0"/>
                <a:ea typeface="Manrope" pitchFamily="34" charset="-122"/>
                <a:cs typeface="Manrope" pitchFamily="34" charset="-120"/>
              </a:rPr>
              <a:t>Plan complet de</a:t>
            </a:r>
            <a:endParaRPr lang="en-US" sz="5800" dirty="0"/>
          </a:p>
          <a:p>
            <a:pPr marL="0" indent="0" algn="l">
              <a:buNone/>
            </a:pPr>
            <a:r>
              <a:rPr lang="en-US" sz="5800" b="1" kern="0" spc="-117" dirty="0">
                <a:solidFill>
                  <a:srgbClr val="1F2937"/>
                </a:solidFill>
                <a:latin typeface="Manrope" pitchFamily="34" charset="0"/>
                <a:ea typeface="Manrope" pitchFamily="34" charset="-122"/>
                <a:cs typeface="Manrope" pitchFamily="34" charset="-120"/>
              </a:rPr>
              <a:t>recette, test réel,</a:t>
            </a:r>
            <a:endParaRPr lang="en-US" sz="5800" dirty="0"/>
          </a:p>
          <a:p>
            <a:pPr marL="0" indent="0" algn="l">
              <a:buNone/>
            </a:pPr>
            <a:r>
              <a:rPr lang="en-US" sz="5800" b="1" kern="0" spc="-117" dirty="0">
                <a:solidFill>
                  <a:srgbClr val="1F2937"/>
                </a:solidFill>
                <a:latin typeface="Manrope" pitchFamily="34" charset="0"/>
                <a:ea typeface="Manrope" pitchFamily="34" charset="-122"/>
                <a:cs typeface="Manrope" pitchFamily="34" charset="-120"/>
              </a:rPr>
              <a:t>déploiement &amp;</a:t>
            </a:r>
            <a:endParaRPr lang="en-US" sz="5800" dirty="0"/>
          </a:p>
          <a:p>
            <a:pPr marL="0" indent="0" algn="l">
              <a:buNone/>
            </a:pPr>
            <a:r>
              <a:rPr lang="en-US" sz="5800" b="1" kern="0" spc="-117" dirty="0">
                <a:solidFill>
                  <a:srgbClr val="1F2937"/>
                </a:solidFill>
                <a:latin typeface="Manrope" pitchFamily="34" charset="0"/>
                <a:ea typeface="Manrope" pitchFamily="34" charset="-122"/>
                <a:cs typeface="Manrope" pitchFamily="34" charset="-120"/>
              </a:rPr>
              <a:t>migration en production</a:t>
            </a:r>
            <a:endParaRPr lang="en-US" sz="5800" dirty="0"/>
          </a:p>
        </p:txBody>
      </p:sp>
      <p:sp>
        <p:nvSpPr>
          <p:cNvPr id="12" name="Text 8"/>
          <p:cNvSpPr txBox="1"/>
          <p:nvPr/>
        </p:nvSpPr>
        <p:spPr>
          <a:xfrm>
            <a:off x="914400" y="6953098"/>
            <a:ext cx="7429500" cy="1028700"/>
          </a:xfrm>
          <a:prstGeom prst="rect">
            <a:avLst/>
          </a:prstGeom>
          <a:noFill/>
          <a:ln/>
        </p:spPr>
        <p:txBody>
          <a:bodyPr wrap="square" lIns="0" tIns="0" rIns="0" bIns="0" rtlCol="0" anchor="ctr"/>
          <a:lstStyle/>
          <a:p>
            <a:pPr marL="0" indent="0" algn="l">
              <a:buNone/>
            </a:pPr>
            <a:r>
              <a:rPr lang="en-US" sz="1800" dirty="0">
                <a:solidFill>
                  <a:srgbClr val="4B5563"/>
                </a:solidFill>
                <a:latin typeface="Manrope" pitchFamily="34" charset="0"/>
                <a:ea typeface="Manrope" pitchFamily="34" charset="-122"/>
                <a:cs typeface="Manrope" pitchFamily="34" charset="-120"/>
              </a:rPr>
              <a:t>Nouvelle version multiservices de la plateforme </a:t>
            </a:r>
            <a:r>
              <a:rPr lang="en-US" sz="1800" b="1" dirty="0">
                <a:solidFill>
                  <a:srgbClr val="6D28D9"/>
                </a:solidFill>
                <a:latin typeface="Manrope" pitchFamily="34" charset="0"/>
                <a:ea typeface="Manrope" pitchFamily="34" charset="-122"/>
                <a:cs typeface="Manrope" pitchFamily="34" charset="-120"/>
              </a:rPr>
              <a:t>UPJUNOO PRO</a:t>
            </a:r>
            <a:r>
              <a:rPr lang="en-US" sz="1800" dirty="0">
                <a:solidFill>
                  <a:srgbClr val="4B5563"/>
                </a:solidFill>
                <a:latin typeface="Manrope" pitchFamily="34" charset="0"/>
                <a:ea typeface="Manrope" pitchFamily="34" charset="-122"/>
                <a:cs typeface="Manrope" pitchFamily="34" charset="-120"/>
              </a:rPr>
              <a:t> — Transport VTC, Livraison, Fret urbain, Location, Partenaires, Franchises &amp; Central.</a:t>
            </a:r>
            <a:endParaRPr lang="en-US" sz="1800" dirty="0"/>
          </a:p>
        </p:txBody>
      </p:sp>
      <p:sp>
        <p:nvSpPr>
          <p:cNvPr id="13" name="Shape 9"/>
          <p:cNvSpPr/>
          <p:nvPr/>
        </p:nvSpPr>
        <p:spPr>
          <a:xfrm>
            <a:off x="914400" y="8762695"/>
            <a:ext cx="886054" cy="286207"/>
          </a:xfrm>
          <a:prstGeom prst="roundRect">
            <a:avLst>
              <a:gd name="adj" fmla="val 49840"/>
            </a:avLst>
          </a:prstGeom>
          <a:solidFill>
            <a:srgbClr val="1F2937"/>
          </a:solidFill>
          <a:ln w="12700">
            <a:solidFill>
              <a:srgbClr val="FFFFFF">
                <a:alpha val="0"/>
              </a:srgbClr>
            </a:solidFill>
            <a:prstDash val="solid"/>
          </a:ln>
        </p:spPr>
        <p:txBody>
          <a:bodyPr/>
          <a:lstStyle/>
          <a:p>
            <a:endParaRPr lang="fr-CI"/>
          </a:p>
        </p:txBody>
      </p:sp>
      <p:sp>
        <p:nvSpPr>
          <p:cNvPr id="14" name="Text 10"/>
          <p:cNvSpPr/>
          <p:nvPr/>
        </p:nvSpPr>
        <p:spPr>
          <a:xfrm>
            <a:off x="914400" y="8762695"/>
            <a:ext cx="886054"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FFFFFF"/>
                </a:solidFill>
                <a:latin typeface="Manrope" pitchFamily="34" charset="0"/>
                <a:ea typeface="Manrope" pitchFamily="34" charset="-122"/>
                <a:cs typeface="Manrope" pitchFamily="34" charset="-120"/>
              </a:rPr>
              <a:t>Version 1.0</a:t>
            </a:r>
            <a:endParaRPr lang="en-US" sz="900" dirty="0"/>
          </a:p>
        </p:txBody>
      </p:sp>
      <p:sp>
        <p:nvSpPr>
          <p:cNvPr id="15" name="Shape 11"/>
          <p:cNvSpPr/>
          <p:nvPr/>
        </p:nvSpPr>
        <p:spPr>
          <a:xfrm>
            <a:off x="1968703" y="8762695"/>
            <a:ext cx="2991002"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16" name="Text 12"/>
          <p:cNvSpPr/>
          <p:nvPr/>
        </p:nvSpPr>
        <p:spPr>
          <a:xfrm>
            <a:off x="1968703" y="8762695"/>
            <a:ext cx="2991002"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Préparation • Recette • Test réel • Migration</a:t>
            </a:r>
            <a:endParaRPr lang="en-US" sz="900" dirty="0"/>
          </a:p>
        </p:txBody>
      </p:sp>
      <p:sp>
        <p:nvSpPr>
          <p:cNvPr id="17" name="Shape 13"/>
          <p:cNvSpPr/>
          <p:nvPr/>
        </p:nvSpPr>
        <p:spPr>
          <a:xfrm>
            <a:off x="5129784" y="8762695"/>
            <a:ext cx="828446"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18" name="Text 14"/>
          <p:cNvSpPr/>
          <p:nvPr/>
        </p:nvSpPr>
        <p:spPr>
          <a:xfrm>
            <a:off x="5129784" y="8762695"/>
            <a:ext cx="829361"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Juin 2026</a:t>
            </a:r>
            <a:endParaRPr lang="en-US" sz="900" dirty="0"/>
          </a:p>
        </p:txBody>
      </p:sp>
      <p:sp>
        <p:nvSpPr>
          <p:cNvPr id="19" name="Text 15"/>
          <p:cNvSpPr txBox="1"/>
          <p:nvPr/>
        </p:nvSpPr>
        <p:spPr>
          <a:xfrm>
            <a:off x="914400" y="9277502"/>
            <a:ext cx="7429500" cy="162763"/>
          </a:xfrm>
          <a:prstGeom prst="rect">
            <a:avLst/>
          </a:prstGeom>
          <a:noFill/>
          <a:ln/>
        </p:spPr>
        <p:txBody>
          <a:bodyPr wrap="none" lIns="0" tIns="0" rIns="0" bIns="0" rtlCol="0" anchor="ctr"/>
          <a:lstStyle/>
          <a:p>
            <a:pPr marL="0" indent="0" algn="l">
              <a:buNone/>
            </a:pPr>
            <a:r>
              <a:rPr lang="en-US" sz="900" kern="0" spc="39" dirty="0">
                <a:solidFill>
                  <a:srgbClr val="6B7280"/>
                </a:solidFill>
                <a:latin typeface="JetBrains Mono" pitchFamily="34" charset="0"/>
                <a:ea typeface="JetBrains Mono" pitchFamily="34" charset="-122"/>
                <a:cs typeface="JetBrains Mono" pitchFamily="34" charset="-120"/>
              </a:rPr>
              <a:t>JALON CLÉ : DIMANCHE 21 JUIN 2026 — JOURNÉE DE TEST RÉEL — 40 ENGINS</a:t>
            </a:r>
            <a:endParaRPr lang="en-US" sz="900" dirty="0"/>
          </a:p>
        </p:txBody>
      </p:sp>
      <p:sp>
        <p:nvSpPr>
          <p:cNvPr id="20" name="Text 16"/>
          <p:cNvSpPr txBox="1"/>
          <p:nvPr/>
        </p:nvSpPr>
        <p:spPr>
          <a:xfrm>
            <a:off x="17291304" y="9753905"/>
            <a:ext cx="523951" cy="162763"/>
          </a:xfrm>
          <a:prstGeom prst="rect">
            <a:avLst/>
          </a:prstGeom>
          <a:noFill/>
          <a:ln/>
        </p:spPr>
        <p:txBody>
          <a:bodyPr wrap="none" lIns="0" tIns="0" rIns="0" bIns="0" rtlCol="0" anchor="ctr"/>
          <a:lstStyle/>
          <a:p>
            <a:pPr marL="0" indent="0" algn="r">
              <a:buNone/>
            </a:pPr>
            <a:r>
              <a:rPr lang="en-US" sz="900" b="1" dirty="0">
                <a:solidFill>
                  <a:srgbClr val="6D28D9"/>
                </a:solidFill>
                <a:latin typeface="JetBrains Mono" pitchFamily="34" charset="0"/>
                <a:ea typeface="JetBrains Mono" pitchFamily="34" charset="-122"/>
                <a:cs typeface="JetBrains Mono" pitchFamily="34" charset="-120"/>
              </a:rPr>
              <a:t>01 / 59</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5892272" y="256946"/>
            <a:ext cx="1998878"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Partie 0 — Introduction</a:t>
            </a:r>
            <a:endParaRPr lang="en-US" sz="900" dirty="0"/>
          </a:p>
        </p:txBody>
      </p:sp>
      <p:sp>
        <p:nvSpPr>
          <p:cNvPr id="10" name="Text 8"/>
          <p:cNvSpPr txBox="1"/>
          <p:nvPr/>
        </p:nvSpPr>
        <p:spPr>
          <a:xfrm>
            <a:off x="914400" y="1281074"/>
            <a:ext cx="2391156"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Contexte général · §1</a:t>
            </a:r>
            <a:endParaRPr lang="en-US" sz="1000" dirty="0"/>
          </a:p>
        </p:txBody>
      </p:sp>
      <p:sp>
        <p:nvSpPr>
          <p:cNvPr id="11" name="Shape 9"/>
          <p:cNvSpPr/>
          <p:nvPr/>
        </p:nvSpPr>
        <p:spPr>
          <a:xfrm>
            <a:off x="914400" y="1281074"/>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619402"/>
            <a:ext cx="14287500" cy="1095451"/>
          </a:xfrm>
          <a:prstGeom prst="rect">
            <a:avLst/>
          </a:prstGeom>
          <a:noFill/>
          <a:ln/>
        </p:spPr>
        <p:txBody>
          <a:bodyPr wrap="squar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Une version actuelle qui présente des dysfonctionnements</a:t>
            </a:r>
            <a:endParaRPr lang="en-US" sz="3900" dirty="0"/>
          </a:p>
          <a:p>
            <a:pPr marL="0" indent="0" algn="l">
              <a:buNone/>
            </a:pPr>
            <a:r>
              <a:rPr lang="en-US" sz="3900" b="1" kern="0" spc="-58" dirty="0">
                <a:solidFill>
                  <a:srgbClr val="1F2937"/>
                </a:solidFill>
                <a:latin typeface="Manrope" pitchFamily="34" charset="0"/>
                <a:ea typeface="Manrope" pitchFamily="34" charset="-122"/>
                <a:cs typeface="Manrope" pitchFamily="34" charset="-120"/>
              </a:rPr>
              <a:t>structurels — un redéveloppement total a été engagé.</a:t>
            </a:r>
            <a:endParaRPr lang="en-US" sz="3900" dirty="0"/>
          </a:p>
        </p:txBody>
      </p:sp>
      <p:sp>
        <p:nvSpPr>
          <p:cNvPr id="13" name="Text 11"/>
          <p:cNvSpPr txBox="1"/>
          <p:nvPr/>
        </p:nvSpPr>
        <p:spPr>
          <a:xfrm>
            <a:off x="914400" y="3372307"/>
            <a:ext cx="16459200" cy="1028700"/>
          </a:xfrm>
          <a:prstGeom prst="rect">
            <a:avLst/>
          </a:prstGeom>
          <a:noFill/>
          <a:ln/>
        </p:spPr>
        <p:txBody>
          <a:bodyPr wrap="square" lIns="0" tIns="0" rIns="0" bIns="0" rtlCol="0" anchor="ctr"/>
          <a:lstStyle/>
          <a:p>
            <a:pPr marL="0" indent="0" algn="l">
              <a:buNone/>
            </a:pPr>
            <a:r>
              <a:rPr lang="en-US" sz="1800" dirty="0">
                <a:solidFill>
                  <a:srgbClr val="4B5563"/>
                </a:solidFill>
                <a:latin typeface="Manrope" pitchFamily="34" charset="0"/>
                <a:ea typeface="Manrope" pitchFamily="34" charset="-122"/>
                <a:cs typeface="Manrope" pitchFamily="34" charset="-120"/>
              </a:rPr>
              <a:t>La version de base de UPJUNOO PRO actuellement en production présente plusieurs dysfonctionnements </a:t>
            </a:r>
            <a:r>
              <a:rPr lang="en-US" sz="1800" b="1" dirty="0">
                <a:solidFill>
                  <a:srgbClr val="4B5563"/>
                </a:solidFill>
                <a:latin typeface="Manrope" pitchFamily="34" charset="0"/>
                <a:ea typeface="Manrope" pitchFamily="34" charset="-122"/>
                <a:cs typeface="Manrope" pitchFamily="34" charset="-120"/>
              </a:rPr>
              <a:t>techniques, fonctionnels, ergonomiques, financiers et opérationnels</a:t>
            </a:r>
            <a:r>
              <a:rPr lang="en-US" sz="1800" dirty="0">
                <a:solidFill>
                  <a:srgbClr val="4B5563"/>
                </a:solidFill>
                <a:latin typeface="Manrope" pitchFamily="34" charset="0"/>
                <a:ea typeface="Manrope" pitchFamily="34" charset="-122"/>
                <a:cs typeface="Manrope" pitchFamily="34" charset="-120"/>
              </a:rPr>
              <a:t>. Ces dysfonctionnements ont un impact direct sur la qualité du service, la stabilité de la plateforme, l'expérience utilisateur, la fiabilité des données, la traçabilité financière et la capacité d'exploitation à grande échelle.</a:t>
            </a:r>
            <a:endParaRPr lang="en-US" sz="1800" dirty="0"/>
          </a:p>
        </p:txBody>
      </p:sp>
      <p:sp>
        <p:nvSpPr>
          <p:cNvPr id="14" name="Shape 12"/>
          <p:cNvSpPr/>
          <p:nvPr/>
        </p:nvSpPr>
        <p:spPr>
          <a:xfrm>
            <a:off x="914400" y="4762195"/>
            <a:ext cx="4000500" cy="1714500"/>
          </a:xfrm>
          <a:prstGeom prst="roundRect">
            <a:avLst>
              <a:gd name="adj" fmla="val 7787"/>
            </a:avLst>
          </a:prstGeom>
          <a:solidFill>
            <a:srgbClr val="F5F3FF"/>
          </a:solidFill>
          <a:ln w="12700">
            <a:solidFill>
              <a:srgbClr val="DDD6FE"/>
            </a:solidFill>
            <a:prstDash val="solid"/>
          </a:ln>
        </p:spPr>
        <p:txBody>
          <a:bodyPr/>
          <a:lstStyle/>
          <a:p>
            <a:endParaRPr lang="fr-CI"/>
          </a:p>
        </p:txBody>
      </p:sp>
      <p:sp>
        <p:nvSpPr>
          <p:cNvPr id="15" name="Text 13"/>
          <p:cNvSpPr txBox="1"/>
          <p:nvPr/>
        </p:nvSpPr>
        <p:spPr>
          <a:xfrm>
            <a:off x="1143000" y="4953305"/>
            <a:ext cx="3620110" cy="162763"/>
          </a:xfrm>
          <a:prstGeom prst="rect">
            <a:avLst/>
          </a:prstGeom>
          <a:noFill/>
          <a:ln/>
        </p:spPr>
        <p:txBody>
          <a:bodyPr wrap="none" lIns="0" tIns="0" rIns="0" bIns="0" rtlCol="0" anchor="ctr"/>
          <a:lstStyle/>
          <a:p>
            <a:pPr marL="0" indent="0" algn="l">
              <a:buNone/>
            </a:pPr>
            <a:r>
              <a:rPr lang="en-US" sz="900" b="1" kern="0" spc="98" dirty="0">
                <a:solidFill>
                  <a:srgbClr val="6D28D9"/>
                </a:solidFill>
                <a:latin typeface="JetBrains Mono" pitchFamily="34" charset="0"/>
                <a:ea typeface="JetBrains Mono" pitchFamily="34" charset="-122"/>
                <a:cs typeface="JetBrains Mono" pitchFamily="34" charset="-120"/>
              </a:rPr>
              <a:t>01 · TECHNIQUE</a:t>
            </a:r>
            <a:endParaRPr lang="en-US" sz="900" dirty="0"/>
          </a:p>
        </p:txBody>
      </p:sp>
      <p:sp>
        <p:nvSpPr>
          <p:cNvPr id="16" name="Text 14"/>
          <p:cNvSpPr txBox="1"/>
          <p:nvPr/>
        </p:nvSpPr>
        <p:spPr>
          <a:xfrm>
            <a:off x="1143000" y="5210251"/>
            <a:ext cx="3882542" cy="267005"/>
          </a:xfrm>
          <a:prstGeom prst="rect">
            <a:avLst/>
          </a:prstGeom>
          <a:noFill/>
          <a:ln/>
        </p:spPr>
        <p:txBody>
          <a:bodyPr wrap="none" lIns="0" tIns="0" rIns="0" bIns="0" rtlCol="0" anchor="ctr"/>
          <a:lstStyle/>
          <a:p>
            <a:pPr marL="0" indent="0" algn="l">
              <a:buNone/>
            </a:pPr>
            <a:r>
              <a:rPr lang="en-US" sz="1600" b="1" dirty="0">
                <a:solidFill>
                  <a:srgbClr val="1F2937"/>
                </a:solidFill>
                <a:latin typeface="Manrope" pitchFamily="34" charset="0"/>
                <a:ea typeface="Manrope" pitchFamily="34" charset="-122"/>
                <a:cs typeface="Manrope" pitchFamily="34" charset="-120"/>
              </a:rPr>
              <a:t>Instabilité &amp; bugs récurrents</a:t>
            </a:r>
            <a:endParaRPr lang="en-US" sz="1600" dirty="0"/>
          </a:p>
        </p:txBody>
      </p:sp>
      <p:sp>
        <p:nvSpPr>
          <p:cNvPr id="17" name="Text 15"/>
          <p:cNvSpPr txBox="1"/>
          <p:nvPr/>
        </p:nvSpPr>
        <p:spPr>
          <a:xfrm>
            <a:off x="1143000" y="5548579"/>
            <a:ext cx="3620110" cy="476402"/>
          </a:xfrm>
          <a:prstGeom prst="rect">
            <a:avLst/>
          </a:prstGeom>
          <a:noFill/>
          <a:ln/>
        </p:spPr>
        <p:txBody>
          <a:bodyPr wrap="squar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Crashs, latence, échecs API, géolocalisation imprécise, OTP intermittent.</a:t>
            </a:r>
            <a:endParaRPr lang="en-US" sz="1200" dirty="0"/>
          </a:p>
        </p:txBody>
      </p:sp>
      <p:sp>
        <p:nvSpPr>
          <p:cNvPr id="18" name="Shape 16"/>
          <p:cNvSpPr/>
          <p:nvPr/>
        </p:nvSpPr>
        <p:spPr>
          <a:xfrm>
            <a:off x="5143500" y="4762195"/>
            <a:ext cx="4000500" cy="1714500"/>
          </a:xfrm>
          <a:prstGeom prst="roundRect">
            <a:avLst>
              <a:gd name="adj" fmla="val 7787"/>
            </a:avLst>
          </a:prstGeom>
          <a:solidFill>
            <a:srgbClr val="F5F3FF"/>
          </a:solidFill>
          <a:ln w="12700">
            <a:solidFill>
              <a:srgbClr val="DDD6FE"/>
            </a:solidFill>
            <a:prstDash val="solid"/>
          </a:ln>
        </p:spPr>
        <p:txBody>
          <a:bodyPr/>
          <a:lstStyle/>
          <a:p>
            <a:endParaRPr lang="fr-CI"/>
          </a:p>
        </p:txBody>
      </p:sp>
      <p:sp>
        <p:nvSpPr>
          <p:cNvPr id="19" name="Text 17"/>
          <p:cNvSpPr txBox="1"/>
          <p:nvPr/>
        </p:nvSpPr>
        <p:spPr>
          <a:xfrm>
            <a:off x="5372100" y="4953305"/>
            <a:ext cx="3620110" cy="162763"/>
          </a:xfrm>
          <a:prstGeom prst="rect">
            <a:avLst/>
          </a:prstGeom>
          <a:noFill/>
          <a:ln/>
        </p:spPr>
        <p:txBody>
          <a:bodyPr wrap="none" lIns="0" tIns="0" rIns="0" bIns="0" rtlCol="0" anchor="ctr"/>
          <a:lstStyle/>
          <a:p>
            <a:pPr marL="0" indent="0" algn="l">
              <a:buNone/>
            </a:pPr>
            <a:r>
              <a:rPr lang="en-US" sz="900" b="1" kern="0" spc="98" dirty="0">
                <a:solidFill>
                  <a:srgbClr val="6D28D9"/>
                </a:solidFill>
                <a:latin typeface="JetBrains Mono" pitchFamily="34" charset="0"/>
                <a:ea typeface="JetBrains Mono" pitchFamily="34" charset="-122"/>
                <a:cs typeface="JetBrains Mono" pitchFamily="34" charset="-120"/>
              </a:rPr>
              <a:t>02 · FONCTIONNEL</a:t>
            </a:r>
            <a:endParaRPr lang="en-US" sz="900" dirty="0"/>
          </a:p>
        </p:txBody>
      </p:sp>
      <p:sp>
        <p:nvSpPr>
          <p:cNvPr id="20" name="Text 18"/>
          <p:cNvSpPr txBox="1"/>
          <p:nvPr/>
        </p:nvSpPr>
        <p:spPr>
          <a:xfrm>
            <a:off x="5372100" y="5210251"/>
            <a:ext cx="3620110" cy="267005"/>
          </a:xfrm>
          <a:prstGeom prst="rect">
            <a:avLst/>
          </a:prstGeom>
          <a:noFill/>
          <a:ln/>
        </p:spPr>
        <p:txBody>
          <a:bodyPr wrap="none" lIns="0" tIns="0" rIns="0" bIns="0" rtlCol="0" anchor="ctr"/>
          <a:lstStyle/>
          <a:p>
            <a:pPr marL="0" indent="0" algn="l">
              <a:buNone/>
            </a:pPr>
            <a:r>
              <a:rPr lang="en-US" sz="1600" b="1" dirty="0">
                <a:solidFill>
                  <a:srgbClr val="1F2937"/>
                </a:solidFill>
                <a:latin typeface="Manrope" pitchFamily="34" charset="0"/>
                <a:ea typeface="Manrope" pitchFamily="34" charset="-122"/>
                <a:cs typeface="Manrope" pitchFamily="34" charset="-120"/>
              </a:rPr>
              <a:t>Parcours incomplets</a:t>
            </a:r>
            <a:endParaRPr lang="en-US" sz="1600" dirty="0"/>
          </a:p>
        </p:txBody>
      </p:sp>
      <p:sp>
        <p:nvSpPr>
          <p:cNvPr id="21" name="Text 19"/>
          <p:cNvSpPr txBox="1"/>
          <p:nvPr/>
        </p:nvSpPr>
        <p:spPr>
          <a:xfrm>
            <a:off x="5372100" y="5548579"/>
            <a:ext cx="3620110" cy="476402"/>
          </a:xfrm>
          <a:prstGeom prst="rect">
            <a:avLst/>
          </a:prstGeom>
          <a:noFill/>
          <a:ln/>
        </p:spPr>
        <p:txBody>
          <a:bodyPr wrap="squar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Statuts incohérents, annulations mal gérées, notifications absentes ou tardives.</a:t>
            </a:r>
            <a:endParaRPr lang="en-US" sz="1200" dirty="0"/>
          </a:p>
        </p:txBody>
      </p:sp>
      <p:sp>
        <p:nvSpPr>
          <p:cNvPr id="22" name="Shape 20"/>
          <p:cNvSpPr/>
          <p:nvPr/>
        </p:nvSpPr>
        <p:spPr>
          <a:xfrm>
            <a:off x="9372600" y="4762195"/>
            <a:ext cx="4000500" cy="1714500"/>
          </a:xfrm>
          <a:prstGeom prst="roundRect">
            <a:avLst>
              <a:gd name="adj" fmla="val 7787"/>
            </a:avLst>
          </a:prstGeom>
          <a:solidFill>
            <a:srgbClr val="F5F3FF"/>
          </a:solidFill>
          <a:ln w="12700">
            <a:solidFill>
              <a:srgbClr val="DDD6FE"/>
            </a:solidFill>
            <a:prstDash val="solid"/>
          </a:ln>
        </p:spPr>
        <p:txBody>
          <a:bodyPr/>
          <a:lstStyle/>
          <a:p>
            <a:endParaRPr lang="fr-CI"/>
          </a:p>
        </p:txBody>
      </p:sp>
      <p:sp>
        <p:nvSpPr>
          <p:cNvPr id="23" name="Text 21"/>
          <p:cNvSpPr txBox="1"/>
          <p:nvPr/>
        </p:nvSpPr>
        <p:spPr>
          <a:xfrm>
            <a:off x="9601200" y="4953305"/>
            <a:ext cx="3620110" cy="162763"/>
          </a:xfrm>
          <a:prstGeom prst="rect">
            <a:avLst/>
          </a:prstGeom>
          <a:noFill/>
          <a:ln/>
        </p:spPr>
        <p:txBody>
          <a:bodyPr wrap="none" lIns="0" tIns="0" rIns="0" bIns="0" rtlCol="0" anchor="ctr"/>
          <a:lstStyle/>
          <a:p>
            <a:pPr marL="0" indent="0" algn="l">
              <a:buNone/>
            </a:pPr>
            <a:r>
              <a:rPr lang="en-US" sz="900" b="1" kern="0" spc="98" dirty="0">
                <a:solidFill>
                  <a:srgbClr val="6D28D9"/>
                </a:solidFill>
                <a:latin typeface="JetBrains Mono" pitchFamily="34" charset="0"/>
                <a:ea typeface="JetBrains Mono" pitchFamily="34" charset="-122"/>
                <a:cs typeface="JetBrains Mono" pitchFamily="34" charset="-120"/>
              </a:rPr>
              <a:t>03 · FINANCIER</a:t>
            </a:r>
            <a:endParaRPr lang="en-US" sz="900" dirty="0"/>
          </a:p>
        </p:txBody>
      </p:sp>
      <p:sp>
        <p:nvSpPr>
          <p:cNvPr id="24" name="Text 22"/>
          <p:cNvSpPr txBox="1"/>
          <p:nvPr/>
        </p:nvSpPr>
        <p:spPr>
          <a:xfrm>
            <a:off x="9601200" y="5210251"/>
            <a:ext cx="3620110" cy="267005"/>
          </a:xfrm>
          <a:prstGeom prst="rect">
            <a:avLst/>
          </a:prstGeom>
          <a:noFill/>
          <a:ln/>
        </p:spPr>
        <p:txBody>
          <a:bodyPr wrap="none" lIns="0" tIns="0" rIns="0" bIns="0" rtlCol="0" anchor="ctr"/>
          <a:lstStyle/>
          <a:p>
            <a:pPr marL="0" indent="0" algn="l">
              <a:buNone/>
            </a:pPr>
            <a:r>
              <a:rPr lang="en-US" sz="1600" b="1" dirty="0">
                <a:solidFill>
                  <a:srgbClr val="1F2937"/>
                </a:solidFill>
                <a:latin typeface="Manrope" pitchFamily="34" charset="0"/>
                <a:ea typeface="Manrope" pitchFamily="34" charset="-122"/>
                <a:cs typeface="Manrope" pitchFamily="34" charset="-120"/>
              </a:rPr>
              <a:t>Traçabilité fragile</a:t>
            </a:r>
            <a:endParaRPr lang="en-US" sz="1600" dirty="0"/>
          </a:p>
        </p:txBody>
      </p:sp>
      <p:sp>
        <p:nvSpPr>
          <p:cNvPr id="25" name="Text 23"/>
          <p:cNvSpPr txBox="1"/>
          <p:nvPr/>
        </p:nvSpPr>
        <p:spPr>
          <a:xfrm>
            <a:off x="9601200" y="5548579"/>
            <a:ext cx="3620110" cy="476402"/>
          </a:xfrm>
          <a:prstGeom prst="rect">
            <a:avLst/>
          </a:prstGeom>
          <a:noFill/>
          <a:ln/>
        </p:spPr>
        <p:txBody>
          <a:bodyPr wrap="squar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Confusion entre recette course, recharge wallet et commission plateforme ; soldes incohérents.</a:t>
            </a:r>
            <a:endParaRPr lang="en-US" sz="1200" dirty="0"/>
          </a:p>
        </p:txBody>
      </p:sp>
      <p:sp>
        <p:nvSpPr>
          <p:cNvPr id="26" name="Shape 24"/>
          <p:cNvSpPr/>
          <p:nvPr/>
        </p:nvSpPr>
        <p:spPr>
          <a:xfrm>
            <a:off x="13601700" y="4762195"/>
            <a:ext cx="3810305" cy="1714500"/>
          </a:xfrm>
          <a:prstGeom prst="roundRect">
            <a:avLst>
              <a:gd name="adj" fmla="val 7787"/>
            </a:avLst>
          </a:prstGeom>
          <a:solidFill>
            <a:srgbClr val="F5F3FF"/>
          </a:solidFill>
          <a:ln w="12700">
            <a:solidFill>
              <a:srgbClr val="DDD6FE"/>
            </a:solidFill>
            <a:prstDash val="solid"/>
          </a:ln>
        </p:spPr>
        <p:txBody>
          <a:bodyPr/>
          <a:lstStyle/>
          <a:p>
            <a:endParaRPr lang="fr-CI"/>
          </a:p>
        </p:txBody>
      </p:sp>
      <p:sp>
        <p:nvSpPr>
          <p:cNvPr id="27" name="Text 25"/>
          <p:cNvSpPr txBox="1"/>
          <p:nvPr/>
        </p:nvSpPr>
        <p:spPr>
          <a:xfrm>
            <a:off x="13830300" y="4953305"/>
            <a:ext cx="3429000" cy="162763"/>
          </a:xfrm>
          <a:prstGeom prst="rect">
            <a:avLst/>
          </a:prstGeom>
          <a:noFill/>
          <a:ln/>
        </p:spPr>
        <p:txBody>
          <a:bodyPr wrap="none" lIns="0" tIns="0" rIns="0" bIns="0" rtlCol="0" anchor="ctr"/>
          <a:lstStyle/>
          <a:p>
            <a:pPr marL="0" indent="0" algn="l">
              <a:buNone/>
            </a:pPr>
            <a:r>
              <a:rPr lang="en-US" sz="900" b="1" kern="0" spc="98" dirty="0">
                <a:solidFill>
                  <a:srgbClr val="6D28D9"/>
                </a:solidFill>
                <a:latin typeface="JetBrains Mono" pitchFamily="34" charset="0"/>
                <a:ea typeface="JetBrains Mono" pitchFamily="34" charset="-122"/>
                <a:cs typeface="JetBrains Mono" pitchFamily="34" charset="-120"/>
              </a:rPr>
              <a:t>04 · OPÉRATIONNEL</a:t>
            </a:r>
            <a:endParaRPr lang="en-US" sz="900" dirty="0"/>
          </a:p>
        </p:txBody>
      </p:sp>
      <p:sp>
        <p:nvSpPr>
          <p:cNvPr id="28" name="Text 26"/>
          <p:cNvSpPr txBox="1"/>
          <p:nvPr/>
        </p:nvSpPr>
        <p:spPr>
          <a:xfrm>
            <a:off x="13830300" y="5210251"/>
            <a:ext cx="3429000" cy="267005"/>
          </a:xfrm>
          <a:prstGeom prst="rect">
            <a:avLst/>
          </a:prstGeom>
          <a:noFill/>
          <a:ln/>
        </p:spPr>
        <p:txBody>
          <a:bodyPr wrap="none" lIns="0" tIns="0" rIns="0" bIns="0" rtlCol="0" anchor="ctr"/>
          <a:lstStyle/>
          <a:p>
            <a:pPr marL="0" indent="0" algn="l">
              <a:buNone/>
            </a:pPr>
            <a:r>
              <a:rPr lang="en-US" sz="1600" b="1" dirty="0">
                <a:solidFill>
                  <a:srgbClr val="1F2937"/>
                </a:solidFill>
                <a:latin typeface="Manrope" pitchFamily="34" charset="0"/>
                <a:ea typeface="Manrope" pitchFamily="34" charset="-122"/>
                <a:cs typeface="Manrope" pitchFamily="34" charset="-120"/>
              </a:rPr>
              <a:t>Exploitation limitée</a:t>
            </a:r>
            <a:endParaRPr lang="en-US" sz="1600" dirty="0"/>
          </a:p>
        </p:txBody>
      </p:sp>
      <p:sp>
        <p:nvSpPr>
          <p:cNvPr id="29" name="Text 27"/>
          <p:cNvSpPr txBox="1"/>
          <p:nvPr/>
        </p:nvSpPr>
        <p:spPr>
          <a:xfrm>
            <a:off x="13830300" y="5548579"/>
            <a:ext cx="3429000" cy="715061"/>
          </a:xfrm>
          <a:prstGeom prst="rect">
            <a:avLst/>
          </a:prstGeom>
          <a:noFill/>
          <a:ln/>
        </p:spPr>
        <p:txBody>
          <a:bodyPr wrap="squar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Supervision partielle, reporting fragmenté, escalade lente, impossibilité de monter en charge.</a:t>
            </a:r>
            <a:endParaRPr lang="en-US" sz="1200" dirty="0"/>
          </a:p>
        </p:txBody>
      </p:sp>
      <p:sp>
        <p:nvSpPr>
          <p:cNvPr id="30" name="Shape 28"/>
          <p:cNvSpPr/>
          <p:nvPr/>
        </p:nvSpPr>
        <p:spPr>
          <a:xfrm>
            <a:off x="914400" y="6953098"/>
            <a:ext cx="16497605" cy="1904695"/>
          </a:xfrm>
          <a:prstGeom prst="roundRect">
            <a:avLst>
              <a:gd name="adj" fmla="val 8017"/>
            </a:avLst>
          </a:prstGeom>
          <a:solidFill>
            <a:srgbClr val="1F2937"/>
          </a:solidFill>
          <a:ln w="12700">
            <a:solidFill>
              <a:srgbClr val="FFFFFF">
                <a:alpha val="0"/>
              </a:srgbClr>
            </a:solidFill>
            <a:prstDash val="solid"/>
          </a:ln>
        </p:spPr>
        <p:txBody>
          <a:bodyPr/>
          <a:lstStyle/>
          <a:p>
            <a:endParaRPr lang="fr-CI"/>
          </a:p>
        </p:txBody>
      </p:sp>
      <p:sp>
        <p:nvSpPr>
          <p:cNvPr id="31" name="Text 29"/>
          <p:cNvSpPr txBox="1"/>
          <p:nvPr/>
        </p:nvSpPr>
        <p:spPr>
          <a:xfrm>
            <a:off x="1218895" y="7200900"/>
            <a:ext cx="15906902" cy="162763"/>
          </a:xfrm>
          <a:prstGeom prst="rect">
            <a:avLst/>
          </a:prstGeom>
          <a:noFill/>
          <a:ln/>
        </p:spPr>
        <p:txBody>
          <a:bodyPr wrap="none" lIns="0" tIns="0" rIns="0" bIns="0" rtlCol="0" anchor="ctr"/>
          <a:lstStyle/>
          <a:p>
            <a:pPr marL="0" indent="0" algn="l">
              <a:buNone/>
            </a:pPr>
            <a:r>
              <a:rPr lang="en-US" sz="900" b="1" kern="0" spc="156" dirty="0">
                <a:solidFill>
                  <a:srgbClr val="A78BFA"/>
                </a:solidFill>
                <a:latin typeface="JetBrains Mono" pitchFamily="34" charset="0"/>
                <a:ea typeface="JetBrains Mono" pitchFamily="34" charset="-122"/>
                <a:cs typeface="JetBrains Mono" pitchFamily="34" charset="-120"/>
              </a:rPr>
              <a:t>→ Réponse de l'éditeur</a:t>
            </a:r>
            <a:endParaRPr lang="en-US" sz="900" dirty="0"/>
          </a:p>
        </p:txBody>
      </p:sp>
      <p:sp>
        <p:nvSpPr>
          <p:cNvPr id="32" name="Text 30"/>
          <p:cNvSpPr txBox="1"/>
          <p:nvPr/>
        </p:nvSpPr>
        <p:spPr>
          <a:xfrm>
            <a:off x="1218895" y="7496251"/>
            <a:ext cx="16592702" cy="372161"/>
          </a:xfrm>
          <a:prstGeom prst="rect">
            <a:avLst/>
          </a:prstGeom>
          <a:noFill/>
          <a:ln/>
        </p:spPr>
        <p:txBody>
          <a:bodyPr wrap="none" lIns="0" tIns="0" rIns="0" bIns="0" rtlCol="0" anchor="ctr"/>
          <a:lstStyle/>
          <a:p>
            <a:pPr marL="0" indent="0" algn="l">
              <a:buNone/>
            </a:pPr>
            <a:r>
              <a:rPr lang="en-US" sz="2400" b="1" dirty="0">
                <a:solidFill>
                  <a:srgbClr val="FFFFFF"/>
                </a:solidFill>
                <a:latin typeface="Manrope" pitchFamily="34" charset="0"/>
                <a:ea typeface="Manrope" pitchFamily="34" charset="-122"/>
                <a:cs typeface="Manrope" pitchFamily="34" charset="-120"/>
              </a:rPr>
              <a:t>Redéveloppement total de la plateforme — nouvelle version multiservices en phase finale.</a:t>
            </a:r>
            <a:endParaRPr lang="en-US" sz="2400" dirty="0"/>
          </a:p>
        </p:txBody>
      </p:sp>
      <p:sp>
        <p:nvSpPr>
          <p:cNvPr id="33" name="Text 31"/>
          <p:cNvSpPr txBox="1"/>
          <p:nvPr/>
        </p:nvSpPr>
        <p:spPr>
          <a:xfrm>
            <a:off x="1218895" y="7995514"/>
            <a:ext cx="16592702" cy="257861"/>
          </a:xfrm>
          <a:prstGeom prst="rect">
            <a:avLst/>
          </a:prstGeom>
          <a:noFill/>
          <a:ln/>
        </p:spPr>
        <p:txBody>
          <a:bodyPr wrap="none" lIns="0" tIns="0" rIns="0" bIns="0" rtlCol="0" anchor="ctr"/>
          <a:lstStyle/>
          <a:p>
            <a:pPr marL="0" indent="0" algn="l">
              <a:buNone/>
            </a:pPr>
            <a:r>
              <a:rPr lang="en-US" sz="1300" dirty="0">
                <a:solidFill>
                  <a:srgbClr val="C4B5FD"/>
                </a:solidFill>
                <a:latin typeface="Manrope" pitchFamily="34" charset="0"/>
                <a:ea typeface="Manrope" pitchFamily="34" charset="-122"/>
                <a:cs typeface="Manrope" pitchFamily="34" charset="-120"/>
              </a:rPr>
              <a:t>La plateforme étant multiservices, la recette doit couvrir </a:t>
            </a:r>
            <a:r>
              <a:rPr lang="en-US" sz="1300" b="1" dirty="0">
                <a:solidFill>
                  <a:srgbClr val="FFFFFF"/>
                </a:solidFill>
                <a:latin typeface="Manrope" pitchFamily="34" charset="0"/>
                <a:ea typeface="Manrope" pitchFamily="34" charset="-122"/>
                <a:cs typeface="Manrope" pitchFamily="34" charset="-120"/>
              </a:rPr>
              <a:t>tous les services et tous les profils</a:t>
            </a:r>
            <a:r>
              <a:rPr lang="en-US" sz="1300" dirty="0">
                <a:solidFill>
                  <a:srgbClr val="C4B5FD"/>
                </a:solidFill>
                <a:latin typeface="Manrope" pitchFamily="34" charset="0"/>
                <a:ea typeface="Manrope" pitchFamily="34" charset="-122"/>
                <a:cs typeface="Manrope" pitchFamily="34" charset="-120"/>
              </a:rPr>
              <a:t> — pas uniquement le module VTC — avant tout basculement vers la production.</a:t>
            </a:r>
            <a:endParaRPr lang="en-US" sz="1300" dirty="0"/>
          </a:p>
        </p:txBody>
      </p:sp>
      <p:sp>
        <p:nvSpPr>
          <p:cNvPr id="34" name="Shape 32"/>
          <p:cNvSpPr/>
          <p:nvPr/>
        </p:nvSpPr>
        <p:spPr>
          <a:xfrm>
            <a:off x="0" y="9791395"/>
            <a:ext cx="18288000" cy="495605"/>
          </a:xfrm>
          <a:prstGeom prst="rect">
            <a:avLst/>
          </a:prstGeom>
          <a:solidFill>
            <a:srgbClr val="FFFFFF"/>
          </a:solidFill>
          <a:ln/>
        </p:spPr>
        <p:txBody>
          <a:bodyPr/>
          <a:lstStyle/>
          <a:p>
            <a:endParaRPr lang="fr-CI"/>
          </a:p>
        </p:txBody>
      </p:sp>
      <p:sp>
        <p:nvSpPr>
          <p:cNvPr id="35" name="Shape 33"/>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36" name="Text 34"/>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37" name="Text 35"/>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02 / 59</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dirty="0"/>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6315639" y="256946"/>
            <a:ext cx="1371600"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Sommaire général</a:t>
            </a:r>
            <a:endParaRPr lang="en-US" sz="900" dirty="0"/>
          </a:p>
        </p:txBody>
      </p:sp>
      <p:sp>
        <p:nvSpPr>
          <p:cNvPr id="10" name="Text 8"/>
          <p:cNvSpPr txBox="1"/>
          <p:nvPr/>
        </p:nvSpPr>
        <p:spPr>
          <a:xfrm>
            <a:off x="914400" y="1205179"/>
            <a:ext cx="1257300" cy="181051"/>
          </a:xfrm>
          <a:prstGeom prst="rect">
            <a:avLst/>
          </a:prstGeom>
          <a:noFill/>
          <a:ln/>
        </p:spPr>
        <p:txBody>
          <a:bodyPr wrap="none" lIns="0" tIns="0" rIns="0" bIns="0" rtlCol="0" anchor="ctr"/>
          <a:lstStyle/>
          <a:p>
            <a:pPr marL="0" indent="0" algn="l">
              <a:buNone/>
            </a:pPr>
            <a:r>
              <a:rPr lang="en-US" sz="1400" b="1" kern="0" spc="189" dirty="0">
                <a:solidFill>
                  <a:srgbClr val="6D28D9"/>
                </a:solidFill>
                <a:latin typeface="Manrope" pitchFamily="34" charset="0"/>
                <a:ea typeface="Manrope" pitchFamily="34" charset="-122"/>
                <a:cs typeface="Manrope" pitchFamily="34" charset="-120"/>
              </a:rPr>
              <a:t>Sommaire</a:t>
            </a:r>
            <a:endParaRPr lang="en-US" sz="14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5240305"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Structure du document — 15 parties, 59 sections</a:t>
            </a:r>
            <a:endParaRPr lang="en-US" sz="3900" dirty="0"/>
          </a:p>
        </p:txBody>
      </p:sp>
      <p:sp>
        <p:nvSpPr>
          <p:cNvPr id="13" name="Shape 11"/>
          <p:cNvSpPr/>
          <p:nvPr/>
        </p:nvSpPr>
        <p:spPr>
          <a:xfrm>
            <a:off x="914400" y="2762402"/>
            <a:ext cx="418795" cy="418795"/>
          </a:xfrm>
          <a:prstGeom prst="roundRect">
            <a:avLst>
              <a:gd name="adj" fmla="val 22707"/>
            </a:avLst>
          </a:prstGeom>
          <a:solidFill>
            <a:srgbClr val="6D28D9"/>
          </a:solidFill>
          <a:ln w="12700">
            <a:solidFill>
              <a:srgbClr val="FFFFFF">
                <a:alpha val="0"/>
              </a:srgbClr>
            </a:solidFill>
            <a:prstDash val="solid"/>
          </a:ln>
        </p:spPr>
        <p:txBody>
          <a:bodyPr/>
          <a:lstStyle/>
          <a:p>
            <a:endParaRPr lang="fr-CI"/>
          </a:p>
        </p:txBody>
      </p:sp>
      <p:sp>
        <p:nvSpPr>
          <p:cNvPr id="14" name="Text 12"/>
          <p:cNvSpPr txBox="1"/>
          <p:nvPr/>
        </p:nvSpPr>
        <p:spPr>
          <a:xfrm>
            <a:off x="914400" y="2762402"/>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300" b="1" dirty="0">
                <a:solidFill>
                  <a:srgbClr val="FFFFFF"/>
                </a:solidFill>
                <a:latin typeface="JetBrains Mono" pitchFamily="34" charset="0"/>
                <a:ea typeface="JetBrains Mono" pitchFamily="34" charset="-122"/>
                <a:cs typeface="JetBrains Mono" pitchFamily="34" charset="-120"/>
              </a:rPr>
              <a:t>I</a:t>
            </a:r>
            <a:endParaRPr lang="en-US" sz="1300" dirty="0"/>
          </a:p>
        </p:txBody>
      </p:sp>
      <p:sp>
        <p:nvSpPr>
          <p:cNvPr id="15" name="Text 13"/>
          <p:cNvSpPr txBox="1"/>
          <p:nvPr/>
        </p:nvSpPr>
        <p:spPr>
          <a:xfrm>
            <a:off x="1466698" y="2762402"/>
            <a:ext cx="2051914"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Objectifs &amp; principes</a:t>
            </a:r>
            <a:endParaRPr lang="en-US" sz="1300" dirty="0"/>
          </a:p>
        </p:txBody>
      </p:sp>
      <p:sp>
        <p:nvSpPr>
          <p:cNvPr id="16" name="Text 14"/>
          <p:cNvSpPr txBox="1"/>
          <p:nvPr/>
        </p:nvSpPr>
        <p:spPr>
          <a:xfrm>
            <a:off x="1466698" y="2991002"/>
            <a:ext cx="1989734" cy="181051"/>
          </a:xfrm>
          <a:prstGeom prst="rect">
            <a:avLst/>
          </a:prstGeom>
          <a:noFill/>
          <a:ln/>
        </p:spPr>
        <p:txBody>
          <a:bodyPr wrap="none" lIns="0" tIns="0" rIns="0" bIns="0" rtlCol="0" anchor="ctr"/>
          <a:lstStyle/>
          <a:p>
            <a:pPr marL="0" indent="0" algn="l">
              <a:buNone/>
            </a:pPr>
            <a:r>
              <a:rPr lang="en-US" sz="1000" dirty="0">
                <a:solidFill>
                  <a:srgbClr val="6B7280"/>
                </a:solidFill>
                <a:latin typeface="Manrope" pitchFamily="34" charset="0"/>
                <a:ea typeface="Manrope" pitchFamily="34" charset="-122"/>
                <a:cs typeface="Manrope" pitchFamily="34" charset="-120"/>
              </a:rPr>
              <a:t>§2 à §4 · Slides 04 → 07</a:t>
            </a:r>
            <a:endParaRPr lang="en-US" sz="1000" dirty="0"/>
          </a:p>
        </p:txBody>
      </p:sp>
      <p:sp>
        <p:nvSpPr>
          <p:cNvPr id="17" name="Shape 15"/>
          <p:cNvSpPr/>
          <p:nvPr/>
        </p:nvSpPr>
        <p:spPr>
          <a:xfrm>
            <a:off x="914400" y="3314700"/>
            <a:ext cx="418795" cy="418795"/>
          </a:xfrm>
          <a:prstGeom prst="roundRect">
            <a:avLst>
              <a:gd name="adj" fmla="val 22707"/>
            </a:avLst>
          </a:prstGeom>
          <a:solidFill>
            <a:srgbClr val="6D28D9"/>
          </a:solidFill>
          <a:ln w="12700">
            <a:solidFill>
              <a:srgbClr val="FFFFFF">
                <a:alpha val="0"/>
              </a:srgbClr>
            </a:solidFill>
            <a:prstDash val="solid"/>
          </a:ln>
        </p:spPr>
        <p:txBody>
          <a:bodyPr/>
          <a:lstStyle/>
          <a:p>
            <a:endParaRPr lang="fr-CI"/>
          </a:p>
        </p:txBody>
      </p:sp>
      <p:sp>
        <p:nvSpPr>
          <p:cNvPr id="18" name="Text 16"/>
          <p:cNvSpPr txBox="1"/>
          <p:nvPr/>
        </p:nvSpPr>
        <p:spPr>
          <a:xfrm>
            <a:off x="914400" y="3314700"/>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300" b="1" dirty="0">
                <a:solidFill>
                  <a:srgbClr val="FFFFFF"/>
                </a:solidFill>
                <a:latin typeface="JetBrains Mono" pitchFamily="34" charset="0"/>
                <a:ea typeface="JetBrains Mono" pitchFamily="34" charset="-122"/>
                <a:cs typeface="JetBrains Mono" pitchFamily="34" charset="-120"/>
              </a:rPr>
              <a:t>II</a:t>
            </a:r>
            <a:endParaRPr lang="en-US" sz="1300" dirty="0"/>
          </a:p>
        </p:txBody>
      </p:sp>
      <p:sp>
        <p:nvSpPr>
          <p:cNvPr id="19" name="Text 17"/>
          <p:cNvSpPr txBox="1"/>
          <p:nvPr/>
        </p:nvSpPr>
        <p:spPr>
          <a:xfrm>
            <a:off x="1466698" y="3314700"/>
            <a:ext cx="2381098"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Périmètre multiservices</a:t>
            </a:r>
            <a:endParaRPr lang="en-US" sz="1300" dirty="0"/>
          </a:p>
        </p:txBody>
      </p:sp>
      <p:sp>
        <p:nvSpPr>
          <p:cNvPr id="20" name="Text 18"/>
          <p:cNvSpPr txBox="1"/>
          <p:nvPr/>
        </p:nvSpPr>
        <p:spPr>
          <a:xfrm>
            <a:off x="1466698" y="3543300"/>
            <a:ext cx="2000707" cy="181051"/>
          </a:xfrm>
          <a:prstGeom prst="rect">
            <a:avLst/>
          </a:prstGeom>
          <a:noFill/>
          <a:ln/>
        </p:spPr>
        <p:txBody>
          <a:bodyPr wrap="none" lIns="0" tIns="0" rIns="0" bIns="0" rtlCol="0" anchor="ctr"/>
          <a:lstStyle/>
          <a:p>
            <a:pPr marL="0" indent="0" algn="l">
              <a:buNone/>
            </a:pPr>
            <a:r>
              <a:rPr lang="en-US" sz="1000" dirty="0">
                <a:solidFill>
                  <a:srgbClr val="6B7280"/>
                </a:solidFill>
                <a:latin typeface="Manrope" pitchFamily="34" charset="0"/>
                <a:ea typeface="Manrope" pitchFamily="34" charset="-122"/>
                <a:cs typeface="Manrope" pitchFamily="34" charset="-120"/>
              </a:rPr>
              <a:t>§5 · Slides 08 → 15</a:t>
            </a:r>
            <a:endParaRPr lang="en-US" sz="1000" dirty="0"/>
          </a:p>
        </p:txBody>
      </p:sp>
      <p:sp>
        <p:nvSpPr>
          <p:cNvPr id="21" name="Shape 19"/>
          <p:cNvSpPr/>
          <p:nvPr/>
        </p:nvSpPr>
        <p:spPr>
          <a:xfrm>
            <a:off x="914400" y="3866998"/>
            <a:ext cx="418795" cy="418795"/>
          </a:xfrm>
          <a:prstGeom prst="roundRect">
            <a:avLst>
              <a:gd name="adj" fmla="val 22707"/>
            </a:avLst>
          </a:prstGeom>
          <a:solidFill>
            <a:srgbClr val="6D28D9"/>
          </a:solidFill>
          <a:ln w="12700">
            <a:solidFill>
              <a:srgbClr val="FFFFFF">
                <a:alpha val="0"/>
              </a:srgbClr>
            </a:solidFill>
            <a:prstDash val="solid"/>
          </a:ln>
        </p:spPr>
        <p:txBody>
          <a:bodyPr/>
          <a:lstStyle/>
          <a:p>
            <a:endParaRPr lang="fr-CI"/>
          </a:p>
        </p:txBody>
      </p:sp>
      <p:sp>
        <p:nvSpPr>
          <p:cNvPr id="22" name="Text 20"/>
          <p:cNvSpPr txBox="1"/>
          <p:nvPr/>
        </p:nvSpPr>
        <p:spPr>
          <a:xfrm>
            <a:off x="914400" y="3866998"/>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300" b="1" dirty="0">
                <a:solidFill>
                  <a:srgbClr val="FFFFFF"/>
                </a:solidFill>
                <a:latin typeface="JetBrains Mono" pitchFamily="34" charset="0"/>
                <a:ea typeface="JetBrains Mono" pitchFamily="34" charset="-122"/>
                <a:cs typeface="JetBrains Mono" pitchFamily="34" charset="-120"/>
              </a:rPr>
              <a:t>III</a:t>
            </a:r>
            <a:endParaRPr lang="en-US" sz="1300" dirty="0"/>
          </a:p>
        </p:txBody>
      </p:sp>
      <p:sp>
        <p:nvSpPr>
          <p:cNvPr id="23" name="Text 21"/>
          <p:cNvSpPr txBox="1"/>
          <p:nvPr/>
        </p:nvSpPr>
        <p:spPr>
          <a:xfrm>
            <a:off x="1466698" y="3866998"/>
            <a:ext cx="1825142"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Profils utilisateurs</a:t>
            </a:r>
            <a:endParaRPr lang="en-US" sz="1300" dirty="0"/>
          </a:p>
        </p:txBody>
      </p:sp>
      <p:sp>
        <p:nvSpPr>
          <p:cNvPr id="24" name="Text 22"/>
          <p:cNvSpPr txBox="1"/>
          <p:nvPr/>
        </p:nvSpPr>
        <p:spPr>
          <a:xfrm>
            <a:off x="1466698" y="4095598"/>
            <a:ext cx="1825142" cy="181051"/>
          </a:xfrm>
          <a:prstGeom prst="rect">
            <a:avLst/>
          </a:prstGeom>
          <a:noFill/>
          <a:ln/>
        </p:spPr>
        <p:txBody>
          <a:bodyPr wrap="none" lIns="0" tIns="0" rIns="0" bIns="0" rtlCol="0" anchor="ctr"/>
          <a:lstStyle/>
          <a:p>
            <a:pPr marL="0" indent="0" algn="l">
              <a:buNone/>
            </a:pPr>
            <a:r>
              <a:rPr lang="en-US" sz="1000" dirty="0">
                <a:solidFill>
                  <a:srgbClr val="6B7280"/>
                </a:solidFill>
                <a:latin typeface="Manrope" pitchFamily="34" charset="0"/>
                <a:ea typeface="Manrope" pitchFamily="34" charset="-122"/>
                <a:cs typeface="Manrope" pitchFamily="34" charset="-120"/>
              </a:rPr>
              <a:t>§6 à §11 · Slides 16 → 21</a:t>
            </a:r>
            <a:endParaRPr lang="en-US" sz="1000" dirty="0"/>
          </a:p>
        </p:txBody>
      </p:sp>
      <p:sp>
        <p:nvSpPr>
          <p:cNvPr id="25" name="Shape 23"/>
          <p:cNvSpPr/>
          <p:nvPr/>
        </p:nvSpPr>
        <p:spPr>
          <a:xfrm>
            <a:off x="914400" y="4419295"/>
            <a:ext cx="418795" cy="418795"/>
          </a:xfrm>
          <a:prstGeom prst="roundRect">
            <a:avLst>
              <a:gd name="adj" fmla="val 22707"/>
            </a:avLst>
          </a:prstGeom>
          <a:solidFill>
            <a:srgbClr val="6D28D9"/>
          </a:solidFill>
          <a:ln w="12700">
            <a:solidFill>
              <a:srgbClr val="FFFFFF">
                <a:alpha val="0"/>
              </a:srgbClr>
            </a:solidFill>
            <a:prstDash val="solid"/>
          </a:ln>
        </p:spPr>
        <p:txBody>
          <a:bodyPr/>
          <a:lstStyle/>
          <a:p>
            <a:endParaRPr lang="fr-CI"/>
          </a:p>
        </p:txBody>
      </p:sp>
      <p:sp>
        <p:nvSpPr>
          <p:cNvPr id="26" name="Text 24"/>
          <p:cNvSpPr txBox="1"/>
          <p:nvPr/>
        </p:nvSpPr>
        <p:spPr>
          <a:xfrm>
            <a:off x="914400" y="4419295"/>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300" b="1" dirty="0">
                <a:solidFill>
                  <a:srgbClr val="FFFFFF"/>
                </a:solidFill>
                <a:latin typeface="JetBrains Mono" pitchFamily="34" charset="0"/>
                <a:ea typeface="JetBrains Mono" pitchFamily="34" charset="-122"/>
                <a:cs typeface="JetBrains Mono" pitchFamily="34" charset="-120"/>
              </a:rPr>
              <a:t>IV</a:t>
            </a:r>
            <a:endParaRPr lang="en-US" sz="1300" dirty="0"/>
          </a:p>
        </p:txBody>
      </p:sp>
      <p:sp>
        <p:nvSpPr>
          <p:cNvPr id="27" name="Text 25"/>
          <p:cNvSpPr txBox="1"/>
          <p:nvPr/>
        </p:nvSpPr>
        <p:spPr>
          <a:xfrm>
            <a:off x="1466698" y="4419295"/>
            <a:ext cx="2878531"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Environnement préproduction</a:t>
            </a:r>
            <a:endParaRPr lang="en-US" sz="1300" dirty="0"/>
          </a:p>
        </p:txBody>
      </p:sp>
      <p:sp>
        <p:nvSpPr>
          <p:cNvPr id="28" name="Text 26"/>
          <p:cNvSpPr txBox="1"/>
          <p:nvPr/>
        </p:nvSpPr>
        <p:spPr>
          <a:xfrm>
            <a:off x="1466698" y="4647895"/>
            <a:ext cx="2514600" cy="181051"/>
          </a:xfrm>
          <a:prstGeom prst="rect">
            <a:avLst/>
          </a:prstGeom>
          <a:noFill/>
          <a:ln/>
        </p:spPr>
        <p:txBody>
          <a:bodyPr wrap="none" lIns="0" tIns="0" rIns="0" bIns="0" rtlCol="0" anchor="ctr"/>
          <a:lstStyle/>
          <a:p>
            <a:pPr marL="0" indent="0" algn="l">
              <a:buNone/>
            </a:pPr>
            <a:r>
              <a:rPr lang="en-US" sz="1000" dirty="0">
                <a:solidFill>
                  <a:srgbClr val="6B7280"/>
                </a:solidFill>
                <a:latin typeface="Manrope" pitchFamily="34" charset="0"/>
                <a:ea typeface="Manrope" pitchFamily="34" charset="-122"/>
                <a:cs typeface="Manrope" pitchFamily="34" charset="-120"/>
              </a:rPr>
              <a:t>§12 à §14 · Slides 22 → 26</a:t>
            </a:r>
            <a:endParaRPr lang="en-US" sz="1000" dirty="0"/>
          </a:p>
        </p:txBody>
      </p:sp>
      <p:sp>
        <p:nvSpPr>
          <p:cNvPr id="29" name="Shape 27"/>
          <p:cNvSpPr/>
          <p:nvPr/>
        </p:nvSpPr>
        <p:spPr>
          <a:xfrm>
            <a:off x="914400" y="4972507"/>
            <a:ext cx="418795" cy="418795"/>
          </a:xfrm>
          <a:prstGeom prst="roundRect">
            <a:avLst>
              <a:gd name="adj" fmla="val 22707"/>
            </a:avLst>
          </a:prstGeom>
          <a:solidFill>
            <a:srgbClr val="6D28D9"/>
          </a:solidFill>
          <a:ln w="12700">
            <a:solidFill>
              <a:srgbClr val="FFFFFF">
                <a:alpha val="0"/>
              </a:srgbClr>
            </a:solidFill>
            <a:prstDash val="solid"/>
          </a:ln>
        </p:spPr>
        <p:txBody>
          <a:bodyPr/>
          <a:lstStyle/>
          <a:p>
            <a:endParaRPr lang="fr-CI"/>
          </a:p>
        </p:txBody>
      </p:sp>
      <p:sp>
        <p:nvSpPr>
          <p:cNvPr id="30" name="Text 28"/>
          <p:cNvSpPr txBox="1"/>
          <p:nvPr/>
        </p:nvSpPr>
        <p:spPr>
          <a:xfrm>
            <a:off x="914400" y="4972507"/>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300" b="1" dirty="0">
                <a:solidFill>
                  <a:srgbClr val="FFFFFF"/>
                </a:solidFill>
                <a:latin typeface="JetBrains Mono" pitchFamily="34" charset="0"/>
                <a:ea typeface="JetBrains Mono" pitchFamily="34" charset="-122"/>
                <a:cs typeface="JetBrains Mono" pitchFamily="34" charset="-120"/>
              </a:rPr>
              <a:t>V</a:t>
            </a:r>
            <a:endParaRPr lang="en-US" sz="1300" dirty="0"/>
          </a:p>
        </p:txBody>
      </p:sp>
      <p:sp>
        <p:nvSpPr>
          <p:cNvPr id="31" name="Text 29"/>
          <p:cNvSpPr txBox="1"/>
          <p:nvPr/>
        </p:nvSpPr>
        <p:spPr>
          <a:xfrm>
            <a:off x="1466698" y="4972507"/>
            <a:ext cx="2063801"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Organisation recette</a:t>
            </a:r>
            <a:endParaRPr lang="en-US" sz="1300" dirty="0"/>
          </a:p>
        </p:txBody>
      </p:sp>
      <p:sp>
        <p:nvSpPr>
          <p:cNvPr id="32" name="Text 30"/>
          <p:cNvSpPr txBox="1"/>
          <p:nvPr/>
        </p:nvSpPr>
        <p:spPr>
          <a:xfrm>
            <a:off x="1466698" y="5201107"/>
            <a:ext cx="2063801" cy="181051"/>
          </a:xfrm>
          <a:prstGeom prst="rect">
            <a:avLst/>
          </a:prstGeom>
          <a:noFill/>
          <a:ln/>
        </p:spPr>
        <p:txBody>
          <a:bodyPr wrap="none" lIns="0" tIns="0" rIns="0" bIns="0" rtlCol="0" anchor="ctr"/>
          <a:lstStyle/>
          <a:p>
            <a:pPr marL="0" indent="0" algn="l">
              <a:buNone/>
            </a:pPr>
            <a:r>
              <a:rPr lang="en-US" sz="1000" dirty="0">
                <a:solidFill>
                  <a:srgbClr val="6B7280"/>
                </a:solidFill>
                <a:latin typeface="Manrope" pitchFamily="34" charset="0"/>
                <a:ea typeface="Manrope" pitchFamily="34" charset="-122"/>
                <a:cs typeface="Manrope" pitchFamily="34" charset="-120"/>
              </a:rPr>
              <a:t>§15 à §16 · Slides 27 → 29</a:t>
            </a:r>
            <a:endParaRPr lang="en-US" sz="1000" dirty="0"/>
          </a:p>
        </p:txBody>
      </p:sp>
      <p:sp>
        <p:nvSpPr>
          <p:cNvPr id="33" name="Shape 31"/>
          <p:cNvSpPr/>
          <p:nvPr/>
        </p:nvSpPr>
        <p:spPr>
          <a:xfrm>
            <a:off x="6534302" y="2762402"/>
            <a:ext cx="418795" cy="418795"/>
          </a:xfrm>
          <a:prstGeom prst="roundRect">
            <a:avLst>
              <a:gd name="adj" fmla="val 22707"/>
            </a:avLst>
          </a:prstGeom>
          <a:solidFill>
            <a:srgbClr val="6D28D9"/>
          </a:solidFill>
          <a:ln w="12700">
            <a:solidFill>
              <a:srgbClr val="FFFFFF">
                <a:alpha val="0"/>
              </a:srgbClr>
            </a:solidFill>
            <a:prstDash val="solid"/>
          </a:ln>
        </p:spPr>
        <p:txBody>
          <a:bodyPr/>
          <a:lstStyle/>
          <a:p>
            <a:endParaRPr lang="fr-CI"/>
          </a:p>
        </p:txBody>
      </p:sp>
      <p:sp>
        <p:nvSpPr>
          <p:cNvPr id="34" name="Text 32"/>
          <p:cNvSpPr txBox="1"/>
          <p:nvPr/>
        </p:nvSpPr>
        <p:spPr>
          <a:xfrm>
            <a:off x="6534302" y="2762402"/>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300" b="1" dirty="0">
                <a:solidFill>
                  <a:srgbClr val="FFFFFF"/>
                </a:solidFill>
                <a:latin typeface="JetBrains Mono" pitchFamily="34" charset="0"/>
                <a:ea typeface="JetBrains Mono" pitchFamily="34" charset="-122"/>
                <a:cs typeface="JetBrains Mono" pitchFamily="34" charset="-120"/>
              </a:rPr>
              <a:t>VI</a:t>
            </a:r>
            <a:endParaRPr lang="en-US" sz="1300" dirty="0"/>
          </a:p>
        </p:txBody>
      </p:sp>
      <p:sp>
        <p:nvSpPr>
          <p:cNvPr id="35" name="Text 33"/>
          <p:cNvSpPr txBox="1"/>
          <p:nvPr/>
        </p:nvSpPr>
        <p:spPr>
          <a:xfrm>
            <a:off x="7086600" y="2762402"/>
            <a:ext cx="2057400"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Use cases de recette</a:t>
            </a:r>
            <a:endParaRPr lang="en-US" sz="1300" dirty="0"/>
          </a:p>
        </p:txBody>
      </p:sp>
      <p:sp>
        <p:nvSpPr>
          <p:cNvPr id="36" name="Text 34"/>
          <p:cNvSpPr txBox="1"/>
          <p:nvPr/>
        </p:nvSpPr>
        <p:spPr>
          <a:xfrm>
            <a:off x="7086600" y="2991002"/>
            <a:ext cx="2448763" cy="181051"/>
          </a:xfrm>
          <a:prstGeom prst="rect">
            <a:avLst/>
          </a:prstGeom>
          <a:noFill/>
          <a:ln/>
        </p:spPr>
        <p:txBody>
          <a:bodyPr wrap="none" lIns="0" tIns="0" rIns="0" bIns="0" rtlCol="0" anchor="ctr"/>
          <a:lstStyle/>
          <a:p>
            <a:pPr marL="0" indent="0" algn="l">
              <a:buNone/>
            </a:pPr>
            <a:r>
              <a:rPr lang="en-US" sz="1000" dirty="0">
                <a:solidFill>
                  <a:srgbClr val="6B7280"/>
                </a:solidFill>
                <a:latin typeface="Manrope" pitchFamily="34" charset="0"/>
                <a:ea typeface="Manrope" pitchFamily="34" charset="-122"/>
                <a:cs typeface="Manrope" pitchFamily="34" charset="-120"/>
              </a:rPr>
              <a:t>§17 · Slides 30 → 45 · 29 use cases</a:t>
            </a:r>
            <a:endParaRPr lang="en-US" sz="1000" dirty="0"/>
          </a:p>
        </p:txBody>
      </p:sp>
      <p:sp>
        <p:nvSpPr>
          <p:cNvPr id="37" name="Shape 35"/>
          <p:cNvSpPr/>
          <p:nvPr/>
        </p:nvSpPr>
        <p:spPr>
          <a:xfrm>
            <a:off x="6534302" y="3314700"/>
            <a:ext cx="418795" cy="418795"/>
          </a:xfrm>
          <a:prstGeom prst="roundRect">
            <a:avLst>
              <a:gd name="adj" fmla="val 22707"/>
            </a:avLst>
          </a:prstGeom>
          <a:solidFill>
            <a:srgbClr val="6D28D9"/>
          </a:solidFill>
          <a:ln w="12700">
            <a:solidFill>
              <a:srgbClr val="FFFFFF">
                <a:alpha val="0"/>
              </a:srgbClr>
            </a:solidFill>
            <a:prstDash val="solid"/>
          </a:ln>
        </p:spPr>
        <p:txBody>
          <a:bodyPr/>
          <a:lstStyle/>
          <a:p>
            <a:endParaRPr lang="fr-CI"/>
          </a:p>
        </p:txBody>
      </p:sp>
      <p:sp>
        <p:nvSpPr>
          <p:cNvPr id="38" name="Text 36"/>
          <p:cNvSpPr txBox="1"/>
          <p:nvPr/>
        </p:nvSpPr>
        <p:spPr>
          <a:xfrm>
            <a:off x="6534302" y="3314700"/>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300" b="1" dirty="0">
                <a:solidFill>
                  <a:srgbClr val="FFFFFF"/>
                </a:solidFill>
                <a:latin typeface="JetBrains Mono" pitchFamily="34" charset="0"/>
                <a:ea typeface="JetBrains Mono" pitchFamily="34" charset="-122"/>
                <a:cs typeface="JetBrains Mono" pitchFamily="34" charset="-120"/>
              </a:rPr>
              <a:t>VII</a:t>
            </a:r>
            <a:endParaRPr lang="en-US" sz="1300" dirty="0"/>
          </a:p>
        </p:txBody>
      </p:sp>
      <p:sp>
        <p:nvSpPr>
          <p:cNvPr id="39" name="Text 37"/>
          <p:cNvSpPr txBox="1"/>
          <p:nvPr/>
        </p:nvSpPr>
        <p:spPr>
          <a:xfrm>
            <a:off x="7086600" y="3314700"/>
            <a:ext cx="2890418"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Journée test réel — 40 engins</a:t>
            </a:r>
            <a:endParaRPr lang="en-US" sz="1300" dirty="0"/>
          </a:p>
        </p:txBody>
      </p:sp>
      <p:sp>
        <p:nvSpPr>
          <p:cNvPr id="40" name="Text 38"/>
          <p:cNvSpPr txBox="1"/>
          <p:nvPr/>
        </p:nvSpPr>
        <p:spPr>
          <a:xfrm>
            <a:off x="7086600" y="3543300"/>
            <a:ext cx="2890418" cy="181051"/>
          </a:xfrm>
          <a:prstGeom prst="rect">
            <a:avLst/>
          </a:prstGeom>
          <a:noFill/>
          <a:ln/>
        </p:spPr>
        <p:txBody>
          <a:bodyPr wrap="none" lIns="0" tIns="0" rIns="0" bIns="0" rtlCol="0" anchor="ctr"/>
          <a:lstStyle/>
          <a:p>
            <a:pPr marL="0" indent="0" algn="l">
              <a:buNone/>
            </a:pPr>
            <a:r>
              <a:rPr lang="en-US" sz="1000" dirty="0">
                <a:solidFill>
                  <a:srgbClr val="6B7280"/>
                </a:solidFill>
                <a:latin typeface="Manrope" pitchFamily="34" charset="0"/>
                <a:ea typeface="Manrope" pitchFamily="34" charset="-122"/>
                <a:cs typeface="Manrope" pitchFamily="34" charset="-120"/>
              </a:rPr>
              <a:t>§18 à §20 · Slides 46 → 48 · 21 juin 2026</a:t>
            </a:r>
            <a:endParaRPr lang="en-US" sz="1000" dirty="0"/>
          </a:p>
        </p:txBody>
      </p:sp>
      <p:sp>
        <p:nvSpPr>
          <p:cNvPr id="41" name="Shape 39"/>
          <p:cNvSpPr/>
          <p:nvPr/>
        </p:nvSpPr>
        <p:spPr>
          <a:xfrm>
            <a:off x="6534302" y="3866998"/>
            <a:ext cx="418795" cy="418795"/>
          </a:xfrm>
          <a:prstGeom prst="roundRect">
            <a:avLst>
              <a:gd name="adj" fmla="val 22707"/>
            </a:avLst>
          </a:prstGeom>
          <a:solidFill>
            <a:srgbClr val="6D28D9"/>
          </a:solidFill>
          <a:ln w="12700">
            <a:solidFill>
              <a:srgbClr val="FFFFFF">
                <a:alpha val="0"/>
              </a:srgbClr>
            </a:solidFill>
            <a:prstDash val="solid"/>
          </a:ln>
        </p:spPr>
        <p:txBody>
          <a:bodyPr/>
          <a:lstStyle/>
          <a:p>
            <a:endParaRPr lang="fr-CI"/>
          </a:p>
        </p:txBody>
      </p:sp>
      <p:sp>
        <p:nvSpPr>
          <p:cNvPr id="42" name="Text 40"/>
          <p:cNvSpPr txBox="1"/>
          <p:nvPr/>
        </p:nvSpPr>
        <p:spPr>
          <a:xfrm>
            <a:off x="6534302" y="3866998"/>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300" b="1" dirty="0">
                <a:solidFill>
                  <a:srgbClr val="FFFFFF"/>
                </a:solidFill>
                <a:latin typeface="JetBrains Mono" pitchFamily="34" charset="0"/>
                <a:ea typeface="JetBrains Mono" pitchFamily="34" charset="-122"/>
                <a:cs typeface="JetBrains Mono" pitchFamily="34" charset="-120"/>
              </a:rPr>
              <a:t>VIII</a:t>
            </a:r>
            <a:endParaRPr lang="en-US" sz="1300" dirty="0"/>
          </a:p>
        </p:txBody>
      </p:sp>
      <p:sp>
        <p:nvSpPr>
          <p:cNvPr id="43" name="Text 41"/>
          <p:cNvSpPr txBox="1"/>
          <p:nvPr/>
        </p:nvSpPr>
        <p:spPr>
          <a:xfrm>
            <a:off x="7086600" y="3866998"/>
            <a:ext cx="2629814"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Planning détaillé J-3 → J+4</a:t>
            </a:r>
            <a:endParaRPr lang="en-US" sz="1300" dirty="0"/>
          </a:p>
        </p:txBody>
      </p:sp>
      <p:sp>
        <p:nvSpPr>
          <p:cNvPr id="44" name="Text 42"/>
          <p:cNvSpPr txBox="1"/>
          <p:nvPr/>
        </p:nvSpPr>
        <p:spPr>
          <a:xfrm>
            <a:off x="7086600" y="4095598"/>
            <a:ext cx="2210105" cy="181051"/>
          </a:xfrm>
          <a:prstGeom prst="rect">
            <a:avLst/>
          </a:prstGeom>
          <a:noFill/>
          <a:ln/>
        </p:spPr>
        <p:txBody>
          <a:bodyPr wrap="none" lIns="0" tIns="0" rIns="0" bIns="0" rtlCol="0" anchor="ctr"/>
          <a:lstStyle/>
          <a:p>
            <a:pPr marL="0" indent="0" algn="l">
              <a:buNone/>
            </a:pPr>
            <a:r>
              <a:rPr lang="en-US" sz="1000" dirty="0">
                <a:solidFill>
                  <a:srgbClr val="6B7280"/>
                </a:solidFill>
                <a:latin typeface="Manrope" pitchFamily="34" charset="0"/>
                <a:ea typeface="Manrope" pitchFamily="34" charset="-122"/>
                <a:cs typeface="Manrope" pitchFamily="34" charset="-120"/>
              </a:rPr>
              <a:t>§21 · Slides 49 → 50</a:t>
            </a:r>
            <a:endParaRPr lang="en-US" sz="1000" dirty="0"/>
          </a:p>
        </p:txBody>
      </p:sp>
      <p:sp>
        <p:nvSpPr>
          <p:cNvPr id="45" name="Shape 43"/>
          <p:cNvSpPr/>
          <p:nvPr/>
        </p:nvSpPr>
        <p:spPr>
          <a:xfrm>
            <a:off x="6534302" y="4419295"/>
            <a:ext cx="418795" cy="418795"/>
          </a:xfrm>
          <a:prstGeom prst="roundRect">
            <a:avLst>
              <a:gd name="adj" fmla="val 22707"/>
            </a:avLst>
          </a:prstGeom>
          <a:solidFill>
            <a:srgbClr val="6D28D9"/>
          </a:solidFill>
          <a:ln w="12700">
            <a:solidFill>
              <a:srgbClr val="FFFFFF">
                <a:alpha val="0"/>
              </a:srgbClr>
            </a:solidFill>
            <a:prstDash val="solid"/>
          </a:ln>
        </p:spPr>
        <p:txBody>
          <a:bodyPr/>
          <a:lstStyle/>
          <a:p>
            <a:endParaRPr lang="fr-CI"/>
          </a:p>
        </p:txBody>
      </p:sp>
      <p:sp>
        <p:nvSpPr>
          <p:cNvPr id="46" name="Text 44"/>
          <p:cNvSpPr txBox="1"/>
          <p:nvPr/>
        </p:nvSpPr>
        <p:spPr>
          <a:xfrm>
            <a:off x="6534302" y="4419295"/>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300" b="1" dirty="0">
                <a:solidFill>
                  <a:srgbClr val="FFFFFF"/>
                </a:solidFill>
                <a:latin typeface="JetBrains Mono" pitchFamily="34" charset="0"/>
                <a:ea typeface="JetBrains Mono" pitchFamily="34" charset="-122"/>
                <a:cs typeface="JetBrains Mono" pitchFamily="34" charset="-120"/>
              </a:rPr>
              <a:t>IX</a:t>
            </a:r>
            <a:endParaRPr lang="en-US" sz="1300" dirty="0"/>
          </a:p>
        </p:txBody>
      </p:sp>
      <p:sp>
        <p:nvSpPr>
          <p:cNvPr id="47" name="Text 45"/>
          <p:cNvSpPr txBox="1"/>
          <p:nvPr/>
        </p:nvSpPr>
        <p:spPr>
          <a:xfrm>
            <a:off x="7086600" y="4419295"/>
            <a:ext cx="2131466"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Critères de validation</a:t>
            </a:r>
            <a:endParaRPr lang="en-US" sz="1300" dirty="0"/>
          </a:p>
        </p:txBody>
      </p:sp>
      <p:sp>
        <p:nvSpPr>
          <p:cNvPr id="48" name="Text 46"/>
          <p:cNvSpPr txBox="1"/>
          <p:nvPr/>
        </p:nvSpPr>
        <p:spPr>
          <a:xfrm>
            <a:off x="7086600" y="4647895"/>
            <a:ext cx="1791310" cy="181051"/>
          </a:xfrm>
          <a:prstGeom prst="rect">
            <a:avLst/>
          </a:prstGeom>
          <a:noFill/>
          <a:ln/>
        </p:spPr>
        <p:txBody>
          <a:bodyPr wrap="none" lIns="0" tIns="0" rIns="0" bIns="0" rtlCol="0" anchor="ctr"/>
          <a:lstStyle/>
          <a:p>
            <a:pPr marL="0" indent="0" algn="l">
              <a:buNone/>
            </a:pPr>
            <a:r>
              <a:rPr lang="en-US" sz="1000" dirty="0">
                <a:solidFill>
                  <a:srgbClr val="6B7280"/>
                </a:solidFill>
                <a:latin typeface="Manrope" pitchFamily="34" charset="0"/>
                <a:ea typeface="Manrope" pitchFamily="34" charset="-122"/>
                <a:cs typeface="Manrope" pitchFamily="34" charset="-120"/>
              </a:rPr>
              <a:t>§22 à §25 · Slide 51</a:t>
            </a:r>
            <a:endParaRPr lang="en-US" sz="1000" dirty="0"/>
          </a:p>
        </p:txBody>
      </p:sp>
      <p:sp>
        <p:nvSpPr>
          <p:cNvPr id="49" name="Shape 47"/>
          <p:cNvSpPr/>
          <p:nvPr/>
        </p:nvSpPr>
        <p:spPr>
          <a:xfrm>
            <a:off x="6534302" y="4972507"/>
            <a:ext cx="418795" cy="418795"/>
          </a:xfrm>
          <a:prstGeom prst="roundRect">
            <a:avLst>
              <a:gd name="adj" fmla="val 22707"/>
            </a:avLst>
          </a:prstGeom>
          <a:solidFill>
            <a:srgbClr val="6D28D9"/>
          </a:solidFill>
          <a:ln w="12700">
            <a:solidFill>
              <a:srgbClr val="FFFFFF">
                <a:alpha val="0"/>
              </a:srgbClr>
            </a:solidFill>
            <a:prstDash val="solid"/>
          </a:ln>
        </p:spPr>
        <p:txBody>
          <a:bodyPr/>
          <a:lstStyle/>
          <a:p>
            <a:endParaRPr lang="fr-CI"/>
          </a:p>
        </p:txBody>
      </p:sp>
      <p:sp>
        <p:nvSpPr>
          <p:cNvPr id="50" name="Text 48"/>
          <p:cNvSpPr txBox="1"/>
          <p:nvPr/>
        </p:nvSpPr>
        <p:spPr>
          <a:xfrm>
            <a:off x="6534302" y="4972507"/>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300" b="1" dirty="0">
                <a:solidFill>
                  <a:srgbClr val="FFFFFF"/>
                </a:solidFill>
                <a:latin typeface="JetBrains Mono" pitchFamily="34" charset="0"/>
                <a:ea typeface="JetBrains Mono" pitchFamily="34" charset="-122"/>
                <a:cs typeface="JetBrains Mono" pitchFamily="34" charset="-120"/>
              </a:rPr>
              <a:t>X</a:t>
            </a:r>
            <a:endParaRPr lang="en-US" sz="1300" dirty="0"/>
          </a:p>
        </p:txBody>
      </p:sp>
      <p:sp>
        <p:nvSpPr>
          <p:cNvPr id="51" name="Text 49"/>
          <p:cNvSpPr txBox="1"/>
          <p:nvPr/>
        </p:nvSpPr>
        <p:spPr>
          <a:xfrm>
            <a:off x="7086600" y="4972507"/>
            <a:ext cx="2235708"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Gestion des anomalies</a:t>
            </a:r>
            <a:endParaRPr lang="en-US" sz="1300" dirty="0"/>
          </a:p>
        </p:txBody>
      </p:sp>
      <p:sp>
        <p:nvSpPr>
          <p:cNvPr id="52" name="Text 50"/>
          <p:cNvSpPr txBox="1"/>
          <p:nvPr/>
        </p:nvSpPr>
        <p:spPr>
          <a:xfrm>
            <a:off x="7086600" y="5201107"/>
            <a:ext cx="2156155" cy="181051"/>
          </a:xfrm>
          <a:prstGeom prst="rect">
            <a:avLst/>
          </a:prstGeom>
          <a:noFill/>
          <a:ln/>
        </p:spPr>
        <p:txBody>
          <a:bodyPr wrap="none" lIns="0" tIns="0" rIns="0" bIns="0" rtlCol="0" anchor="ctr"/>
          <a:lstStyle/>
          <a:p>
            <a:pPr marL="0" indent="0" algn="l">
              <a:buNone/>
            </a:pPr>
            <a:r>
              <a:rPr lang="en-US" sz="1000" dirty="0">
                <a:solidFill>
                  <a:srgbClr val="6B7280"/>
                </a:solidFill>
                <a:latin typeface="Manrope" pitchFamily="34" charset="0"/>
                <a:ea typeface="Manrope" pitchFamily="34" charset="-122"/>
                <a:cs typeface="Manrope" pitchFamily="34" charset="-120"/>
              </a:rPr>
              <a:t>§26 à §27 · Slides 52 → 53</a:t>
            </a:r>
            <a:endParaRPr lang="en-US" sz="1000" dirty="0"/>
          </a:p>
        </p:txBody>
      </p:sp>
      <p:sp>
        <p:nvSpPr>
          <p:cNvPr id="53" name="Shape 51"/>
          <p:cNvSpPr/>
          <p:nvPr/>
        </p:nvSpPr>
        <p:spPr>
          <a:xfrm>
            <a:off x="12154205" y="2762402"/>
            <a:ext cx="418795" cy="418795"/>
          </a:xfrm>
          <a:prstGeom prst="roundRect">
            <a:avLst>
              <a:gd name="adj" fmla="val 22707"/>
            </a:avLst>
          </a:prstGeom>
          <a:solidFill>
            <a:srgbClr val="6D28D9"/>
          </a:solidFill>
          <a:ln w="12700">
            <a:solidFill>
              <a:srgbClr val="FFFFFF">
                <a:alpha val="0"/>
              </a:srgbClr>
            </a:solidFill>
            <a:prstDash val="solid"/>
          </a:ln>
        </p:spPr>
        <p:txBody>
          <a:bodyPr/>
          <a:lstStyle/>
          <a:p>
            <a:endParaRPr lang="fr-CI"/>
          </a:p>
        </p:txBody>
      </p:sp>
      <p:sp>
        <p:nvSpPr>
          <p:cNvPr id="54" name="Text 52"/>
          <p:cNvSpPr txBox="1"/>
          <p:nvPr/>
        </p:nvSpPr>
        <p:spPr>
          <a:xfrm>
            <a:off x="12154205" y="2762402"/>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300" b="1" dirty="0">
                <a:solidFill>
                  <a:srgbClr val="FFFFFF"/>
                </a:solidFill>
                <a:latin typeface="JetBrains Mono" pitchFamily="34" charset="0"/>
                <a:ea typeface="JetBrains Mono" pitchFamily="34" charset="-122"/>
                <a:cs typeface="JetBrains Mono" pitchFamily="34" charset="-120"/>
              </a:rPr>
              <a:t>XI</a:t>
            </a:r>
            <a:endParaRPr lang="en-US" sz="1300" dirty="0"/>
          </a:p>
        </p:txBody>
      </p:sp>
      <p:sp>
        <p:nvSpPr>
          <p:cNvPr id="55" name="Text 53"/>
          <p:cNvSpPr txBox="1"/>
          <p:nvPr/>
        </p:nvSpPr>
        <p:spPr>
          <a:xfrm>
            <a:off x="12706502" y="2762402"/>
            <a:ext cx="2868473"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Plan de migration production</a:t>
            </a:r>
            <a:endParaRPr lang="en-US" sz="1300" dirty="0"/>
          </a:p>
        </p:txBody>
      </p:sp>
      <p:sp>
        <p:nvSpPr>
          <p:cNvPr id="56" name="Text 54"/>
          <p:cNvSpPr txBox="1"/>
          <p:nvPr/>
        </p:nvSpPr>
        <p:spPr>
          <a:xfrm>
            <a:off x="12706502" y="2991002"/>
            <a:ext cx="2410358" cy="181051"/>
          </a:xfrm>
          <a:prstGeom prst="rect">
            <a:avLst/>
          </a:prstGeom>
          <a:noFill/>
          <a:ln/>
        </p:spPr>
        <p:txBody>
          <a:bodyPr wrap="none" lIns="0" tIns="0" rIns="0" bIns="0" rtlCol="0" anchor="ctr"/>
          <a:lstStyle/>
          <a:p>
            <a:pPr marL="0" indent="0" algn="l">
              <a:buNone/>
            </a:pPr>
            <a:r>
              <a:rPr lang="en-US" sz="1000" dirty="0">
                <a:solidFill>
                  <a:srgbClr val="6B7280"/>
                </a:solidFill>
                <a:latin typeface="Manrope" pitchFamily="34" charset="0"/>
                <a:ea typeface="Manrope" pitchFamily="34" charset="-122"/>
                <a:cs typeface="Manrope" pitchFamily="34" charset="-120"/>
              </a:rPr>
              <a:t>§28 à §30 · Slides 54 → 55</a:t>
            </a:r>
            <a:endParaRPr lang="en-US" sz="1000" dirty="0"/>
          </a:p>
        </p:txBody>
      </p:sp>
      <p:sp>
        <p:nvSpPr>
          <p:cNvPr id="57" name="Shape 55"/>
          <p:cNvSpPr/>
          <p:nvPr/>
        </p:nvSpPr>
        <p:spPr>
          <a:xfrm>
            <a:off x="12154205" y="3314700"/>
            <a:ext cx="418795" cy="418795"/>
          </a:xfrm>
          <a:prstGeom prst="roundRect">
            <a:avLst>
              <a:gd name="adj" fmla="val 22707"/>
            </a:avLst>
          </a:prstGeom>
          <a:solidFill>
            <a:srgbClr val="6D28D9"/>
          </a:solidFill>
          <a:ln w="12700">
            <a:solidFill>
              <a:srgbClr val="FFFFFF">
                <a:alpha val="0"/>
              </a:srgbClr>
            </a:solidFill>
            <a:prstDash val="solid"/>
          </a:ln>
        </p:spPr>
        <p:txBody>
          <a:bodyPr/>
          <a:lstStyle/>
          <a:p>
            <a:endParaRPr lang="fr-CI"/>
          </a:p>
        </p:txBody>
      </p:sp>
      <p:sp>
        <p:nvSpPr>
          <p:cNvPr id="58" name="Text 56"/>
          <p:cNvSpPr txBox="1"/>
          <p:nvPr/>
        </p:nvSpPr>
        <p:spPr>
          <a:xfrm>
            <a:off x="12154205" y="3314700"/>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300" b="1" dirty="0">
                <a:solidFill>
                  <a:srgbClr val="FFFFFF"/>
                </a:solidFill>
                <a:latin typeface="JetBrains Mono" pitchFamily="34" charset="0"/>
                <a:ea typeface="JetBrains Mono" pitchFamily="34" charset="-122"/>
                <a:cs typeface="JetBrains Mono" pitchFamily="34" charset="-120"/>
              </a:rPr>
              <a:t>XII</a:t>
            </a:r>
            <a:endParaRPr lang="en-US" sz="1300" dirty="0"/>
          </a:p>
        </p:txBody>
      </p:sp>
      <p:sp>
        <p:nvSpPr>
          <p:cNvPr id="59" name="Text 57"/>
          <p:cNvSpPr txBox="1"/>
          <p:nvPr/>
        </p:nvSpPr>
        <p:spPr>
          <a:xfrm>
            <a:off x="12706502" y="3314700"/>
            <a:ext cx="2451506"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Basculement sans impact</a:t>
            </a:r>
            <a:endParaRPr lang="en-US" sz="1300" dirty="0"/>
          </a:p>
        </p:txBody>
      </p:sp>
      <p:sp>
        <p:nvSpPr>
          <p:cNvPr id="60" name="Text 58"/>
          <p:cNvSpPr txBox="1"/>
          <p:nvPr/>
        </p:nvSpPr>
        <p:spPr>
          <a:xfrm>
            <a:off x="12706502" y="3543300"/>
            <a:ext cx="2134210" cy="181051"/>
          </a:xfrm>
          <a:prstGeom prst="rect">
            <a:avLst/>
          </a:prstGeom>
          <a:noFill/>
          <a:ln/>
        </p:spPr>
        <p:txBody>
          <a:bodyPr wrap="none" lIns="0" tIns="0" rIns="0" bIns="0" rtlCol="0" anchor="ctr"/>
          <a:lstStyle/>
          <a:p>
            <a:pPr marL="0" indent="0" algn="l">
              <a:buNone/>
            </a:pPr>
            <a:r>
              <a:rPr lang="en-US" sz="1000" dirty="0">
                <a:solidFill>
                  <a:srgbClr val="6B7280"/>
                </a:solidFill>
                <a:latin typeface="Manrope" pitchFamily="34" charset="0"/>
                <a:ea typeface="Manrope" pitchFamily="34" charset="-122"/>
                <a:cs typeface="Manrope" pitchFamily="34" charset="-120"/>
              </a:rPr>
              <a:t>§31 à §33 · Slides 56 → 57</a:t>
            </a:r>
            <a:endParaRPr lang="en-US" sz="1000" dirty="0"/>
          </a:p>
        </p:txBody>
      </p:sp>
      <p:sp>
        <p:nvSpPr>
          <p:cNvPr id="61" name="Shape 59"/>
          <p:cNvSpPr/>
          <p:nvPr/>
        </p:nvSpPr>
        <p:spPr>
          <a:xfrm>
            <a:off x="12154205" y="3866998"/>
            <a:ext cx="418795" cy="418795"/>
          </a:xfrm>
          <a:prstGeom prst="roundRect">
            <a:avLst>
              <a:gd name="adj" fmla="val 22707"/>
            </a:avLst>
          </a:prstGeom>
          <a:solidFill>
            <a:srgbClr val="6D28D9"/>
          </a:solidFill>
          <a:ln w="12700">
            <a:solidFill>
              <a:srgbClr val="FFFFFF">
                <a:alpha val="0"/>
              </a:srgbClr>
            </a:solidFill>
            <a:prstDash val="solid"/>
          </a:ln>
        </p:spPr>
        <p:txBody>
          <a:bodyPr/>
          <a:lstStyle/>
          <a:p>
            <a:endParaRPr lang="fr-CI"/>
          </a:p>
        </p:txBody>
      </p:sp>
      <p:sp>
        <p:nvSpPr>
          <p:cNvPr id="62" name="Text 60"/>
          <p:cNvSpPr txBox="1"/>
          <p:nvPr/>
        </p:nvSpPr>
        <p:spPr>
          <a:xfrm>
            <a:off x="12154205" y="3866998"/>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300" b="1" dirty="0">
                <a:solidFill>
                  <a:srgbClr val="FFFFFF"/>
                </a:solidFill>
                <a:latin typeface="JetBrains Mono" pitchFamily="34" charset="0"/>
                <a:ea typeface="JetBrains Mono" pitchFamily="34" charset="-122"/>
                <a:cs typeface="JetBrains Mono" pitchFamily="34" charset="-120"/>
              </a:rPr>
              <a:t>XIII</a:t>
            </a:r>
            <a:endParaRPr lang="en-US" sz="1300" dirty="0"/>
          </a:p>
        </p:txBody>
      </p:sp>
      <p:sp>
        <p:nvSpPr>
          <p:cNvPr id="63" name="Text 61"/>
          <p:cNvSpPr txBox="1"/>
          <p:nvPr/>
        </p:nvSpPr>
        <p:spPr>
          <a:xfrm>
            <a:off x="12706502" y="3866998"/>
            <a:ext cx="2324405"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Suivi post-déploiement</a:t>
            </a:r>
            <a:endParaRPr lang="en-US" sz="1300" dirty="0"/>
          </a:p>
        </p:txBody>
      </p:sp>
      <p:sp>
        <p:nvSpPr>
          <p:cNvPr id="64" name="Text 62"/>
          <p:cNvSpPr txBox="1"/>
          <p:nvPr/>
        </p:nvSpPr>
        <p:spPr>
          <a:xfrm>
            <a:off x="12706502" y="4095598"/>
            <a:ext cx="2324405" cy="181051"/>
          </a:xfrm>
          <a:prstGeom prst="rect">
            <a:avLst/>
          </a:prstGeom>
          <a:noFill/>
          <a:ln/>
        </p:spPr>
        <p:txBody>
          <a:bodyPr wrap="none" lIns="0" tIns="0" rIns="0" bIns="0" rtlCol="0" anchor="ctr"/>
          <a:lstStyle/>
          <a:p>
            <a:pPr marL="0" indent="0" algn="l">
              <a:buNone/>
            </a:pPr>
            <a:r>
              <a:rPr lang="en-US" sz="1000" dirty="0">
                <a:solidFill>
                  <a:srgbClr val="6B7280"/>
                </a:solidFill>
                <a:latin typeface="Manrope" pitchFamily="34" charset="0"/>
                <a:ea typeface="Manrope" pitchFamily="34" charset="-122"/>
                <a:cs typeface="Manrope" pitchFamily="34" charset="-120"/>
              </a:rPr>
              <a:t>§34 · Slide 58 · Hypercare 15-30 j</a:t>
            </a:r>
            <a:endParaRPr lang="en-US" sz="1000" dirty="0"/>
          </a:p>
        </p:txBody>
      </p:sp>
      <p:sp>
        <p:nvSpPr>
          <p:cNvPr id="65" name="Shape 63"/>
          <p:cNvSpPr/>
          <p:nvPr/>
        </p:nvSpPr>
        <p:spPr>
          <a:xfrm>
            <a:off x="12154205" y="4419295"/>
            <a:ext cx="418795" cy="418795"/>
          </a:xfrm>
          <a:prstGeom prst="roundRect">
            <a:avLst>
              <a:gd name="adj" fmla="val 22707"/>
            </a:avLst>
          </a:prstGeom>
          <a:solidFill>
            <a:srgbClr val="6D28D9"/>
          </a:solidFill>
          <a:ln w="12700">
            <a:solidFill>
              <a:srgbClr val="FFFFFF">
                <a:alpha val="0"/>
              </a:srgbClr>
            </a:solidFill>
            <a:prstDash val="solid"/>
          </a:ln>
        </p:spPr>
        <p:txBody>
          <a:bodyPr/>
          <a:lstStyle/>
          <a:p>
            <a:endParaRPr lang="fr-CI"/>
          </a:p>
        </p:txBody>
      </p:sp>
      <p:sp>
        <p:nvSpPr>
          <p:cNvPr id="66" name="Text 64"/>
          <p:cNvSpPr txBox="1"/>
          <p:nvPr/>
        </p:nvSpPr>
        <p:spPr>
          <a:xfrm>
            <a:off x="12154205" y="4419295"/>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300" b="1" dirty="0">
                <a:solidFill>
                  <a:srgbClr val="FFFFFF"/>
                </a:solidFill>
                <a:latin typeface="JetBrains Mono" pitchFamily="34" charset="0"/>
                <a:ea typeface="JetBrains Mono" pitchFamily="34" charset="-122"/>
                <a:cs typeface="JetBrains Mono" pitchFamily="34" charset="-120"/>
              </a:rPr>
              <a:t>XIV</a:t>
            </a:r>
            <a:endParaRPr lang="en-US" sz="1300" dirty="0"/>
          </a:p>
        </p:txBody>
      </p:sp>
      <p:sp>
        <p:nvSpPr>
          <p:cNvPr id="67" name="Text 65"/>
          <p:cNvSpPr txBox="1"/>
          <p:nvPr/>
        </p:nvSpPr>
        <p:spPr>
          <a:xfrm>
            <a:off x="12706502" y="4419295"/>
            <a:ext cx="1825142"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Livrables attendus</a:t>
            </a:r>
            <a:endParaRPr lang="en-US" sz="1300" dirty="0"/>
          </a:p>
        </p:txBody>
      </p:sp>
      <p:sp>
        <p:nvSpPr>
          <p:cNvPr id="68" name="Text 66"/>
          <p:cNvSpPr txBox="1"/>
          <p:nvPr/>
        </p:nvSpPr>
        <p:spPr>
          <a:xfrm>
            <a:off x="12706502" y="4647895"/>
            <a:ext cx="1791310" cy="181051"/>
          </a:xfrm>
          <a:prstGeom prst="rect">
            <a:avLst/>
          </a:prstGeom>
          <a:noFill/>
          <a:ln/>
        </p:spPr>
        <p:txBody>
          <a:bodyPr wrap="none" lIns="0" tIns="0" rIns="0" bIns="0" rtlCol="0" anchor="ctr"/>
          <a:lstStyle/>
          <a:p>
            <a:pPr marL="0" indent="0" algn="l">
              <a:buNone/>
            </a:pPr>
            <a:r>
              <a:rPr lang="en-US" sz="1000" dirty="0">
                <a:solidFill>
                  <a:srgbClr val="6B7280"/>
                </a:solidFill>
                <a:latin typeface="Manrope" pitchFamily="34" charset="0"/>
                <a:ea typeface="Manrope" pitchFamily="34" charset="-122"/>
                <a:cs typeface="Manrope" pitchFamily="34" charset="-120"/>
              </a:rPr>
              <a:t>§35 à §36 · Slide 58</a:t>
            </a:r>
            <a:endParaRPr lang="en-US" sz="1000" dirty="0"/>
          </a:p>
        </p:txBody>
      </p:sp>
      <p:sp>
        <p:nvSpPr>
          <p:cNvPr id="69" name="Shape 67"/>
          <p:cNvSpPr/>
          <p:nvPr/>
        </p:nvSpPr>
        <p:spPr>
          <a:xfrm>
            <a:off x="12154205" y="4972507"/>
            <a:ext cx="418795" cy="418795"/>
          </a:xfrm>
          <a:prstGeom prst="roundRect">
            <a:avLst>
              <a:gd name="adj" fmla="val 22707"/>
            </a:avLst>
          </a:prstGeom>
          <a:solidFill>
            <a:srgbClr val="6D28D9"/>
          </a:solidFill>
          <a:ln w="12700">
            <a:solidFill>
              <a:srgbClr val="FFFFFF">
                <a:alpha val="0"/>
              </a:srgbClr>
            </a:solidFill>
            <a:prstDash val="solid"/>
          </a:ln>
        </p:spPr>
        <p:txBody>
          <a:bodyPr/>
          <a:lstStyle/>
          <a:p>
            <a:endParaRPr lang="fr-CI"/>
          </a:p>
        </p:txBody>
      </p:sp>
      <p:sp>
        <p:nvSpPr>
          <p:cNvPr id="70" name="Text 68"/>
          <p:cNvSpPr txBox="1"/>
          <p:nvPr/>
        </p:nvSpPr>
        <p:spPr>
          <a:xfrm>
            <a:off x="12154205" y="4972507"/>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300" b="1" dirty="0">
                <a:solidFill>
                  <a:srgbClr val="FFFFFF"/>
                </a:solidFill>
                <a:latin typeface="JetBrains Mono" pitchFamily="34" charset="0"/>
                <a:ea typeface="JetBrains Mono" pitchFamily="34" charset="-122"/>
                <a:cs typeface="JetBrains Mono" pitchFamily="34" charset="-120"/>
              </a:rPr>
              <a:t>XV</a:t>
            </a:r>
            <a:endParaRPr lang="en-US" sz="1300" dirty="0"/>
          </a:p>
        </p:txBody>
      </p:sp>
      <p:sp>
        <p:nvSpPr>
          <p:cNvPr id="71" name="Text 69"/>
          <p:cNvSpPr txBox="1"/>
          <p:nvPr/>
        </p:nvSpPr>
        <p:spPr>
          <a:xfrm>
            <a:off x="12706502" y="4972507"/>
            <a:ext cx="2833726"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Conclusion &amp; feuille de route</a:t>
            </a:r>
            <a:endParaRPr lang="en-US" sz="1300" dirty="0"/>
          </a:p>
        </p:txBody>
      </p:sp>
      <p:sp>
        <p:nvSpPr>
          <p:cNvPr id="72" name="Text 70"/>
          <p:cNvSpPr txBox="1"/>
          <p:nvPr/>
        </p:nvSpPr>
        <p:spPr>
          <a:xfrm>
            <a:off x="12706502" y="5201107"/>
            <a:ext cx="2382012" cy="181051"/>
          </a:xfrm>
          <a:prstGeom prst="rect">
            <a:avLst/>
          </a:prstGeom>
          <a:noFill/>
          <a:ln/>
        </p:spPr>
        <p:txBody>
          <a:bodyPr wrap="none" lIns="0" tIns="0" rIns="0" bIns="0" rtlCol="0" anchor="ctr"/>
          <a:lstStyle/>
          <a:p>
            <a:pPr marL="0" indent="0" algn="l">
              <a:buNone/>
            </a:pPr>
            <a:r>
              <a:rPr lang="en-US" sz="1000" dirty="0">
                <a:solidFill>
                  <a:srgbClr val="6B7280"/>
                </a:solidFill>
                <a:latin typeface="Manrope" pitchFamily="34" charset="0"/>
                <a:ea typeface="Manrope" pitchFamily="34" charset="-122"/>
                <a:cs typeface="Manrope" pitchFamily="34" charset="-120"/>
              </a:rPr>
              <a:t>Slide 59</a:t>
            </a:r>
            <a:endParaRPr lang="en-US" sz="1000" dirty="0"/>
          </a:p>
        </p:txBody>
      </p:sp>
      <p:sp>
        <p:nvSpPr>
          <p:cNvPr id="73" name="Shape 71"/>
          <p:cNvSpPr/>
          <p:nvPr/>
        </p:nvSpPr>
        <p:spPr>
          <a:xfrm>
            <a:off x="914400" y="8382305"/>
            <a:ext cx="16497605" cy="1143000"/>
          </a:xfrm>
          <a:prstGeom prst="roundRect">
            <a:avLst>
              <a:gd name="adj" fmla="val 11680"/>
            </a:avLst>
          </a:prstGeom>
          <a:solidFill>
            <a:srgbClr val="F5F3FF"/>
          </a:solidFill>
          <a:ln w="12700">
            <a:solidFill>
              <a:srgbClr val="DDD6FE"/>
            </a:solidFill>
            <a:prstDash val="solid"/>
          </a:ln>
        </p:spPr>
        <p:txBody>
          <a:bodyPr/>
          <a:lstStyle/>
          <a:p>
            <a:endParaRPr lang="fr-CI"/>
          </a:p>
        </p:txBody>
      </p:sp>
      <p:sp>
        <p:nvSpPr>
          <p:cNvPr id="74" name="Text 72"/>
          <p:cNvSpPr txBox="1"/>
          <p:nvPr/>
        </p:nvSpPr>
        <p:spPr>
          <a:xfrm>
            <a:off x="1218895" y="8591702"/>
            <a:ext cx="582473" cy="600761"/>
          </a:xfrm>
          <a:prstGeom prst="rect">
            <a:avLst/>
          </a:prstGeom>
          <a:noFill/>
          <a:ln/>
        </p:spPr>
        <p:txBody>
          <a:bodyPr wrap="none" lIns="0" tIns="0" rIns="0" bIns="0" rtlCol="0" anchor="ctr"/>
          <a:lstStyle/>
          <a:p>
            <a:pPr marL="0" indent="0" algn="l">
              <a:buNone/>
            </a:pPr>
            <a:r>
              <a:rPr lang="en-US" sz="3600" b="1" kern="0" spc="-72" dirty="0">
                <a:solidFill>
                  <a:srgbClr val="6D28D9"/>
                </a:solidFill>
                <a:latin typeface="JetBrains Mono" pitchFamily="34" charset="0"/>
                <a:ea typeface="JetBrains Mono" pitchFamily="34" charset="-122"/>
                <a:cs typeface="JetBrains Mono" pitchFamily="34" charset="-120"/>
              </a:rPr>
              <a:t>J0</a:t>
            </a:r>
            <a:endParaRPr lang="en-US" sz="3600" dirty="0"/>
          </a:p>
        </p:txBody>
      </p:sp>
      <p:sp>
        <p:nvSpPr>
          <p:cNvPr id="75" name="Text 73"/>
          <p:cNvSpPr txBox="1"/>
          <p:nvPr/>
        </p:nvSpPr>
        <p:spPr>
          <a:xfrm>
            <a:off x="2054657" y="8624621"/>
            <a:ext cx="12306910" cy="286207"/>
          </a:xfrm>
          <a:prstGeom prst="rect">
            <a:avLst/>
          </a:prstGeom>
          <a:noFill/>
          <a:ln/>
        </p:spPr>
        <p:txBody>
          <a:bodyPr wrap="none" lIns="0" tIns="0" rIns="0" bIns="0" rtlCol="0" anchor="ctr"/>
          <a:lstStyle/>
          <a:p>
            <a:pPr marL="0" indent="0" algn="l">
              <a:buNone/>
            </a:pPr>
            <a:r>
              <a:rPr lang="en-US" sz="1600" b="1" dirty="0">
                <a:solidFill>
                  <a:srgbClr val="1F2937"/>
                </a:solidFill>
                <a:latin typeface="Manrope" pitchFamily="34" charset="0"/>
                <a:ea typeface="Manrope" pitchFamily="34" charset="-122"/>
                <a:cs typeface="Manrope" pitchFamily="34" charset="-120"/>
              </a:rPr>
              <a:t>Jalon clé du document — Dimanche 21 juin 2026</a:t>
            </a:r>
            <a:endParaRPr lang="en-US" sz="1600" dirty="0"/>
          </a:p>
        </p:txBody>
      </p:sp>
      <p:sp>
        <p:nvSpPr>
          <p:cNvPr id="76" name="Text 74"/>
          <p:cNvSpPr txBox="1"/>
          <p:nvPr/>
        </p:nvSpPr>
        <p:spPr>
          <a:xfrm>
            <a:off x="2054657" y="8948318"/>
            <a:ext cx="12992710" cy="210312"/>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Journée de test réel multiservices avec 40 engins, 30-40 clients testeurs, partenaires, franchise, équipes support, finance, technique &amp; direction.</a:t>
            </a:r>
            <a:endParaRPr lang="en-US" sz="1200" dirty="0"/>
          </a:p>
        </p:txBody>
      </p:sp>
      <p:sp>
        <p:nvSpPr>
          <p:cNvPr id="77" name="Shape 75"/>
          <p:cNvSpPr/>
          <p:nvPr/>
        </p:nvSpPr>
        <p:spPr>
          <a:xfrm>
            <a:off x="14658746" y="8748979"/>
            <a:ext cx="2476195"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78" name="Text 76"/>
          <p:cNvSpPr/>
          <p:nvPr/>
        </p:nvSpPr>
        <p:spPr>
          <a:xfrm>
            <a:off x="14658746" y="8748979"/>
            <a:ext cx="2477110"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20 taxis · 10 motos · 5 location · 5 fret</a:t>
            </a:r>
            <a:endParaRPr lang="en-US" sz="900" dirty="0"/>
          </a:p>
        </p:txBody>
      </p:sp>
      <p:sp>
        <p:nvSpPr>
          <p:cNvPr id="79" name="Shape 77"/>
          <p:cNvSpPr/>
          <p:nvPr/>
        </p:nvSpPr>
        <p:spPr>
          <a:xfrm>
            <a:off x="0" y="9791395"/>
            <a:ext cx="18288000" cy="495605"/>
          </a:xfrm>
          <a:prstGeom prst="rect">
            <a:avLst/>
          </a:prstGeom>
          <a:solidFill>
            <a:srgbClr val="FFFFFF"/>
          </a:solidFill>
          <a:ln/>
        </p:spPr>
        <p:txBody>
          <a:bodyPr/>
          <a:lstStyle/>
          <a:p>
            <a:endParaRPr lang="fr-CI"/>
          </a:p>
        </p:txBody>
      </p:sp>
      <p:sp>
        <p:nvSpPr>
          <p:cNvPr id="80" name="Shape 78"/>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81" name="Text 79"/>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82" name="Text 80"/>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03 / 59</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6051378" y="256946"/>
            <a:ext cx="1938528"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Partie I — §2 Objectifs</a:t>
            </a:r>
            <a:endParaRPr lang="en-US" sz="900" dirty="0"/>
          </a:p>
        </p:txBody>
      </p:sp>
      <p:sp>
        <p:nvSpPr>
          <p:cNvPr id="10" name="Text 8"/>
          <p:cNvSpPr txBox="1"/>
          <p:nvPr/>
        </p:nvSpPr>
        <p:spPr>
          <a:xfrm>
            <a:off x="914400" y="1205179"/>
            <a:ext cx="2762402" cy="181051"/>
          </a:xfrm>
          <a:prstGeom prst="rect">
            <a:avLst/>
          </a:prstGeom>
          <a:noFill/>
          <a:ln/>
        </p:spPr>
        <p:txBody>
          <a:bodyPr wrap="none" lIns="0" tIns="0" rIns="0" bIns="0" rtlCol="0" anchor="ctr"/>
          <a:lstStyle/>
          <a:p>
            <a:pPr marL="0" indent="0" algn="l">
              <a:buNone/>
            </a:pPr>
            <a:r>
              <a:rPr lang="en-US" sz="1400" b="1" kern="0" spc="189" dirty="0">
                <a:solidFill>
                  <a:srgbClr val="6D28D9"/>
                </a:solidFill>
                <a:latin typeface="Manrope" pitchFamily="34" charset="0"/>
                <a:ea typeface="Manrope" pitchFamily="34" charset="-122"/>
                <a:cs typeface="Manrope" pitchFamily="34" charset="-120"/>
              </a:rPr>
              <a:t>2. Objectifs du document</a:t>
            </a:r>
            <a:endParaRPr lang="en-US" sz="14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8177358"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14 objectifs structurant la démarche de recette &amp; migration.</a:t>
            </a:r>
            <a:endParaRPr lang="en-US" sz="3900" dirty="0"/>
          </a:p>
        </p:txBody>
      </p:sp>
      <p:sp>
        <p:nvSpPr>
          <p:cNvPr id="13" name="Shape 11"/>
          <p:cNvSpPr/>
          <p:nvPr/>
        </p:nvSpPr>
        <p:spPr>
          <a:xfrm>
            <a:off x="914400" y="2762402"/>
            <a:ext cx="4009644" cy="990295"/>
          </a:xfrm>
          <a:prstGeom prst="roundRect">
            <a:avLst>
              <a:gd name="adj" fmla="val 13481"/>
            </a:avLst>
          </a:prstGeom>
          <a:solidFill>
            <a:srgbClr val="F5F4FB"/>
          </a:solidFill>
          <a:ln w="12700">
            <a:solidFill>
              <a:srgbClr val="E5E7EB"/>
            </a:solidFill>
            <a:prstDash val="solid"/>
          </a:ln>
        </p:spPr>
        <p:txBody>
          <a:bodyPr/>
          <a:lstStyle/>
          <a:p>
            <a:endParaRPr lang="fr-CI"/>
          </a:p>
        </p:txBody>
      </p:sp>
      <p:sp>
        <p:nvSpPr>
          <p:cNvPr id="14" name="Text 12"/>
          <p:cNvSpPr txBox="1"/>
          <p:nvPr/>
        </p:nvSpPr>
        <p:spPr>
          <a:xfrm>
            <a:off x="1095451" y="2943454"/>
            <a:ext cx="3648456" cy="152705"/>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01</a:t>
            </a:r>
            <a:endParaRPr lang="en-US" sz="900" dirty="0"/>
          </a:p>
        </p:txBody>
      </p:sp>
      <p:sp>
        <p:nvSpPr>
          <p:cNvPr id="15" name="Text 13"/>
          <p:cNvSpPr txBox="1"/>
          <p:nvPr/>
        </p:nvSpPr>
        <p:spPr>
          <a:xfrm>
            <a:off x="1095451" y="3152851"/>
            <a:ext cx="3648456" cy="419710"/>
          </a:xfrm>
          <a:prstGeom prst="rect">
            <a:avLst/>
          </a:prstGeom>
          <a:noFill/>
          <a:ln/>
        </p:spPr>
        <p:txBody>
          <a:bodyPr wrap="squar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Organiser la recette complète de la nouvelle version</a:t>
            </a:r>
            <a:endParaRPr lang="en-US" sz="1200" dirty="0"/>
          </a:p>
        </p:txBody>
      </p:sp>
      <p:sp>
        <p:nvSpPr>
          <p:cNvPr id="16" name="Shape 14"/>
          <p:cNvSpPr/>
          <p:nvPr/>
        </p:nvSpPr>
        <p:spPr>
          <a:xfrm>
            <a:off x="5076749" y="2762402"/>
            <a:ext cx="4009644" cy="990295"/>
          </a:xfrm>
          <a:prstGeom prst="roundRect">
            <a:avLst>
              <a:gd name="adj" fmla="val 13481"/>
            </a:avLst>
          </a:prstGeom>
          <a:solidFill>
            <a:srgbClr val="F5F4FB"/>
          </a:solidFill>
          <a:ln w="12700">
            <a:solidFill>
              <a:srgbClr val="E5E7EB"/>
            </a:solidFill>
            <a:prstDash val="solid"/>
          </a:ln>
        </p:spPr>
        <p:txBody>
          <a:bodyPr/>
          <a:lstStyle/>
          <a:p>
            <a:endParaRPr lang="fr-CI"/>
          </a:p>
        </p:txBody>
      </p:sp>
      <p:sp>
        <p:nvSpPr>
          <p:cNvPr id="17" name="Text 15"/>
          <p:cNvSpPr txBox="1"/>
          <p:nvPr/>
        </p:nvSpPr>
        <p:spPr>
          <a:xfrm>
            <a:off x="5257800" y="2943454"/>
            <a:ext cx="3648456" cy="152705"/>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02</a:t>
            </a:r>
            <a:endParaRPr lang="en-US" sz="900" dirty="0"/>
          </a:p>
        </p:txBody>
      </p:sp>
      <p:sp>
        <p:nvSpPr>
          <p:cNvPr id="18" name="Text 16"/>
          <p:cNvSpPr txBox="1"/>
          <p:nvPr/>
        </p:nvSpPr>
        <p:spPr>
          <a:xfrm>
            <a:off x="5257800" y="3152851"/>
            <a:ext cx="3648456" cy="419710"/>
          </a:xfrm>
          <a:prstGeom prst="rect">
            <a:avLst/>
          </a:prstGeom>
          <a:noFill/>
          <a:ln/>
        </p:spPr>
        <p:txBody>
          <a:bodyPr wrap="squar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Définir les prérequis techniques et infrastructures préprod</a:t>
            </a:r>
            <a:endParaRPr lang="en-US" sz="1200" dirty="0"/>
          </a:p>
        </p:txBody>
      </p:sp>
      <p:sp>
        <p:nvSpPr>
          <p:cNvPr id="19" name="Shape 17"/>
          <p:cNvSpPr/>
          <p:nvPr/>
        </p:nvSpPr>
        <p:spPr>
          <a:xfrm>
            <a:off x="9239098" y="2762402"/>
            <a:ext cx="4009644" cy="990295"/>
          </a:xfrm>
          <a:prstGeom prst="roundRect">
            <a:avLst>
              <a:gd name="adj" fmla="val 13481"/>
            </a:avLst>
          </a:prstGeom>
          <a:solidFill>
            <a:srgbClr val="F5F4FB"/>
          </a:solidFill>
          <a:ln w="12700">
            <a:solidFill>
              <a:srgbClr val="E5E7EB"/>
            </a:solidFill>
            <a:prstDash val="solid"/>
          </a:ln>
        </p:spPr>
        <p:txBody>
          <a:bodyPr/>
          <a:lstStyle/>
          <a:p>
            <a:endParaRPr lang="fr-CI"/>
          </a:p>
        </p:txBody>
      </p:sp>
      <p:sp>
        <p:nvSpPr>
          <p:cNvPr id="20" name="Text 18"/>
          <p:cNvSpPr txBox="1"/>
          <p:nvPr/>
        </p:nvSpPr>
        <p:spPr>
          <a:xfrm>
            <a:off x="9420149" y="2943454"/>
            <a:ext cx="3648456" cy="152705"/>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03</a:t>
            </a:r>
            <a:endParaRPr lang="en-US" sz="900" dirty="0"/>
          </a:p>
        </p:txBody>
      </p:sp>
      <p:sp>
        <p:nvSpPr>
          <p:cNvPr id="21" name="Text 19"/>
          <p:cNvSpPr txBox="1"/>
          <p:nvPr/>
        </p:nvSpPr>
        <p:spPr>
          <a:xfrm>
            <a:off x="9420149" y="3152851"/>
            <a:ext cx="3648456" cy="419710"/>
          </a:xfrm>
          <a:prstGeom prst="rect">
            <a:avLst/>
          </a:prstGeom>
          <a:noFill/>
          <a:ln/>
        </p:spPr>
        <p:txBody>
          <a:bodyPr wrap="squar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Prendre en compte tous les services de la plateforme</a:t>
            </a:r>
            <a:endParaRPr lang="en-US" sz="1200" dirty="0"/>
          </a:p>
        </p:txBody>
      </p:sp>
      <p:sp>
        <p:nvSpPr>
          <p:cNvPr id="22" name="Shape 20"/>
          <p:cNvSpPr/>
          <p:nvPr/>
        </p:nvSpPr>
        <p:spPr>
          <a:xfrm>
            <a:off x="13401446" y="2762402"/>
            <a:ext cx="4009644" cy="990295"/>
          </a:xfrm>
          <a:prstGeom prst="roundRect">
            <a:avLst>
              <a:gd name="adj" fmla="val 13481"/>
            </a:avLst>
          </a:prstGeom>
          <a:solidFill>
            <a:srgbClr val="F5F4FB"/>
          </a:solidFill>
          <a:ln w="12700">
            <a:solidFill>
              <a:srgbClr val="E5E7EB"/>
            </a:solidFill>
            <a:prstDash val="solid"/>
          </a:ln>
        </p:spPr>
        <p:txBody>
          <a:bodyPr/>
          <a:lstStyle/>
          <a:p>
            <a:endParaRPr lang="fr-CI"/>
          </a:p>
        </p:txBody>
      </p:sp>
      <p:sp>
        <p:nvSpPr>
          <p:cNvPr id="23" name="Text 21"/>
          <p:cNvSpPr txBox="1"/>
          <p:nvPr/>
        </p:nvSpPr>
        <p:spPr>
          <a:xfrm>
            <a:off x="13582498" y="2943454"/>
            <a:ext cx="3648456" cy="152705"/>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04</a:t>
            </a:r>
            <a:endParaRPr lang="en-US" sz="900" dirty="0"/>
          </a:p>
        </p:txBody>
      </p:sp>
      <p:sp>
        <p:nvSpPr>
          <p:cNvPr id="24" name="Text 22"/>
          <p:cNvSpPr txBox="1"/>
          <p:nvPr/>
        </p:nvSpPr>
        <p:spPr>
          <a:xfrm>
            <a:off x="13582498" y="3152851"/>
            <a:ext cx="3648456" cy="419710"/>
          </a:xfrm>
          <a:prstGeom prst="rect">
            <a:avLst/>
          </a:prstGeom>
          <a:noFill/>
          <a:ln/>
        </p:spPr>
        <p:txBody>
          <a:bodyPr wrap="squar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Détailler les fonctionnalités à tester par profil utilisateur</a:t>
            </a:r>
            <a:endParaRPr lang="en-US" sz="1200" dirty="0"/>
          </a:p>
        </p:txBody>
      </p:sp>
      <p:sp>
        <p:nvSpPr>
          <p:cNvPr id="25" name="Shape 23"/>
          <p:cNvSpPr/>
          <p:nvPr/>
        </p:nvSpPr>
        <p:spPr>
          <a:xfrm>
            <a:off x="914400" y="3897173"/>
            <a:ext cx="4009644" cy="990295"/>
          </a:xfrm>
          <a:prstGeom prst="roundRect">
            <a:avLst>
              <a:gd name="adj" fmla="val 13481"/>
            </a:avLst>
          </a:prstGeom>
          <a:solidFill>
            <a:srgbClr val="F5F4FB"/>
          </a:solidFill>
          <a:ln w="12700">
            <a:solidFill>
              <a:srgbClr val="E5E7EB"/>
            </a:solidFill>
            <a:prstDash val="solid"/>
          </a:ln>
        </p:spPr>
        <p:txBody>
          <a:bodyPr/>
          <a:lstStyle/>
          <a:p>
            <a:endParaRPr lang="fr-CI"/>
          </a:p>
        </p:txBody>
      </p:sp>
      <p:sp>
        <p:nvSpPr>
          <p:cNvPr id="26" name="Text 24"/>
          <p:cNvSpPr txBox="1"/>
          <p:nvPr/>
        </p:nvSpPr>
        <p:spPr>
          <a:xfrm>
            <a:off x="1095451" y="4078224"/>
            <a:ext cx="3648456" cy="152705"/>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05</a:t>
            </a:r>
            <a:endParaRPr lang="en-US" sz="900" dirty="0"/>
          </a:p>
        </p:txBody>
      </p:sp>
      <p:sp>
        <p:nvSpPr>
          <p:cNvPr id="27" name="Text 25"/>
          <p:cNvSpPr txBox="1"/>
          <p:nvPr/>
        </p:nvSpPr>
        <p:spPr>
          <a:xfrm>
            <a:off x="1095451" y="4287622"/>
            <a:ext cx="4310482" cy="210312"/>
          </a:xfrm>
          <a:prstGeom prst="rect">
            <a:avLst/>
          </a:prstGeom>
          <a:noFill/>
          <a:ln/>
        </p:spPr>
        <p:txBody>
          <a:bodyPr wrap="non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Formaliser les scénarios de recette en use cases</a:t>
            </a:r>
            <a:endParaRPr lang="en-US" sz="1200" dirty="0"/>
          </a:p>
        </p:txBody>
      </p:sp>
      <p:sp>
        <p:nvSpPr>
          <p:cNvPr id="28" name="Shape 26"/>
          <p:cNvSpPr/>
          <p:nvPr/>
        </p:nvSpPr>
        <p:spPr>
          <a:xfrm>
            <a:off x="5076749" y="3897173"/>
            <a:ext cx="4009644" cy="990295"/>
          </a:xfrm>
          <a:prstGeom prst="roundRect">
            <a:avLst>
              <a:gd name="adj" fmla="val 13481"/>
            </a:avLst>
          </a:prstGeom>
          <a:solidFill>
            <a:srgbClr val="F5F4FB"/>
          </a:solidFill>
          <a:ln w="12700">
            <a:solidFill>
              <a:srgbClr val="E5E7EB"/>
            </a:solidFill>
            <a:prstDash val="solid"/>
          </a:ln>
        </p:spPr>
        <p:txBody>
          <a:bodyPr/>
          <a:lstStyle/>
          <a:p>
            <a:endParaRPr lang="fr-CI"/>
          </a:p>
        </p:txBody>
      </p:sp>
      <p:sp>
        <p:nvSpPr>
          <p:cNvPr id="29" name="Text 27"/>
          <p:cNvSpPr txBox="1"/>
          <p:nvPr/>
        </p:nvSpPr>
        <p:spPr>
          <a:xfrm>
            <a:off x="5257800" y="4078224"/>
            <a:ext cx="3648456" cy="152705"/>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06</a:t>
            </a:r>
            <a:endParaRPr lang="en-US" sz="900" dirty="0"/>
          </a:p>
        </p:txBody>
      </p:sp>
      <p:sp>
        <p:nvSpPr>
          <p:cNvPr id="30" name="Text 28"/>
          <p:cNvSpPr txBox="1"/>
          <p:nvPr/>
        </p:nvSpPr>
        <p:spPr>
          <a:xfrm>
            <a:off x="5257800" y="4287622"/>
            <a:ext cx="3648456" cy="419710"/>
          </a:xfrm>
          <a:prstGeom prst="rect">
            <a:avLst/>
          </a:prstGeom>
          <a:noFill/>
          <a:ln/>
        </p:spPr>
        <p:txBody>
          <a:bodyPr wrap="squar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Organiser une journée de test réel avec ~40 engins</a:t>
            </a:r>
            <a:endParaRPr lang="en-US" sz="1200" dirty="0"/>
          </a:p>
        </p:txBody>
      </p:sp>
      <p:sp>
        <p:nvSpPr>
          <p:cNvPr id="31" name="Shape 29"/>
          <p:cNvSpPr/>
          <p:nvPr/>
        </p:nvSpPr>
        <p:spPr>
          <a:xfrm>
            <a:off x="9239098" y="3897173"/>
            <a:ext cx="4009644" cy="990295"/>
          </a:xfrm>
          <a:prstGeom prst="roundRect">
            <a:avLst>
              <a:gd name="adj" fmla="val 13481"/>
            </a:avLst>
          </a:prstGeom>
          <a:solidFill>
            <a:srgbClr val="F5F4FB"/>
          </a:solidFill>
          <a:ln w="12700">
            <a:solidFill>
              <a:srgbClr val="E5E7EB"/>
            </a:solidFill>
            <a:prstDash val="solid"/>
          </a:ln>
        </p:spPr>
        <p:txBody>
          <a:bodyPr/>
          <a:lstStyle/>
          <a:p>
            <a:endParaRPr lang="fr-CI"/>
          </a:p>
        </p:txBody>
      </p:sp>
      <p:sp>
        <p:nvSpPr>
          <p:cNvPr id="32" name="Text 30"/>
          <p:cNvSpPr txBox="1"/>
          <p:nvPr/>
        </p:nvSpPr>
        <p:spPr>
          <a:xfrm>
            <a:off x="9420149" y="4078224"/>
            <a:ext cx="3648456" cy="152705"/>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07</a:t>
            </a:r>
            <a:endParaRPr lang="en-US" sz="900" dirty="0"/>
          </a:p>
        </p:txBody>
      </p:sp>
      <p:sp>
        <p:nvSpPr>
          <p:cNvPr id="33" name="Text 31"/>
          <p:cNvSpPr txBox="1"/>
          <p:nvPr/>
        </p:nvSpPr>
        <p:spPr>
          <a:xfrm>
            <a:off x="9420149" y="4287622"/>
            <a:ext cx="3648456" cy="419710"/>
          </a:xfrm>
          <a:prstGeom prst="rect">
            <a:avLst/>
          </a:prstGeom>
          <a:noFill/>
          <a:ln/>
        </p:spPr>
        <p:txBody>
          <a:bodyPr wrap="squar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Tester les parcours clients, chauffeurs, livreurs, partenaires</a:t>
            </a:r>
            <a:endParaRPr lang="en-US" sz="1200" dirty="0"/>
          </a:p>
        </p:txBody>
      </p:sp>
      <p:sp>
        <p:nvSpPr>
          <p:cNvPr id="34" name="Shape 32"/>
          <p:cNvSpPr/>
          <p:nvPr/>
        </p:nvSpPr>
        <p:spPr>
          <a:xfrm>
            <a:off x="13401446" y="3897173"/>
            <a:ext cx="4009644" cy="990295"/>
          </a:xfrm>
          <a:prstGeom prst="roundRect">
            <a:avLst>
              <a:gd name="adj" fmla="val 13481"/>
            </a:avLst>
          </a:prstGeom>
          <a:solidFill>
            <a:srgbClr val="F5F4FB"/>
          </a:solidFill>
          <a:ln w="12700">
            <a:solidFill>
              <a:srgbClr val="E5E7EB"/>
            </a:solidFill>
            <a:prstDash val="solid"/>
          </a:ln>
        </p:spPr>
        <p:txBody>
          <a:bodyPr/>
          <a:lstStyle/>
          <a:p>
            <a:endParaRPr lang="fr-CI"/>
          </a:p>
        </p:txBody>
      </p:sp>
      <p:sp>
        <p:nvSpPr>
          <p:cNvPr id="35" name="Text 33"/>
          <p:cNvSpPr txBox="1"/>
          <p:nvPr/>
        </p:nvSpPr>
        <p:spPr>
          <a:xfrm>
            <a:off x="13582498" y="4078224"/>
            <a:ext cx="3648456" cy="152705"/>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08</a:t>
            </a:r>
            <a:endParaRPr lang="en-US" sz="900" dirty="0"/>
          </a:p>
        </p:txBody>
      </p:sp>
      <p:sp>
        <p:nvSpPr>
          <p:cNvPr id="36" name="Text 34"/>
          <p:cNvSpPr txBox="1"/>
          <p:nvPr/>
        </p:nvSpPr>
        <p:spPr>
          <a:xfrm>
            <a:off x="13582498" y="4287622"/>
            <a:ext cx="4310482" cy="210312"/>
          </a:xfrm>
          <a:prstGeom prst="rect">
            <a:avLst/>
          </a:prstGeom>
          <a:noFill/>
          <a:ln/>
        </p:spPr>
        <p:txBody>
          <a:bodyPr wrap="non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Vérifier la fiabilité des modules de reporting</a:t>
            </a:r>
            <a:endParaRPr lang="en-US" sz="1200" dirty="0"/>
          </a:p>
        </p:txBody>
      </p:sp>
      <p:sp>
        <p:nvSpPr>
          <p:cNvPr id="37" name="Shape 35"/>
          <p:cNvSpPr/>
          <p:nvPr/>
        </p:nvSpPr>
        <p:spPr>
          <a:xfrm>
            <a:off x="914400" y="5032858"/>
            <a:ext cx="4009644" cy="990295"/>
          </a:xfrm>
          <a:prstGeom prst="roundRect">
            <a:avLst>
              <a:gd name="adj" fmla="val 13481"/>
            </a:avLst>
          </a:prstGeom>
          <a:solidFill>
            <a:srgbClr val="F5F4FB"/>
          </a:solidFill>
          <a:ln w="12700">
            <a:solidFill>
              <a:srgbClr val="E5E7EB"/>
            </a:solidFill>
            <a:prstDash val="solid"/>
          </a:ln>
        </p:spPr>
        <p:txBody>
          <a:bodyPr/>
          <a:lstStyle/>
          <a:p>
            <a:endParaRPr lang="fr-CI"/>
          </a:p>
        </p:txBody>
      </p:sp>
      <p:sp>
        <p:nvSpPr>
          <p:cNvPr id="38" name="Text 36"/>
          <p:cNvSpPr txBox="1"/>
          <p:nvPr/>
        </p:nvSpPr>
        <p:spPr>
          <a:xfrm>
            <a:off x="1095451" y="5213909"/>
            <a:ext cx="3648456" cy="152705"/>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09</a:t>
            </a:r>
            <a:endParaRPr lang="en-US" sz="900" dirty="0"/>
          </a:p>
        </p:txBody>
      </p:sp>
      <p:sp>
        <p:nvSpPr>
          <p:cNvPr id="39" name="Text 37"/>
          <p:cNvSpPr txBox="1"/>
          <p:nvPr/>
        </p:nvSpPr>
        <p:spPr>
          <a:xfrm>
            <a:off x="1095451" y="5423306"/>
            <a:ext cx="3648456" cy="419710"/>
          </a:xfrm>
          <a:prstGeom prst="rect">
            <a:avLst/>
          </a:prstGeom>
          <a:noFill/>
          <a:ln/>
        </p:spPr>
        <p:txBody>
          <a:bodyPr wrap="squar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Vérifier commissions, wallet, paiement, recharge &amp; traçabilité</a:t>
            </a:r>
            <a:endParaRPr lang="en-US" sz="1200" dirty="0"/>
          </a:p>
        </p:txBody>
      </p:sp>
      <p:sp>
        <p:nvSpPr>
          <p:cNvPr id="40" name="Shape 38"/>
          <p:cNvSpPr/>
          <p:nvPr/>
        </p:nvSpPr>
        <p:spPr>
          <a:xfrm>
            <a:off x="5076749" y="5032858"/>
            <a:ext cx="4009644" cy="990295"/>
          </a:xfrm>
          <a:prstGeom prst="roundRect">
            <a:avLst>
              <a:gd name="adj" fmla="val 13481"/>
            </a:avLst>
          </a:prstGeom>
          <a:solidFill>
            <a:srgbClr val="F5F4FB"/>
          </a:solidFill>
          <a:ln w="12700">
            <a:solidFill>
              <a:srgbClr val="E5E7EB"/>
            </a:solidFill>
            <a:prstDash val="solid"/>
          </a:ln>
        </p:spPr>
        <p:txBody>
          <a:bodyPr/>
          <a:lstStyle/>
          <a:p>
            <a:endParaRPr lang="fr-CI"/>
          </a:p>
        </p:txBody>
      </p:sp>
      <p:sp>
        <p:nvSpPr>
          <p:cNvPr id="41" name="Text 39"/>
          <p:cNvSpPr txBox="1"/>
          <p:nvPr/>
        </p:nvSpPr>
        <p:spPr>
          <a:xfrm>
            <a:off x="5257800" y="5213909"/>
            <a:ext cx="3648456" cy="152705"/>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10</a:t>
            </a:r>
            <a:endParaRPr lang="en-US" sz="900" dirty="0"/>
          </a:p>
        </p:txBody>
      </p:sp>
      <p:sp>
        <p:nvSpPr>
          <p:cNvPr id="42" name="Text 40"/>
          <p:cNvSpPr txBox="1"/>
          <p:nvPr/>
        </p:nvSpPr>
        <p:spPr>
          <a:xfrm>
            <a:off x="5257800" y="5423306"/>
            <a:ext cx="3648456" cy="419710"/>
          </a:xfrm>
          <a:prstGeom prst="rect">
            <a:avLst/>
          </a:prstGeom>
          <a:noFill/>
          <a:ln/>
        </p:spPr>
        <p:txBody>
          <a:bodyPr wrap="squar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Préparer le plan de migration des données existantes</a:t>
            </a:r>
            <a:endParaRPr lang="en-US" sz="1200" dirty="0"/>
          </a:p>
        </p:txBody>
      </p:sp>
      <p:sp>
        <p:nvSpPr>
          <p:cNvPr id="43" name="Shape 41"/>
          <p:cNvSpPr/>
          <p:nvPr/>
        </p:nvSpPr>
        <p:spPr>
          <a:xfrm>
            <a:off x="9239098" y="5032858"/>
            <a:ext cx="4009644" cy="990295"/>
          </a:xfrm>
          <a:prstGeom prst="roundRect">
            <a:avLst>
              <a:gd name="adj" fmla="val 13481"/>
            </a:avLst>
          </a:prstGeom>
          <a:solidFill>
            <a:srgbClr val="F5F4FB"/>
          </a:solidFill>
          <a:ln w="12700">
            <a:solidFill>
              <a:srgbClr val="E5E7EB"/>
            </a:solidFill>
            <a:prstDash val="solid"/>
          </a:ln>
        </p:spPr>
        <p:txBody>
          <a:bodyPr/>
          <a:lstStyle/>
          <a:p>
            <a:endParaRPr lang="fr-CI"/>
          </a:p>
        </p:txBody>
      </p:sp>
      <p:sp>
        <p:nvSpPr>
          <p:cNvPr id="44" name="Text 42"/>
          <p:cNvSpPr txBox="1"/>
          <p:nvPr/>
        </p:nvSpPr>
        <p:spPr>
          <a:xfrm>
            <a:off x="9420149" y="5213909"/>
            <a:ext cx="3648456" cy="152705"/>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11</a:t>
            </a:r>
            <a:endParaRPr lang="en-US" sz="900" dirty="0"/>
          </a:p>
        </p:txBody>
      </p:sp>
      <p:sp>
        <p:nvSpPr>
          <p:cNvPr id="45" name="Text 43"/>
          <p:cNvSpPr txBox="1"/>
          <p:nvPr/>
        </p:nvSpPr>
        <p:spPr>
          <a:xfrm>
            <a:off x="9420149" y="5423306"/>
            <a:ext cx="3648456" cy="419710"/>
          </a:xfrm>
          <a:prstGeom prst="rect">
            <a:avLst/>
          </a:prstGeom>
          <a:noFill/>
          <a:ln/>
        </p:spPr>
        <p:txBody>
          <a:bodyPr wrap="squar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Garantir un basculement sans perte de données utilisateurs</a:t>
            </a:r>
            <a:endParaRPr lang="en-US" sz="1200" dirty="0"/>
          </a:p>
        </p:txBody>
      </p:sp>
      <p:sp>
        <p:nvSpPr>
          <p:cNvPr id="46" name="Shape 44"/>
          <p:cNvSpPr/>
          <p:nvPr/>
        </p:nvSpPr>
        <p:spPr>
          <a:xfrm>
            <a:off x="13401446" y="5032858"/>
            <a:ext cx="4009644" cy="990295"/>
          </a:xfrm>
          <a:prstGeom prst="roundRect">
            <a:avLst>
              <a:gd name="adj" fmla="val 13481"/>
            </a:avLst>
          </a:prstGeom>
          <a:solidFill>
            <a:srgbClr val="F5F4FB"/>
          </a:solidFill>
          <a:ln w="12700">
            <a:solidFill>
              <a:srgbClr val="E5E7EB"/>
            </a:solidFill>
            <a:prstDash val="solid"/>
          </a:ln>
        </p:spPr>
        <p:txBody>
          <a:bodyPr/>
          <a:lstStyle/>
          <a:p>
            <a:endParaRPr lang="fr-CI"/>
          </a:p>
        </p:txBody>
      </p:sp>
      <p:sp>
        <p:nvSpPr>
          <p:cNvPr id="47" name="Text 45"/>
          <p:cNvSpPr txBox="1"/>
          <p:nvPr/>
        </p:nvSpPr>
        <p:spPr>
          <a:xfrm>
            <a:off x="13582498" y="5213909"/>
            <a:ext cx="3648456" cy="152705"/>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12</a:t>
            </a:r>
            <a:endParaRPr lang="en-US" sz="900" dirty="0"/>
          </a:p>
        </p:txBody>
      </p:sp>
      <p:sp>
        <p:nvSpPr>
          <p:cNvPr id="48" name="Text 46"/>
          <p:cNvSpPr txBox="1"/>
          <p:nvPr/>
        </p:nvSpPr>
        <p:spPr>
          <a:xfrm>
            <a:off x="13582498" y="5423306"/>
            <a:ext cx="3863340" cy="210312"/>
          </a:xfrm>
          <a:prstGeom prst="rect">
            <a:avLst/>
          </a:prstGeom>
          <a:noFill/>
          <a:ln/>
        </p:spPr>
        <p:txBody>
          <a:bodyPr wrap="non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Réduire les risques de rupture de service</a:t>
            </a:r>
            <a:endParaRPr lang="en-US" sz="1200" dirty="0"/>
          </a:p>
        </p:txBody>
      </p:sp>
      <p:sp>
        <p:nvSpPr>
          <p:cNvPr id="49" name="Shape 47"/>
          <p:cNvSpPr/>
          <p:nvPr/>
        </p:nvSpPr>
        <p:spPr>
          <a:xfrm>
            <a:off x="914400" y="6167628"/>
            <a:ext cx="4009644" cy="990295"/>
          </a:xfrm>
          <a:prstGeom prst="roundRect">
            <a:avLst>
              <a:gd name="adj" fmla="val 13481"/>
            </a:avLst>
          </a:prstGeom>
          <a:solidFill>
            <a:srgbClr val="F5F3FF"/>
          </a:solidFill>
          <a:ln w="12700">
            <a:solidFill>
              <a:srgbClr val="DDD6FE"/>
            </a:solidFill>
            <a:prstDash val="solid"/>
          </a:ln>
        </p:spPr>
        <p:txBody>
          <a:bodyPr/>
          <a:lstStyle/>
          <a:p>
            <a:endParaRPr lang="fr-CI"/>
          </a:p>
        </p:txBody>
      </p:sp>
      <p:sp>
        <p:nvSpPr>
          <p:cNvPr id="50" name="Text 48"/>
          <p:cNvSpPr txBox="1"/>
          <p:nvPr/>
        </p:nvSpPr>
        <p:spPr>
          <a:xfrm>
            <a:off x="1095451" y="6348679"/>
            <a:ext cx="3648456" cy="152705"/>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13</a:t>
            </a:r>
            <a:endParaRPr lang="en-US" sz="900" dirty="0"/>
          </a:p>
        </p:txBody>
      </p:sp>
      <p:sp>
        <p:nvSpPr>
          <p:cNvPr id="51" name="Text 49"/>
          <p:cNvSpPr txBox="1"/>
          <p:nvPr/>
        </p:nvSpPr>
        <p:spPr>
          <a:xfrm>
            <a:off x="1095451" y="6558991"/>
            <a:ext cx="3648456" cy="419710"/>
          </a:xfrm>
          <a:prstGeom prst="rect">
            <a:avLst/>
          </a:prstGeom>
          <a:noFill/>
          <a:ln/>
        </p:spPr>
        <p:txBody>
          <a:bodyPr wrap="squar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Mettre en place une démarche progressive, contrôlée &amp; réversible</a:t>
            </a:r>
            <a:endParaRPr lang="en-US" sz="1200" dirty="0"/>
          </a:p>
        </p:txBody>
      </p:sp>
      <p:sp>
        <p:nvSpPr>
          <p:cNvPr id="52" name="Shape 50"/>
          <p:cNvSpPr/>
          <p:nvPr/>
        </p:nvSpPr>
        <p:spPr>
          <a:xfrm>
            <a:off x="5076749" y="6167628"/>
            <a:ext cx="4009644" cy="990295"/>
          </a:xfrm>
          <a:prstGeom prst="roundRect">
            <a:avLst>
              <a:gd name="adj" fmla="val 13481"/>
            </a:avLst>
          </a:prstGeom>
          <a:solidFill>
            <a:srgbClr val="F5F3FF"/>
          </a:solidFill>
          <a:ln w="12700">
            <a:solidFill>
              <a:srgbClr val="DDD6FE"/>
            </a:solidFill>
            <a:prstDash val="solid"/>
          </a:ln>
        </p:spPr>
        <p:txBody>
          <a:bodyPr/>
          <a:lstStyle/>
          <a:p>
            <a:endParaRPr lang="fr-CI"/>
          </a:p>
        </p:txBody>
      </p:sp>
      <p:sp>
        <p:nvSpPr>
          <p:cNvPr id="53" name="Text 51"/>
          <p:cNvSpPr txBox="1"/>
          <p:nvPr/>
        </p:nvSpPr>
        <p:spPr>
          <a:xfrm>
            <a:off x="5257800" y="6348679"/>
            <a:ext cx="3648456" cy="152705"/>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14</a:t>
            </a:r>
            <a:endParaRPr lang="en-US" sz="900" dirty="0"/>
          </a:p>
        </p:txBody>
      </p:sp>
      <p:sp>
        <p:nvSpPr>
          <p:cNvPr id="54" name="Text 52"/>
          <p:cNvSpPr txBox="1"/>
          <p:nvPr/>
        </p:nvSpPr>
        <p:spPr>
          <a:xfrm>
            <a:off x="5257800" y="6558991"/>
            <a:ext cx="3648456" cy="419710"/>
          </a:xfrm>
          <a:prstGeom prst="rect">
            <a:avLst/>
          </a:prstGeom>
          <a:noFill/>
          <a:ln/>
        </p:spPr>
        <p:txBody>
          <a:bodyPr wrap="squar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Produire une base de décision claire pour la mise en production</a:t>
            </a:r>
            <a:endParaRPr lang="en-US" sz="1200" dirty="0"/>
          </a:p>
        </p:txBody>
      </p:sp>
      <p:sp>
        <p:nvSpPr>
          <p:cNvPr id="55" name="Shape 53"/>
          <p:cNvSpPr/>
          <p:nvPr/>
        </p:nvSpPr>
        <p:spPr>
          <a:xfrm>
            <a:off x="914400" y="8382305"/>
            <a:ext cx="16497605" cy="1143000"/>
          </a:xfrm>
          <a:prstGeom prst="roundRect">
            <a:avLst>
              <a:gd name="adj" fmla="val 11680"/>
            </a:avLst>
          </a:prstGeom>
          <a:solidFill>
            <a:srgbClr val="1F2937"/>
          </a:solidFill>
          <a:ln w="12700">
            <a:solidFill>
              <a:srgbClr val="FFFFFF">
                <a:alpha val="0"/>
              </a:srgbClr>
            </a:solidFill>
            <a:prstDash val="solid"/>
          </a:ln>
        </p:spPr>
        <p:txBody>
          <a:bodyPr/>
          <a:lstStyle/>
          <a:p>
            <a:endParaRPr lang="fr-CI"/>
          </a:p>
        </p:txBody>
      </p:sp>
      <p:sp>
        <p:nvSpPr>
          <p:cNvPr id="56" name="Text 54"/>
          <p:cNvSpPr txBox="1"/>
          <p:nvPr/>
        </p:nvSpPr>
        <p:spPr>
          <a:xfrm>
            <a:off x="1218895" y="8572500"/>
            <a:ext cx="15906902" cy="152705"/>
          </a:xfrm>
          <a:prstGeom prst="rect">
            <a:avLst/>
          </a:prstGeom>
          <a:noFill/>
          <a:ln/>
        </p:spPr>
        <p:txBody>
          <a:bodyPr wrap="none" lIns="0" tIns="0" rIns="0" bIns="0" rtlCol="0" anchor="ctr"/>
          <a:lstStyle/>
          <a:p>
            <a:pPr marL="0" indent="0" algn="l">
              <a:buNone/>
            </a:pPr>
            <a:r>
              <a:rPr lang="en-US" sz="900" b="1" kern="0" spc="144" dirty="0">
                <a:solidFill>
                  <a:srgbClr val="A78BFA"/>
                </a:solidFill>
                <a:latin typeface="JetBrains Mono" pitchFamily="34" charset="0"/>
                <a:ea typeface="JetBrains Mono" pitchFamily="34" charset="-122"/>
                <a:cs typeface="JetBrains Mono" pitchFamily="34" charset="-120"/>
              </a:rPr>
              <a:t>Périmètre couvert</a:t>
            </a:r>
            <a:endParaRPr lang="en-US" sz="900" dirty="0"/>
          </a:p>
        </p:txBody>
      </p:sp>
      <p:sp>
        <p:nvSpPr>
          <p:cNvPr id="57" name="Shape 55"/>
          <p:cNvSpPr/>
          <p:nvPr/>
        </p:nvSpPr>
        <p:spPr>
          <a:xfrm>
            <a:off x="1218895" y="8858707"/>
            <a:ext cx="1552651" cy="286207"/>
          </a:xfrm>
          <a:prstGeom prst="roundRect">
            <a:avLst>
              <a:gd name="adj" fmla="val 49840"/>
            </a:avLst>
          </a:prstGeom>
          <a:solidFill>
            <a:srgbClr val="374151"/>
          </a:solidFill>
          <a:ln w="12700">
            <a:solidFill>
              <a:srgbClr val="FFFFFF">
                <a:alpha val="0"/>
              </a:srgbClr>
            </a:solidFill>
            <a:prstDash val="solid"/>
          </a:ln>
        </p:spPr>
        <p:txBody>
          <a:bodyPr/>
          <a:lstStyle/>
          <a:p>
            <a:endParaRPr lang="fr-CI"/>
          </a:p>
        </p:txBody>
      </p:sp>
      <p:sp>
        <p:nvSpPr>
          <p:cNvPr id="58" name="Text 56"/>
          <p:cNvSpPr/>
          <p:nvPr/>
        </p:nvSpPr>
        <p:spPr>
          <a:xfrm>
            <a:off x="1218895" y="8858707"/>
            <a:ext cx="1552651"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FFFFFF"/>
                </a:solidFill>
                <a:latin typeface="Manrope" pitchFamily="34" charset="0"/>
                <a:ea typeface="Manrope" pitchFamily="34" charset="-122"/>
                <a:cs typeface="Manrope" pitchFamily="34" charset="-120"/>
              </a:rPr>
              <a:t>Transport / Taxi / VTC</a:t>
            </a:r>
            <a:endParaRPr lang="en-US" sz="900" dirty="0"/>
          </a:p>
        </p:txBody>
      </p:sp>
      <p:sp>
        <p:nvSpPr>
          <p:cNvPr id="59" name="Shape 57"/>
          <p:cNvSpPr/>
          <p:nvPr/>
        </p:nvSpPr>
        <p:spPr>
          <a:xfrm>
            <a:off x="2839212" y="8858707"/>
            <a:ext cx="790956" cy="286207"/>
          </a:xfrm>
          <a:prstGeom prst="roundRect">
            <a:avLst>
              <a:gd name="adj" fmla="val 49840"/>
            </a:avLst>
          </a:prstGeom>
          <a:solidFill>
            <a:srgbClr val="374151"/>
          </a:solidFill>
          <a:ln w="12700">
            <a:solidFill>
              <a:srgbClr val="FFFFFF">
                <a:alpha val="0"/>
              </a:srgbClr>
            </a:solidFill>
            <a:prstDash val="solid"/>
          </a:ln>
        </p:spPr>
        <p:txBody>
          <a:bodyPr/>
          <a:lstStyle/>
          <a:p>
            <a:endParaRPr lang="fr-CI"/>
          </a:p>
        </p:txBody>
      </p:sp>
      <p:sp>
        <p:nvSpPr>
          <p:cNvPr id="60" name="Text 58"/>
          <p:cNvSpPr/>
          <p:nvPr/>
        </p:nvSpPr>
        <p:spPr>
          <a:xfrm>
            <a:off x="2839212" y="8858707"/>
            <a:ext cx="790956"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FFFFFF"/>
                </a:solidFill>
                <a:latin typeface="Manrope" pitchFamily="34" charset="0"/>
                <a:ea typeface="Manrope" pitchFamily="34" charset="-122"/>
                <a:cs typeface="Manrope" pitchFamily="34" charset="-120"/>
              </a:rPr>
              <a:t>Livraison</a:t>
            </a:r>
            <a:endParaRPr lang="en-US" sz="900" dirty="0"/>
          </a:p>
        </p:txBody>
      </p:sp>
      <p:sp>
        <p:nvSpPr>
          <p:cNvPr id="61" name="Shape 59"/>
          <p:cNvSpPr/>
          <p:nvPr/>
        </p:nvSpPr>
        <p:spPr>
          <a:xfrm>
            <a:off x="3697834" y="8858707"/>
            <a:ext cx="905256" cy="286207"/>
          </a:xfrm>
          <a:prstGeom prst="roundRect">
            <a:avLst>
              <a:gd name="adj" fmla="val 49840"/>
            </a:avLst>
          </a:prstGeom>
          <a:solidFill>
            <a:srgbClr val="374151"/>
          </a:solidFill>
          <a:ln w="12700">
            <a:solidFill>
              <a:srgbClr val="FFFFFF">
                <a:alpha val="0"/>
              </a:srgbClr>
            </a:solidFill>
            <a:prstDash val="solid"/>
          </a:ln>
        </p:spPr>
        <p:txBody>
          <a:bodyPr/>
          <a:lstStyle/>
          <a:p>
            <a:endParaRPr lang="fr-CI"/>
          </a:p>
        </p:txBody>
      </p:sp>
      <p:sp>
        <p:nvSpPr>
          <p:cNvPr id="62" name="Text 60"/>
          <p:cNvSpPr/>
          <p:nvPr/>
        </p:nvSpPr>
        <p:spPr>
          <a:xfrm>
            <a:off x="3697834" y="8858707"/>
            <a:ext cx="905256"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FFFFFF"/>
                </a:solidFill>
                <a:latin typeface="Manrope" pitchFamily="34" charset="0"/>
                <a:ea typeface="Manrope" pitchFamily="34" charset="-122"/>
                <a:cs typeface="Manrope" pitchFamily="34" charset="-120"/>
              </a:rPr>
              <a:t>Fret urbain</a:t>
            </a:r>
            <a:endParaRPr lang="en-US" sz="900" dirty="0"/>
          </a:p>
        </p:txBody>
      </p:sp>
      <p:sp>
        <p:nvSpPr>
          <p:cNvPr id="63" name="Shape 61"/>
          <p:cNvSpPr/>
          <p:nvPr/>
        </p:nvSpPr>
        <p:spPr>
          <a:xfrm>
            <a:off x="4670755" y="8858707"/>
            <a:ext cx="1390802" cy="286207"/>
          </a:xfrm>
          <a:prstGeom prst="roundRect">
            <a:avLst>
              <a:gd name="adj" fmla="val 49840"/>
            </a:avLst>
          </a:prstGeom>
          <a:solidFill>
            <a:srgbClr val="374151"/>
          </a:solidFill>
          <a:ln w="12700">
            <a:solidFill>
              <a:srgbClr val="FFFFFF">
                <a:alpha val="0"/>
              </a:srgbClr>
            </a:solidFill>
            <a:prstDash val="solid"/>
          </a:ln>
        </p:spPr>
        <p:txBody>
          <a:bodyPr/>
          <a:lstStyle/>
          <a:p>
            <a:endParaRPr lang="fr-CI"/>
          </a:p>
        </p:txBody>
      </p:sp>
      <p:sp>
        <p:nvSpPr>
          <p:cNvPr id="64" name="Text 62"/>
          <p:cNvSpPr/>
          <p:nvPr/>
        </p:nvSpPr>
        <p:spPr>
          <a:xfrm>
            <a:off x="4670755" y="8858707"/>
            <a:ext cx="1390802"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FFFFFF"/>
                </a:solidFill>
                <a:latin typeface="Manrope" pitchFamily="34" charset="0"/>
                <a:ea typeface="Manrope" pitchFamily="34" charset="-122"/>
                <a:cs typeface="Manrope" pitchFamily="34" charset="-120"/>
              </a:rPr>
              <a:t>Location véhicules</a:t>
            </a:r>
            <a:endParaRPr lang="en-US" sz="900" dirty="0"/>
          </a:p>
        </p:txBody>
      </p:sp>
      <p:sp>
        <p:nvSpPr>
          <p:cNvPr id="65" name="Shape 63"/>
          <p:cNvSpPr/>
          <p:nvPr/>
        </p:nvSpPr>
        <p:spPr>
          <a:xfrm>
            <a:off x="6131052" y="8858707"/>
            <a:ext cx="923544" cy="286207"/>
          </a:xfrm>
          <a:prstGeom prst="roundRect">
            <a:avLst>
              <a:gd name="adj" fmla="val 49840"/>
            </a:avLst>
          </a:prstGeom>
          <a:solidFill>
            <a:srgbClr val="374151"/>
          </a:solidFill>
          <a:ln w="12700">
            <a:solidFill>
              <a:srgbClr val="FFFFFF">
                <a:alpha val="0"/>
              </a:srgbClr>
            </a:solidFill>
            <a:prstDash val="solid"/>
          </a:ln>
        </p:spPr>
        <p:txBody>
          <a:bodyPr/>
          <a:lstStyle/>
          <a:p>
            <a:endParaRPr lang="fr-CI"/>
          </a:p>
        </p:txBody>
      </p:sp>
      <p:sp>
        <p:nvSpPr>
          <p:cNvPr id="66" name="Text 64"/>
          <p:cNvSpPr/>
          <p:nvPr/>
        </p:nvSpPr>
        <p:spPr>
          <a:xfrm>
            <a:off x="6131052" y="8858707"/>
            <a:ext cx="924458"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FFFFFF"/>
                </a:solidFill>
                <a:latin typeface="Manrope" pitchFamily="34" charset="0"/>
                <a:ea typeface="Manrope" pitchFamily="34" charset="-122"/>
                <a:cs typeface="Manrope" pitchFamily="34" charset="-120"/>
              </a:rPr>
              <a:t>Chauffeurs</a:t>
            </a:r>
            <a:endParaRPr lang="en-US" sz="900" dirty="0"/>
          </a:p>
        </p:txBody>
      </p:sp>
      <p:sp>
        <p:nvSpPr>
          <p:cNvPr id="67" name="Shape 65"/>
          <p:cNvSpPr/>
          <p:nvPr/>
        </p:nvSpPr>
        <p:spPr>
          <a:xfrm>
            <a:off x="7125005" y="8858707"/>
            <a:ext cx="724205" cy="286207"/>
          </a:xfrm>
          <a:prstGeom prst="roundRect">
            <a:avLst>
              <a:gd name="adj" fmla="val 49840"/>
            </a:avLst>
          </a:prstGeom>
          <a:solidFill>
            <a:srgbClr val="374151"/>
          </a:solidFill>
          <a:ln w="12700">
            <a:solidFill>
              <a:srgbClr val="FFFFFF">
                <a:alpha val="0"/>
              </a:srgbClr>
            </a:solidFill>
            <a:prstDash val="solid"/>
          </a:ln>
        </p:spPr>
        <p:txBody>
          <a:bodyPr/>
          <a:lstStyle/>
          <a:p>
            <a:endParaRPr lang="fr-CI"/>
          </a:p>
        </p:txBody>
      </p:sp>
      <p:sp>
        <p:nvSpPr>
          <p:cNvPr id="68" name="Text 66"/>
          <p:cNvSpPr/>
          <p:nvPr/>
        </p:nvSpPr>
        <p:spPr>
          <a:xfrm>
            <a:off x="7125005" y="8858707"/>
            <a:ext cx="724205"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FFFFFF"/>
                </a:solidFill>
                <a:latin typeface="Manrope" pitchFamily="34" charset="0"/>
                <a:ea typeface="Manrope" pitchFamily="34" charset="-122"/>
                <a:cs typeface="Manrope" pitchFamily="34" charset="-120"/>
              </a:rPr>
              <a:t>Livreurs</a:t>
            </a:r>
            <a:endParaRPr lang="en-US" sz="900" dirty="0"/>
          </a:p>
        </p:txBody>
      </p:sp>
      <p:sp>
        <p:nvSpPr>
          <p:cNvPr id="69" name="Shape 67"/>
          <p:cNvSpPr/>
          <p:nvPr/>
        </p:nvSpPr>
        <p:spPr>
          <a:xfrm>
            <a:off x="7922362" y="8858707"/>
            <a:ext cx="676656" cy="286207"/>
          </a:xfrm>
          <a:prstGeom prst="roundRect">
            <a:avLst>
              <a:gd name="adj" fmla="val 49840"/>
            </a:avLst>
          </a:prstGeom>
          <a:solidFill>
            <a:srgbClr val="374151"/>
          </a:solidFill>
          <a:ln w="12700">
            <a:solidFill>
              <a:srgbClr val="FFFFFF">
                <a:alpha val="0"/>
              </a:srgbClr>
            </a:solidFill>
            <a:prstDash val="solid"/>
          </a:ln>
        </p:spPr>
        <p:txBody>
          <a:bodyPr/>
          <a:lstStyle/>
          <a:p>
            <a:endParaRPr lang="fr-CI"/>
          </a:p>
        </p:txBody>
      </p:sp>
      <p:sp>
        <p:nvSpPr>
          <p:cNvPr id="70" name="Text 68"/>
          <p:cNvSpPr/>
          <p:nvPr/>
        </p:nvSpPr>
        <p:spPr>
          <a:xfrm>
            <a:off x="7922362" y="8858707"/>
            <a:ext cx="676656"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FFFFFF"/>
                </a:solidFill>
                <a:latin typeface="Manrope" pitchFamily="34" charset="0"/>
                <a:ea typeface="Manrope" pitchFamily="34" charset="-122"/>
                <a:cs typeface="Manrope" pitchFamily="34" charset="-120"/>
              </a:rPr>
              <a:t>Clients</a:t>
            </a:r>
            <a:endParaRPr lang="en-US" sz="900" dirty="0"/>
          </a:p>
        </p:txBody>
      </p:sp>
      <p:sp>
        <p:nvSpPr>
          <p:cNvPr id="71" name="Shape 69"/>
          <p:cNvSpPr/>
          <p:nvPr/>
        </p:nvSpPr>
        <p:spPr>
          <a:xfrm>
            <a:off x="8667598" y="8858707"/>
            <a:ext cx="942746" cy="286207"/>
          </a:xfrm>
          <a:prstGeom prst="roundRect">
            <a:avLst>
              <a:gd name="adj" fmla="val 49840"/>
            </a:avLst>
          </a:prstGeom>
          <a:solidFill>
            <a:srgbClr val="374151"/>
          </a:solidFill>
          <a:ln w="12700">
            <a:solidFill>
              <a:srgbClr val="FFFFFF">
                <a:alpha val="0"/>
              </a:srgbClr>
            </a:solidFill>
            <a:prstDash val="solid"/>
          </a:ln>
        </p:spPr>
        <p:txBody>
          <a:bodyPr/>
          <a:lstStyle/>
          <a:p>
            <a:endParaRPr lang="fr-CI"/>
          </a:p>
        </p:txBody>
      </p:sp>
      <p:sp>
        <p:nvSpPr>
          <p:cNvPr id="72" name="Text 70"/>
          <p:cNvSpPr/>
          <p:nvPr/>
        </p:nvSpPr>
        <p:spPr>
          <a:xfrm>
            <a:off x="8667598" y="8858707"/>
            <a:ext cx="943661"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FFFFFF"/>
                </a:solidFill>
                <a:latin typeface="Manrope" pitchFamily="34" charset="0"/>
                <a:ea typeface="Manrope" pitchFamily="34" charset="-122"/>
                <a:cs typeface="Manrope" pitchFamily="34" charset="-120"/>
              </a:rPr>
              <a:t>Partenaires</a:t>
            </a:r>
            <a:endParaRPr lang="en-US" sz="900" dirty="0"/>
          </a:p>
        </p:txBody>
      </p:sp>
      <p:sp>
        <p:nvSpPr>
          <p:cNvPr id="73" name="Shape 71"/>
          <p:cNvSpPr/>
          <p:nvPr/>
        </p:nvSpPr>
        <p:spPr>
          <a:xfrm>
            <a:off x="9680753" y="8858707"/>
            <a:ext cx="895198" cy="286207"/>
          </a:xfrm>
          <a:prstGeom prst="roundRect">
            <a:avLst>
              <a:gd name="adj" fmla="val 49840"/>
            </a:avLst>
          </a:prstGeom>
          <a:solidFill>
            <a:srgbClr val="374151"/>
          </a:solidFill>
          <a:ln w="12700">
            <a:solidFill>
              <a:srgbClr val="FFFFFF">
                <a:alpha val="0"/>
              </a:srgbClr>
            </a:solidFill>
            <a:prstDash val="solid"/>
          </a:ln>
        </p:spPr>
        <p:txBody>
          <a:bodyPr/>
          <a:lstStyle/>
          <a:p>
            <a:endParaRPr lang="fr-CI"/>
          </a:p>
        </p:txBody>
      </p:sp>
      <p:sp>
        <p:nvSpPr>
          <p:cNvPr id="74" name="Text 72"/>
          <p:cNvSpPr/>
          <p:nvPr/>
        </p:nvSpPr>
        <p:spPr>
          <a:xfrm>
            <a:off x="9680753" y="8858707"/>
            <a:ext cx="896112"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FFFFFF"/>
                </a:solidFill>
                <a:latin typeface="Manrope" pitchFamily="34" charset="0"/>
                <a:ea typeface="Manrope" pitchFamily="34" charset="-122"/>
                <a:cs typeface="Manrope" pitchFamily="34" charset="-120"/>
              </a:rPr>
              <a:t>Franchises</a:t>
            </a:r>
            <a:endParaRPr lang="en-US" sz="900" dirty="0"/>
          </a:p>
        </p:txBody>
      </p:sp>
      <p:sp>
        <p:nvSpPr>
          <p:cNvPr id="75" name="Shape 73"/>
          <p:cNvSpPr/>
          <p:nvPr/>
        </p:nvSpPr>
        <p:spPr>
          <a:xfrm>
            <a:off x="10652760" y="8858707"/>
            <a:ext cx="1143000" cy="286207"/>
          </a:xfrm>
          <a:prstGeom prst="roundRect">
            <a:avLst>
              <a:gd name="adj" fmla="val 49840"/>
            </a:avLst>
          </a:prstGeom>
          <a:solidFill>
            <a:srgbClr val="374151"/>
          </a:solidFill>
          <a:ln w="12700">
            <a:solidFill>
              <a:srgbClr val="FFFFFF">
                <a:alpha val="0"/>
              </a:srgbClr>
            </a:solidFill>
            <a:prstDash val="solid"/>
          </a:ln>
        </p:spPr>
        <p:txBody>
          <a:bodyPr/>
          <a:lstStyle/>
          <a:p>
            <a:endParaRPr lang="fr-CI"/>
          </a:p>
        </p:txBody>
      </p:sp>
      <p:sp>
        <p:nvSpPr>
          <p:cNvPr id="76" name="Text 74"/>
          <p:cNvSpPr/>
          <p:nvPr/>
        </p:nvSpPr>
        <p:spPr>
          <a:xfrm>
            <a:off x="10652760" y="8858707"/>
            <a:ext cx="1143000"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FFFFFF"/>
                </a:solidFill>
                <a:latin typeface="Manrope" pitchFamily="34" charset="0"/>
                <a:ea typeface="Manrope" pitchFamily="34" charset="-122"/>
                <a:cs typeface="Manrope" pitchFamily="34" charset="-120"/>
              </a:rPr>
              <a:t>Central / Siège</a:t>
            </a:r>
            <a:endParaRPr lang="en-US" sz="900" dirty="0"/>
          </a:p>
        </p:txBody>
      </p:sp>
      <p:sp>
        <p:nvSpPr>
          <p:cNvPr id="77" name="Shape 75"/>
          <p:cNvSpPr/>
          <p:nvPr/>
        </p:nvSpPr>
        <p:spPr>
          <a:xfrm>
            <a:off x="11871655" y="8858707"/>
            <a:ext cx="733349" cy="286207"/>
          </a:xfrm>
          <a:prstGeom prst="roundRect">
            <a:avLst>
              <a:gd name="adj" fmla="val 49840"/>
            </a:avLst>
          </a:prstGeom>
          <a:solidFill>
            <a:srgbClr val="374151"/>
          </a:solidFill>
          <a:ln w="12700">
            <a:solidFill>
              <a:srgbClr val="FFFFFF">
                <a:alpha val="0"/>
              </a:srgbClr>
            </a:solidFill>
            <a:prstDash val="solid"/>
          </a:ln>
        </p:spPr>
        <p:txBody>
          <a:bodyPr/>
          <a:lstStyle/>
          <a:p>
            <a:endParaRPr lang="fr-CI"/>
          </a:p>
        </p:txBody>
      </p:sp>
      <p:sp>
        <p:nvSpPr>
          <p:cNvPr id="78" name="Text 76"/>
          <p:cNvSpPr/>
          <p:nvPr/>
        </p:nvSpPr>
        <p:spPr>
          <a:xfrm>
            <a:off x="11871655" y="8858707"/>
            <a:ext cx="7342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FFFFFF"/>
                </a:solidFill>
                <a:latin typeface="Manrope" pitchFamily="34" charset="0"/>
                <a:ea typeface="Manrope" pitchFamily="34" charset="-122"/>
                <a:cs typeface="Manrope" pitchFamily="34" charset="-120"/>
              </a:rPr>
              <a:t>Support</a:t>
            </a:r>
            <a:endParaRPr lang="en-US" sz="900" dirty="0"/>
          </a:p>
        </p:txBody>
      </p:sp>
      <p:sp>
        <p:nvSpPr>
          <p:cNvPr id="79" name="Shape 77"/>
          <p:cNvSpPr/>
          <p:nvPr/>
        </p:nvSpPr>
        <p:spPr>
          <a:xfrm>
            <a:off x="12675413" y="8858707"/>
            <a:ext cx="780898" cy="286207"/>
          </a:xfrm>
          <a:prstGeom prst="roundRect">
            <a:avLst>
              <a:gd name="adj" fmla="val 49840"/>
            </a:avLst>
          </a:prstGeom>
          <a:solidFill>
            <a:srgbClr val="374151"/>
          </a:solidFill>
          <a:ln w="12700">
            <a:solidFill>
              <a:srgbClr val="FFFFFF">
                <a:alpha val="0"/>
              </a:srgbClr>
            </a:solidFill>
            <a:prstDash val="solid"/>
          </a:ln>
        </p:spPr>
        <p:txBody>
          <a:bodyPr/>
          <a:lstStyle/>
          <a:p>
            <a:endParaRPr lang="fr-CI"/>
          </a:p>
        </p:txBody>
      </p:sp>
      <p:sp>
        <p:nvSpPr>
          <p:cNvPr id="80" name="Text 78"/>
          <p:cNvSpPr/>
          <p:nvPr/>
        </p:nvSpPr>
        <p:spPr>
          <a:xfrm>
            <a:off x="12675413" y="8858707"/>
            <a:ext cx="781812"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FFFFFF"/>
                </a:solidFill>
                <a:latin typeface="Manrope" pitchFamily="34" charset="0"/>
                <a:ea typeface="Manrope" pitchFamily="34" charset="-122"/>
                <a:cs typeface="Manrope" pitchFamily="34" charset="-120"/>
              </a:rPr>
              <a:t>Finances</a:t>
            </a:r>
            <a:endParaRPr lang="en-US" sz="900" dirty="0"/>
          </a:p>
        </p:txBody>
      </p:sp>
      <p:sp>
        <p:nvSpPr>
          <p:cNvPr id="81" name="Shape 79"/>
          <p:cNvSpPr/>
          <p:nvPr/>
        </p:nvSpPr>
        <p:spPr>
          <a:xfrm>
            <a:off x="13527634" y="8858707"/>
            <a:ext cx="1314907" cy="286207"/>
          </a:xfrm>
          <a:prstGeom prst="roundRect">
            <a:avLst>
              <a:gd name="adj" fmla="val 49840"/>
            </a:avLst>
          </a:prstGeom>
          <a:solidFill>
            <a:srgbClr val="374151"/>
          </a:solidFill>
          <a:ln w="12700">
            <a:solidFill>
              <a:srgbClr val="FFFFFF">
                <a:alpha val="0"/>
              </a:srgbClr>
            </a:solidFill>
            <a:prstDash val="solid"/>
          </a:ln>
        </p:spPr>
        <p:txBody>
          <a:bodyPr/>
          <a:lstStyle/>
          <a:p>
            <a:endParaRPr lang="fr-CI"/>
          </a:p>
        </p:txBody>
      </p:sp>
      <p:sp>
        <p:nvSpPr>
          <p:cNvPr id="82" name="Text 80"/>
          <p:cNvSpPr/>
          <p:nvPr/>
        </p:nvSpPr>
        <p:spPr>
          <a:xfrm>
            <a:off x="13527634" y="8858707"/>
            <a:ext cx="1314907"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FFFFFF"/>
                </a:solidFill>
                <a:latin typeface="Manrope" pitchFamily="34" charset="0"/>
                <a:ea typeface="Manrope" pitchFamily="34" charset="-122"/>
                <a:cs typeface="Manrope" pitchFamily="34" charset="-120"/>
              </a:rPr>
              <a:t>Wallet &amp; recharge</a:t>
            </a:r>
            <a:endParaRPr lang="en-US" sz="900" dirty="0"/>
          </a:p>
        </p:txBody>
      </p:sp>
      <p:sp>
        <p:nvSpPr>
          <p:cNvPr id="83" name="Shape 81"/>
          <p:cNvSpPr/>
          <p:nvPr/>
        </p:nvSpPr>
        <p:spPr>
          <a:xfrm>
            <a:off x="14914778" y="8858707"/>
            <a:ext cx="847649" cy="286207"/>
          </a:xfrm>
          <a:prstGeom prst="roundRect">
            <a:avLst>
              <a:gd name="adj" fmla="val 49840"/>
            </a:avLst>
          </a:prstGeom>
          <a:solidFill>
            <a:srgbClr val="374151"/>
          </a:solidFill>
          <a:ln w="12700">
            <a:solidFill>
              <a:srgbClr val="FFFFFF">
                <a:alpha val="0"/>
              </a:srgbClr>
            </a:solidFill>
            <a:prstDash val="solid"/>
          </a:ln>
        </p:spPr>
        <p:txBody>
          <a:bodyPr/>
          <a:lstStyle/>
          <a:p>
            <a:endParaRPr lang="fr-CI"/>
          </a:p>
        </p:txBody>
      </p:sp>
      <p:sp>
        <p:nvSpPr>
          <p:cNvPr id="84" name="Text 82"/>
          <p:cNvSpPr/>
          <p:nvPr/>
        </p:nvSpPr>
        <p:spPr>
          <a:xfrm>
            <a:off x="14914778" y="8858707"/>
            <a:ext cx="8485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FFFFFF"/>
                </a:solidFill>
                <a:latin typeface="Manrope" pitchFamily="34" charset="0"/>
                <a:ea typeface="Manrope" pitchFamily="34" charset="-122"/>
                <a:cs typeface="Manrope" pitchFamily="34" charset="-120"/>
              </a:rPr>
              <a:t>Reporting</a:t>
            </a:r>
            <a:endParaRPr lang="en-US" sz="900" dirty="0"/>
          </a:p>
        </p:txBody>
      </p:sp>
      <p:sp>
        <p:nvSpPr>
          <p:cNvPr id="85" name="Shape 83"/>
          <p:cNvSpPr/>
          <p:nvPr/>
        </p:nvSpPr>
        <p:spPr>
          <a:xfrm>
            <a:off x="15829178" y="8858707"/>
            <a:ext cx="1037844" cy="286207"/>
          </a:xfrm>
          <a:prstGeom prst="roundRect">
            <a:avLst>
              <a:gd name="adj" fmla="val 49840"/>
            </a:avLst>
          </a:prstGeom>
          <a:solidFill>
            <a:srgbClr val="374151"/>
          </a:solidFill>
          <a:ln w="12700">
            <a:solidFill>
              <a:srgbClr val="FFFFFF">
                <a:alpha val="0"/>
              </a:srgbClr>
            </a:solidFill>
            <a:prstDash val="solid"/>
          </a:ln>
        </p:spPr>
        <p:txBody>
          <a:bodyPr/>
          <a:lstStyle/>
          <a:p>
            <a:endParaRPr lang="fr-CI"/>
          </a:p>
        </p:txBody>
      </p:sp>
      <p:sp>
        <p:nvSpPr>
          <p:cNvPr id="86" name="Text 84"/>
          <p:cNvSpPr/>
          <p:nvPr/>
        </p:nvSpPr>
        <p:spPr>
          <a:xfrm>
            <a:off x="15829178" y="8858707"/>
            <a:ext cx="1038758"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FFFFFF"/>
                </a:solidFill>
                <a:latin typeface="Manrope" pitchFamily="34" charset="0"/>
                <a:ea typeface="Manrope" pitchFamily="34" charset="-122"/>
                <a:cs typeface="Manrope" pitchFamily="34" charset="-120"/>
              </a:rPr>
              <a:t>Notifications</a:t>
            </a:r>
            <a:endParaRPr lang="en-US" sz="900" dirty="0"/>
          </a:p>
        </p:txBody>
      </p:sp>
      <p:sp>
        <p:nvSpPr>
          <p:cNvPr id="87" name="Shape 85"/>
          <p:cNvSpPr/>
          <p:nvPr/>
        </p:nvSpPr>
        <p:spPr>
          <a:xfrm>
            <a:off x="0" y="9791395"/>
            <a:ext cx="18288000" cy="495605"/>
          </a:xfrm>
          <a:prstGeom prst="rect">
            <a:avLst/>
          </a:prstGeom>
          <a:solidFill>
            <a:srgbClr val="FFFFFF"/>
          </a:solidFill>
          <a:ln/>
        </p:spPr>
        <p:txBody>
          <a:bodyPr/>
          <a:lstStyle/>
          <a:p>
            <a:endParaRPr lang="fr-CI"/>
          </a:p>
        </p:txBody>
      </p:sp>
      <p:sp>
        <p:nvSpPr>
          <p:cNvPr id="88" name="Shape 86"/>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89" name="Text 87"/>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90" name="Text 88"/>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04 / 59</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4918436" y="256946"/>
            <a:ext cx="3216859"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Partie I — §3 Objectifs opérationnels</a:t>
            </a:r>
            <a:endParaRPr lang="en-US" sz="900" dirty="0"/>
          </a:p>
        </p:txBody>
      </p:sp>
      <p:sp>
        <p:nvSpPr>
          <p:cNvPr id="10" name="Text 8"/>
          <p:cNvSpPr txBox="1"/>
          <p:nvPr/>
        </p:nvSpPr>
        <p:spPr>
          <a:xfrm>
            <a:off x="914400" y="1205179"/>
            <a:ext cx="4058107" cy="181051"/>
          </a:xfrm>
          <a:prstGeom prst="rect">
            <a:avLst/>
          </a:prstGeom>
          <a:noFill/>
          <a:ln/>
        </p:spPr>
        <p:txBody>
          <a:bodyPr wrap="none" lIns="0" tIns="0" rIns="0" bIns="0" rtlCol="0" anchor="ctr"/>
          <a:lstStyle/>
          <a:p>
            <a:pPr marL="0" indent="0" algn="l">
              <a:buNone/>
            </a:pPr>
            <a:r>
              <a:rPr lang="en-US" sz="1400" b="1" kern="0" spc="189" dirty="0">
                <a:solidFill>
                  <a:srgbClr val="6D28D9"/>
                </a:solidFill>
                <a:latin typeface="Manrope" pitchFamily="34" charset="0"/>
                <a:ea typeface="Manrope" pitchFamily="34" charset="-122"/>
                <a:cs typeface="Manrope" pitchFamily="34" charset="-120"/>
              </a:rPr>
              <a:t>3. Objectifs opérationnels spécifiques</a:t>
            </a:r>
            <a:endParaRPr lang="en-US" sz="14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8479110"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Ce que la nouvelle version doit confirmer en sortie de recette.</a:t>
            </a:r>
            <a:endParaRPr lang="en-US" sz="3900" dirty="0"/>
          </a:p>
        </p:txBody>
      </p:sp>
      <p:sp>
        <p:nvSpPr>
          <p:cNvPr id="13" name="Text 11"/>
          <p:cNvSpPr txBox="1"/>
          <p:nvPr/>
        </p:nvSpPr>
        <p:spPr>
          <a:xfrm>
            <a:off x="914400" y="2895905"/>
            <a:ext cx="16193110" cy="342900"/>
          </a:xfrm>
          <a:prstGeom prst="rect">
            <a:avLst/>
          </a:prstGeom>
          <a:noFill/>
          <a:ln/>
        </p:spPr>
        <p:txBody>
          <a:bodyPr wrap="none" lIns="0" tIns="0" rIns="0" bIns="0" rtlCol="0" anchor="ctr"/>
          <a:lstStyle/>
          <a:p>
            <a:pPr marL="0" indent="0" algn="l">
              <a:buNone/>
            </a:pPr>
            <a:r>
              <a:rPr lang="en-US" sz="1800" dirty="0">
                <a:solidFill>
                  <a:srgbClr val="4B5563"/>
                </a:solidFill>
                <a:latin typeface="Manrope" pitchFamily="34" charset="0"/>
                <a:ea typeface="Manrope" pitchFamily="34" charset="-122"/>
                <a:cs typeface="Manrope" pitchFamily="34" charset="-120"/>
              </a:rPr>
              <a:t>La démarche de recette doit permettre de confirmer formellement, élément par élément, que la nouvelle version :</a:t>
            </a:r>
            <a:endParaRPr lang="en-US" sz="1800" dirty="0"/>
          </a:p>
        </p:txBody>
      </p:sp>
      <p:sp>
        <p:nvSpPr>
          <p:cNvPr id="14" name="Text 12"/>
          <p:cNvSpPr txBox="1"/>
          <p:nvPr/>
        </p:nvSpPr>
        <p:spPr>
          <a:xfrm>
            <a:off x="914400" y="3429000"/>
            <a:ext cx="8001000" cy="238658"/>
          </a:xfrm>
          <a:prstGeom prst="rect">
            <a:avLst/>
          </a:prstGeom>
          <a:noFill/>
          <a:ln/>
        </p:spPr>
        <p:txBody>
          <a:bodyPr wrap="non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Corrige</a:t>
            </a:r>
            <a:r>
              <a:rPr lang="en-US" sz="1200" dirty="0">
                <a:solidFill>
                  <a:srgbClr val="4B5563"/>
                </a:solidFill>
                <a:latin typeface="Manrope" pitchFamily="34" charset="0"/>
                <a:ea typeface="Manrope" pitchFamily="34" charset="-122"/>
                <a:cs typeface="Manrope" pitchFamily="34" charset="-120"/>
              </a:rPr>
              <a:t> les dysfonctionnements de la version actuelle</a:t>
            </a:r>
            <a:endParaRPr lang="en-US" sz="1200" dirty="0"/>
          </a:p>
        </p:txBody>
      </p:sp>
      <p:sp>
        <p:nvSpPr>
          <p:cNvPr id="15" name="Shape 13"/>
          <p:cNvSpPr/>
          <p:nvPr/>
        </p:nvSpPr>
        <p:spPr>
          <a:xfrm>
            <a:off x="914400" y="3524098"/>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16" name="Text 14"/>
          <p:cNvSpPr txBox="1"/>
          <p:nvPr/>
        </p:nvSpPr>
        <p:spPr>
          <a:xfrm>
            <a:off x="914400" y="3759098"/>
            <a:ext cx="8001000" cy="238658"/>
          </a:xfrm>
          <a:prstGeom prst="rect">
            <a:avLst/>
          </a:prstGeom>
          <a:noFill/>
          <a:ln/>
        </p:spPr>
        <p:txBody>
          <a:bodyPr wrap="non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Répond</a:t>
            </a:r>
            <a:r>
              <a:rPr lang="en-US" sz="1200" dirty="0">
                <a:solidFill>
                  <a:srgbClr val="4B5563"/>
                </a:solidFill>
                <a:latin typeface="Manrope" pitchFamily="34" charset="0"/>
                <a:ea typeface="Manrope" pitchFamily="34" charset="-122"/>
                <a:cs typeface="Manrope" pitchFamily="34" charset="-120"/>
              </a:rPr>
              <a:t> aux besoins réels de UPJUNOO PRO</a:t>
            </a:r>
            <a:endParaRPr lang="en-US" sz="1200" dirty="0"/>
          </a:p>
        </p:txBody>
      </p:sp>
      <p:sp>
        <p:nvSpPr>
          <p:cNvPr id="17" name="Shape 15"/>
          <p:cNvSpPr/>
          <p:nvPr/>
        </p:nvSpPr>
        <p:spPr>
          <a:xfrm>
            <a:off x="914400" y="3854196"/>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18" name="Text 16"/>
          <p:cNvSpPr txBox="1"/>
          <p:nvPr/>
        </p:nvSpPr>
        <p:spPr>
          <a:xfrm>
            <a:off x="914400" y="4089197"/>
            <a:ext cx="8001000" cy="238658"/>
          </a:xfrm>
          <a:prstGeom prst="rect">
            <a:avLst/>
          </a:prstGeom>
          <a:noFill/>
          <a:ln/>
        </p:spPr>
        <p:txBody>
          <a:bodyPr wrap="non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Est techniquement stable</a:t>
            </a:r>
            <a:r>
              <a:rPr lang="en-US" sz="1200" dirty="0">
                <a:solidFill>
                  <a:srgbClr val="4B5563"/>
                </a:solidFill>
                <a:latin typeface="Manrope" pitchFamily="34" charset="0"/>
                <a:ea typeface="Manrope" pitchFamily="34" charset="-122"/>
                <a:cs typeface="Manrope" pitchFamily="34" charset="-120"/>
              </a:rPr>
              <a:t> en exploitation continue</a:t>
            </a:r>
            <a:endParaRPr lang="en-US" sz="1200" dirty="0"/>
          </a:p>
        </p:txBody>
      </p:sp>
      <p:sp>
        <p:nvSpPr>
          <p:cNvPr id="19" name="Shape 17"/>
          <p:cNvSpPr/>
          <p:nvPr/>
        </p:nvSpPr>
        <p:spPr>
          <a:xfrm>
            <a:off x="914400" y="4184294"/>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20" name="Text 18"/>
          <p:cNvSpPr txBox="1"/>
          <p:nvPr/>
        </p:nvSpPr>
        <p:spPr>
          <a:xfrm>
            <a:off x="914400" y="4419295"/>
            <a:ext cx="8001000" cy="238658"/>
          </a:xfrm>
          <a:prstGeom prst="rect">
            <a:avLst/>
          </a:prstGeom>
          <a:noFill/>
          <a:ln/>
        </p:spPr>
        <p:txBody>
          <a:bodyPr wrap="non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Permet l'exploitation multiservices</a:t>
            </a:r>
            <a:r>
              <a:rPr lang="en-US" sz="1200" dirty="0">
                <a:solidFill>
                  <a:srgbClr val="4B5563"/>
                </a:solidFill>
                <a:latin typeface="Manrope" pitchFamily="34" charset="0"/>
                <a:ea typeface="Manrope" pitchFamily="34" charset="-122"/>
                <a:cs typeface="Manrope" pitchFamily="34" charset="-120"/>
              </a:rPr>
              <a:t> (transport, livraison, fret, location)</a:t>
            </a:r>
            <a:endParaRPr lang="en-US" sz="1200" dirty="0"/>
          </a:p>
        </p:txBody>
      </p:sp>
      <p:sp>
        <p:nvSpPr>
          <p:cNvPr id="21" name="Shape 19"/>
          <p:cNvSpPr/>
          <p:nvPr/>
        </p:nvSpPr>
        <p:spPr>
          <a:xfrm>
            <a:off x="914400" y="4514393"/>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22" name="Text 20"/>
          <p:cNvSpPr txBox="1"/>
          <p:nvPr/>
        </p:nvSpPr>
        <p:spPr>
          <a:xfrm>
            <a:off x="914400" y="4749394"/>
            <a:ext cx="8686800" cy="238658"/>
          </a:xfrm>
          <a:prstGeom prst="rect">
            <a:avLst/>
          </a:prstGeom>
          <a:noFill/>
          <a:ln/>
        </p:spPr>
        <p:txBody>
          <a:bodyPr wrap="non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Permet le suivi des activités par profil</a:t>
            </a:r>
            <a:r>
              <a:rPr lang="en-US" sz="1200" dirty="0">
                <a:solidFill>
                  <a:srgbClr val="4B5563"/>
                </a:solidFill>
                <a:latin typeface="Manrope" pitchFamily="34" charset="0"/>
                <a:ea typeface="Manrope" pitchFamily="34" charset="-122"/>
                <a:cs typeface="Manrope" pitchFamily="34" charset="-120"/>
              </a:rPr>
              <a:t> (client, chauffeur, livreur, partenaire, franchise)</a:t>
            </a:r>
            <a:endParaRPr lang="en-US" sz="1200" dirty="0"/>
          </a:p>
        </p:txBody>
      </p:sp>
      <p:sp>
        <p:nvSpPr>
          <p:cNvPr id="23" name="Shape 21"/>
          <p:cNvSpPr/>
          <p:nvPr/>
        </p:nvSpPr>
        <p:spPr>
          <a:xfrm>
            <a:off x="914400" y="4844491"/>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24" name="Text 22"/>
          <p:cNvSpPr txBox="1"/>
          <p:nvPr/>
        </p:nvSpPr>
        <p:spPr>
          <a:xfrm>
            <a:off x="914400" y="5079492"/>
            <a:ext cx="8001000" cy="238658"/>
          </a:xfrm>
          <a:prstGeom prst="rect">
            <a:avLst/>
          </a:prstGeom>
          <a:noFill/>
          <a:ln/>
        </p:spPr>
        <p:txBody>
          <a:bodyPr wrap="non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Permet le suivi financier des commissions</a:t>
            </a:r>
            <a:r>
              <a:rPr lang="en-US" sz="1200" dirty="0">
                <a:solidFill>
                  <a:srgbClr val="4B5563"/>
                </a:solidFill>
                <a:latin typeface="Manrope" pitchFamily="34" charset="0"/>
                <a:ea typeface="Manrope" pitchFamily="34" charset="-122"/>
                <a:cs typeface="Manrope" pitchFamily="34" charset="-120"/>
              </a:rPr>
              <a:t> &amp; leur répartition</a:t>
            </a:r>
            <a:endParaRPr lang="en-US" sz="1200" dirty="0"/>
          </a:p>
        </p:txBody>
      </p:sp>
      <p:sp>
        <p:nvSpPr>
          <p:cNvPr id="25" name="Shape 23"/>
          <p:cNvSpPr/>
          <p:nvPr/>
        </p:nvSpPr>
        <p:spPr>
          <a:xfrm>
            <a:off x="914400" y="5174590"/>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26" name="Text 24"/>
          <p:cNvSpPr txBox="1"/>
          <p:nvPr/>
        </p:nvSpPr>
        <p:spPr>
          <a:xfrm>
            <a:off x="9411005" y="3429000"/>
            <a:ext cx="8001000" cy="238658"/>
          </a:xfrm>
          <a:prstGeom prst="rect">
            <a:avLst/>
          </a:prstGeom>
          <a:noFill/>
          <a:ln/>
        </p:spPr>
        <p:txBody>
          <a:bodyPr wrap="non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Permet la gestion des partenaires</a:t>
            </a:r>
            <a:r>
              <a:rPr lang="en-US" sz="1200" dirty="0">
                <a:solidFill>
                  <a:srgbClr val="4B5563"/>
                </a:solidFill>
                <a:latin typeface="Manrope" pitchFamily="34" charset="0"/>
                <a:ea typeface="Manrope" pitchFamily="34" charset="-122"/>
                <a:cs typeface="Manrope" pitchFamily="34" charset="-120"/>
              </a:rPr>
              <a:t> et de leurs flottes</a:t>
            </a:r>
            <a:endParaRPr lang="en-US" sz="1200" dirty="0"/>
          </a:p>
        </p:txBody>
      </p:sp>
      <p:sp>
        <p:nvSpPr>
          <p:cNvPr id="27" name="Shape 25"/>
          <p:cNvSpPr/>
          <p:nvPr/>
        </p:nvSpPr>
        <p:spPr>
          <a:xfrm>
            <a:off x="9411005" y="3524098"/>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28" name="Text 26"/>
          <p:cNvSpPr txBox="1"/>
          <p:nvPr/>
        </p:nvSpPr>
        <p:spPr>
          <a:xfrm>
            <a:off x="9411005" y="3759098"/>
            <a:ext cx="8001000" cy="238658"/>
          </a:xfrm>
          <a:prstGeom prst="rect">
            <a:avLst/>
          </a:prstGeom>
          <a:noFill/>
          <a:ln/>
        </p:spPr>
        <p:txBody>
          <a:bodyPr wrap="non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Permet la gestion des franchises</a:t>
            </a:r>
            <a:r>
              <a:rPr lang="en-US" sz="1200" dirty="0">
                <a:solidFill>
                  <a:srgbClr val="4B5563"/>
                </a:solidFill>
                <a:latin typeface="Manrope" pitchFamily="34" charset="0"/>
                <a:ea typeface="Manrope" pitchFamily="34" charset="-122"/>
                <a:cs typeface="Manrope" pitchFamily="34" charset="-120"/>
              </a:rPr>
              <a:t> et de leurs zones</a:t>
            </a:r>
            <a:endParaRPr lang="en-US" sz="1200" dirty="0"/>
          </a:p>
        </p:txBody>
      </p:sp>
      <p:sp>
        <p:nvSpPr>
          <p:cNvPr id="29" name="Shape 27"/>
          <p:cNvSpPr/>
          <p:nvPr/>
        </p:nvSpPr>
        <p:spPr>
          <a:xfrm>
            <a:off x="9411005" y="3854196"/>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30" name="Text 28"/>
          <p:cNvSpPr txBox="1"/>
          <p:nvPr/>
        </p:nvSpPr>
        <p:spPr>
          <a:xfrm>
            <a:off x="9411005" y="4089197"/>
            <a:ext cx="8001000" cy="238658"/>
          </a:xfrm>
          <a:prstGeom prst="rect">
            <a:avLst/>
          </a:prstGeom>
          <a:noFill/>
          <a:ln/>
        </p:spPr>
        <p:txBody>
          <a:bodyPr wrap="non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Permet une supervision centrale efficace</a:t>
            </a:r>
            <a:endParaRPr lang="en-US" sz="1200" dirty="0"/>
          </a:p>
        </p:txBody>
      </p:sp>
      <p:sp>
        <p:nvSpPr>
          <p:cNvPr id="31" name="Shape 29"/>
          <p:cNvSpPr/>
          <p:nvPr/>
        </p:nvSpPr>
        <p:spPr>
          <a:xfrm>
            <a:off x="9411005" y="4184294"/>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32" name="Text 30"/>
          <p:cNvSpPr txBox="1"/>
          <p:nvPr/>
        </p:nvSpPr>
        <p:spPr>
          <a:xfrm>
            <a:off x="9411005" y="4419295"/>
            <a:ext cx="8001000" cy="238658"/>
          </a:xfrm>
          <a:prstGeom prst="rect">
            <a:avLst/>
          </a:prstGeom>
          <a:noFill/>
          <a:ln/>
        </p:spPr>
        <p:txBody>
          <a:bodyPr wrap="non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Permet un reporting fiable</a:t>
            </a:r>
            <a:r>
              <a:rPr lang="en-US" sz="1200" dirty="0">
                <a:solidFill>
                  <a:srgbClr val="4B5563"/>
                </a:solidFill>
                <a:latin typeface="Manrope" pitchFamily="34" charset="0"/>
                <a:ea typeface="Manrope" pitchFamily="34" charset="-122"/>
                <a:cs typeface="Manrope" pitchFamily="34" charset="-120"/>
              </a:rPr>
              <a:t>, exportable et consolidé</a:t>
            </a:r>
            <a:endParaRPr lang="en-US" sz="1200" dirty="0"/>
          </a:p>
        </p:txBody>
      </p:sp>
      <p:sp>
        <p:nvSpPr>
          <p:cNvPr id="33" name="Shape 31"/>
          <p:cNvSpPr/>
          <p:nvPr/>
        </p:nvSpPr>
        <p:spPr>
          <a:xfrm>
            <a:off x="9411005" y="4514393"/>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34" name="Text 32"/>
          <p:cNvSpPr txBox="1"/>
          <p:nvPr/>
        </p:nvSpPr>
        <p:spPr>
          <a:xfrm>
            <a:off x="9411005" y="4749394"/>
            <a:ext cx="8001000" cy="238658"/>
          </a:xfrm>
          <a:prstGeom prst="rect">
            <a:avLst/>
          </a:prstGeom>
          <a:noFill/>
          <a:ln/>
        </p:spPr>
        <p:txBody>
          <a:bodyPr wrap="non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Permet la migration sécurisée</a:t>
            </a:r>
            <a:r>
              <a:rPr lang="en-US" sz="1200" dirty="0">
                <a:solidFill>
                  <a:srgbClr val="4B5563"/>
                </a:solidFill>
                <a:latin typeface="Manrope" pitchFamily="34" charset="0"/>
                <a:ea typeface="Manrope" pitchFamily="34" charset="-122"/>
                <a:cs typeface="Manrope" pitchFamily="34" charset="-120"/>
              </a:rPr>
              <a:t> des données existantes</a:t>
            </a:r>
            <a:endParaRPr lang="en-US" sz="1200" dirty="0"/>
          </a:p>
        </p:txBody>
      </p:sp>
      <p:sp>
        <p:nvSpPr>
          <p:cNvPr id="35" name="Shape 33"/>
          <p:cNvSpPr/>
          <p:nvPr/>
        </p:nvSpPr>
        <p:spPr>
          <a:xfrm>
            <a:off x="9411005" y="4844491"/>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36" name="Shape 34"/>
          <p:cNvSpPr/>
          <p:nvPr/>
        </p:nvSpPr>
        <p:spPr>
          <a:xfrm>
            <a:off x="914400" y="7429500"/>
            <a:ext cx="16497605" cy="1904695"/>
          </a:xfrm>
          <a:prstGeom prst="roundRect">
            <a:avLst>
              <a:gd name="adj" fmla="val 8017"/>
            </a:avLst>
          </a:prstGeom>
          <a:solidFill>
            <a:srgbClr val="F5F3FF"/>
          </a:solidFill>
          <a:ln w="12700">
            <a:solidFill>
              <a:srgbClr val="DDD6FE"/>
            </a:solidFill>
            <a:prstDash val="solid"/>
          </a:ln>
        </p:spPr>
        <p:txBody>
          <a:bodyPr/>
          <a:lstStyle/>
          <a:p>
            <a:endParaRPr lang="fr-CI"/>
          </a:p>
        </p:txBody>
      </p:sp>
      <p:sp>
        <p:nvSpPr>
          <p:cNvPr id="37" name="Text 35"/>
          <p:cNvSpPr txBox="1"/>
          <p:nvPr/>
        </p:nvSpPr>
        <p:spPr>
          <a:xfrm>
            <a:off x="1218895" y="7677302"/>
            <a:ext cx="3620110" cy="162763"/>
          </a:xfrm>
          <a:prstGeom prst="rect">
            <a:avLst/>
          </a:prstGeom>
          <a:noFill/>
          <a:ln/>
        </p:spPr>
        <p:txBody>
          <a:bodyPr wrap="none" lIns="0" tIns="0" rIns="0" bIns="0" rtlCol="0" anchor="ctr"/>
          <a:lstStyle/>
          <a:p>
            <a:pPr marL="0" indent="0" algn="l">
              <a:buNone/>
            </a:pPr>
            <a:r>
              <a:rPr lang="en-US" sz="900" b="1" kern="0" spc="117" dirty="0">
                <a:solidFill>
                  <a:srgbClr val="6D28D9"/>
                </a:solidFill>
                <a:latin typeface="JetBrains Mono" pitchFamily="34" charset="0"/>
                <a:ea typeface="JetBrains Mono" pitchFamily="34" charset="-122"/>
                <a:cs typeface="JetBrains Mono" pitchFamily="34" charset="-120"/>
              </a:rPr>
              <a:t>Critère final</a:t>
            </a:r>
            <a:endParaRPr lang="en-US" sz="900" dirty="0"/>
          </a:p>
        </p:txBody>
      </p:sp>
      <p:sp>
        <p:nvSpPr>
          <p:cNvPr id="38" name="Text 36"/>
          <p:cNvSpPr txBox="1"/>
          <p:nvPr/>
        </p:nvSpPr>
        <p:spPr>
          <a:xfrm>
            <a:off x="1218895" y="7915046"/>
            <a:ext cx="3848710" cy="571500"/>
          </a:xfrm>
          <a:prstGeom prst="rect">
            <a:avLst/>
          </a:prstGeom>
          <a:noFill/>
          <a:ln/>
        </p:spPr>
        <p:txBody>
          <a:bodyPr wrap="none" lIns="0" tIns="0" rIns="0" bIns="0" rtlCol="0" anchor="ctr"/>
          <a:lstStyle/>
          <a:p>
            <a:pPr marL="0" indent="0" algn="l">
              <a:buNone/>
            </a:pPr>
            <a:r>
              <a:rPr lang="en-US" sz="4500" b="1" kern="0" spc="-90" dirty="0">
                <a:solidFill>
                  <a:srgbClr val="6D28D9"/>
                </a:solidFill>
                <a:latin typeface="Manrope" pitchFamily="34" charset="0"/>
                <a:ea typeface="Manrope" pitchFamily="34" charset="-122"/>
                <a:cs typeface="Manrope" pitchFamily="34" charset="-120"/>
              </a:rPr>
              <a:t>0</a:t>
            </a:r>
            <a:r>
              <a:rPr lang="en-US" sz="4500" b="1" kern="0" spc="-90" dirty="0">
                <a:solidFill>
                  <a:srgbClr val="1F2937"/>
                </a:solidFill>
                <a:latin typeface="Manrope" pitchFamily="34" charset="0"/>
                <a:ea typeface="Manrope" pitchFamily="34" charset="-122"/>
                <a:cs typeface="Manrope" pitchFamily="34" charset="-120"/>
              </a:rPr>
              <a:t>⁄</a:t>
            </a:r>
            <a:r>
              <a:rPr lang="en-US" sz="4500" b="1" kern="0" spc="-90" dirty="0">
                <a:solidFill>
                  <a:srgbClr val="6D28D9"/>
                </a:solidFill>
                <a:latin typeface="Manrope" pitchFamily="34" charset="0"/>
                <a:ea typeface="Manrope" pitchFamily="34" charset="-122"/>
                <a:cs typeface="Manrope" pitchFamily="34" charset="-120"/>
              </a:rPr>
              <a:t>blocage</a:t>
            </a:r>
            <a:endParaRPr lang="en-US" sz="4500" dirty="0"/>
          </a:p>
        </p:txBody>
      </p:sp>
      <p:sp>
        <p:nvSpPr>
          <p:cNvPr id="39" name="Text 37"/>
          <p:cNvSpPr txBox="1"/>
          <p:nvPr/>
        </p:nvSpPr>
        <p:spPr>
          <a:xfrm>
            <a:off x="5333695" y="7830007"/>
            <a:ext cx="12275820" cy="333756"/>
          </a:xfrm>
          <a:prstGeom prst="rect">
            <a:avLst/>
          </a:prstGeom>
          <a:noFill/>
          <a:ln/>
        </p:spPr>
        <p:txBody>
          <a:bodyPr wrap="none" lIns="0" tIns="0" rIns="0" bIns="0" rtlCol="0" anchor="ctr"/>
          <a:lstStyle/>
          <a:p>
            <a:pPr marL="0" indent="0" algn="l">
              <a:buNone/>
            </a:pPr>
            <a:r>
              <a:rPr lang="en-US" sz="2100" b="1" dirty="0">
                <a:solidFill>
                  <a:srgbClr val="1F2937"/>
                </a:solidFill>
                <a:latin typeface="Manrope" pitchFamily="34" charset="0"/>
                <a:ea typeface="Manrope" pitchFamily="34" charset="-122"/>
                <a:cs typeface="Manrope" pitchFamily="34" charset="-120"/>
              </a:rPr>
              <a:t>La plateforme peut être utilisée en exploitation réelle sans blocage majeur.</a:t>
            </a:r>
            <a:endParaRPr lang="en-US" sz="2100" dirty="0"/>
          </a:p>
        </p:txBody>
      </p:sp>
      <p:sp>
        <p:nvSpPr>
          <p:cNvPr id="40" name="Text 38"/>
          <p:cNvSpPr txBox="1"/>
          <p:nvPr/>
        </p:nvSpPr>
        <p:spPr>
          <a:xfrm>
            <a:off x="5333695" y="8277149"/>
            <a:ext cx="11811305" cy="505663"/>
          </a:xfrm>
          <a:prstGeom prst="rect">
            <a:avLst/>
          </a:prstGeom>
          <a:noFill/>
          <a:ln/>
        </p:spPr>
        <p:txBody>
          <a:bodyPr wrap="squar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Aucun parcours critique ne doit s'interrompre — un client lance une course, un chauffeur l'accepte et la termine, la commission est débitée correctement, le partenaire voit son chauffeur, la franchise voit sa zone, le central voit le total. De bout en bout. Sans intervention manuelle.</a:t>
            </a:r>
            <a:endParaRPr lang="en-US" sz="1200" dirty="0"/>
          </a:p>
        </p:txBody>
      </p:sp>
      <p:sp>
        <p:nvSpPr>
          <p:cNvPr id="41" name="Shape 39"/>
          <p:cNvSpPr/>
          <p:nvPr/>
        </p:nvSpPr>
        <p:spPr>
          <a:xfrm>
            <a:off x="0" y="9791395"/>
            <a:ext cx="18288000" cy="495605"/>
          </a:xfrm>
          <a:prstGeom prst="rect">
            <a:avLst/>
          </a:prstGeom>
          <a:solidFill>
            <a:srgbClr val="FFFFFF"/>
          </a:solidFill>
          <a:ln/>
        </p:spPr>
        <p:txBody>
          <a:bodyPr/>
          <a:lstStyle/>
          <a:p>
            <a:endParaRPr lang="fr-CI"/>
          </a:p>
        </p:txBody>
      </p:sp>
      <p:sp>
        <p:nvSpPr>
          <p:cNvPr id="42" name="Shape 40"/>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43" name="Text 41"/>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44" name="Text 42"/>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05 / 59</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5699334" y="256946"/>
            <a:ext cx="2358238"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Partie I — §4 Principes (1/2)</a:t>
            </a:r>
            <a:endParaRPr lang="en-US" sz="900" dirty="0"/>
          </a:p>
        </p:txBody>
      </p:sp>
      <p:sp>
        <p:nvSpPr>
          <p:cNvPr id="10" name="Text 8"/>
          <p:cNvSpPr txBox="1"/>
          <p:nvPr/>
        </p:nvSpPr>
        <p:spPr>
          <a:xfrm>
            <a:off x="914400" y="1205179"/>
            <a:ext cx="3184855" cy="181051"/>
          </a:xfrm>
          <a:prstGeom prst="rect">
            <a:avLst/>
          </a:prstGeom>
          <a:noFill/>
          <a:ln/>
        </p:spPr>
        <p:txBody>
          <a:bodyPr wrap="none" lIns="0" tIns="0" rIns="0" bIns="0" rtlCol="0" anchor="ctr"/>
          <a:lstStyle/>
          <a:p>
            <a:pPr marL="0" indent="0" algn="l">
              <a:buNone/>
            </a:pPr>
            <a:r>
              <a:rPr lang="en-US" sz="1400" b="1" kern="0" spc="189" dirty="0">
                <a:solidFill>
                  <a:srgbClr val="6D28D9"/>
                </a:solidFill>
                <a:latin typeface="Manrope" pitchFamily="34" charset="0"/>
                <a:ea typeface="Manrope" pitchFamily="34" charset="-122"/>
                <a:cs typeface="Manrope" pitchFamily="34" charset="-120"/>
              </a:rPr>
              <a:t>4. Principes directeurs · 1/2</a:t>
            </a:r>
            <a:endParaRPr lang="en-US" sz="14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8479110"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Quatre garde-fous structurels avant tout passage en production.</a:t>
            </a:r>
            <a:endParaRPr lang="en-US" sz="3900" dirty="0"/>
          </a:p>
        </p:txBody>
      </p:sp>
      <p:sp>
        <p:nvSpPr>
          <p:cNvPr id="13" name="Shape 11"/>
          <p:cNvSpPr/>
          <p:nvPr/>
        </p:nvSpPr>
        <p:spPr>
          <a:xfrm>
            <a:off x="914400" y="2857500"/>
            <a:ext cx="8096098" cy="2857500"/>
          </a:xfrm>
          <a:prstGeom prst="roundRect">
            <a:avLst>
              <a:gd name="adj" fmla="val 4672"/>
            </a:avLst>
          </a:prstGeom>
          <a:solidFill>
            <a:srgbClr val="FFFFFF"/>
          </a:solidFill>
          <a:ln w="12700">
            <a:solidFill>
              <a:srgbClr val="E5E7EB"/>
            </a:solidFill>
            <a:prstDash val="solid"/>
          </a:ln>
        </p:spPr>
        <p:txBody>
          <a:bodyPr/>
          <a:lstStyle/>
          <a:p>
            <a:endParaRPr lang="fr-CI"/>
          </a:p>
        </p:txBody>
      </p:sp>
      <p:sp>
        <p:nvSpPr>
          <p:cNvPr id="14" name="Shape 12"/>
          <p:cNvSpPr/>
          <p:nvPr/>
        </p:nvSpPr>
        <p:spPr>
          <a:xfrm>
            <a:off x="1218895" y="3124505"/>
            <a:ext cx="418795" cy="418795"/>
          </a:xfrm>
          <a:prstGeom prst="roundRect">
            <a:avLst>
              <a:gd name="adj" fmla="val 22707"/>
            </a:avLst>
          </a:prstGeom>
          <a:solidFill>
            <a:srgbClr val="6D28D9"/>
          </a:solidFill>
          <a:ln w="12700">
            <a:solidFill>
              <a:srgbClr val="FFFFFF">
                <a:alpha val="0"/>
              </a:srgbClr>
            </a:solidFill>
            <a:prstDash val="solid"/>
          </a:ln>
        </p:spPr>
        <p:txBody>
          <a:bodyPr/>
          <a:lstStyle/>
          <a:p>
            <a:endParaRPr lang="fr-CI"/>
          </a:p>
        </p:txBody>
      </p:sp>
      <p:sp>
        <p:nvSpPr>
          <p:cNvPr id="15" name="Text 13"/>
          <p:cNvSpPr txBox="1"/>
          <p:nvPr/>
        </p:nvSpPr>
        <p:spPr>
          <a:xfrm>
            <a:off x="1218895" y="3124505"/>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300" b="1" dirty="0">
                <a:solidFill>
                  <a:srgbClr val="FFFFFF"/>
                </a:solidFill>
                <a:latin typeface="JetBrains Mono" pitchFamily="34" charset="0"/>
                <a:ea typeface="JetBrains Mono" pitchFamily="34" charset="-122"/>
                <a:cs typeface="JetBrains Mono" pitchFamily="34" charset="-120"/>
              </a:rPr>
              <a:t>4.1</a:t>
            </a:r>
            <a:endParaRPr lang="en-US" sz="1300" dirty="0"/>
          </a:p>
        </p:txBody>
      </p:sp>
      <p:sp>
        <p:nvSpPr>
          <p:cNvPr id="16" name="Text 14"/>
          <p:cNvSpPr txBox="1"/>
          <p:nvPr/>
        </p:nvSpPr>
        <p:spPr>
          <a:xfrm>
            <a:off x="1809598" y="3124505"/>
            <a:ext cx="6934810" cy="286207"/>
          </a:xfrm>
          <a:prstGeom prst="rect">
            <a:avLst/>
          </a:prstGeom>
          <a:noFill/>
          <a:ln/>
        </p:spPr>
        <p:txBody>
          <a:bodyPr wrap="none" lIns="0" tIns="0" rIns="0" bIns="0" rtlCol="0" anchor="ctr"/>
          <a:lstStyle/>
          <a:p>
            <a:pPr marL="0" indent="0" algn="l">
              <a:buNone/>
            </a:pPr>
            <a:r>
              <a:rPr lang="en-US" sz="1800" b="1" dirty="0">
                <a:solidFill>
                  <a:srgbClr val="1F2937"/>
                </a:solidFill>
                <a:latin typeface="Manrope" pitchFamily="34" charset="0"/>
                <a:ea typeface="Manrope" pitchFamily="34" charset="-122"/>
                <a:cs typeface="Manrope" pitchFamily="34" charset="-120"/>
              </a:rPr>
              <a:t>Recette obligatoire avant production</a:t>
            </a:r>
            <a:endParaRPr lang="en-US" sz="1800" dirty="0"/>
          </a:p>
        </p:txBody>
      </p:sp>
      <p:sp>
        <p:nvSpPr>
          <p:cNvPr id="17" name="Text 15"/>
          <p:cNvSpPr txBox="1"/>
          <p:nvPr/>
        </p:nvSpPr>
        <p:spPr>
          <a:xfrm>
            <a:off x="1809598" y="3504895"/>
            <a:ext cx="6934810" cy="800100"/>
          </a:xfrm>
          <a:prstGeom prst="rect">
            <a:avLst/>
          </a:prstGeom>
          <a:noFill/>
          <a:ln/>
        </p:spPr>
        <p:txBody>
          <a:bodyPr wrap="square" lIns="0" tIns="0" rIns="0" bIns="0" rtlCol="0" anchor="ctr"/>
          <a:lstStyle/>
          <a:p>
            <a:pPr marL="0" indent="0" algn="l">
              <a:buNone/>
            </a:pPr>
            <a:r>
              <a:rPr lang="en-US" sz="1300" dirty="0">
                <a:solidFill>
                  <a:srgbClr val="4B5563"/>
                </a:solidFill>
                <a:latin typeface="Manrope" pitchFamily="34" charset="0"/>
                <a:ea typeface="Manrope" pitchFamily="34" charset="-122"/>
                <a:cs typeface="Manrope" pitchFamily="34" charset="-120"/>
              </a:rPr>
              <a:t>Aucune mise en production complète ne doit être réalisée sans recette </a:t>
            </a:r>
            <a:r>
              <a:rPr lang="en-US" sz="1300" b="1" dirty="0">
                <a:solidFill>
                  <a:srgbClr val="4B5563"/>
                </a:solidFill>
                <a:latin typeface="Manrope" pitchFamily="34" charset="0"/>
                <a:ea typeface="Manrope" pitchFamily="34" charset="-122"/>
                <a:cs typeface="Manrope" pitchFamily="34" charset="-120"/>
              </a:rPr>
              <a:t>fonctionnelle, technique, financière et opérationnelle</a:t>
            </a:r>
            <a:r>
              <a:rPr lang="en-US" sz="1300" dirty="0">
                <a:solidFill>
                  <a:srgbClr val="4B5563"/>
                </a:solidFill>
                <a:latin typeface="Manrope" pitchFamily="34" charset="0"/>
                <a:ea typeface="Manrope" pitchFamily="34" charset="-122"/>
                <a:cs typeface="Manrope" pitchFamily="34" charset="-120"/>
              </a:rPr>
              <a:t> validée en environnement préproduction. La validation s'appuie sur des livrables traçables et un procès-verbal Go / No-Go signé.</a:t>
            </a:r>
            <a:endParaRPr lang="en-US" sz="1300" dirty="0"/>
          </a:p>
        </p:txBody>
      </p:sp>
      <p:sp>
        <p:nvSpPr>
          <p:cNvPr id="18" name="Shape 16"/>
          <p:cNvSpPr/>
          <p:nvPr/>
        </p:nvSpPr>
        <p:spPr>
          <a:xfrm>
            <a:off x="9277502" y="2857500"/>
            <a:ext cx="8134502" cy="2857500"/>
          </a:xfrm>
          <a:prstGeom prst="roundRect">
            <a:avLst>
              <a:gd name="adj" fmla="val 4672"/>
            </a:avLst>
          </a:prstGeom>
          <a:solidFill>
            <a:srgbClr val="FFFFFF"/>
          </a:solidFill>
          <a:ln w="12700">
            <a:solidFill>
              <a:srgbClr val="E5E7EB"/>
            </a:solidFill>
            <a:prstDash val="solid"/>
          </a:ln>
        </p:spPr>
        <p:txBody>
          <a:bodyPr/>
          <a:lstStyle/>
          <a:p>
            <a:endParaRPr lang="fr-CI"/>
          </a:p>
        </p:txBody>
      </p:sp>
      <p:sp>
        <p:nvSpPr>
          <p:cNvPr id="19" name="Shape 17"/>
          <p:cNvSpPr/>
          <p:nvPr/>
        </p:nvSpPr>
        <p:spPr>
          <a:xfrm>
            <a:off x="9581998" y="3124505"/>
            <a:ext cx="418795" cy="418795"/>
          </a:xfrm>
          <a:prstGeom prst="roundRect">
            <a:avLst>
              <a:gd name="adj" fmla="val 22707"/>
            </a:avLst>
          </a:prstGeom>
          <a:solidFill>
            <a:srgbClr val="6D28D9"/>
          </a:solidFill>
          <a:ln w="12700">
            <a:solidFill>
              <a:srgbClr val="FFFFFF">
                <a:alpha val="0"/>
              </a:srgbClr>
            </a:solidFill>
            <a:prstDash val="solid"/>
          </a:ln>
        </p:spPr>
        <p:txBody>
          <a:bodyPr/>
          <a:lstStyle/>
          <a:p>
            <a:endParaRPr lang="fr-CI"/>
          </a:p>
        </p:txBody>
      </p:sp>
      <p:sp>
        <p:nvSpPr>
          <p:cNvPr id="20" name="Text 18"/>
          <p:cNvSpPr txBox="1"/>
          <p:nvPr/>
        </p:nvSpPr>
        <p:spPr>
          <a:xfrm>
            <a:off x="9581998" y="3124505"/>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300" b="1" dirty="0">
                <a:solidFill>
                  <a:srgbClr val="FFFFFF"/>
                </a:solidFill>
                <a:latin typeface="JetBrains Mono" pitchFamily="34" charset="0"/>
                <a:ea typeface="JetBrains Mono" pitchFamily="34" charset="-122"/>
                <a:cs typeface="JetBrains Mono" pitchFamily="34" charset="-120"/>
              </a:rPr>
              <a:t>4.2</a:t>
            </a:r>
            <a:endParaRPr lang="en-US" sz="1300" dirty="0"/>
          </a:p>
        </p:txBody>
      </p:sp>
      <p:sp>
        <p:nvSpPr>
          <p:cNvPr id="21" name="Text 19"/>
          <p:cNvSpPr txBox="1"/>
          <p:nvPr/>
        </p:nvSpPr>
        <p:spPr>
          <a:xfrm>
            <a:off x="10172700" y="3124505"/>
            <a:ext cx="6934810" cy="286207"/>
          </a:xfrm>
          <a:prstGeom prst="rect">
            <a:avLst/>
          </a:prstGeom>
          <a:noFill/>
          <a:ln/>
        </p:spPr>
        <p:txBody>
          <a:bodyPr wrap="none" lIns="0" tIns="0" rIns="0" bIns="0" rtlCol="0" anchor="ctr"/>
          <a:lstStyle/>
          <a:p>
            <a:pPr marL="0" indent="0" algn="l">
              <a:buNone/>
            </a:pPr>
            <a:r>
              <a:rPr lang="en-US" sz="1800" b="1" dirty="0">
                <a:solidFill>
                  <a:srgbClr val="1F2937"/>
                </a:solidFill>
                <a:latin typeface="Manrope" pitchFamily="34" charset="0"/>
                <a:ea typeface="Manrope" pitchFamily="34" charset="-122"/>
                <a:cs typeface="Manrope" pitchFamily="34" charset="-120"/>
              </a:rPr>
              <a:t>Préproduction représentative de la production</a:t>
            </a:r>
            <a:endParaRPr lang="en-US" sz="1800" dirty="0"/>
          </a:p>
        </p:txBody>
      </p:sp>
      <p:sp>
        <p:nvSpPr>
          <p:cNvPr id="22" name="Text 20"/>
          <p:cNvSpPr txBox="1"/>
          <p:nvPr/>
        </p:nvSpPr>
        <p:spPr>
          <a:xfrm>
            <a:off x="10172700" y="3504895"/>
            <a:ext cx="6934810" cy="1067105"/>
          </a:xfrm>
          <a:prstGeom prst="rect">
            <a:avLst/>
          </a:prstGeom>
          <a:noFill/>
          <a:ln/>
        </p:spPr>
        <p:txBody>
          <a:bodyPr wrap="square" lIns="0" tIns="0" rIns="0" bIns="0" rtlCol="0" anchor="ctr"/>
          <a:lstStyle/>
          <a:p>
            <a:pPr marL="0" indent="0" algn="l">
              <a:buNone/>
            </a:pPr>
            <a:r>
              <a:rPr lang="en-US" sz="1300" dirty="0">
                <a:solidFill>
                  <a:srgbClr val="4B5563"/>
                </a:solidFill>
                <a:latin typeface="Manrope" pitchFamily="34" charset="0"/>
                <a:ea typeface="Manrope" pitchFamily="34" charset="-122"/>
                <a:cs typeface="Manrope" pitchFamily="34" charset="-120"/>
              </a:rPr>
              <a:t>L'environnement de préproduction doit être un </a:t>
            </a:r>
            <a:r>
              <a:rPr lang="en-US" sz="1300" b="1" dirty="0">
                <a:solidFill>
                  <a:srgbClr val="4B5563"/>
                </a:solidFill>
                <a:latin typeface="Manrope" pitchFamily="34" charset="0"/>
                <a:ea typeface="Manrope" pitchFamily="34" charset="-122"/>
                <a:cs typeface="Manrope" pitchFamily="34" charset="-120"/>
              </a:rPr>
              <a:t>miroir contrôlé de la production</a:t>
            </a:r>
            <a:r>
              <a:rPr lang="en-US" sz="1300" dirty="0">
                <a:solidFill>
                  <a:srgbClr val="4B5563"/>
                </a:solidFill>
                <a:latin typeface="Manrope" pitchFamily="34" charset="0"/>
                <a:ea typeface="Manrope" pitchFamily="34" charset="-122"/>
                <a:cs typeface="Manrope" pitchFamily="34" charset="-120"/>
              </a:rPr>
              <a:t> : mêmes logiques de données, mêmes accès et rôles, mêmes services externes (SMS, push, paiement), mêmes flux et reporting — uniquement isolé pour ne pas impacter les utilisateurs réels.</a:t>
            </a:r>
            <a:endParaRPr lang="en-US" sz="1300" dirty="0"/>
          </a:p>
        </p:txBody>
      </p:sp>
      <p:sp>
        <p:nvSpPr>
          <p:cNvPr id="23" name="Shape 21"/>
          <p:cNvSpPr/>
          <p:nvPr/>
        </p:nvSpPr>
        <p:spPr>
          <a:xfrm>
            <a:off x="914400" y="6001207"/>
            <a:ext cx="8096098" cy="2857500"/>
          </a:xfrm>
          <a:prstGeom prst="roundRect">
            <a:avLst>
              <a:gd name="adj" fmla="val 4672"/>
            </a:avLst>
          </a:prstGeom>
          <a:solidFill>
            <a:srgbClr val="F5F3FF"/>
          </a:solidFill>
          <a:ln w="12700">
            <a:solidFill>
              <a:srgbClr val="DDD6FE"/>
            </a:solidFill>
            <a:prstDash val="solid"/>
          </a:ln>
        </p:spPr>
        <p:txBody>
          <a:bodyPr/>
          <a:lstStyle/>
          <a:p>
            <a:endParaRPr lang="fr-CI"/>
          </a:p>
        </p:txBody>
      </p:sp>
      <p:sp>
        <p:nvSpPr>
          <p:cNvPr id="24" name="Shape 22"/>
          <p:cNvSpPr/>
          <p:nvPr/>
        </p:nvSpPr>
        <p:spPr>
          <a:xfrm>
            <a:off x="1218895" y="6267298"/>
            <a:ext cx="418795" cy="418795"/>
          </a:xfrm>
          <a:prstGeom prst="roundRect">
            <a:avLst>
              <a:gd name="adj" fmla="val 22707"/>
            </a:avLst>
          </a:prstGeom>
          <a:solidFill>
            <a:srgbClr val="6D28D9"/>
          </a:solidFill>
          <a:ln w="12700">
            <a:solidFill>
              <a:srgbClr val="FFFFFF">
                <a:alpha val="0"/>
              </a:srgbClr>
            </a:solidFill>
            <a:prstDash val="solid"/>
          </a:ln>
        </p:spPr>
        <p:txBody>
          <a:bodyPr/>
          <a:lstStyle/>
          <a:p>
            <a:endParaRPr lang="fr-CI"/>
          </a:p>
        </p:txBody>
      </p:sp>
      <p:sp>
        <p:nvSpPr>
          <p:cNvPr id="25" name="Text 23"/>
          <p:cNvSpPr txBox="1"/>
          <p:nvPr/>
        </p:nvSpPr>
        <p:spPr>
          <a:xfrm>
            <a:off x="1218895" y="6267298"/>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300" b="1" dirty="0">
                <a:solidFill>
                  <a:srgbClr val="FFFFFF"/>
                </a:solidFill>
                <a:latin typeface="JetBrains Mono" pitchFamily="34" charset="0"/>
                <a:ea typeface="JetBrains Mono" pitchFamily="34" charset="-122"/>
                <a:cs typeface="JetBrains Mono" pitchFamily="34" charset="-120"/>
              </a:rPr>
              <a:t>4.3</a:t>
            </a:r>
            <a:endParaRPr lang="en-US" sz="1300" dirty="0"/>
          </a:p>
        </p:txBody>
      </p:sp>
      <p:sp>
        <p:nvSpPr>
          <p:cNvPr id="26" name="Text 24"/>
          <p:cNvSpPr txBox="1"/>
          <p:nvPr/>
        </p:nvSpPr>
        <p:spPr>
          <a:xfrm>
            <a:off x="1809598" y="6267298"/>
            <a:ext cx="6934810" cy="286207"/>
          </a:xfrm>
          <a:prstGeom prst="rect">
            <a:avLst/>
          </a:prstGeom>
          <a:noFill/>
          <a:ln/>
        </p:spPr>
        <p:txBody>
          <a:bodyPr wrap="none" lIns="0" tIns="0" rIns="0" bIns="0" rtlCol="0" anchor="ctr"/>
          <a:lstStyle/>
          <a:p>
            <a:pPr marL="0" indent="0" algn="l">
              <a:buNone/>
            </a:pPr>
            <a:r>
              <a:rPr lang="en-US" sz="1800" b="1" dirty="0">
                <a:solidFill>
                  <a:srgbClr val="1F2937"/>
                </a:solidFill>
                <a:latin typeface="Manrope" pitchFamily="34" charset="0"/>
                <a:ea typeface="Manrope" pitchFamily="34" charset="-122"/>
                <a:cs typeface="Manrope" pitchFamily="34" charset="-120"/>
              </a:rPr>
              <a:t>Simulation réelle contrôlée</a:t>
            </a:r>
            <a:endParaRPr lang="en-US" sz="1800" dirty="0"/>
          </a:p>
        </p:txBody>
      </p:sp>
      <p:sp>
        <p:nvSpPr>
          <p:cNvPr id="27" name="Text 25"/>
          <p:cNvSpPr txBox="1"/>
          <p:nvPr/>
        </p:nvSpPr>
        <p:spPr>
          <a:xfrm>
            <a:off x="1809598" y="6648602"/>
            <a:ext cx="6934810" cy="800100"/>
          </a:xfrm>
          <a:prstGeom prst="rect">
            <a:avLst/>
          </a:prstGeom>
          <a:noFill/>
          <a:ln/>
        </p:spPr>
        <p:txBody>
          <a:bodyPr wrap="square" lIns="0" tIns="0" rIns="0" bIns="0" rtlCol="0" anchor="ctr"/>
          <a:lstStyle/>
          <a:p>
            <a:pPr marL="0" indent="0" algn="l">
              <a:buNone/>
            </a:pPr>
            <a:r>
              <a:rPr lang="en-US" sz="1300" dirty="0">
                <a:solidFill>
                  <a:srgbClr val="4B5563"/>
                </a:solidFill>
                <a:latin typeface="Manrope" pitchFamily="34" charset="0"/>
                <a:ea typeface="Manrope" pitchFamily="34" charset="-122"/>
                <a:cs typeface="Manrope" pitchFamily="34" charset="-120"/>
              </a:rPr>
              <a:t>Avant toute généralisation, une </a:t>
            </a:r>
            <a:r>
              <a:rPr lang="en-US" sz="1300" b="1" dirty="0">
                <a:solidFill>
                  <a:srgbClr val="4B5563"/>
                </a:solidFill>
                <a:latin typeface="Manrope" pitchFamily="34" charset="0"/>
                <a:ea typeface="Manrope" pitchFamily="34" charset="-122"/>
                <a:cs typeface="Manrope" pitchFamily="34" charset="-120"/>
              </a:rPr>
              <a:t>journée de test réel</a:t>
            </a:r>
            <a:r>
              <a:rPr lang="en-US" sz="1300" dirty="0">
                <a:solidFill>
                  <a:srgbClr val="4B5563"/>
                </a:solidFill>
                <a:latin typeface="Manrope" pitchFamily="34" charset="0"/>
                <a:ea typeface="Manrope" pitchFamily="34" charset="-122"/>
                <a:cs typeface="Manrope" pitchFamily="34" charset="-120"/>
              </a:rPr>
              <a:t> est organisée avec ~40 engins, des clients testeurs, des chauffeurs, des livreurs, des partenaires et l'équipe centrale. Elle simule l'exploitation sans engagement commercial.</a:t>
            </a:r>
            <a:endParaRPr lang="en-US" sz="1300" dirty="0"/>
          </a:p>
        </p:txBody>
      </p:sp>
      <p:sp>
        <p:nvSpPr>
          <p:cNvPr id="28" name="Shape 26"/>
          <p:cNvSpPr/>
          <p:nvPr/>
        </p:nvSpPr>
        <p:spPr>
          <a:xfrm>
            <a:off x="1809598" y="7616952"/>
            <a:ext cx="1600200"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29" name="Text 27"/>
          <p:cNvSpPr/>
          <p:nvPr/>
        </p:nvSpPr>
        <p:spPr>
          <a:xfrm>
            <a:off x="1809598" y="7616952"/>
            <a:ext cx="1600200"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Dimanche 21 juin 2026</a:t>
            </a:r>
            <a:endParaRPr lang="en-US" sz="900" dirty="0"/>
          </a:p>
        </p:txBody>
      </p:sp>
      <p:sp>
        <p:nvSpPr>
          <p:cNvPr id="30" name="Shape 28"/>
          <p:cNvSpPr/>
          <p:nvPr/>
        </p:nvSpPr>
        <p:spPr>
          <a:xfrm>
            <a:off x="9277502" y="6001207"/>
            <a:ext cx="8134502" cy="2857500"/>
          </a:xfrm>
          <a:prstGeom prst="roundRect">
            <a:avLst>
              <a:gd name="adj" fmla="val 4672"/>
            </a:avLst>
          </a:prstGeom>
          <a:solidFill>
            <a:srgbClr val="F5F3FF"/>
          </a:solidFill>
          <a:ln w="12700">
            <a:solidFill>
              <a:srgbClr val="DDD6FE"/>
            </a:solidFill>
            <a:prstDash val="solid"/>
          </a:ln>
        </p:spPr>
        <p:txBody>
          <a:bodyPr/>
          <a:lstStyle/>
          <a:p>
            <a:endParaRPr lang="fr-CI"/>
          </a:p>
        </p:txBody>
      </p:sp>
      <p:sp>
        <p:nvSpPr>
          <p:cNvPr id="31" name="Shape 29"/>
          <p:cNvSpPr/>
          <p:nvPr/>
        </p:nvSpPr>
        <p:spPr>
          <a:xfrm>
            <a:off x="9581998" y="6267298"/>
            <a:ext cx="418795" cy="418795"/>
          </a:xfrm>
          <a:prstGeom prst="roundRect">
            <a:avLst>
              <a:gd name="adj" fmla="val 22707"/>
            </a:avLst>
          </a:prstGeom>
          <a:solidFill>
            <a:srgbClr val="6D28D9"/>
          </a:solidFill>
          <a:ln w="12700">
            <a:solidFill>
              <a:srgbClr val="FFFFFF">
                <a:alpha val="0"/>
              </a:srgbClr>
            </a:solidFill>
            <a:prstDash val="solid"/>
          </a:ln>
        </p:spPr>
        <p:txBody>
          <a:bodyPr/>
          <a:lstStyle/>
          <a:p>
            <a:endParaRPr lang="fr-CI"/>
          </a:p>
        </p:txBody>
      </p:sp>
      <p:sp>
        <p:nvSpPr>
          <p:cNvPr id="32" name="Text 30"/>
          <p:cNvSpPr txBox="1"/>
          <p:nvPr/>
        </p:nvSpPr>
        <p:spPr>
          <a:xfrm>
            <a:off x="9581998" y="6267298"/>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300" b="1" dirty="0">
                <a:solidFill>
                  <a:srgbClr val="FFFFFF"/>
                </a:solidFill>
                <a:latin typeface="JetBrains Mono" pitchFamily="34" charset="0"/>
                <a:ea typeface="JetBrains Mono" pitchFamily="34" charset="-122"/>
                <a:cs typeface="JetBrains Mono" pitchFamily="34" charset="-120"/>
              </a:rPr>
              <a:t>4.4</a:t>
            </a:r>
            <a:endParaRPr lang="en-US" sz="1300" dirty="0"/>
          </a:p>
        </p:txBody>
      </p:sp>
      <p:sp>
        <p:nvSpPr>
          <p:cNvPr id="33" name="Text 31"/>
          <p:cNvSpPr txBox="1"/>
          <p:nvPr/>
        </p:nvSpPr>
        <p:spPr>
          <a:xfrm>
            <a:off x="10172700" y="6267298"/>
            <a:ext cx="6934810" cy="286207"/>
          </a:xfrm>
          <a:prstGeom prst="rect">
            <a:avLst/>
          </a:prstGeom>
          <a:noFill/>
          <a:ln/>
        </p:spPr>
        <p:txBody>
          <a:bodyPr wrap="none" lIns="0" tIns="0" rIns="0" bIns="0" rtlCol="0" anchor="ctr"/>
          <a:lstStyle/>
          <a:p>
            <a:pPr marL="0" indent="0" algn="l">
              <a:buNone/>
            </a:pPr>
            <a:r>
              <a:rPr lang="en-US" sz="1800" b="1" dirty="0">
                <a:solidFill>
                  <a:srgbClr val="1F2937"/>
                </a:solidFill>
                <a:latin typeface="Manrope" pitchFamily="34" charset="0"/>
                <a:ea typeface="Manrope" pitchFamily="34" charset="-122"/>
                <a:cs typeface="Manrope" pitchFamily="34" charset="-120"/>
              </a:rPr>
              <a:t>Protection des données existantes</a:t>
            </a:r>
            <a:endParaRPr lang="en-US" sz="1800" dirty="0"/>
          </a:p>
        </p:txBody>
      </p:sp>
      <p:sp>
        <p:nvSpPr>
          <p:cNvPr id="34" name="Text 32"/>
          <p:cNvSpPr txBox="1"/>
          <p:nvPr/>
        </p:nvSpPr>
        <p:spPr>
          <a:xfrm>
            <a:off x="10172700" y="6648602"/>
            <a:ext cx="6934810" cy="800100"/>
          </a:xfrm>
          <a:prstGeom prst="rect">
            <a:avLst/>
          </a:prstGeom>
          <a:noFill/>
          <a:ln/>
        </p:spPr>
        <p:txBody>
          <a:bodyPr wrap="square" lIns="0" tIns="0" rIns="0" bIns="0" rtlCol="0" anchor="ctr"/>
          <a:lstStyle/>
          <a:p>
            <a:pPr marL="0" indent="0" algn="l">
              <a:buNone/>
            </a:pPr>
            <a:r>
              <a:rPr lang="en-US" sz="1300" dirty="0">
                <a:solidFill>
                  <a:srgbClr val="4B5563"/>
                </a:solidFill>
                <a:latin typeface="Manrope" pitchFamily="34" charset="0"/>
                <a:ea typeface="Manrope" pitchFamily="34" charset="-122"/>
                <a:cs typeface="Manrope" pitchFamily="34" charset="-120"/>
              </a:rPr>
              <a:t>Les utilisateurs déjà inscrits ne doivent subir </a:t>
            </a:r>
            <a:r>
              <a:rPr lang="en-US" sz="1300" b="1" dirty="0">
                <a:solidFill>
                  <a:srgbClr val="4B5563"/>
                </a:solidFill>
                <a:latin typeface="Manrope" pitchFamily="34" charset="0"/>
                <a:ea typeface="Manrope" pitchFamily="34" charset="-122"/>
                <a:cs typeface="Manrope" pitchFamily="34" charset="-120"/>
              </a:rPr>
              <a:t>ni perte de compte, ni perte de données, ni perte de solde, ni obligation injustifiée</a:t>
            </a:r>
            <a:r>
              <a:rPr lang="en-US" sz="1300" dirty="0">
                <a:solidFill>
                  <a:srgbClr val="4B5563"/>
                </a:solidFill>
                <a:latin typeface="Manrope" pitchFamily="34" charset="0"/>
                <a:ea typeface="Manrope" pitchFamily="34" charset="-122"/>
                <a:cs typeface="Manrope" pitchFamily="34" charset="-120"/>
              </a:rPr>
              <a:t> de recréer leur profil. Les rattachements partenaires / franchises et les historiques critiques sont conservés.</a:t>
            </a:r>
            <a:endParaRPr lang="en-US" sz="1300" dirty="0"/>
          </a:p>
        </p:txBody>
      </p:sp>
      <p:sp>
        <p:nvSpPr>
          <p:cNvPr id="35" name="Shape 33"/>
          <p:cNvSpPr/>
          <p:nvPr/>
        </p:nvSpPr>
        <p:spPr>
          <a:xfrm>
            <a:off x="0" y="9791395"/>
            <a:ext cx="18288000" cy="495605"/>
          </a:xfrm>
          <a:prstGeom prst="rect">
            <a:avLst/>
          </a:prstGeom>
          <a:solidFill>
            <a:srgbClr val="FFFFFF"/>
          </a:solidFill>
          <a:ln/>
        </p:spPr>
        <p:txBody>
          <a:bodyPr/>
          <a:lstStyle/>
          <a:p>
            <a:endParaRPr lang="fr-CI"/>
          </a:p>
        </p:txBody>
      </p:sp>
      <p:sp>
        <p:nvSpPr>
          <p:cNvPr id="36" name="Shape 34"/>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37" name="Text 35"/>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38" name="Text 36"/>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06 / 59</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5678302" y="256946"/>
            <a:ext cx="2392070"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Partie I — §4 Principes (2/2)</a:t>
            </a:r>
            <a:endParaRPr lang="en-US" sz="900" dirty="0"/>
          </a:p>
        </p:txBody>
      </p:sp>
      <p:sp>
        <p:nvSpPr>
          <p:cNvPr id="10" name="Text 8"/>
          <p:cNvSpPr txBox="1"/>
          <p:nvPr/>
        </p:nvSpPr>
        <p:spPr>
          <a:xfrm>
            <a:off x="914400" y="1205179"/>
            <a:ext cx="3184855" cy="181051"/>
          </a:xfrm>
          <a:prstGeom prst="rect">
            <a:avLst/>
          </a:prstGeom>
          <a:noFill/>
          <a:ln/>
        </p:spPr>
        <p:txBody>
          <a:bodyPr wrap="none" lIns="0" tIns="0" rIns="0" bIns="0" rtlCol="0" anchor="ctr"/>
          <a:lstStyle/>
          <a:p>
            <a:pPr marL="0" indent="0" algn="l">
              <a:buNone/>
            </a:pPr>
            <a:r>
              <a:rPr lang="en-US" sz="1400" b="1" kern="0" spc="189" dirty="0">
                <a:solidFill>
                  <a:srgbClr val="6D28D9"/>
                </a:solidFill>
                <a:latin typeface="Manrope" pitchFamily="34" charset="0"/>
                <a:ea typeface="Manrope" pitchFamily="34" charset="-122"/>
                <a:cs typeface="Manrope" pitchFamily="34" charset="-120"/>
              </a:rPr>
              <a:t>4. Principes directeurs · 2/2</a:t>
            </a:r>
            <a:endParaRPr lang="en-US" sz="14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6193110" cy="1095451"/>
          </a:xfrm>
          <a:prstGeom prst="rect">
            <a:avLst/>
          </a:prstGeom>
          <a:noFill/>
          <a:ln/>
        </p:spPr>
        <p:txBody>
          <a:bodyPr wrap="squar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Traçabilité, progressivité et réversibilité — les trois piliers du basculement.</a:t>
            </a:r>
            <a:endParaRPr lang="en-US" sz="3900" dirty="0"/>
          </a:p>
        </p:txBody>
      </p:sp>
      <p:sp>
        <p:nvSpPr>
          <p:cNvPr id="13" name="Shape 11"/>
          <p:cNvSpPr/>
          <p:nvPr/>
        </p:nvSpPr>
        <p:spPr>
          <a:xfrm>
            <a:off x="914400" y="2857500"/>
            <a:ext cx="5333695" cy="5715000"/>
          </a:xfrm>
          <a:prstGeom prst="roundRect">
            <a:avLst>
              <a:gd name="adj" fmla="val 2503"/>
            </a:avLst>
          </a:prstGeom>
          <a:solidFill>
            <a:srgbClr val="FFFFFF"/>
          </a:solidFill>
          <a:ln w="12700">
            <a:solidFill>
              <a:srgbClr val="E5E7EB"/>
            </a:solidFill>
            <a:prstDash val="solid"/>
          </a:ln>
        </p:spPr>
        <p:txBody>
          <a:bodyPr/>
          <a:lstStyle/>
          <a:p>
            <a:endParaRPr lang="fr-CI"/>
          </a:p>
        </p:txBody>
      </p:sp>
      <p:sp>
        <p:nvSpPr>
          <p:cNvPr id="14" name="Shape 12"/>
          <p:cNvSpPr/>
          <p:nvPr/>
        </p:nvSpPr>
        <p:spPr>
          <a:xfrm>
            <a:off x="1218895" y="3124505"/>
            <a:ext cx="418795" cy="418795"/>
          </a:xfrm>
          <a:prstGeom prst="roundRect">
            <a:avLst>
              <a:gd name="adj" fmla="val 22707"/>
            </a:avLst>
          </a:prstGeom>
          <a:solidFill>
            <a:srgbClr val="6D28D9"/>
          </a:solidFill>
          <a:ln w="12700">
            <a:solidFill>
              <a:srgbClr val="FFFFFF">
                <a:alpha val="0"/>
              </a:srgbClr>
            </a:solidFill>
            <a:prstDash val="solid"/>
          </a:ln>
        </p:spPr>
        <p:txBody>
          <a:bodyPr/>
          <a:lstStyle/>
          <a:p>
            <a:endParaRPr lang="fr-CI"/>
          </a:p>
        </p:txBody>
      </p:sp>
      <p:sp>
        <p:nvSpPr>
          <p:cNvPr id="15" name="Text 13"/>
          <p:cNvSpPr txBox="1"/>
          <p:nvPr/>
        </p:nvSpPr>
        <p:spPr>
          <a:xfrm>
            <a:off x="1218895" y="3124505"/>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300" b="1" dirty="0">
                <a:solidFill>
                  <a:srgbClr val="FFFFFF"/>
                </a:solidFill>
                <a:latin typeface="JetBrains Mono" pitchFamily="34" charset="0"/>
                <a:ea typeface="JetBrains Mono" pitchFamily="34" charset="-122"/>
                <a:cs typeface="JetBrains Mono" pitchFamily="34" charset="-120"/>
              </a:rPr>
              <a:t>4.5</a:t>
            </a:r>
            <a:endParaRPr lang="en-US" sz="1300" dirty="0"/>
          </a:p>
        </p:txBody>
      </p:sp>
      <p:sp>
        <p:nvSpPr>
          <p:cNvPr id="16" name="Text 14"/>
          <p:cNvSpPr txBox="1"/>
          <p:nvPr/>
        </p:nvSpPr>
        <p:spPr>
          <a:xfrm>
            <a:off x="1218895" y="3715207"/>
            <a:ext cx="4763110" cy="314554"/>
          </a:xfrm>
          <a:prstGeom prst="rect">
            <a:avLst/>
          </a:prstGeom>
          <a:noFill/>
          <a:ln/>
        </p:spPr>
        <p:txBody>
          <a:bodyPr wrap="none" lIns="0" tIns="0" rIns="0" bIns="0" rtlCol="0" anchor="ctr"/>
          <a:lstStyle/>
          <a:p>
            <a:pPr marL="0" indent="0" algn="l">
              <a:buNone/>
            </a:pPr>
            <a:r>
              <a:rPr lang="en-US" sz="1900" b="1" dirty="0">
                <a:solidFill>
                  <a:srgbClr val="1F2937"/>
                </a:solidFill>
                <a:latin typeface="Manrope" pitchFamily="34" charset="0"/>
                <a:ea typeface="Manrope" pitchFamily="34" charset="-122"/>
                <a:cs typeface="Manrope" pitchFamily="34" charset="-120"/>
              </a:rPr>
              <a:t>Traçabilité complète</a:t>
            </a:r>
            <a:endParaRPr lang="en-US" sz="1900" dirty="0"/>
          </a:p>
        </p:txBody>
      </p:sp>
      <p:sp>
        <p:nvSpPr>
          <p:cNvPr id="17" name="Text 15"/>
          <p:cNvSpPr txBox="1"/>
          <p:nvPr/>
        </p:nvSpPr>
        <p:spPr>
          <a:xfrm>
            <a:off x="1218895" y="4138574"/>
            <a:ext cx="4763110" cy="800100"/>
          </a:xfrm>
          <a:prstGeom prst="rect">
            <a:avLst/>
          </a:prstGeom>
          <a:noFill/>
          <a:ln/>
        </p:spPr>
        <p:txBody>
          <a:bodyPr wrap="square" lIns="0" tIns="0" rIns="0" bIns="0" rtlCol="0" anchor="ctr"/>
          <a:lstStyle/>
          <a:p>
            <a:pPr marL="0" indent="0" algn="l">
              <a:buNone/>
            </a:pPr>
            <a:r>
              <a:rPr lang="en-US" sz="1300" dirty="0">
                <a:solidFill>
                  <a:srgbClr val="4B5563"/>
                </a:solidFill>
                <a:latin typeface="Manrope" pitchFamily="34" charset="0"/>
                <a:ea typeface="Manrope" pitchFamily="34" charset="-122"/>
                <a:cs typeface="Manrope" pitchFamily="34" charset="-120"/>
              </a:rPr>
              <a:t>Toutes les anomalies, validations, corrections, tests, résultats et arbitrages doivent être </a:t>
            </a:r>
            <a:r>
              <a:rPr lang="en-US" sz="1300" b="1" dirty="0">
                <a:solidFill>
                  <a:srgbClr val="4B5563"/>
                </a:solidFill>
                <a:latin typeface="Manrope" pitchFamily="34" charset="0"/>
                <a:ea typeface="Manrope" pitchFamily="34" charset="-122"/>
                <a:cs typeface="Manrope" pitchFamily="34" charset="-120"/>
              </a:rPr>
              <a:t>documentés et horodatés</a:t>
            </a:r>
            <a:r>
              <a:rPr lang="en-US" sz="1300" dirty="0">
                <a:solidFill>
                  <a:srgbClr val="4B5563"/>
                </a:solidFill>
                <a:latin typeface="Manrope" pitchFamily="34" charset="0"/>
                <a:ea typeface="Manrope" pitchFamily="34" charset="-122"/>
                <a:cs typeface="Manrope" pitchFamily="34" charset="-120"/>
              </a:rPr>
              <a:t>.</a:t>
            </a:r>
            <a:endParaRPr lang="en-US" sz="1300" dirty="0"/>
          </a:p>
        </p:txBody>
      </p:sp>
      <p:sp>
        <p:nvSpPr>
          <p:cNvPr id="18" name="Text 16"/>
          <p:cNvSpPr txBox="1"/>
          <p:nvPr/>
        </p:nvSpPr>
        <p:spPr>
          <a:xfrm>
            <a:off x="1218895" y="5107838"/>
            <a:ext cx="476311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Registre des anomalies versionné</a:t>
            </a:r>
            <a:endParaRPr lang="en-US" sz="1200" dirty="0"/>
          </a:p>
        </p:txBody>
      </p:sp>
      <p:sp>
        <p:nvSpPr>
          <p:cNvPr id="19" name="Shape 17"/>
          <p:cNvSpPr/>
          <p:nvPr/>
        </p:nvSpPr>
        <p:spPr>
          <a:xfrm>
            <a:off x="1218895" y="5202936"/>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20" name="Text 18"/>
          <p:cNvSpPr txBox="1"/>
          <p:nvPr/>
        </p:nvSpPr>
        <p:spPr>
          <a:xfrm>
            <a:off x="1218895" y="5437937"/>
            <a:ext cx="476311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Procès-verbaux signés par phase</a:t>
            </a:r>
            <a:endParaRPr lang="en-US" sz="1200" dirty="0"/>
          </a:p>
        </p:txBody>
      </p:sp>
      <p:sp>
        <p:nvSpPr>
          <p:cNvPr id="21" name="Shape 19"/>
          <p:cNvSpPr/>
          <p:nvPr/>
        </p:nvSpPr>
        <p:spPr>
          <a:xfrm>
            <a:off x="1218895" y="5533034"/>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22" name="Text 20"/>
          <p:cNvSpPr txBox="1"/>
          <p:nvPr/>
        </p:nvSpPr>
        <p:spPr>
          <a:xfrm>
            <a:off x="1218895" y="5768035"/>
            <a:ext cx="476311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Logs techniques conservés</a:t>
            </a:r>
            <a:endParaRPr lang="en-US" sz="1200" dirty="0"/>
          </a:p>
        </p:txBody>
      </p:sp>
      <p:sp>
        <p:nvSpPr>
          <p:cNvPr id="23" name="Shape 21"/>
          <p:cNvSpPr/>
          <p:nvPr/>
        </p:nvSpPr>
        <p:spPr>
          <a:xfrm>
            <a:off x="1218895" y="5863133"/>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24" name="Text 22"/>
          <p:cNvSpPr txBox="1"/>
          <p:nvPr/>
        </p:nvSpPr>
        <p:spPr>
          <a:xfrm>
            <a:off x="1218895" y="6098134"/>
            <a:ext cx="476311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Journaux financiers exportés</a:t>
            </a:r>
            <a:endParaRPr lang="en-US" sz="1200" dirty="0"/>
          </a:p>
        </p:txBody>
      </p:sp>
      <p:sp>
        <p:nvSpPr>
          <p:cNvPr id="25" name="Shape 23"/>
          <p:cNvSpPr/>
          <p:nvPr/>
        </p:nvSpPr>
        <p:spPr>
          <a:xfrm>
            <a:off x="1218895" y="6193231"/>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26" name="Text 24"/>
          <p:cNvSpPr txBox="1"/>
          <p:nvPr/>
        </p:nvSpPr>
        <p:spPr>
          <a:xfrm>
            <a:off x="1218895" y="6428232"/>
            <a:ext cx="476311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Décisions de Go / No-Go archivées</a:t>
            </a:r>
            <a:endParaRPr lang="en-US" sz="1200" dirty="0"/>
          </a:p>
        </p:txBody>
      </p:sp>
      <p:sp>
        <p:nvSpPr>
          <p:cNvPr id="27" name="Shape 25"/>
          <p:cNvSpPr/>
          <p:nvPr/>
        </p:nvSpPr>
        <p:spPr>
          <a:xfrm>
            <a:off x="1218895" y="6523330"/>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28" name="Shape 26"/>
          <p:cNvSpPr/>
          <p:nvPr/>
        </p:nvSpPr>
        <p:spPr>
          <a:xfrm>
            <a:off x="6505956" y="2857500"/>
            <a:ext cx="5333695" cy="5715000"/>
          </a:xfrm>
          <a:prstGeom prst="roundRect">
            <a:avLst>
              <a:gd name="adj" fmla="val 2503"/>
            </a:avLst>
          </a:prstGeom>
          <a:solidFill>
            <a:srgbClr val="F5F3FF"/>
          </a:solidFill>
          <a:ln w="12700">
            <a:solidFill>
              <a:srgbClr val="DDD6FE"/>
            </a:solidFill>
            <a:prstDash val="solid"/>
          </a:ln>
        </p:spPr>
        <p:txBody>
          <a:bodyPr/>
          <a:lstStyle/>
          <a:p>
            <a:endParaRPr lang="fr-CI"/>
          </a:p>
        </p:txBody>
      </p:sp>
      <p:sp>
        <p:nvSpPr>
          <p:cNvPr id="29" name="Shape 27"/>
          <p:cNvSpPr/>
          <p:nvPr/>
        </p:nvSpPr>
        <p:spPr>
          <a:xfrm>
            <a:off x="6810451" y="3124505"/>
            <a:ext cx="418795" cy="418795"/>
          </a:xfrm>
          <a:prstGeom prst="roundRect">
            <a:avLst>
              <a:gd name="adj" fmla="val 22707"/>
            </a:avLst>
          </a:prstGeom>
          <a:solidFill>
            <a:srgbClr val="6D28D9"/>
          </a:solidFill>
          <a:ln w="12700">
            <a:solidFill>
              <a:srgbClr val="FFFFFF">
                <a:alpha val="0"/>
              </a:srgbClr>
            </a:solidFill>
            <a:prstDash val="solid"/>
          </a:ln>
        </p:spPr>
        <p:txBody>
          <a:bodyPr/>
          <a:lstStyle/>
          <a:p>
            <a:endParaRPr lang="fr-CI"/>
          </a:p>
        </p:txBody>
      </p:sp>
      <p:sp>
        <p:nvSpPr>
          <p:cNvPr id="30" name="Text 28"/>
          <p:cNvSpPr txBox="1"/>
          <p:nvPr/>
        </p:nvSpPr>
        <p:spPr>
          <a:xfrm>
            <a:off x="6810451" y="3124505"/>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300" b="1" dirty="0">
                <a:solidFill>
                  <a:srgbClr val="FFFFFF"/>
                </a:solidFill>
                <a:latin typeface="JetBrains Mono" pitchFamily="34" charset="0"/>
                <a:ea typeface="JetBrains Mono" pitchFamily="34" charset="-122"/>
                <a:cs typeface="JetBrains Mono" pitchFamily="34" charset="-120"/>
              </a:rPr>
              <a:t>4.6</a:t>
            </a:r>
            <a:endParaRPr lang="en-US" sz="1300" dirty="0"/>
          </a:p>
        </p:txBody>
      </p:sp>
      <p:sp>
        <p:nvSpPr>
          <p:cNvPr id="31" name="Text 29"/>
          <p:cNvSpPr txBox="1"/>
          <p:nvPr/>
        </p:nvSpPr>
        <p:spPr>
          <a:xfrm>
            <a:off x="6810451" y="3715207"/>
            <a:ext cx="4763110" cy="314554"/>
          </a:xfrm>
          <a:prstGeom prst="rect">
            <a:avLst/>
          </a:prstGeom>
          <a:noFill/>
          <a:ln/>
        </p:spPr>
        <p:txBody>
          <a:bodyPr wrap="none" lIns="0" tIns="0" rIns="0" bIns="0" rtlCol="0" anchor="ctr"/>
          <a:lstStyle/>
          <a:p>
            <a:pPr marL="0" indent="0" algn="l">
              <a:buNone/>
            </a:pPr>
            <a:r>
              <a:rPr lang="en-US" sz="1900" b="1" dirty="0">
                <a:solidFill>
                  <a:srgbClr val="1F2937"/>
                </a:solidFill>
                <a:latin typeface="Manrope" pitchFamily="34" charset="0"/>
                <a:ea typeface="Manrope" pitchFamily="34" charset="-122"/>
                <a:cs typeface="Manrope" pitchFamily="34" charset="-120"/>
              </a:rPr>
              <a:t>Basculement progressif</a:t>
            </a:r>
            <a:endParaRPr lang="en-US" sz="1900" dirty="0"/>
          </a:p>
        </p:txBody>
      </p:sp>
      <p:sp>
        <p:nvSpPr>
          <p:cNvPr id="32" name="Text 30"/>
          <p:cNvSpPr txBox="1"/>
          <p:nvPr/>
        </p:nvSpPr>
        <p:spPr>
          <a:xfrm>
            <a:off x="6810451" y="4138574"/>
            <a:ext cx="4763110" cy="534010"/>
          </a:xfrm>
          <a:prstGeom prst="rect">
            <a:avLst/>
          </a:prstGeom>
          <a:noFill/>
          <a:ln/>
        </p:spPr>
        <p:txBody>
          <a:bodyPr wrap="square" lIns="0" tIns="0" rIns="0" bIns="0" rtlCol="0" anchor="ctr"/>
          <a:lstStyle/>
          <a:p>
            <a:pPr marL="0" indent="0" algn="l">
              <a:buNone/>
            </a:pPr>
            <a:r>
              <a:rPr lang="en-US" sz="1300" dirty="0">
                <a:solidFill>
                  <a:srgbClr val="4B5563"/>
                </a:solidFill>
                <a:latin typeface="Manrope" pitchFamily="34" charset="0"/>
                <a:ea typeface="Manrope" pitchFamily="34" charset="-122"/>
                <a:cs typeface="Manrope" pitchFamily="34" charset="-120"/>
              </a:rPr>
              <a:t>Le passage en production se fait par </a:t>
            </a:r>
            <a:r>
              <a:rPr lang="en-US" sz="1300" b="1" dirty="0">
                <a:solidFill>
                  <a:srgbClr val="4B5563"/>
                </a:solidFill>
                <a:latin typeface="Manrope" pitchFamily="34" charset="0"/>
                <a:ea typeface="Manrope" pitchFamily="34" charset="-122"/>
                <a:cs typeface="Manrope" pitchFamily="34" charset="-120"/>
              </a:rPr>
              <a:t>vagues successives</a:t>
            </a:r>
            <a:r>
              <a:rPr lang="en-US" sz="1300" dirty="0">
                <a:solidFill>
                  <a:srgbClr val="4B5563"/>
                </a:solidFill>
                <a:latin typeface="Manrope" pitchFamily="34" charset="0"/>
                <a:ea typeface="Manrope" pitchFamily="34" charset="-122"/>
                <a:cs typeface="Manrope" pitchFamily="34" charset="-120"/>
              </a:rPr>
              <a:t>, jamais en bloc.</a:t>
            </a:r>
            <a:endParaRPr lang="en-US" sz="1300" dirty="0"/>
          </a:p>
        </p:txBody>
      </p:sp>
      <p:sp>
        <p:nvSpPr>
          <p:cNvPr id="33" name="Text 31"/>
          <p:cNvSpPr txBox="1"/>
          <p:nvPr/>
        </p:nvSpPr>
        <p:spPr>
          <a:xfrm>
            <a:off x="6810451" y="4880153"/>
            <a:ext cx="162763" cy="171907"/>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01</a:t>
            </a:r>
            <a:endParaRPr lang="en-US" sz="1000" dirty="0"/>
          </a:p>
        </p:txBody>
      </p:sp>
      <p:sp>
        <p:nvSpPr>
          <p:cNvPr id="34" name="Text 32"/>
          <p:cNvSpPr txBox="1"/>
          <p:nvPr/>
        </p:nvSpPr>
        <p:spPr>
          <a:xfrm>
            <a:off x="7084771" y="4860950"/>
            <a:ext cx="1077163" cy="210312"/>
          </a:xfrm>
          <a:prstGeom prst="rect">
            <a:avLst/>
          </a:prstGeom>
          <a:noFill/>
          <a:ln/>
        </p:spPr>
        <p:txBody>
          <a:bodyPr wrap="non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Phase pilote</a:t>
            </a:r>
            <a:endParaRPr lang="en-US" sz="1200" dirty="0"/>
          </a:p>
        </p:txBody>
      </p:sp>
      <p:sp>
        <p:nvSpPr>
          <p:cNvPr id="35" name="Text 33"/>
          <p:cNvSpPr txBox="1"/>
          <p:nvPr/>
        </p:nvSpPr>
        <p:spPr>
          <a:xfrm>
            <a:off x="6810451" y="5203850"/>
            <a:ext cx="162763" cy="171907"/>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02</a:t>
            </a:r>
            <a:endParaRPr lang="en-US" sz="1000" dirty="0"/>
          </a:p>
        </p:txBody>
      </p:sp>
      <p:sp>
        <p:nvSpPr>
          <p:cNvPr id="36" name="Text 34"/>
          <p:cNvSpPr txBox="1"/>
          <p:nvPr/>
        </p:nvSpPr>
        <p:spPr>
          <a:xfrm>
            <a:off x="7084771" y="5184648"/>
            <a:ext cx="1711757" cy="210312"/>
          </a:xfrm>
          <a:prstGeom prst="rect">
            <a:avLst/>
          </a:prstGeom>
          <a:noFill/>
          <a:ln/>
        </p:spPr>
        <p:txBody>
          <a:bodyPr wrap="non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Migration contrôlée</a:t>
            </a:r>
            <a:endParaRPr lang="en-US" sz="1200" dirty="0"/>
          </a:p>
        </p:txBody>
      </p:sp>
      <p:sp>
        <p:nvSpPr>
          <p:cNvPr id="37" name="Text 35"/>
          <p:cNvSpPr txBox="1"/>
          <p:nvPr/>
        </p:nvSpPr>
        <p:spPr>
          <a:xfrm>
            <a:off x="6810451" y="5527548"/>
            <a:ext cx="162763" cy="171907"/>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03</a:t>
            </a:r>
            <a:endParaRPr lang="en-US" sz="1000" dirty="0"/>
          </a:p>
        </p:txBody>
      </p:sp>
      <p:sp>
        <p:nvSpPr>
          <p:cNvPr id="38" name="Text 36"/>
          <p:cNvSpPr txBox="1"/>
          <p:nvPr/>
        </p:nvSpPr>
        <p:spPr>
          <a:xfrm>
            <a:off x="7084771" y="5508346"/>
            <a:ext cx="1281074" cy="210312"/>
          </a:xfrm>
          <a:prstGeom prst="rect">
            <a:avLst/>
          </a:prstGeom>
          <a:noFill/>
          <a:ln/>
        </p:spPr>
        <p:txBody>
          <a:bodyPr wrap="non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Généralisation</a:t>
            </a:r>
            <a:endParaRPr lang="en-US" sz="1200" dirty="0"/>
          </a:p>
        </p:txBody>
      </p:sp>
      <p:sp>
        <p:nvSpPr>
          <p:cNvPr id="39" name="Text 37"/>
          <p:cNvSpPr txBox="1"/>
          <p:nvPr/>
        </p:nvSpPr>
        <p:spPr>
          <a:xfrm>
            <a:off x="6810451" y="5851246"/>
            <a:ext cx="162763" cy="171907"/>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04</a:t>
            </a:r>
            <a:endParaRPr lang="en-US" sz="1000" dirty="0"/>
          </a:p>
        </p:txBody>
      </p:sp>
      <p:sp>
        <p:nvSpPr>
          <p:cNvPr id="40" name="Text 38"/>
          <p:cNvSpPr txBox="1"/>
          <p:nvPr/>
        </p:nvSpPr>
        <p:spPr>
          <a:xfrm>
            <a:off x="7084771" y="5832043"/>
            <a:ext cx="1893722" cy="210312"/>
          </a:xfrm>
          <a:prstGeom prst="rect">
            <a:avLst/>
          </a:prstGeom>
          <a:noFill/>
          <a:ln/>
        </p:spPr>
        <p:txBody>
          <a:bodyPr wrap="non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Hypercare 15-30 jours</a:t>
            </a:r>
            <a:endParaRPr lang="en-US" sz="1200" dirty="0"/>
          </a:p>
        </p:txBody>
      </p:sp>
      <p:sp>
        <p:nvSpPr>
          <p:cNvPr id="41" name="Text 39"/>
          <p:cNvSpPr txBox="1"/>
          <p:nvPr/>
        </p:nvSpPr>
        <p:spPr>
          <a:xfrm>
            <a:off x="6810451" y="6232550"/>
            <a:ext cx="4763110" cy="428854"/>
          </a:xfrm>
          <a:prstGeom prst="rect">
            <a:avLst/>
          </a:prstGeom>
          <a:noFill/>
          <a:ln/>
        </p:spPr>
        <p:txBody>
          <a:bodyPr wrap="square" lIns="0" tIns="0" rIns="0" bIns="0" rtlCol="0" anchor="ctr"/>
          <a:lstStyle/>
          <a:p>
            <a:pPr marL="0" indent="0" algn="l">
              <a:buNone/>
            </a:pPr>
            <a:r>
              <a:rPr lang="en-US" sz="1100" dirty="0">
                <a:solidFill>
                  <a:srgbClr val="6B7280"/>
                </a:solidFill>
                <a:latin typeface="Manrope" pitchFamily="34" charset="0"/>
                <a:ea typeface="Manrope" pitchFamily="34" charset="-122"/>
                <a:cs typeface="Manrope" pitchFamily="34" charset="-120"/>
              </a:rPr>
              <a:t>Chaque palier valide les indicateurs techniques, opérationnels et financiers avant d'autoriser le palier suivant.</a:t>
            </a:r>
            <a:endParaRPr lang="en-US" sz="1100" dirty="0"/>
          </a:p>
        </p:txBody>
      </p:sp>
      <p:sp>
        <p:nvSpPr>
          <p:cNvPr id="42" name="Shape 40"/>
          <p:cNvSpPr/>
          <p:nvPr/>
        </p:nvSpPr>
        <p:spPr>
          <a:xfrm>
            <a:off x="12096598" y="2857500"/>
            <a:ext cx="5315407" cy="5715000"/>
          </a:xfrm>
          <a:prstGeom prst="roundRect">
            <a:avLst>
              <a:gd name="adj" fmla="val 2512"/>
            </a:avLst>
          </a:prstGeom>
          <a:solidFill>
            <a:srgbClr val="1F2937"/>
          </a:solidFill>
          <a:ln w="12700">
            <a:solidFill>
              <a:srgbClr val="FFFFFF">
                <a:alpha val="0"/>
              </a:srgbClr>
            </a:solidFill>
            <a:prstDash val="solid"/>
          </a:ln>
        </p:spPr>
        <p:txBody>
          <a:bodyPr/>
          <a:lstStyle/>
          <a:p>
            <a:endParaRPr lang="fr-CI"/>
          </a:p>
        </p:txBody>
      </p:sp>
      <p:sp>
        <p:nvSpPr>
          <p:cNvPr id="43" name="Shape 41"/>
          <p:cNvSpPr/>
          <p:nvPr/>
        </p:nvSpPr>
        <p:spPr>
          <a:xfrm>
            <a:off x="12402007" y="3124505"/>
            <a:ext cx="418795" cy="418795"/>
          </a:xfrm>
          <a:prstGeom prst="roundRect">
            <a:avLst>
              <a:gd name="adj" fmla="val 22707"/>
            </a:avLst>
          </a:prstGeom>
          <a:solidFill>
            <a:srgbClr val="A78BFA"/>
          </a:solidFill>
          <a:ln w="12700">
            <a:solidFill>
              <a:srgbClr val="FFFFFF">
                <a:alpha val="0"/>
              </a:srgbClr>
            </a:solidFill>
            <a:prstDash val="solid"/>
          </a:ln>
        </p:spPr>
        <p:txBody>
          <a:bodyPr/>
          <a:lstStyle/>
          <a:p>
            <a:endParaRPr lang="fr-CI"/>
          </a:p>
        </p:txBody>
      </p:sp>
      <p:sp>
        <p:nvSpPr>
          <p:cNvPr id="44" name="Text 42"/>
          <p:cNvSpPr txBox="1"/>
          <p:nvPr/>
        </p:nvSpPr>
        <p:spPr>
          <a:xfrm>
            <a:off x="12402007" y="3124505"/>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300" b="1" dirty="0">
                <a:solidFill>
                  <a:srgbClr val="1F2937"/>
                </a:solidFill>
                <a:latin typeface="JetBrains Mono" pitchFamily="34" charset="0"/>
                <a:ea typeface="JetBrains Mono" pitchFamily="34" charset="-122"/>
                <a:cs typeface="JetBrains Mono" pitchFamily="34" charset="-120"/>
              </a:rPr>
              <a:t>4.7</a:t>
            </a:r>
            <a:endParaRPr lang="en-US" sz="1300" dirty="0"/>
          </a:p>
        </p:txBody>
      </p:sp>
      <p:sp>
        <p:nvSpPr>
          <p:cNvPr id="45" name="Text 43"/>
          <p:cNvSpPr txBox="1"/>
          <p:nvPr/>
        </p:nvSpPr>
        <p:spPr>
          <a:xfrm>
            <a:off x="12402007" y="3715207"/>
            <a:ext cx="4763110" cy="342900"/>
          </a:xfrm>
          <a:prstGeom prst="rect">
            <a:avLst/>
          </a:prstGeom>
          <a:noFill/>
          <a:ln/>
        </p:spPr>
        <p:txBody>
          <a:bodyPr wrap="none" lIns="0" tIns="0" rIns="0" bIns="0" rtlCol="0" anchor="ctr"/>
          <a:lstStyle/>
          <a:p>
            <a:pPr marL="0" indent="0" algn="l">
              <a:buNone/>
            </a:pPr>
            <a:r>
              <a:rPr lang="en-US" sz="1900" b="1" dirty="0">
                <a:solidFill>
                  <a:srgbClr val="FFFFFF"/>
                </a:solidFill>
                <a:latin typeface="Manrope" pitchFamily="34" charset="0"/>
                <a:ea typeface="Manrope" pitchFamily="34" charset="-122"/>
                <a:cs typeface="Manrope" pitchFamily="34" charset="-120"/>
              </a:rPr>
              <a:t>Réversibilité</a:t>
            </a:r>
            <a:endParaRPr lang="en-US" sz="1900" dirty="0"/>
          </a:p>
        </p:txBody>
      </p:sp>
      <p:sp>
        <p:nvSpPr>
          <p:cNvPr id="46" name="Text 44"/>
          <p:cNvSpPr txBox="1"/>
          <p:nvPr/>
        </p:nvSpPr>
        <p:spPr>
          <a:xfrm>
            <a:off x="12402007" y="4304995"/>
            <a:ext cx="4763110" cy="800100"/>
          </a:xfrm>
          <a:prstGeom prst="rect">
            <a:avLst/>
          </a:prstGeom>
          <a:noFill/>
          <a:ln/>
        </p:spPr>
        <p:txBody>
          <a:bodyPr wrap="square" lIns="0" tIns="0" rIns="0" bIns="0" rtlCol="0" anchor="ctr"/>
          <a:lstStyle/>
          <a:p>
            <a:pPr marL="0" indent="0" algn="l">
              <a:buNone/>
            </a:pPr>
            <a:r>
              <a:rPr lang="en-US" sz="1300" dirty="0">
                <a:solidFill>
                  <a:srgbClr val="C4B5FD"/>
                </a:solidFill>
                <a:latin typeface="Manrope" pitchFamily="34" charset="0"/>
                <a:ea typeface="Manrope" pitchFamily="34" charset="-122"/>
                <a:cs typeface="Manrope" pitchFamily="34" charset="-120"/>
              </a:rPr>
              <a:t>Un </a:t>
            </a:r>
            <a:r>
              <a:rPr lang="en-US" sz="1300" b="1" dirty="0">
                <a:solidFill>
                  <a:srgbClr val="FFFFFF"/>
                </a:solidFill>
                <a:latin typeface="Manrope" pitchFamily="34" charset="0"/>
                <a:ea typeface="Manrope" pitchFamily="34" charset="-122"/>
                <a:cs typeface="Manrope" pitchFamily="34" charset="-120"/>
              </a:rPr>
              <a:t>plan de retour arrière</a:t>
            </a:r>
            <a:r>
              <a:rPr lang="en-US" sz="1300" dirty="0">
                <a:solidFill>
                  <a:srgbClr val="C4B5FD"/>
                </a:solidFill>
                <a:latin typeface="Manrope" pitchFamily="34" charset="0"/>
                <a:ea typeface="Manrope" pitchFamily="34" charset="-122"/>
                <a:cs typeface="Manrope" pitchFamily="34" charset="-120"/>
              </a:rPr>
              <a:t> est disponible et testé. Il permet de réactiver l'ancienne version si une anomalie critique survient pendant ou après le basculement.</a:t>
            </a:r>
            <a:endParaRPr lang="en-US" sz="1300" dirty="0"/>
          </a:p>
        </p:txBody>
      </p:sp>
      <p:sp>
        <p:nvSpPr>
          <p:cNvPr id="47" name="Shape 45"/>
          <p:cNvSpPr/>
          <p:nvPr/>
        </p:nvSpPr>
        <p:spPr>
          <a:xfrm>
            <a:off x="12402007" y="5330952"/>
            <a:ext cx="4762195" cy="1676095"/>
          </a:xfrm>
          <a:prstGeom prst="roundRect">
            <a:avLst>
              <a:gd name="adj" fmla="val 5674"/>
            </a:avLst>
          </a:prstGeom>
          <a:solidFill>
            <a:srgbClr val="374151"/>
          </a:solidFill>
          <a:ln/>
        </p:spPr>
        <p:txBody>
          <a:bodyPr/>
          <a:lstStyle/>
          <a:p>
            <a:endParaRPr lang="fr-CI"/>
          </a:p>
        </p:txBody>
      </p:sp>
      <p:sp>
        <p:nvSpPr>
          <p:cNvPr id="48" name="Shape 46"/>
          <p:cNvSpPr/>
          <p:nvPr/>
        </p:nvSpPr>
        <p:spPr>
          <a:xfrm>
            <a:off x="12402007" y="5330952"/>
            <a:ext cx="38405" cy="1676095"/>
          </a:xfrm>
          <a:prstGeom prst="roundRect">
            <a:avLst>
              <a:gd name="adj" fmla="val 247618"/>
            </a:avLst>
          </a:prstGeom>
          <a:solidFill>
            <a:srgbClr val="A78BFA"/>
          </a:solidFill>
          <a:ln w="12700">
            <a:solidFill>
              <a:srgbClr val="A78BFA">
                <a:alpha val="0"/>
              </a:srgbClr>
            </a:solidFill>
            <a:prstDash val="solid"/>
          </a:ln>
        </p:spPr>
        <p:txBody>
          <a:bodyPr/>
          <a:lstStyle/>
          <a:p>
            <a:endParaRPr lang="fr-CI"/>
          </a:p>
        </p:txBody>
      </p:sp>
      <p:sp>
        <p:nvSpPr>
          <p:cNvPr id="49" name="Text 47"/>
          <p:cNvSpPr txBox="1"/>
          <p:nvPr/>
        </p:nvSpPr>
        <p:spPr>
          <a:xfrm>
            <a:off x="12592202" y="5483657"/>
            <a:ext cx="4420210" cy="133502"/>
          </a:xfrm>
          <a:prstGeom prst="rect">
            <a:avLst/>
          </a:prstGeom>
          <a:noFill/>
          <a:ln/>
        </p:spPr>
        <p:txBody>
          <a:bodyPr wrap="none" lIns="0" tIns="0" rIns="0" bIns="0" rtlCol="0" anchor="ctr"/>
          <a:lstStyle/>
          <a:p>
            <a:pPr marL="0" indent="0" algn="l">
              <a:buNone/>
            </a:pPr>
            <a:r>
              <a:rPr lang="en-US" sz="800" b="1" kern="0" spc="99" dirty="0">
                <a:solidFill>
                  <a:srgbClr val="A78BFA"/>
                </a:solidFill>
                <a:latin typeface="JetBrains Mono" pitchFamily="34" charset="0"/>
                <a:ea typeface="JetBrains Mono" pitchFamily="34" charset="-122"/>
                <a:cs typeface="JetBrains Mono" pitchFamily="34" charset="-120"/>
              </a:rPr>
              <a:t>Déclencheurs</a:t>
            </a:r>
            <a:endParaRPr lang="en-US" sz="800" dirty="0"/>
          </a:p>
        </p:txBody>
      </p:sp>
      <p:sp>
        <p:nvSpPr>
          <p:cNvPr id="50" name="Text 48"/>
          <p:cNvSpPr txBox="1"/>
          <p:nvPr/>
        </p:nvSpPr>
        <p:spPr>
          <a:xfrm>
            <a:off x="12763195" y="5712257"/>
            <a:ext cx="4248302" cy="228600"/>
          </a:xfrm>
          <a:prstGeom prst="rect">
            <a:avLst/>
          </a:prstGeom>
          <a:noFill/>
          <a:ln/>
        </p:spPr>
        <p:txBody>
          <a:bodyPr wrap="none" lIns="0" tIns="0" rIns="0" bIns="0" rtlCol="0" anchor="ctr"/>
          <a:lstStyle/>
          <a:p>
            <a:pPr marL="0" indent="0" algn="l">
              <a:buNone/>
            </a:pPr>
            <a:r>
              <a:rPr lang="en-US" sz="1100" dirty="0">
                <a:solidFill>
                  <a:srgbClr val="E5E7EB"/>
                </a:solidFill>
                <a:latin typeface="Manrope" pitchFamily="34" charset="0"/>
                <a:ea typeface="Manrope" pitchFamily="34" charset="-122"/>
                <a:cs typeface="Manrope" pitchFamily="34" charset="-120"/>
              </a:rPr>
              <a:t>Connexion impossible pour la majorité</a:t>
            </a:r>
            <a:endParaRPr lang="en-US" sz="1100" dirty="0"/>
          </a:p>
        </p:txBody>
      </p:sp>
      <p:sp>
        <p:nvSpPr>
          <p:cNvPr id="51" name="Text 49"/>
          <p:cNvSpPr txBox="1"/>
          <p:nvPr/>
        </p:nvSpPr>
        <p:spPr>
          <a:xfrm>
            <a:off x="12763195" y="5940857"/>
            <a:ext cx="4248302" cy="228600"/>
          </a:xfrm>
          <a:prstGeom prst="rect">
            <a:avLst/>
          </a:prstGeom>
          <a:noFill/>
          <a:ln/>
        </p:spPr>
        <p:txBody>
          <a:bodyPr wrap="none" lIns="0" tIns="0" rIns="0" bIns="0" rtlCol="0" anchor="ctr"/>
          <a:lstStyle/>
          <a:p>
            <a:pPr marL="0" indent="0" algn="l">
              <a:buNone/>
            </a:pPr>
            <a:r>
              <a:rPr lang="en-US" sz="1100" dirty="0">
                <a:solidFill>
                  <a:srgbClr val="E5E7EB"/>
                </a:solidFill>
                <a:latin typeface="Manrope" pitchFamily="34" charset="0"/>
                <a:ea typeface="Manrope" pitchFamily="34" charset="-122"/>
                <a:cs typeface="Manrope" pitchFamily="34" charset="-120"/>
              </a:rPr>
              <a:t>Courses ou livraisons impossibles</a:t>
            </a:r>
            <a:endParaRPr lang="en-US" sz="1100" dirty="0"/>
          </a:p>
        </p:txBody>
      </p:sp>
      <p:sp>
        <p:nvSpPr>
          <p:cNvPr id="52" name="Text 50"/>
          <p:cNvSpPr txBox="1"/>
          <p:nvPr/>
        </p:nvSpPr>
        <p:spPr>
          <a:xfrm>
            <a:off x="12763195" y="6169457"/>
            <a:ext cx="4248302" cy="228600"/>
          </a:xfrm>
          <a:prstGeom prst="rect">
            <a:avLst/>
          </a:prstGeom>
          <a:noFill/>
          <a:ln/>
        </p:spPr>
        <p:txBody>
          <a:bodyPr wrap="none" lIns="0" tIns="0" rIns="0" bIns="0" rtlCol="0" anchor="ctr"/>
          <a:lstStyle/>
          <a:p>
            <a:pPr marL="0" indent="0" algn="l">
              <a:buNone/>
            </a:pPr>
            <a:r>
              <a:rPr lang="en-US" sz="1100" dirty="0">
                <a:solidFill>
                  <a:srgbClr val="E5E7EB"/>
                </a:solidFill>
                <a:latin typeface="Manrope" pitchFamily="34" charset="0"/>
                <a:ea typeface="Manrope" pitchFamily="34" charset="-122"/>
                <a:cs typeface="Manrope" pitchFamily="34" charset="-120"/>
              </a:rPr>
              <a:t>Wallets incohérents</a:t>
            </a:r>
            <a:endParaRPr lang="en-US" sz="1100" dirty="0"/>
          </a:p>
        </p:txBody>
      </p:sp>
      <p:sp>
        <p:nvSpPr>
          <p:cNvPr id="53" name="Text 51"/>
          <p:cNvSpPr txBox="1"/>
          <p:nvPr/>
        </p:nvSpPr>
        <p:spPr>
          <a:xfrm>
            <a:off x="12763195" y="6398057"/>
            <a:ext cx="4248302" cy="228600"/>
          </a:xfrm>
          <a:prstGeom prst="rect">
            <a:avLst/>
          </a:prstGeom>
          <a:noFill/>
          <a:ln/>
        </p:spPr>
        <p:txBody>
          <a:bodyPr wrap="none" lIns="0" tIns="0" rIns="0" bIns="0" rtlCol="0" anchor="ctr"/>
          <a:lstStyle/>
          <a:p>
            <a:pPr marL="0" indent="0" algn="l">
              <a:buNone/>
            </a:pPr>
            <a:r>
              <a:rPr lang="en-US" sz="1100" dirty="0">
                <a:solidFill>
                  <a:srgbClr val="E5E7EB"/>
                </a:solidFill>
                <a:latin typeface="Manrope" pitchFamily="34" charset="0"/>
                <a:ea typeface="Manrope" pitchFamily="34" charset="-122"/>
                <a:cs typeface="Manrope" pitchFamily="34" charset="-120"/>
              </a:rPr>
              <a:t>Données perdues</a:t>
            </a:r>
            <a:endParaRPr lang="en-US" sz="1100" dirty="0"/>
          </a:p>
        </p:txBody>
      </p:sp>
      <p:sp>
        <p:nvSpPr>
          <p:cNvPr id="54" name="Text 52"/>
          <p:cNvSpPr txBox="1"/>
          <p:nvPr/>
        </p:nvSpPr>
        <p:spPr>
          <a:xfrm>
            <a:off x="12763195" y="6626657"/>
            <a:ext cx="4248302" cy="228600"/>
          </a:xfrm>
          <a:prstGeom prst="rect">
            <a:avLst/>
          </a:prstGeom>
          <a:noFill/>
          <a:ln/>
        </p:spPr>
        <p:txBody>
          <a:bodyPr wrap="none" lIns="0" tIns="0" rIns="0" bIns="0" rtlCol="0" anchor="ctr"/>
          <a:lstStyle/>
          <a:p>
            <a:pPr marL="0" indent="0" algn="l">
              <a:buNone/>
            </a:pPr>
            <a:r>
              <a:rPr lang="en-US" sz="1100" dirty="0">
                <a:solidFill>
                  <a:srgbClr val="E5E7EB"/>
                </a:solidFill>
                <a:latin typeface="Manrope" pitchFamily="34" charset="0"/>
                <a:ea typeface="Manrope" pitchFamily="34" charset="-122"/>
                <a:cs typeface="Manrope" pitchFamily="34" charset="-120"/>
              </a:rPr>
              <a:t>Commissions fausses</a:t>
            </a:r>
            <a:endParaRPr lang="en-US" sz="1100" dirty="0"/>
          </a:p>
        </p:txBody>
      </p:sp>
      <p:sp>
        <p:nvSpPr>
          <p:cNvPr id="55" name="Text 53"/>
          <p:cNvSpPr txBox="1"/>
          <p:nvPr/>
        </p:nvSpPr>
        <p:spPr>
          <a:xfrm>
            <a:off x="12402007" y="7159752"/>
            <a:ext cx="4763110" cy="171907"/>
          </a:xfrm>
          <a:prstGeom prst="rect">
            <a:avLst/>
          </a:prstGeom>
          <a:noFill/>
          <a:ln/>
        </p:spPr>
        <p:txBody>
          <a:bodyPr wrap="none" lIns="0" tIns="0" rIns="0" bIns="0" rtlCol="0" anchor="ctr"/>
          <a:lstStyle/>
          <a:p>
            <a:pPr marL="0" indent="0" algn="l">
              <a:buNone/>
            </a:pPr>
            <a:r>
              <a:rPr lang="en-US" sz="900" i="1" dirty="0">
                <a:solidFill>
                  <a:srgbClr val="A78BFA"/>
                </a:solidFill>
                <a:latin typeface="Manrope" pitchFamily="34" charset="0"/>
                <a:ea typeface="Manrope" pitchFamily="34" charset="-122"/>
                <a:cs typeface="Manrope" pitchFamily="34" charset="-120"/>
              </a:rPr>
              <a:t>→ Voir slide 53 pour le plan détaillé</a:t>
            </a:r>
            <a:endParaRPr lang="en-US" sz="900" dirty="0"/>
          </a:p>
        </p:txBody>
      </p:sp>
      <p:sp>
        <p:nvSpPr>
          <p:cNvPr id="56" name="Shape 54"/>
          <p:cNvSpPr/>
          <p:nvPr/>
        </p:nvSpPr>
        <p:spPr>
          <a:xfrm>
            <a:off x="0" y="9791395"/>
            <a:ext cx="18288000" cy="495605"/>
          </a:xfrm>
          <a:prstGeom prst="rect">
            <a:avLst/>
          </a:prstGeom>
          <a:solidFill>
            <a:srgbClr val="FFFFFF"/>
          </a:solidFill>
          <a:ln/>
        </p:spPr>
        <p:txBody>
          <a:bodyPr/>
          <a:lstStyle/>
          <a:p>
            <a:endParaRPr lang="fr-CI"/>
          </a:p>
        </p:txBody>
      </p:sp>
      <p:sp>
        <p:nvSpPr>
          <p:cNvPr id="57" name="Shape 55"/>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58" name="Text 56"/>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59" name="Text 57"/>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07 / 59</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5425928" y="256946"/>
            <a:ext cx="2686507"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Partie II — §5 Périmètre global</a:t>
            </a:r>
            <a:endParaRPr lang="en-US" sz="900" dirty="0"/>
          </a:p>
        </p:txBody>
      </p:sp>
      <p:sp>
        <p:nvSpPr>
          <p:cNvPr id="10" name="Text 8"/>
          <p:cNvSpPr txBox="1"/>
          <p:nvPr/>
        </p:nvSpPr>
        <p:spPr>
          <a:xfrm>
            <a:off x="914400" y="1205179"/>
            <a:ext cx="2886761" cy="181051"/>
          </a:xfrm>
          <a:prstGeom prst="rect">
            <a:avLst/>
          </a:prstGeom>
          <a:noFill/>
          <a:ln/>
        </p:spPr>
        <p:txBody>
          <a:bodyPr wrap="none" lIns="0" tIns="0" rIns="0" bIns="0" rtlCol="0" anchor="ctr"/>
          <a:lstStyle/>
          <a:p>
            <a:pPr marL="0" indent="0" algn="l">
              <a:buNone/>
            </a:pPr>
            <a:r>
              <a:rPr lang="en-US" sz="1400" b="1" kern="0" spc="189" dirty="0">
                <a:solidFill>
                  <a:srgbClr val="6D28D9"/>
                </a:solidFill>
                <a:latin typeface="Manrope" pitchFamily="34" charset="0"/>
                <a:ea typeface="Manrope" pitchFamily="34" charset="-122"/>
                <a:cs typeface="Manrope" pitchFamily="34" charset="-120"/>
              </a:rPr>
              <a:t>5. Périmètre multiservices</a:t>
            </a:r>
            <a:endParaRPr lang="en-US" sz="14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6193110" cy="1095451"/>
          </a:xfrm>
          <a:prstGeom prst="rect">
            <a:avLst/>
          </a:prstGeom>
          <a:noFill/>
          <a:ln/>
        </p:spPr>
        <p:txBody>
          <a:bodyPr wrap="squar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UPJUNOO PRO est une plateforme intégrée — sept domaines à recetter conjointement.</a:t>
            </a:r>
            <a:endParaRPr lang="en-US" sz="3900" dirty="0"/>
          </a:p>
        </p:txBody>
      </p:sp>
      <p:pic>
        <p:nvPicPr>
          <p:cNvPr id="13" name="Image 0" descr="gen-dedup-1cec55ab954466ccacb35e0a980175ea.jpg"/>
          <p:cNvPicPr>
            <a:picLocks noChangeAspect="1"/>
          </p:cNvPicPr>
          <p:nvPr/>
        </p:nvPicPr>
        <p:blipFill>
          <a:blip r:embed="rId3"/>
          <a:srcRect t="-14818" b="-14818"/>
          <a:stretch/>
        </p:blipFill>
        <p:spPr>
          <a:xfrm>
            <a:off x="8382305" y="2667305"/>
            <a:ext cx="9144000" cy="6667805"/>
          </a:xfrm>
          <a:prstGeom prst="rect">
            <a:avLst/>
          </a:prstGeom>
        </p:spPr>
      </p:pic>
      <p:sp>
        <p:nvSpPr>
          <p:cNvPr id="14" name="Text 11"/>
          <p:cNvSpPr txBox="1"/>
          <p:nvPr/>
        </p:nvSpPr>
        <p:spPr>
          <a:xfrm>
            <a:off x="914400" y="2952598"/>
            <a:ext cx="7239305" cy="857707"/>
          </a:xfrm>
          <a:prstGeom prst="rect">
            <a:avLst/>
          </a:prstGeom>
          <a:noFill/>
          <a:ln/>
        </p:spPr>
        <p:txBody>
          <a:bodyPr wrap="square" lIns="0" tIns="0" rIns="0" bIns="0" rtlCol="0" anchor="ctr"/>
          <a:lstStyle/>
          <a:p>
            <a:pPr marL="0" indent="0" algn="l">
              <a:buNone/>
            </a:pPr>
            <a:r>
              <a:rPr lang="en-US" sz="1500" dirty="0">
                <a:solidFill>
                  <a:srgbClr val="4B5563"/>
                </a:solidFill>
                <a:latin typeface="Manrope" pitchFamily="34" charset="0"/>
                <a:ea typeface="Manrope" pitchFamily="34" charset="-122"/>
                <a:cs typeface="Manrope" pitchFamily="34" charset="-120"/>
              </a:rPr>
              <a:t>La recette doit traiter la plateforme comme un système cohérent — chaque service partage le wallet, la commission, la géolocalisation, l'authentification et le reporting central.</a:t>
            </a:r>
            <a:endParaRPr lang="en-US" sz="1500" dirty="0"/>
          </a:p>
        </p:txBody>
      </p:sp>
      <p:sp>
        <p:nvSpPr>
          <p:cNvPr id="15" name="Shape 12"/>
          <p:cNvSpPr/>
          <p:nvPr/>
        </p:nvSpPr>
        <p:spPr>
          <a:xfrm>
            <a:off x="914400" y="4095598"/>
            <a:ext cx="7239305" cy="609905"/>
          </a:xfrm>
          <a:prstGeom prst="roundRect">
            <a:avLst>
              <a:gd name="adj" fmla="val 15592"/>
            </a:avLst>
          </a:prstGeom>
          <a:solidFill>
            <a:srgbClr val="F5F3FF"/>
          </a:solidFill>
          <a:ln w="12700">
            <a:solidFill>
              <a:srgbClr val="FFFFFF">
                <a:alpha val="0"/>
              </a:srgbClr>
            </a:solidFill>
            <a:prstDash val="solid"/>
          </a:ln>
        </p:spPr>
        <p:txBody>
          <a:bodyPr/>
          <a:lstStyle/>
          <a:p>
            <a:endParaRPr lang="fr-CI"/>
          </a:p>
        </p:txBody>
      </p:sp>
      <p:sp>
        <p:nvSpPr>
          <p:cNvPr id="16" name="Shape 13"/>
          <p:cNvSpPr/>
          <p:nvPr/>
        </p:nvSpPr>
        <p:spPr>
          <a:xfrm>
            <a:off x="1086307" y="4229100"/>
            <a:ext cx="342900" cy="342900"/>
          </a:xfrm>
          <a:prstGeom prst="roundRect">
            <a:avLst>
              <a:gd name="adj" fmla="val 22133"/>
            </a:avLst>
          </a:prstGeom>
          <a:solidFill>
            <a:srgbClr val="6D28D9"/>
          </a:solidFill>
          <a:ln w="12700">
            <a:solidFill>
              <a:srgbClr val="FFFFFF">
                <a:alpha val="0"/>
              </a:srgbClr>
            </a:solidFill>
            <a:prstDash val="solid"/>
          </a:ln>
        </p:spPr>
        <p:txBody>
          <a:bodyPr/>
          <a:lstStyle/>
          <a:p>
            <a:endParaRPr lang="fr-CI"/>
          </a:p>
        </p:txBody>
      </p:sp>
      <p:sp>
        <p:nvSpPr>
          <p:cNvPr id="17" name="Text 14"/>
          <p:cNvSpPr txBox="1"/>
          <p:nvPr/>
        </p:nvSpPr>
        <p:spPr>
          <a:xfrm>
            <a:off x="1086307" y="4229100"/>
            <a:ext cx="342900" cy="34290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900" b="1" dirty="0">
                <a:solidFill>
                  <a:srgbClr val="FFFFFF"/>
                </a:solidFill>
                <a:latin typeface="JetBrains Mono" pitchFamily="34" charset="0"/>
                <a:ea typeface="JetBrains Mono" pitchFamily="34" charset="-122"/>
                <a:cs typeface="JetBrains Mono" pitchFamily="34" charset="-120"/>
              </a:rPr>
              <a:t>5.1</a:t>
            </a:r>
            <a:endParaRPr lang="en-US" sz="900" dirty="0"/>
          </a:p>
        </p:txBody>
      </p:sp>
      <p:sp>
        <p:nvSpPr>
          <p:cNvPr id="18" name="Text 15"/>
          <p:cNvSpPr txBox="1"/>
          <p:nvPr/>
        </p:nvSpPr>
        <p:spPr>
          <a:xfrm>
            <a:off x="1580998" y="4286707"/>
            <a:ext cx="3162910"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Transport · Taxi numérique · VTC</a:t>
            </a:r>
            <a:endParaRPr lang="en-US" sz="1300" dirty="0"/>
          </a:p>
        </p:txBody>
      </p:sp>
      <p:sp>
        <p:nvSpPr>
          <p:cNvPr id="19" name="Shape 16"/>
          <p:cNvSpPr/>
          <p:nvPr/>
        </p:nvSpPr>
        <p:spPr>
          <a:xfrm>
            <a:off x="914400" y="4819802"/>
            <a:ext cx="7239305" cy="609905"/>
          </a:xfrm>
          <a:prstGeom prst="roundRect">
            <a:avLst>
              <a:gd name="adj" fmla="val 15592"/>
            </a:avLst>
          </a:prstGeom>
          <a:solidFill>
            <a:srgbClr val="F5F3FF"/>
          </a:solidFill>
          <a:ln w="12700">
            <a:solidFill>
              <a:srgbClr val="FFFFFF">
                <a:alpha val="0"/>
              </a:srgbClr>
            </a:solidFill>
            <a:prstDash val="solid"/>
          </a:ln>
        </p:spPr>
        <p:txBody>
          <a:bodyPr/>
          <a:lstStyle/>
          <a:p>
            <a:endParaRPr lang="fr-CI"/>
          </a:p>
        </p:txBody>
      </p:sp>
      <p:sp>
        <p:nvSpPr>
          <p:cNvPr id="20" name="Shape 17"/>
          <p:cNvSpPr/>
          <p:nvPr/>
        </p:nvSpPr>
        <p:spPr>
          <a:xfrm>
            <a:off x="1086307" y="4953305"/>
            <a:ext cx="342900" cy="342900"/>
          </a:xfrm>
          <a:prstGeom prst="roundRect">
            <a:avLst>
              <a:gd name="adj" fmla="val 22133"/>
            </a:avLst>
          </a:prstGeom>
          <a:solidFill>
            <a:srgbClr val="6D28D9"/>
          </a:solidFill>
          <a:ln w="12700">
            <a:solidFill>
              <a:srgbClr val="FFFFFF">
                <a:alpha val="0"/>
              </a:srgbClr>
            </a:solidFill>
            <a:prstDash val="solid"/>
          </a:ln>
        </p:spPr>
        <p:txBody>
          <a:bodyPr/>
          <a:lstStyle/>
          <a:p>
            <a:endParaRPr lang="fr-CI"/>
          </a:p>
        </p:txBody>
      </p:sp>
      <p:sp>
        <p:nvSpPr>
          <p:cNvPr id="21" name="Text 18"/>
          <p:cNvSpPr txBox="1"/>
          <p:nvPr/>
        </p:nvSpPr>
        <p:spPr>
          <a:xfrm>
            <a:off x="1086307" y="4953305"/>
            <a:ext cx="342900" cy="34290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900" b="1" dirty="0">
                <a:solidFill>
                  <a:srgbClr val="FFFFFF"/>
                </a:solidFill>
                <a:latin typeface="JetBrains Mono" pitchFamily="34" charset="0"/>
                <a:ea typeface="JetBrains Mono" pitchFamily="34" charset="-122"/>
                <a:cs typeface="JetBrains Mono" pitchFamily="34" charset="-120"/>
              </a:rPr>
              <a:t>5.2</a:t>
            </a:r>
            <a:endParaRPr lang="en-US" sz="900" dirty="0"/>
          </a:p>
        </p:txBody>
      </p:sp>
      <p:sp>
        <p:nvSpPr>
          <p:cNvPr id="22" name="Text 19"/>
          <p:cNvSpPr txBox="1"/>
          <p:nvPr/>
        </p:nvSpPr>
        <p:spPr>
          <a:xfrm>
            <a:off x="1580998" y="5009998"/>
            <a:ext cx="907085"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Livraison</a:t>
            </a:r>
            <a:endParaRPr lang="en-US" sz="1300" dirty="0"/>
          </a:p>
        </p:txBody>
      </p:sp>
      <p:sp>
        <p:nvSpPr>
          <p:cNvPr id="23" name="Shape 20"/>
          <p:cNvSpPr/>
          <p:nvPr/>
        </p:nvSpPr>
        <p:spPr>
          <a:xfrm>
            <a:off x="914400" y="5544007"/>
            <a:ext cx="7239305" cy="609905"/>
          </a:xfrm>
          <a:prstGeom prst="roundRect">
            <a:avLst>
              <a:gd name="adj" fmla="val 15592"/>
            </a:avLst>
          </a:prstGeom>
          <a:solidFill>
            <a:srgbClr val="F5F3FF"/>
          </a:solidFill>
          <a:ln w="12700">
            <a:solidFill>
              <a:srgbClr val="FFFFFF">
                <a:alpha val="0"/>
              </a:srgbClr>
            </a:solidFill>
            <a:prstDash val="solid"/>
          </a:ln>
        </p:spPr>
        <p:txBody>
          <a:bodyPr/>
          <a:lstStyle/>
          <a:p>
            <a:endParaRPr lang="fr-CI"/>
          </a:p>
        </p:txBody>
      </p:sp>
      <p:sp>
        <p:nvSpPr>
          <p:cNvPr id="24" name="Shape 21"/>
          <p:cNvSpPr/>
          <p:nvPr/>
        </p:nvSpPr>
        <p:spPr>
          <a:xfrm>
            <a:off x="1086307" y="5676595"/>
            <a:ext cx="342900" cy="342900"/>
          </a:xfrm>
          <a:prstGeom prst="roundRect">
            <a:avLst>
              <a:gd name="adj" fmla="val 22133"/>
            </a:avLst>
          </a:prstGeom>
          <a:solidFill>
            <a:srgbClr val="6D28D9"/>
          </a:solidFill>
          <a:ln w="12700">
            <a:solidFill>
              <a:srgbClr val="FFFFFF">
                <a:alpha val="0"/>
              </a:srgbClr>
            </a:solidFill>
            <a:prstDash val="solid"/>
          </a:ln>
        </p:spPr>
        <p:txBody>
          <a:bodyPr/>
          <a:lstStyle/>
          <a:p>
            <a:endParaRPr lang="fr-CI"/>
          </a:p>
        </p:txBody>
      </p:sp>
      <p:sp>
        <p:nvSpPr>
          <p:cNvPr id="25" name="Text 22"/>
          <p:cNvSpPr txBox="1"/>
          <p:nvPr/>
        </p:nvSpPr>
        <p:spPr>
          <a:xfrm>
            <a:off x="1086307" y="5676595"/>
            <a:ext cx="342900" cy="34290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900" b="1" dirty="0">
                <a:solidFill>
                  <a:srgbClr val="FFFFFF"/>
                </a:solidFill>
                <a:latin typeface="JetBrains Mono" pitchFamily="34" charset="0"/>
                <a:ea typeface="JetBrains Mono" pitchFamily="34" charset="-122"/>
                <a:cs typeface="JetBrains Mono" pitchFamily="34" charset="-120"/>
              </a:rPr>
              <a:t>5.3</a:t>
            </a:r>
            <a:endParaRPr lang="en-US" sz="900" dirty="0"/>
          </a:p>
        </p:txBody>
      </p:sp>
      <p:sp>
        <p:nvSpPr>
          <p:cNvPr id="26" name="Text 23"/>
          <p:cNvSpPr txBox="1"/>
          <p:nvPr/>
        </p:nvSpPr>
        <p:spPr>
          <a:xfrm>
            <a:off x="1580998" y="5734202"/>
            <a:ext cx="1077163"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Fret urbain</a:t>
            </a:r>
            <a:endParaRPr lang="en-US" sz="1300" dirty="0"/>
          </a:p>
        </p:txBody>
      </p:sp>
      <p:sp>
        <p:nvSpPr>
          <p:cNvPr id="27" name="Shape 24"/>
          <p:cNvSpPr/>
          <p:nvPr/>
        </p:nvSpPr>
        <p:spPr>
          <a:xfrm>
            <a:off x="914400" y="6267298"/>
            <a:ext cx="7239305" cy="609905"/>
          </a:xfrm>
          <a:prstGeom prst="roundRect">
            <a:avLst>
              <a:gd name="adj" fmla="val 15592"/>
            </a:avLst>
          </a:prstGeom>
          <a:solidFill>
            <a:srgbClr val="F5F3FF"/>
          </a:solidFill>
          <a:ln w="12700">
            <a:solidFill>
              <a:srgbClr val="FFFFFF">
                <a:alpha val="0"/>
              </a:srgbClr>
            </a:solidFill>
            <a:prstDash val="solid"/>
          </a:ln>
        </p:spPr>
        <p:txBody>
          <a:bodyPr/>
          <a:lstStyle/>
          <a:p>
            <a:endParaRPr lang="fr-CI"/>
          </a:p>
        </p:txBody>
      </p:sp>
      <p:sp>
        <p:nvSpPr>
          <p:cNvPr id="28" name="Shape 25"/>
          <p:cNvSpPr/>
          <p:nvPr/>
        </p:nvSpPr>
        <p:spPr>
          <a:xfrm>
            <a:off x="1086307" y="6400800"/>
            <a:ext cx="342900" cy="342900"/>
          </a:xfrm>
          <a:prstGeom prst="roundRect">
            <a:avLst>
              <a:gd name="adj" fmla="val 22133"/>
            </a:avLst>
          </a:prstGeom>
          <a:solidFill>
            <a:srgbClr val="6D28D9"/>
          </a:solidFill>
          <a:ln w="12700">
            <a:solidFill>
              <a:srgbClr val="FFFFFF">
                <a:alpha val="0"/>
              </a:srgbClr>
            </a:solidFill>
            <a:prstDash val="solid"/>
          </a:ln>
        </p:spPr>
        <p:txBody>
          <a:bodyPr/>
          <a:lstStyle/>
          <a:p>
            <a:endParaRPr lang="fr-CI"/>
          </a:p>
        </p:txBody>
      </p:sp>
      <p:sp>
        <p:nvSpPr>
          <p:cNvPr id="29" name="Text 26"/>
          <p:cNvSpPr txBox="1"/>
          <p:nvPr/>
        </p:nvSpPr>
        <p:spPr>
          <a:xfrm>
            <a:off x="1086307" y="6400800"/>
            <a:ext cx="342900" cy="34290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900" b="1" dirty="0">
                <a:solidFill>
                  <a:srgbClr val="FFFFFF"/>
                </a:solidFill>
                <a:latin typeface="JetBrains Mono" pitchFamily="34" charset="0"/>
                <a:ea typeface="JetBrains Mono" pitchFamily="34" charset="-122"/>
                <a:cs typeface="JetBrains Mono" pitchFamily="34" charset="-120"/>
              </a:rPr>
              <a:t>5.4</a:t>
            </a:r>
            <a:endParaRPr lang="en-US" sz="900" dirty="0"/>
          </a:p>
        </p:txBody>
      </p:sp>
      <p:sp>
        <p:nvSpPr>
          <p:cNvPr id="30" name="Text 27"/>
          <p:cNvSpPr txBox="1"/>
          <p:nvPr/>
        </p:nvSpPr>
        <p:spPr>
          <a:xfrm>
            <a:off x="1580998" y="6458407"/>
            <a:ext cx="2165299"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Location de véhicules</a:t>
            </a:r>
            <a:endParaRPr lang="en-US" sz="1300" dirty="0"/>
          </a:p>
        </p:txBody>
      </p:sp>
      <p:sp>
        <p:nvSpPr>
          <p:cNvPr id="31" name="Shape 28"/>
          <p:cNvSpPr/>
          <p:nvPr/>
        </p:nvSpPr>
        <p:spPr>
          <a:xfrm>
            <a:off x="914400" y="6991502"/>
            <a:ext cx="7239305" cy="609905"/>
          </a:xfrm>
          <a:prstGeom prst="roundRect">
            <a:avLst>
              <a:gd name="adj" fmla="val 15592"/>
            </a:avLst>
          </a:prstGeom>
          <a:solidFill>
            <a:srgbClr val="EDE9FE"/>
          </a:solidFill>
          <a:ln w="12700">
            <a:solidFill>
              <a:srgbClr val="FFFFFF">
                <a:alpha val="0"/>
              </a:srgbClr>
            </a:solidFill>
            <a:prstDash val="solid"/>
          </a:ln>
        </p:spPr>
        <p:txBody>
          <a:bodyPr/>
          <a:lstStyle/>
          <a:p>
            <a:endParaRPr lang="fr-CI"/>
          </a:p>
        </p:txBody>
      </p:sp>
      <p:sp>
        <p:nvSpPr>
          <p:cNvPr id="32" name="Shape 29"/>
          <p:cNvSpPr/>
          <p:nvPr/>
        </p:nvSpPr>
        <p:spPr>
          <a:xfrm>
            <a:off x="1086307" y="7125005"/>
            <a:ext cx="342900" cy="342900"/>
          </a:xfrm>
          <a:prstGeom prst="roundRect">
            <a:avLst>
              <a:gd name="adj" fmla="val 22133"/>
            </a:avLst>
          </a:prstGeom>
          <a:solidFill>
            <a:srgbClr val="4C1D95"/>
          </a:solidFill>
          <a:ln w="12700">
            <a:solidFill>
              <a:srgbClr val="FFFFFF">
                <a:alpha val="0"/>
              </a:srgbClr>
            </a:solidFill>
            <a:prstDash val="solid"/>
          </a:ln>
        </p:spPr>
        <p:txBody>
          <a:bodyPr/>
          <a:lstStyle/>
          <a:p>
            <a:endParaRPr lang="fr-CI"/>
          </a:p>
        </p:txBody>
      </p:sp>
      <p:sp>
        <p:nvSpPr>
          <p:cNvPr id="33" name="Text 30"/>
          <p:cNvSpPr txBox="1"/>
          <p:nvPr/>
        </p:nvSpPr>
        <p:spPr>
          <a:xfrm>
            <a:off x="1086307" y="7125005"/>
            <a:ext cx="342900" cy="34290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900" b="1" dirty="0">
                <a:solidFill>
                  <a:srgbClr val="FFFFFF"/>
                </a:solidFill>
                <a:latin typeface="JetBrains Mono" pitchFamily="34" charset="0"/>
                <a:ea typeface="JetBrains Mono" pitchFamily="34" charset="-122"/>
                <a:cs typeface="JetBrains Mono" pitchFamily="34" charset="-120"/>
              </a:rPr>
              <a:t>5.5</a:t>
            </a:r>
            <a:endParaRPr lang="en-US" sz="900" dirty="0"/>
          </a:p>
        </p:txBody>
      </p:sp>
      <p:sp>
        <p:nvSpPr>
          <p:cNvPr id="34" name="Text 31"/>
          <p:cNvSpPr txBox="1"/>
          <p:nvPr/>
        </p:nvSpPr>
        <p:spPr>
          <a:xfrm>
            <a:off x="1580998" y="7181698"/>
            <a:ext cx="2369210"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Gestion des partenaires</a:t>
            </a:r>
            <a:endParaRPr lang="en-US" sz="1300" dirty="0"/>
          </a:p>
        </p:txBody>
      </p:sp>
      <p:sp>
        <p:nvSpPr>
          <p:cNvPr id="35" name="Shape 32"/>
          <p:cNvSpPr/>
          <p:nvPr/>
        </p:nvSpPr>
        <p:spPr>
          <a:xfrm>
            <a:off x="914400" y="7715707"/>
            <a:ext cx="7239305" cy="609905"/>
          </a:xfrm>
          <a:prstGeom prst="roundRect">
            <a:avLst>
              <a:gd name="adj" fmla="val 15592"/>
            </a:avLst>
          </a:prstGeom>
          <a:solidFill>
            <a:srgbClr val="EDE9FE"/>
          </a:solidFill>
          <a:ln w="12700">
            <a:solidFill>
              <a:srgbClr val="FFFFFF">
                <a:alpha val="0"/>
              </a:srgbClr>
            </a:solidFill>
            <a:prstDash val="solid"/>
          </a:ln>
        </p:spPr>
        <p:txBody>
          <a:bodyPr/>
          <a:lstStyle/>
          <a:p>
            <a:endParaRPr lang="fr-CI"/>
          </a:p>
        </p:txBody>
      </p:sp>
      <p:sp>
        <p:nvSpPr>
          <p:cNvPr id="36" name="Shape 33"/>
          <p:cNvSpPr/>
          <p:nvPr/>
        </p:nvSpPr>
        <p:spPr>
          <a:xfrm>
            <a:off x="1086307" y="7848295"/>
            <a:ext cx="342900" cy="342900"/>
          </a:xfrm>
          <a:prstGeom prst="roundRect">
            <a:avLst>
              <a:gd name="adj" fmla="val 22133"/>
            </a:avLst>
          </a:prstGeom>
          <a:solidFill>
            <a:srgbClr val="4C1D95"/>
          </a:solidFill>
          <a:ln w="12700">
            <a:solidFill>
              <a:srgbClr val="FFFFFF">
                <a:alpha val="0"/>
              </a:srgbClr>
            </a:solidFill>
            <a:prstDash val="solid"/>
          </a:ln>
        </p:spPr>
        <p:txBody>
          <a:bodyPr/>
          <a:lstStyle/>
          <a:p>
            <a:endParaRPr lang="fr-CI"/>
          </a:p>
        </p:txBody>
      </p:sp>
      <p:sp>
        <p:nvSpPr>
          <p:cNvPr id="37" name="Text 34"/>
          <p:cNvSpPr txBox="1"/>
          <p:nvPr/>
        </p:nvSpPr>
        <p:spPr>
          <a:xfrm>
            <a:off x="1086307" y="7848295"/>
            <a:ext cx="342900" cy="34290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900" b="1" dirty="0">
                <a:solidFill>
                  <a:srgbClr val="FFFFFF"/>
                </a:solidFill>
                <a:latin typeface="JetBrains Mono" pitchFamily="34" charset="0"/>
                <a:ea typeface="JetBrains Mono" pitchFamily="34" charset="-122"/>
                <a:cs typeface="JetBrains Mono" pitchFamily="34" charset="-120"/>
              </a:rPr>
              <a:t>5.6</a:t>
            </a:r>
            <a:endParaRPr lang="en-US" sz="900" dirty="0"/>
          </a:p>
        </p:txBody>
      </p:sp>
      <p:sp>
        <p:nvSpPr>
          <p:cNvPr id="38" name="Text 35"/>
          <p:cNvSpPr txBox="1"/>
          <p:nvPr/>
        </p:nvSpPr>
        <p:spPr>
          <a:xfrm>
            <a:off x="1580998" y="7905902"/>
            <a:ext cx="2278685"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Gestion des franchises</a:t>
            </a:r>
            <a:endParaRPr lang="en-US" sz="1300" dirty="0"/>
          </a:p>
        </p:txBody>
      </p:sp>
      <p:sp>
        <p:nvSpPr>
          <p:cNvPr id="39" name="Shape 36"/>
          <p:cNvSpPr/>
          <p:nvPr/>
        </p:nvSpPr>
        <p:spPr>
          <a:xfrm>
            <a:off x="914400" y="8438998"/>
            <a:ext cx="7239305" cy="609905"/>
          </a:xfrm>
          <a:prstGeom prst="roundRect">
            <a:avLst>
              <a:gd name="adj" fmla="val 15592"/>
            </a:avLst>
          </a:prstGeom>
          <a:solidFill>
            <a:srgbClr val="1F2937"/>
          </a:solidFill>
          <a:ln w="12700">
            <a:solidFill>
              <a:srgbClr val="FFFFFF">
                <a:alpha val="0"/>
              </a:srgbClr>
            </a:solidFill>
            <a:prstDash val="solid"/>
          </a:ln>
        </p:spPr>
        <p:txBody>
          <a:bodyPr/>
          <a:lstStyle/>
          <a:p>
            <a:endParaRPr lang="fr-CI"/>
          </a:p>
        </p:txBody>
      </p:sp>
      <p:sp>
        <p:nvSpPr>
          <p:cNvPr id="40" name="Shape 37"/>
          <p:cNvSpPr/>
          <p:nvPr/>
        </p:nvSpPr>
        <p:spPr>
          <a:xfrm>
            <a:off x="1086307" y="8572500"/>
            <a:ext cx="342900" cy="342900"/>
          </a:xfrm>
          <a:prstGeom prst="roundRect">
            <a:avLst>
              <a:gd name="adj" fmla="val 22133"/>
            </a:avLst>
          </a:prstGeom>
          <a:solidFill>
            <a:srgbClr val="A78BFA"/>
          </a:solidFill>
          <a:ln w="12700">
            <a:solidFill>
              <a:srgbClr val="FFFFFF">
                <a:alpha val="0"/>
              </a:srgbClr>
            </a:solidFill>
            <a:prstDash val="solid"/>
          </a:ln>
        </p:spPr>
        <p:txBody>
          <a:bodyPr/>
          <a:lstStyle/>
          <a:p>
            <a:endParaRPr lang="fr-CI"/>
          </a:p>
        </p:txBody>
      </p:sp>
      <p:sp>
        <p:nvSpPr>
          <p:cNvPr id="41" name="Text 38"/>
          <p:cNvSpPr txBox="1"/>
          <p:nvPr/>
        </p:nvSpPr>
        <p:spPr>
          <a:xfrm>
            <a:off x="1086307" y="8572500"/>
            <a:ext cx="342900" cy="34290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900" b="1" dirty="0">
                <a:solidFill>
                  <a:srgbClr val="1F2937"/>
                </a:solidFill>
                <a:latin typeface="JetBrains Mono" pitchFamily="34" charset="0"/>
                <a:ea typeface="JetBrains Mono" pitchFamily="34" charset="-122"/>
                <a:cs typeface="JetBrains Mono" pitchFamily="34" charset="-120"/>
              </a:rPr>
              <a:t>5.7</a:t>
            </a:r>
            <a:endParaRPr lang="en-US" sz="900" dirty="0"/>
          </a:p>
        </p:txBody>
      </p:sp>
      <p:sp>
        <p:nvSpPr>
          <p:cNvPr id="42" name="Text 39"/>
          <p:cNvSpPr txBox="1"/>
          <p:nvPr/>
        </p:nvSpPr>
        <p:spPr>
          <a:xfrm>
            <a:off x="1580998" y="8630107"/>
            <a:ext cx="1440180" cy="228600"/>
          </a:xfrm>
          <a:prstGeom prst="rect">
            <a:avLst/>
          </a:prstGeom>
          <a:noFill/>
          <a:ln/>
        </p:spPr>
        <p:txBody>
          <a:bodyPr wrap="none" lIns="0" tIns="0" rIns="0" bIns="0" rtlCol="0" anchor="ctr"/>
          <a:lstStyle/>
          <a:p>
            <a:pPr marL="0" indent="0" algn="l">
              <a:buNone/>
            </a:pPr>
            <a:r>
              <a:rPr lang="en-US" sz="1300" b="1" dirty="0">
                <a:solidFill>
                  <a:srgbClr val="FFFFFF"/>
                </a:solidFill>
                <a:latin typeface="Manrope" pitchFamily="34" charset="0"/>
                <a:ea typeface="Manrope" pitchFamily="34" charset="-122"/>
                <a:cs typeface="Manrope" pitchFamily="34" charset="-120"/>
              </a:rPr>
              <a:t>Central · Siège</a:t>
            </a:r>
            <a:endParaRPr lang="en-US" sz="1300" dirty="0"/>
          </a:p>
        </p:txBody>
      </p:sp>
      <p:sp>
        <p:nvSpPr>
          <p:cNvPr id="43" name="Shape 40"/>
          <p:cNvSpPr/>
          <p:nvPr/>
        </p:nvSpPr>
        <p:spPr>
          <a:xfrm>
            <a:off x="0" y="9791395"/>
            <a:ext cx="18288000" cy="495605"/>
          </a:xfrm>
          <a:prstGeom prst="rect">
            <a:avLst/>
          </a:prstGeom>
          <a:solidFill>
            <a:srgbClr val="FFFFFF"/>
          </a:solidFill>
          <a:ln/>
        </p:spPr>
        <p:txBody>
          <a:bodyPr/>
          <a:lstStyle/>
          <a:p>
            <a:endParaRPr lang="fr-CI"/>
          </a:p>
        </p:txBody>
      </p:sp>
      <p:sp>
        <p:nvSpPr>
          <p:cNvPr id="44" name="Shape 41"/>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45" name="Text 42"/>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46" name="Text 43"/>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08 / 59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5623438" y="256946"/>
            <a:ext cx="2346350"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Service 5.1 — Transport VTC</a:t>
            </a:r>
            <a:endParaRPr lang="en-US" sz="900" dirty="0"/>
          </a:p>
        </p:txBody>
      </p:sp>
      <p:sp>
        <p:nvSpPr>
          <p:cNvPr id="10" name="Text 8"/>
          <p:cNvSpPr txBox="1"/>
          <p:nvPr/>
        </p:nvSpPr>
        <p:spPr>
          <a:xfrm>
            <a:off x="914400" y="1205179"/>
            <a:ext cx="2543861" cy="181051"/>
          </a:xfrm>
          <a:prstGeom prst="rect">
            <a:avLst/>
          </a:prstGeom>
          <a:noFill/>
          <a:ln/>
        </p:spPr>
        <p:txBody>
          <a:bodyPr wrap="none" lIns="0" tIns="0" rIns="0" bIns="0" rtlCol="0" anchor="ctr"/>
          <a:lstStyle/>
          <a:p>
            <a:pPr marL="0" indent="0" algn="l">
              <a:buNone/>
            </a:pPr>
            <a:r>
              <a:rPr lang="en-US" sz="1400" b="1" kern="0" spc="189" dirty="0">
                <a:solidFill>
                  <a:srgbClr val="6D28D9"/>
                </a:solidFill>
                <a:latin typeface="Manrope" pitchFamily="34" charset="0"/>
                <a:ea typeface="Manrope" pitchFamily="34" charset="-122"/>
                <a:cs typeface="Manrope" pitchFamily="34" charset="-120"/>
              </a:rPr>
              <a:t>5.1 · Service à recetter</a:t>
            </a:r>
            <a:endParaRPr lang="en-US" sz="14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8479110"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Transport / Taxi numérique / VTC — 15 fonctionnalités critiques.</a:t>
            </a:r>
            <a:endParaRPr lang="en-US" sz="3900" dirty="0"/>
          </a:p>
        </p:txBody>
      </p:sp>
      <p:sp>
        <p:nvSpPr>
          <p:cNvPr id="13" name="Text 11"/>
          <p:cNvSpPr txBox="1"/>
          <p:nvPr/>
        </p:nvSpPr>
        <p:spPr>
          <a:xfrm>
            <a:off x="914400" y="2457907"/>
            <a:ext cx="16193110" cy="257861"/>
          </a:xfrm>
          <a:prstGeom prst="rect">
            <a:avLst/>
          </a:prstGeom>
          <a:noFill/>
          <a:ln/>
        </p:spPr>
        <p:txBody>
          <a:bodyPr wrap="none" lIns="0" tIns="0" rIns="0" bIns="0" rtlCol="0" anchor="ctr"/>
          <a:lstStyle/>
          <a:p>
            <a:pPr marL="0" indent="0" algn="l">
              <a:buNone/>
            </a:pPr>
            <a:r>
              <a:rPr lang="en-US" sz="1300" dirty="0">
                <a:solidFill>
                  <a:srgbClr val="4B5563"/>
                </a:solidFill>
                <a:latin typeface="Manrope" pitchFamily="34" charset="0"/>
                <a:ea typeface="Manrope" pitchFamily="34" charset="-122"/>
                <a:cs typeface="Manrope" pitchFamily="34" charset="-120"/>
              </a:rPr>
              <a:t>Mise en relation entre un client et un chauffeur pour un déplacement urbain ou interurbain. Service historique de la plateforme — recette critique.</a:t>
            </a:r>
            <a:endParaRPr lang="en-US" sz="1300" dirty="0"/>
          </a:p>
        </p:txBody>
      </p:sp>
      <p:pic>
        <p:nvPicPr>
          <p:cNvPr id="14" name="Image 0" descr="gen-dedup-e10f6152d3046e4e676816b7f673840d.jpg"/>
          <p:cNvPicPr>
            <a:picLocks noChangeAspect="1"/>
          </p:cNvPicPr>
          <p:nvPr/>
        </p:nvPicPr>
        <p:blipFill>
          <a:blip r:embed="rId3"/>
          <a:srcRect t="-2612" b="-2612"/>
          <a:stretch/>
        </p:blipFill>
        <p:spPr>
          <a:xfrm>
            <a:off x="914400" y="3047695"/>
            <a:ext cx="9334195" cy="5524805"/>
          </a:xfrm>
          <a:prstGeom prst="rect">
            <a:avLst/>
          </a:prstGeom>
        </p:spPr>
      </p:pic>
      <p:sp>
        <p:nvSpPr>
          <p:cNvPr id="15" name="Text 12"/>
          <p:cNvSpPr txBox="1"/>
          <p:nvPr/>
        </p:nvSpPr>
        <p:spPr>
          <a:xfrm>
            <a:off x="914400" y="8667598"/>
            <a:ext cx="9335110" cy="219456"/>
          </a:xfrm>
          <a:prstGeom prst="rect">
            <a:avLst/>
          </a:prstGeom>
          <a:noFill/>
          <a:ln/>
        </p:spPr>
        <p:txBody>
          <a:bodyPr wrap="none" lIns="0" tIns="0" rIns="0" bIns="0" rtlCol="0" anchor="ctr"/>
          <a:lstStyle/>
          <a:p>
            <a:pPr marL="0" indent="0" algn="ctr">
              <a:buNone/>
            </a:pPr>
            <a:r>
              <a:rPr lang="en-US" sz="1100" i="1" dirty="0">
                <a:solidFill>
                  <a:srgbClr val="6B7280"/>
                </a:solidFill>
                <a:latin typeface="Manrope" pitchFamily="34" charset="0"/>
                <a:ea typeface="Manrope" pitchFamily="34" charset="-122"/>
                <a:cs typeface="Manrope" pitchFamily="34" charset="-120"/>
              </a:rPr>
              <a:t>Fig. 9.1 — Workflow complet d'une course VTC, de la demande client à la commission débitée</a:t>
            </a:r>
            <a:endParaRPr lang="en-US" sz="1100" dirty="0"/>
          </a:p>
        </p:txBody>
      </p:sp>
      <p:sp>
        <p:nvSpPr>
          <p:cNvPr id="16" name="Shape 13"/>
          <p:cNvSpPr/>
          <p:nvPr/>
        </p:nvSpPr>
        <p:spPr>
          <a:xfrm>
            <a:off x="10554005" y="3047695"/>
            <a:ext cx="6858000" cy="5524805"/>
          </a:xfrm>
          <a:prstGeom prst="roundRect">
            <a:avLst>
              <a:gd name="adj" fmla="val 2416"/>
            </a:avLst>
          </a:prstGeom>
          <a:solidFill>
            <a:srgbClr val="FAFAFC"/>
          </a:solidFill>
          <a:ln w="12700">
            <a:solidFill>
              <a:srgbClr val="E5E7EB"/>
            </a:solidFill>
            <a:prstDash val="solid"/>
          </a:ln>
        </p:spPr>
        <p:txBody>
          <a:bodyPr/>
          <a:lstStyle/>
          <a:p>
            <a:endParaRPr lang="fr-CI"/>
          </a:p>
        </p:txBody>
      </p:sp>
      <p:sp>
        <p:nvSpPr>
          <p:cNvPr id="17" name="Text 14"/>
          <p:cNvSpPr txBox="1"/>
          <p:nvPr/>
        </p:nvSpPr>
        <p:spPr>
          <a:xfrm>
            <a:off x="10858500" y="3276295"/>
            <a:ext cx="6477610" cy="267005"/>
          </a:xfrm>
          <a:prstGeom prst="rect">
            <a:avLst/>
          </a:prstGeom>
          <a:noFill/>
          <a:ln/>
        </p:spPr>
        <p:txBody>
          <a:bodyPr wrap="none" lIns="0" tIns="0" rIns="0" bIns="0" rtlCol="0" anchor="ctr"/>
          <a:lstStyle/>
          <a:p>
            <a:pPr marL="0" indent="0" algn="l">
              <a:buNone/>
            </a:pPr>
            <a:r>
              <a:rPr lang="en-US" sz="1600" b="1" dirty="0">
                <a:solidFill>
                  <a:srgbClr val="1F2937"/>
                </a:solidFill>
                <a:latin typeface="Manrope" pitchFamily="34" charset="0"/>
                <a:ea typeface="Manrope" pitchFamily="34" charset="-122"/>
                <a:cs typeface="Manrope" pitchFamily="34" charset="-120"/>
              </a:rPr>
              <a:t>15 fonctionnalités principales à tester</a:t>
            </a:r>
            <a:endParaRPr lang="en-US" sz="1600" dirty="0"/>
          </a:p>
        </p:txBody>
      </p:sp>
      <p:sp>
        <p:nvSpPr>
          <p:cNvPr id="18" name="Text 15"/>
          <p:cNvSpPr txBox="1"/>
          <p:nvPr/>
        </p:nvSpPr>
        <p:spPr>
          <a:xfrm>
            <a:off x="10858500" y="3709721"/>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01</a:t>
            </a:r>
            <a:r>
              <a:rPr lang="en-US" sz="1100" dirty="0">
                <a:solidFill>
                  <a:srgbClr val="1F2937"/>
                </a:solidFill>
                <a:latin typeface="Manrope" pitchFamily="34" charset="0"/>
                <a:ea typeface="Manrope" pitchFamily="34" charset="-122"/>
                <a:cs typeface="Manrope" pitchFamily="34" charset="-120"/>
              </a:rPr>
              <a:t> Demande de course</a:t>
            </a:r>
            <a:endParaRPr lang="en-US" sz="1100" dirty="0"/>
          </a:p>
        </p:txBody>
      </p:sp>
      <p:sp>
        <p:nvSpPr>
          <p:cNvPr id="19" name="Text 16"/>
          <p:cNvSpPr txBox="1"/>
          <p:nvPr/>
        </p:nvSpPr>
        <p:spPr>
          <a:xfrm>
            <a:off x="14211605" y="3709721"/>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02</a:t>
            </a:r>
            <a:r>
              <a:rPr lang="en-US" sz="1100" dirty="0">
                <a:solidFill>
                  <a:srgbClr val="1F2937"/>
                </a:solidFill>
                <a:latin typeface="Manrope" pitchFamily="34" charset="0"/>
                <a:ea typeface="Manrope" pitchFamily="34" charset="-122"/>
                <a:cs typeface="Manrope" pitchFamily="34" charset="-120"/>
              </a:rPr>
              <a:t> Géolocalisation client</a:t>
            </a:r>
            <a:endParaRPr lang="en-US" sz="1100" dirty="0"/>
          </a:p>
        </p:txBody>
      </p:sp>
      <p:sp>
        <p:nvSpPr>
          <p:cNvPr id="20" name="Text 17"/>
          <p:cNvSpPr txBox="1"/>
          <p:nvPr/>
        </p:nvSpPr>
        <p:spPr>
          <a:xfrm>
            <a:off x="10858500" y="3985870"/>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03</a:t>
            </a:r>
            <a:r>
              <a:rPr lang="en-US" sz="1100" dirty="0">
                <a:solidFill>
                  <a:srgbClr val="1F2937"/>
                </a:solidFill>
                <a:latin typeface="Manrope" pitchFamily="34" charset="0"/>
                <a:ea typeface="Manrope" pitchFamily="34" charset="-122"/>
                <a:cs typeface="Manrope" pitchFamily="34" charset="-120"/>
              </a:rPr>
              <a:t> Géolocalisation chauffeur</a:t>
            </a:r>
            <a:endParaRPr lang="en-US" sz="1100" dirty="0"/>
          </a:p>
        </p:txBody>
      </p:sp>
      <p:sp>
        <p:nvSpPr>
          <p:cNvPr id="21" name="Text 18"/>
          <p:cNvSpPr txBox="1"/>
          <p:nvPr/>
        </p:nvSpPr>
        <p:spPr>
          <a:xfrm>
            <a:off x="14211605" y="3985870"/>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04</a:t>
            </a:r>
            <a:r>
              <a:rPr lang="en-US" sz="1100" dirty="0">
                <a:solidFill>
                  <a:srgbClr val="1F2937"/>
                </a:solidFill>
                <a:latin typeface="Manrope" pitchFamily="34" charset="0"/>
                <a:ea typeface="Manrope" pitchFamily="34" charset="-122"/>
                <a:cs typeface="Manrope" pitchFamily="34" charset="-120"/>
              </a:rPr>
              <a:t> Estimation du prix</a:t>
            </a:r>
            <a:endParaRPr lang="en-US" sz="1100" dirty="0"/>
          </a:p>
        </p:txBody>
      </p:sp>
      <p:sp>
        <p:nvSpPr>
          <p:cNvPr id="22" name="Text 19"/>
          <p:cNvSpPr txBox="1"/>
          <p:nvPr/>
        </p:nvSpPr>
        <p:spPr>
          <a:xfrm>
            <a:off x="10858500" y="4262018"/>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05</a:t>
            </a:r>
            <a:r>
              <a:rPr lang="en-US" sz="1100" dirty="0">
                <a:solidFill>
                  <a:srgbClr val="1F2937"/>
                </a:solidFill>
                <a:latin typeface="Manrope" pitchFamily="34" charset="0"/>
                <a:ea typeface="Manrope" pitchFamily="34" charset="-122"/>
                <a:cs typeface="Manrope" pitchFamily="34" charset="-120"/>
              </a:rPr>
              <a:t> Choix de catégorie</a:t>
            </a:r>
            <a:endParaRPr lang="en-US" sz="1100" dirty="0"/>
          </a:p>
        </p:txBody>
      </p:sp>
      <p:sp>
        <p:nvSpPr>
          <p:cNvPr id="23" name="Text 20"/>
          <p:cNvSpPr txBox="1"/>
          <p:nvPr/>
        </p:nvSpPr>
        <p:spPr>
          <a:xfrm>
            <a:off x="14211605" y="4262018"/>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06</a:t>
            </a:r>
            <a:r>
              <a:rPr lang="en-US" sz="1100" dirty="0">
                <a:solidFill>
                  <a:srgbClr val="1F2937"/>
                </a:solidFill>
                <a:latin typeface="Manrope" pitchFamily="34" charset="0"/>
                <a:ea typeface="Manrope" pitchFamily="34" charset="-122"/>
                <a:cs typeface="Manrope" pitchFamily="34" charset="-120"/>
              </a:rPr>
              <a:t> Acceptation de course</a:t>
            </a:r>
            <a:endParaRPr lang="en-US" sz="1100" dirty="0"/>
          </a:p>
        </p:txBody>
      </p:sp>
      <p:sp>
        <p:nvSpPr>
          <p:cNvPr id="24" name="Text 21"/>
          <p:cNvSpPr txBox="1"/>
          <p:nvPr/>
        </p:nvSpPr>
        <p:spPr>
          <a:xfrm>
            <a:off x="10858500" y="4539082"/>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07</a:t>
            </a:r>
            <a:r>
              <a:rPr lang="en-US" sz="1100" dirty="0">
                <a:solidFill>
                  <a:srgbClr val="1F2937"/>
                </a:solidFill>
                <a:latin typeface="Manrope" pitchFamily="34" charset="0"/>
                <a:ea typeface="Manrope" pitchFamily="34" charset="-122"/>
                <a:cs typeface="Manrope" pitchFamily="34" charset="-120"/>
              </a:rPr>
              <a:t> Arrivée chauffeur</a:t>
            </a:r>
            <a:endParaRPr lang="en-US" sz="1100" dirty="0"/>
          </a:p>
        </p:txBody>
      </p:sp>
      <p:sp>
        <p:nvSpPr>
          <p:cNvPr id="25" name="Text 22"/>
          <p:cNvSpPr txBox="1"/>
          <p:nvPr/>
        </p:nvSpPr>
        <p:spPr>
          <a:xfrm>
            <a:off x="14211605" y="4539082"/>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08</a:t>
            </a:r>
            <a:r>
              <a:rPr lang="en-US" sz="1100" dirty="0">
                <a:solidFill>
                  <a:srgbClr val="1F2937"/>
                </a:solidFill>
                <a:latin typeface="Manrope" pitchFamily="34" charset="0"/>
                <a:ea typeface="Manrope" pitchFamily="34" charset="-122"/>
                <a:cs typeface="Manrope" pitchFamily="34" charset="-120"/>
              </a:rPr>
              <a:t> Démarrage de course</a:t>
            </a:r>
            <a:endParaRPr lang="en-US" sz="1100" dirty="0"/>
          </a:p>
        </p:txBody>
      </p:sp>
      <p:sp>
        <p:nvSpPr>
          <p:cNvPr id="26" name="Text 23"/>
          <p:cNvSpPr txBox="1"/>
          <p:nvPr/>
        </p:nvSpPr>
        <p:spPr>
          <a:xfrm>
            <a:off x="10858500" y="4815230"/>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09</a:t>
            </a:r>
            <a:r>
              <a:rPr lang="en-US" sz="1100" dirty="0">
                <a:solidFill>
                  <a:srgbClr val="1F2937"/>
                </a:solidFill>
                <a:latin typeface="Manrope" pitchFamily="34" charset="0"/>
                <a:ea typeface="Manrope" pitchFamily="34" charset="-122"/>
                <a:cs typeface="Manrope" pitchFamily="34" charset="-120"/>
              </a:rPr>
              <a:t> Suivi du trajet</a:t>
            </a:r>
            <a:endParaRPr lang="en-US" sz="1100" dirty="0"/>
          </a:p>
        </p:txBody>
      </p:sp>
      <p:sp>
        <p:nvSpPr>
          <p:cNvPr id="27" name="Text 24"/>
          <p:cNvSpPr txBox="1"/>
          <p:nvPr/>
        </p:nvSpPr>
        <p:spPr>
          <a:xfrm>
            <a:off x="14211605" y="4815230"/>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10</a:t>
            </a:r>
            <a:r>
              <a:rPr lang="en-US" sz="1100" dirty="0">
                <a:solidFill>
                  <a:srgbClr val="1F2937"/>
                </a:solidFill>
                <a:latin typeface="Manrope" pitchFamily="34" charset="0"/>
                <a:ea typeface="Manrope" pitchFamily="34" charset="-122"/>
                <a:cs typeface="Manrope" pitchFamily="34" charset="-120"/>
              </a:rPr>
              <a:t> Fin de course</a:t>
            </a:r>
            <a:endParaRPr lang="en-US" sz="1100" dirty="0"/>
          </a:p>
        </p:txBody>
      </p:sp>
      <p:sp>
        <p:nvSpPr>
          <p:cNvPr id="28" name="Text 25"/>
          <p:cNvSpPr txBox="1"/>
          <p:nvPr/>
        </p:nvSpPr>
        <p:spPr>
          <a:xfrm>
            <a:off x="10858500" y="5091379"/>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11</a:t>
            </a:r>
            <a:r>
              <a:rPr lang="en-US" sz="1100" dirty="0">
                <a:solidFill>
                  <a:srgbClr val="1F2937"/>
                </a:solidFill>
                <a:latin typeface="Manrope" pitchFamily="34" charset="0"/>
                <a:ea typeface="Manrope" pitchFamily="34" charset="-122"/>
                <a:cs typeface="Manrope" pitchFamily="34" charset="-120"/>
              </a:rPr>
              <a:t> Paiement</a:t>
            </a:r>
            <a:endParaRPr lang="en-US" sz="1100" dirty="0"/>
          </a:p>
        </p:txBody>
      </p:sp>
      <p:sp>
        <p:nvSpPr>
          <p:cNvPr id="29" name="Text 26"/>
          <p:cNvSpPr txBox="1"/>
          <p:nvPr/>
        </p:nvSpPr>
        <p:spPr>
          <a:xfrm>
            <a:off x="14211605" y="5091379"/>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12</a:t>
            </a:r>
            <a:r>
              <a:rPr lang="en-US" sz="1100" dirty="0">
                <a:solidFill>
                  <a:srgbClr val="1F2937"/>
                </a:solidFill>
                <a:latin typeface="Manrope" pitchFamily="34" charset="0"/>
                <a:ea typeface="Manrope" pitchFamily="34" charset="-122"/>
                <a:cs typeface="Manrope" pitchFamily="34" charset="-120"/>
              </a:rPr>
              <a:t> Débit de commission</a:t>
            </a:r>
            <a:endParaRPr lang="en-US" sz="1100" dirty="0"/>
          </a:p>
        </p:txBody>
      </p:sp>
      <p:sp>
        <p:nvSpPr>
          <p:cNvPr id="30" name="Text 27"/>
          <p:cNvSpPr txBox="1"/>
          <p:nvPr/>
        </p:nvSpPr>
        <p:spPr>
          <a:xfrm>
            <a:off x="10858500" y="5367528"/>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13</a:t>
            </a:r>
            <a:r>
              <a:rPr lang="en-US" sz="1100" dirty="0">
                <a:solidFill>
                  <a:srgbClr val="1F2937"/>
                </a:solidFill>
                <a:latin typeface="Manrope" pitchFamily="34" charset="0"/>
                <a:ea typeface="Manrope" pitchFamily="34" charset="-122"/>
                <a:cs typeface="Manrope" pitchFamily="34" charset="-120"/>
              </a:rPr>
              <a:t> Historique</a:t>
            </a:r>
            <a:endParaRPr lang="en-US" sz="1100" dirty="0"/>
          </a:p>
        </p:txBody>
      </p:sp>
      <p:sp>
        <p:nvSpPr>
          <p:cNvPr id="31" name="Text 28"/>
          <p:cNvSpPr txBox="1"/>
          <p:nvPr/>
        </p:nvSpPr>
        <p:spPr>
          <a:xfrm>
            <a:off x="14211605" y="5367528"/>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14</a:t>
            </a:r>
            <a:r>
              <a:rPr lang="en-US" sz="1100" dirty="0">
                <a:solidFill>
                  <a:srgbClr val="1F2937"/>
                </a:solidFill>
                <a:latin typeface="Manrope" pitchFamily="34" charset="0"/>
                <a:ea typeface="Manrope" pitchFamily="34" charset="-122"/>
                <a:cs typeface="Manrope" pitchFamily="34" charset="-120"/>
              </a:rPr>
              <a:t> Notation</a:t>
            </a:r>
            <a:endParaRPr lang="en-US" sz="1100" dirty="0"/>
          </a:p>
        </p:txBody>
      </p:sp>
      <p:sp>
        <p:nvSpPr>
          <p:cNvPr id="32" name="Text 29"/>
          <p:cNvSpPr txBox="1"/>
          <p:nvPr/>
        </p:nvSpPr>
        <p:spPr>
          <a:xfrm>
            <a:off x="10858500" y="5643677"/>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15</a:t>
            </a:r>
            <a:r>
              <a:rPr lang="en-US" sz="1100" dirty="0">
                <a:solidFill>
                  <a:srgbClr val="1F2937"/>
                </a:solidFill>
                <a:latin typeface="Manrope" pitchFamily="34" charset="0"/>
                <a:ea typeface="Manrope" pitchFamily="34" charset="-122"/>
                <a:cs typeface="Manrope" pitchFamily="34" charset="-120"/>
              </a:rPr>
              <a:t> Réclamation</a:t>
            </a:r>
            <a:endParaRPr lang="en-US" sz="1100" dirty="0"/>
          </a:p>
        </p:txBody>
      </p:sp>
      <p:sp>
        <p:nvSpPr>
          <p:cNvPr id="33" name="Shape 30"/>
          <p:cNvSpPr/>
          <p:nvPr/>
        </p:nvSpPr>
        <p:spPr>
          <a:xfrm>
            <a:off x="10858500" y="6129223"/>
            <a:ext cx="6476695" cy="1190549"/>
          </a:xfrm>
          <a:prstGeom prst="roundRect">
            <a:avLst>
              <a:gd name="adj" fmla="val 7988"/>
            </a:avLst>
          </a:prstGeom>
          <a:solidFill>
            <a:srgbClr val="FFFFFF"/>
          </a:solidFill>
          <a:ln/>
        </p:spPr>
        <p:txBody>
          <a:bodyPr/>
          <a:lstStyle/>
          <a:p>
            <a:endParaRPr lang="fr-CI"/>
          </a:p>
        </p:txBody>
      </p:sp>
      <p:sp>
        <p:nvSpPr>
          <p:cNvPr id="34" name="Shape 31"/>
          <p:cNvSpPr/>
          <p:nvPr/>
        </p:nvSpPr>
        <p:spPr>
          <a:xfrm>
            <a:off x="10858500" y="6129223"/>
            <a:ext cx="38405" cy="1190549"/>
          </a:xfrm>
          <a:prstGeom prst="roundRect">
            <a:avLst>
              <a:gd name="adj" fmla="val 247618"/>
            </a:avLst>
          </a:prstGeom>
          <a:solidFill>
            <a:srgbClr val="6D28D9"/>
          </a:solidFill>
          <a:ln w="12700">
            <a:solidFill>
              <a:srgbClr val="6D28D9">
                <a:alpha val="0"/>
              </a:srgbClr>
            </a:solidFill>
            <a:prstDash val="solid"/>
          </a:ln>
        </p:spPr>
        <p:txBody>
          <a:bodyPr/>
          <a:lstStyle/>
          <a:p>
            <a:endParaRPr lang="fr-CI"/>
          </a:p>
        </p:txBody>
      </p:sp>
      <p:sp>
        <p:nvSpPr>
          <p:cNvPr id="35" name="Text 32"/>
          <p:cNvSpPr txBox="1"/>
          <p:nvPr/>
        </p:nvSpPr>
        <p:spPr>
          <a:xfrm>
            <a:off x="11067898" y="6301130"/>
            <a:ext cx="6096305" cy="133502"/>
          </a:xfrm>
          <a:prstGeom prst="rect">
            <a:avLst/>
          </a:prstGeom>
          <a:noFill/>
          <a:ln/>
        </p:spPr>
        <p:txBody>
          <a:bodyPr wrap="none" lIns="0" tIns="0" rIns="0" bIns="0" rtlCol="0" anchor="ctr"/>
          <a:lstStyle/>
          <a:p>
            <a:pPr marL="0" indent="0" algn="l">
              <a:buNone/>
            </a:pPr>
            <a:r>
              <a:rPr lang="en-US" sz="800" b="1" kern="0" spc="99" dirty="0">
                <a:solidFill>
                  <a:srgbClr val="6D28D9"/>
                </a:solidFill>
                <a:latin typeface="JetBrains Mono" pitchFamily="34" charset="0"/>
                <a:ea typeface="JetBrains Mono" pitchFamily="34" charset="-122"/>
                <a:cs typeface="JetBrains Mono" pitchFamily="34" charset="-120"/>
              </a:rPr>
              <a:t>Use cases associés</a:t>
            </a:r>
            <a:endParaRPr lang="en-US" sz="800" dirty="0"/>
          </a:p>
        </p:txBody>
      </p:sp>
      <p:sp>
        <p:nvSpPr>
          <p:cNvPr id="36" name="Shape 33"/>
          <p:cNvSpPr/>
          <p:nvPr/>
        </p:nvSpPr>
        <p:spPr>
          <a:xfrm>
            <a:off x="11067898" y="6529730"/>
            <a:ext cx="676656"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37" name="Text 34"/>
          <p:cNvSpPr/>
          <p:nvPr/>
        </p:nvSpPr>
        <p:spPr>
          <a:xfrm>
            <a:off x="11067898" y="6529730"/>
            <a:ext cx="676656"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UC-T01</a:t>
            </a:r>
            <a:endParaRPr lang="en-US" sz="900" dirty="0"/>
          </a:p>
        </p:txBody>
      </p:sp>
      <p:sp>
        <p:nvSpPr>
          <p:cNvPr id="38" name="Shape 35"/>
          <p:cNvSpPr/>
          <p:nvPr/>
        </p:nvSpPr>
        <p:spPr>
          <a:xfrm>
            <a:off x="11814962" y="6529730"/>
            <a:ext cx="694944"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39" name="Text 36"/>
          <p:cNvSpPr/>
          <p:nvPr/>
        </p:nvSpPr>
        <p:spPr>
          <a:xfrm>
            <a:off x="11814962" y="6529730"/>
            <a:ext cx="695858"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UC-T02</a:t>
            </a:r>
            <a:endParaRPr lang="en-US" sz="900" dirty="0"/>
          </a:p>
        </p:txBody>
      </p:sp>
      <p:sp>
        <p:nvSpPr>
          <p:cNvPr id="40" name="Shape 37"/>
          <p:cNvSpPr/>
          <p:nvPr/>
        </p:nvSpPr>
        <p:spPr>
          <a:xfrm>
            <a:off x="12583058" y="6529730"/>
            <a:ext cx="694944"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41" name="Text 38"/>
          <p:cNvSpPr/>
          <p:nvPr/>
        </p:nvSpPr>
        <p:spPr>
          <a:xfrm>
            <a:off x="12583058" y="6529730"/>
            <a:ext cx="695858"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UC-T03</a:t>
            </a:r>
            <a:endParaRPr lang="en-US" sz="900" dirty="0"/>
          </a:p>
        </p:txBody>
      </p:sp>
      <p:sp>
        <p:nvSpPr>
          <p:cNvPr id="42" name="Shape 39"/>
          <p:cNvSpPr/>
          <p:nvPr/>
        </p:nvSpPr>
        <p:spPr>
          <a:xfrm>
            <a:off x="13348411" y="6529730"/>
            <a:ext cx="694944"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43" name="Text 40"/>
          <p:cNvSpPr/>
          <p:nvPr/>
        </p:nvSpPr>
        <p:spPr>
          <a:xfrm>
            <a:off x="13348411" y="6529730"/>
            <a:ext cx="695858"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UC-T04</a:t>
            </a:r>
            <a:endParaRPr lang="en-US" sz="900" dirty="0"/>
          </a:p>
        </p:txBody>
      </p:sp>
      <p:sp>
        <p:nvSpPr>
          <p:cNvPr id="44" name="Shape 41"/>
          <p:cNvSpPr/>
          <p:nvPr/>
        </p:nvSpPr>
        <p:spPr>
          <a:xfrm>
            <a:off x="14118336" y="6529730"/>
            <a:ext cx="694944"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45" name="Text 42"/>
          <p:cNvSpPr/>
          <p:nvPr/>
        </p:nvSpPr>
        <p:spPr>
          <a:xfrm>
            <a:off x="14118336" y="6529730"/>
            <a:ext cx="695858"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UC-T05</a:t>
            </a:r>
            <a:endParaRPr lang="en-US" sz="900" dirty="0"/>
          </a:p>
        </p:txBody>
      </p:sp>
      <p:sp>
        <p:nvSpPr>
          <p:cNvPr id="46" name="Text 43"/>
          <p:cNvSpPr txBox="1"/>
          <p:nvPr/>
        </p:nvSpPr>
        <p:spPr>
          <a:xfrm>
            <a:off x="11067898" y="6929323"/>
            <a:ext cx="6096305" cy="219456"/>
          </a:xfrm>
          <a:prstGeom prst="rect">
            <a:avLst/>
          </a:prstGeom>
          <a:noFill/>
          <a:ln/>
        </p:spPr>
        <p:txBody>
          <a:bodyPr wrap="none" lIns="0" tIns="0" rIns="0" bIns="0" rtlCol="0" anchor="ctr"/>
          <a:lstStyle/>
          <a:p>
            <a:pPr marL="0" indent="0" algn="l">
              <a:buNone/>
            </a:pPr>
            <a:r>
              <a:rPr lang="en-US" sz="1100" dirty="0">
                <a:solidFill>
                  <a:srgbClr val="6B7280"/>
                </a:solidFill>
                <a:latin typeface="Manrope" pitchFamily="34" charset="0"/>
                <a:ea typeface="Manrope" pitchFamily="34" charset="-122"/>
                <a:cs typeface="Manrope" pitchFamily="34" charset="-120"/>
              </a:rPr>
              <a:t>Voir slides 31-32 pour le détail des scénarios.</a:t>
            </a:r>
            <a:endParaRPr lang="en-US" sz="1100" dirty="0"/>
          </a:p>
        </p:txBody>
      </p:sp>
      <p:sp>
        <p:nvSpPr>
          <p:cNvPr id="47" name="Shape 44"/>
          <p:cNvSpPr/>
          <p:nvPr/>
        </p:nvSpPr>
        <p:spPr>
          <a:xfrm>
            <a:off x="10858500" y="7505395"/>
            <a:ext cx="1333195" cy="286207"/>
          </a:xfrm>
          <a:prstGeom prst="roundRect">
            <a:avLst>
              <a:gd name="adj" fmla="val 49840"/>
            </a:avLst>
          </a:prstGeom>
          <a:solidFill>
            <a:srgbClr val="FEF3C7"/>
          </a:solidFill>
          <a:ln w="12700">
            <a:solidFill>
              <a:srgbClr val="FFFFFF">
                <a:alpha val="0"/>
              </a:srgbClr>
            </a:solidFill>
            <a:prstDash val="solid"/>
          </a:ln>
        </p:spPr>
        <p:txBody>
          <a:bodyPr/>
          <a:lstStyle/>
          <a:p>
            <a:endParaRPr lang="fr-CI"/>
          </a:p>
        </p:txBody>
      </p:sp>
      <p:sp>
        <p:nvSpPr>
          <p:cNvPr id="48" name="Text 45"/>
          <p:cNvSpPr/>
          <p:nvPr/>
        </p:nvSpPr>
        <p:spPr>
          <a:xfrm>
            <a:off x="10858500" y="7505395"/>
            <a:ext cx="1334110"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2400E"/>
                </a:solidFill>
                <a:latin typeface="Manrope" pitchFamily="34" charset="0"/>
                <a:ea typeface="Manrope" pitchFamily="34" charset="-122"/>
                <a:cs typeface="Manrope" pitchFamily="34" charset="-120"/>
              </a:rPr>
              <a:t>Criticité : Critique</a:t>
            </a:r>
            <a:endParaRPr lang="en-US" sz="900" dirty="0"/>
          </a:p>
        </p:txBody>
      </p:sp>
      <p:sp>
        <p:nvSpPr>
          <p:cNvPr id="49" name="Shape 46"/>
          <p:cNvSpPr/>
          <p:nvPr/>
        </p:nvSpPr>
        <p:spPr>
          <a:xfrm>
            <a:off x="12287707" y="7505395"/>
            <a:ext cx="1752905"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50" name="Text 47"/>
          <p:cNvSpPr/>
          <p:nvPr/>
        </p:nvSpPr>
        <p:spPr>
          <a:xfrm>
            <a:off x="12287707" y="7505395"/>
            <a:ext cx="1752905"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20 taxis/VTC en test réel</a:t>
            </a:r>
            <a:endParaRPr lang="en-US" sz="900" dirty="0"/>
          </a:p>
        </p:txBody>
      </p:sp>
      <p:sp>
        <p:nvSpPr>
          <p:cNvPr id="51" name="Shape 48"/>
          <p:cNvSpPr/>
          <p:nvPr/>
        </p:nvSpPr>
        <p:spPr>
          <a:xfrm>
            <a:off x="0" y="9791395"/>
            <a:ext cx="18288000" cy="495605"/>
          </a:xfrm>
          <a:prstGeom prst="rect">
            <a:avLst/>
          </a:prstGeom>
          <a:solidFill>
            <a:srgbClr val="FFFFFF"/>
          </a:solidFill>
          <a:ln/>
        </p:spPr>
        <p:txBody>
          <a:bodyPr/>
          <a:lstStyle/>
          <a:p>
            <a:endParaRPr lang="fr-CI"/>
          </a:p>
        </p:txBody>
      </p:sp>
      <p:sp>
        <p:nvSpPr>
          <p:cNvPr id="52" name="Shape 49"/>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53" name="Text 50"/>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54" name="Text 51"/>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09 / 59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dirty="0"/>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5990113" y="256946"/>
            <a:ext cx="1995221"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Service 5.2 — Livraison</a:t>
            </a:r>
            <a:endParaRPr lang="en-US" sz="900" dirty="0"/>
          </a:p>
        </p:txBody>
      </p:sp>
      <p:sp>
        <p:nvSpPr>
          <p:cNvPr id="10" name="Text 8"/>
          <p:cNvSpPr txBox="1"/>
          <p:nvPr/>
        </p:nvSpPr>
        <p:spPr>
          <a:xfrm>
            <a:off x="914400" y="1205179"/>
            <a:ext cx="2581351" cy="181051"/>
          </a:xfrm>
          <a:prstGeom prst="rect">
            <a:avLst/>
          </a:prstGeom>
          <a:noFill/>
          <a:ln/>
        </p:spPr>
        <p:txBody>
          <a:bodyPr wrap="none" lIns="0" tIns="0" rIns="0" bIns="0" rtlCol="0" anchor="ctr"/>
          <a:lstStyle/>
          <a:p>
            <a:pPr marL="0" indent="0" algn="l">
              <a:buNone/>
            </a:pPr>
            <a:r>
              <a:rPr lang="en-US" sz="1400" b="1" kern="0" spc="189" dirty="0">
                <a:solidFill>
                  <a:srgbClr val="6D28D9"/>
                </a:solidFill>
                <a:latin typeface="Manrope" pitchFamily="34" charset="0"/>
                <a:ea typeface="Manrope" pitchFamily="34" charset="-122"/>
                <a:cs typeface="Manrope" pitchFamily="34" charset="-120"/>
              </a:rPr>
              <a:t>5.2 · Service à recetter</a:t>
            </a:r>
            <a:endParaRPr lang="en-US" sz="14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8479110"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Livraison — 14 fonctionnalités, du colis à la preuve de livraison.</a:t>
            </a:r>
            <a:endParaRPr lang="en-US" sz="3900" dirty="0"/>
          </a:p>
        </p:txBody>
      </p:sp>
      <p:sp>
        <p:nvSpPr>
          <p:cNvPr id="13" name="Text 11"/>
          <p:cNvSpPr txBox="1"/>
          <p:nvPr/>
        </p:nvSpPr>
        <p:spPr>
          <a:xfrm>
            <a:off x="914400" y="2457907"/>
            <a:ext cx="16193110" cy="257861"/>
          </a:xfrm>
          <a:prstGeom prst="rect">
            <a:avLst/>
          </a:prstGeom>
          <a:noFill/>
          <a:ln/>
        </p:spPr>
        <p:txBody>
          <a:bodyPr wrap="none" lIns="0" tIns="0" rIns="0" bIns="0" rtlCol="0" anchor="ctr"/>
          <a:lstStyle/>
          <a:p>
            <a:pPr marL="0" indent="0" algn="l">
              <a:buNone/>
            </a:pPr>
            <a:r>
              <a:rPr lang="en-US" sz="1300" dirty="0">
                <a:solidFill>
                  <a:srgbClr val="4B5563"/>
                </a:solidFill>
                <a:latin typeface="Manrope" pitchFamily="34" charset="0"/>
                <a:ea typeface="Manrope" pitchFamily="34" charset="-122"/>
                <a:cs typeface="Manrope" pitchFamily="34" charset="-120"/>
              </a:rPr>
              <a:t>Prise en charge, transport et livraison d'un colis, document, article ou commande, par un livreur affecté à la mission.</a:t>
            </a:r>
            <a:endParaRPr lang="en-US" sz="1300" dirty="0"/>
          </a:p>
        </p:txBody>
      </p:sp>
      <p:pic>
        <p:nvPicPr>
          <p:cNvPr id="14" name="Image 0" descr="gen-dedup-8bb821434389d61dc7e258e9939589fb.jpg"/>
          <p:cNvPicPr>
            <a:picLocks noChangeAspect="1"/>
          </p:cNvPicPr>
          <p:nvPr/>
        </p:nvPicPr>
        <p:blipFill>
          <a:blip r:embed="rId3"/>
          <a:srcRect t="-2612" b="-2612"/>
          <a:stretch/>
        </p:blipFill>
        <p:spPr>
          <a:xfrm>
            <a:off x="914400" y="3047695"/>
            <a:ext cx="9334195" cy="5524805"/>
          </a:xfrm>
          <a:prstGeom prst="rect">
            <a:avLst/>
          </a:prstGeom>
        </p:spPr>
      </p:pic>
      <p:sp>
        <p:nvSpPr>
          <p:cNvPr id="15" name="Text 12"/>
          <p:cNvSpPr txBox="1"/>
          <p:nvPr/>
        </p:nvSpPr>
        <p:spPr>
          <a:xfrm>
            <a:off x="914400" y="8667598"/>
            <a:ext cx="9335110" cy="219456"/>
          </a:xfrm>
          <a:prstGeom prst="rect">
            <a:avLst/>
          </a:prstGeom>
          <a:noFill/>
          <a:ln/>
        </p:spPr>
        <p:txBody>
          <a:bodyPr wrap="none" lIns="0" tIns="0" rIns="0" bIns="0" rtlCol="0" anchor="ctr"/>
          <a:lstStyle/>
          <a:p>
            <a:pPr marL="0" indent="0" algn="ctr">
              <a:buNone/>
            </a:pPr>
            <a:r>
              <a:rPr lang="en-US" sz="1100" i="1" dirty="0">
                <a:solidFill>
                  <a:srgbClr val="6B7280"/>
                </a:solidFill>
                <a:latin typeface="Manrope" pitchFamily="34" charset="0"/>
                <a:ea typeface="Manrope" pitchFamily="34" charset="-122"/>
                <a:cs typeface="Manrope" pitchFamily="34" charset="-120"/>
              </a:rPr>
              <a:t>Fig. 10.1 — Cycle complet d'une livraison, de la demande client à la preuve de livraison</a:t>
            </a:r>
            <a:endParaRPr lang="en-US" sz="1100" dirty="0"/>
          </a:p>
        </p:txBody>
      </p:sp>
      <p:sp>
        <p:nvSpPr>
          <p:cNvPr id="16" name="Shape 13"/>
          <p:cNvSpPr/>
          <p:nvPr/>
        </p:nvSpPr>
        <p:spPr>
          <a:xfrm>
            <a:off x="10554005" y="3047695"/>
            <a:ext cx="6858000" cy="5524805"/>
          </a:xfrm>
          <a:prstGeom prst="roundRect">
            <a:avLst>
              <a:gd name="adj" fmla="val 2416"/>
            </a:avLst>
          </a:prstGeom>
          <a:solidFill>
            <a:srgbClr val="FAFAFC"/>
          </a:solidFill>
          <a:ln w="12700">
            <a:solidFill>
              <a:srgbClr val="E5E7EB"/>
            </a:solidFill>
            <a:prstDash val="solid"/>
          </a:ln>
        </p:spPr>
        <p:txBody>
          <a:bodyPr/>
          <a:lstStyle/>
          <a:p>
            <a:endParaRPr lang="fr-CI"/>
          </a:p>
        </p:txBody>
      </p:sp>
      <p:sp>
        <p:nvSpPr>
          <p:cNvPr id="17" name="Text 14"/>
          <p:cNvSpPr txBox="1"/>
          <p:nvPr/>
        </p:nvSpPr>
        <p:spPr>
          <a:xfrm>
            <a:off x="10858500" y="3276295"/>
            <a:ext cx="6477610" cy="267005"/>
          </a:xfrm>
          <a:prstGeom prst="rect">
            <a:avLst/>
          </a:prstGeom>
          <a:noFill/>
          <a:ln/>
        </p:spPr>
        <p:txBody>
          <a:bodyPr wrap="none" lIns="0" tIns="0" rIns="0" bIns="0" rtlCol="0" anchor="ctr"/>
          <a:lstStyle/>
          <a:p>
            <a:pPr marL="0" indent="0" algn="l">
              <a:buNone/>
            </a:pPr>
            <a:r>
              <a:rPr lang="en-US" sz="1600" b="1" dirty="0">
                <a:solidFill>
                  <a:srgbClr val="1F2937"/>
                </a:solidFill>
                <a:latin typeface="Manrope" pitchFamily="34" charset="0"/>
                <a:ea typeface="Manrope" pitchFamily="34" charset="-122"/>
                <a:cs typeface="Manrope" pitchFamily="34" charset="-120"/>
              </a:rPr>
              <a:t>14 fonctionnalités principales à tester</a:t>
            </a:r>
            <a:endParaRPr lang="en-US" sz="1600" dirty="0"/>
          </a:p>
        </p:txBody>
      </p:sp>
      <p:sp>
        <p:nvSpPr>
          <p:cNvPr id="18" name="Text 15"/>
          <p:cNvSpPr txBox="1"/>
          <p:nvPr/>
        </p:nvSpPr>
        <p:spPr>
          <a:xfrm>
            <a:off x="10858500" y="3709721"/>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01</a:t>
            </a:r>
            <a:r>
              <a:rPr lang="en-US" sz="1100" dirty="0">
                <a:solidFill>
                  <a:srgbClr val="1F2937"/>
                </a:solidFill>
                <a:latin typeface="Manrope" pitchFamily="34" charset="0"/>
                <a:ea typeface="Manrope" pitchFamily="34" charset="-122"/>
                <a:cs typeface="Manrope" pitchFamily="34" charset="-120"/>
              </a:rPr>
              <a:t> Création demande</a:t>
            </a:r>
            <a:endParaRPr lang="en-US" sz="1100" dirty="0"/>
          </a:p>
        </p:txBody>
      </p:sp>
      <p:sp>
        <p:nvSpPr>
          <p:cNvPr id="19" name="Text 16"/>
          <p:cNvSpPr txBox="1"/>
          <p:nvPr/>
        </p:nvSpPr>
        <p:spPr>
          <a:xfrm>
            <a:off x="14211605" y="3709721"/>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02</a:t>
            </a:r>
            <a:r>
              <a:rPr lang="en-US" sz="1100" dirty="0">
                <a:solidFill>
                  <a:srgbClr val="1F2937"/>
                </a:solidFill>
                <a:latin typeface="Manrope" pitchFamily="34" charset="0"/>
                <a:ea typeface="Manrope" pitchFamily="34" charset="-122"/>
                <a:cs typeface="Manrope" pitchFamily="34" charset="-120"/>
              </a:rPr>
              <a:t> Adresse récupération</a:t>
            </a:r>
            <a:endParaRPr lang="en-US" sz="1100" dirty="0"/>
          </a:p>
        </p:txBody>
      </p:sp>
      <p:sp>
        <p:nvSpPr>
          <p:cNvPr id="20" name="Text 17"/>
          <p:cNvSpPr txBox="1"/>
          <p:nvPr/>
        </p:nvSpPr>
        <p:spPr>
          <a:xfrm>
            <a:off x="10858500" y="3985870"/>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03</a:t>
            </a:r>
            <a:r>
              <a:rPr lang="en-US" sz="1100" dirty="0">
                <a:solidFill>
                  <a:srgbClr val="1F2937"/>
                </a:solidFill>
                <a:latin typeface="Manrope" pitchFamily="34" charset="0"/>
                <a:ea typeface="Manrope" pitchFamily="34" charset="-122"/>
                <a:cs typeface="Manrope" pitchFamily="34" charset="-120"/>
              </a:rPr>
              <a:t> Adresse livraison</a:t>
            </a:r>
            <a:endParaRPr lang="en-US" sz="1100" dirty="0"/>
          </a:p>
        </p:txBody>
      </p:sp>
      <p:sp>
        <p:nvSpPr>
          <p:cNvPr id="21" name="Text 18"/>
          <p:cNvSpPr txBox="1"/>
          <p:nvPr/>
        </p:nvSpPr>
        <p:spPr>
          <a:xfrm>
            <a:off x="14211605" y="3985870"/>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04</a:t>
            </a:r>
            <a:r>
              <a:rPr lang="en-US" sz="1100" dirty="0">
                <a:solidFill>
                  <a:srgbClr val="1F2937"/>
                </a:solidFill>
                <a:latin typeface="Manrope" pitchFamily="34" charset="0"/>
                <a:ea typeface="Manrope" pitchFamily="34" charset="-122"/>
                <a:cs typeface="Manrope" pitchFamily="34" charset="-120"/>
              </a:rPr>
              <a:t> Informations colis</a:t>
            </a:r>
            <a:endParaRPr lang="en-US" sz="1100" dirty="0"/>
          </a:p>
        </p:txBody>
      </p:sp>
      <p:sp>
        <p:nvSpPr>
          <p:cNvPr id="22" name="Text 19"/>
          <p:cNvSpPr txBox="1"/>
          <p:nvPr/>
        </p:nvSpPr>
        <p:spPr>
          <a:xfrm>
            <a:off x="10858500" y="4262018"/>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05</a:t>
            </a:r>
            <a:r>
              <a:rPr lang="en-US" sz="1100" dirty="0">
                <a:solidFill>
                  <a:srgbClr val="1F2937"/>
                </a:solidFill>
                <a:latin typeface="Manrope" pitchFamily="34" charset="0"/>
                <a:ea typeface="Manrope" pitchFamily="34" charset="-122"/>
                <a:cs typeface="Manrope" pitchFamily="34" charset="-120"/>
              </a:rPr>
              <a:t> Affectation livreur</a:t>
            </a:r>
            <a:endParaRPr lang="en-US" sz="1100" dirty="0"/>
          </a:p>
        </p:txBody>
      </p:sp>
      <p:sp>
        <p:nvSpPr>
          <p:cNvPr id="23" name="Text 20"/>
          <p:cNvSpPr txBox="1"/>
          <p:nvPr/>
        </p:nvSpPr>
        <p:spPr>
          <a:xfrm>
            <a:off x="14211605" y="4262018"/>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06</a:t>
            </a:r>
            <a:r>
              <a:rPr lang="en-US" sz="1100" dirty="0">
                <a:solidFill>
                  <a:srgbClr val="1F2937"/>
                </a:solidFill>
                <a:latin typeface="Manrope" pitchFamily="34" charset="0"/>
                <a:ea typeface="Manrope" pitchFamily="34" charset="-122"/>
                <a:cs typeface="Manrope" pitchFamily="34" charset="-120"/>
              </a:rPr>
              <a:t> Acceptation mission</a:t>
            </a:r>
            <a:endParaRPr lang="en-US" sz="1100" dirty="0"/>
          </a:p>
        </p:txBody>
      </p:sp>
      <p:sp>
        <p:nvSpPr>
          <p:cNvPr id="24" name="Text 21"/>
          <p:cNvSpPr txBox="1"/>
          <p:nvPr/>
        </p:nvSpPr>
        <p:spPr>
          <a:xfrm>
            <a:off x="10858500" y="4539082"/>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07</a:t>
            </a:r>
            <a:r>
              <a:rPr lang="en-US" sz="1100" dirty="0">
                <a:solidFill>
                  <a:srgbClr val="1F2937"/>
                </a:solidFill>
                <a:latin typeface="Manrope" pitchFamily="34" charset="0"/>
                <a:ea typeface="Manrope" pitchFamily="34" charset="-122"/>
                <a:cs typeface="Manrope" pitchFamily="34" charset="-120"/>
              </a:rPr>
              <a:t> Route vers expéditeur</a:t>
            </a:r>
            <a:endParaRPr lang="en-US" sz="1100" dirty="0"/>
          </a:p>
        </p:txBody>
      </p:sp>
      <p:sp>
        <p:nvSpPr>
          <p:cNvPr id="25" name="Text 22"/>
          <p:cNvSpPr txBox="1"/>
          <p:nvPr/>
        </p:nvSpPr>
        <p:spPr>
          <a:xfrm>
            <a:off x="14211605" y="4539082"/>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08</a:t>
            </a:r>
            <a:r>
              <a:rPr lang="en-US" sz="1100" dirty="0">
                <a:solidFill>
                  <a:srgbClr val="1F2937"/>
                </a:solidFill>
                <a:latin typeface="Manrope" pitchFamily="34" charset="0"/>
                <a:ea typeface="Manrope" pitchFamily="34" charset="-122"/>
                <a:cs typeface="Manrope" pitchFamily="34" charset="-120"/>
              </a:rPr>
              <a:t> Colis récupéré</a:t>
            </a:r>
            <a:endParaRPr lang="en-US" sz="1100" dirty="0"/>
          </a:p>
        </p:txBody>
      </p:sp>
      <p:sp>
        <p:nvSpPr>
          <p:cNvPr id="26" name="Text 23"/>
          <p:cNvSpPr txBox="1"/>
          <p:nvPr/>
        </p:nvSpPr>
        <p:spPr>
          <a:xfrm>
            <a:off x="10858500" y="4815230"/>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09</a:t>
            </a:r>
            <a:r>
              <a:rPr lang="en-US" sz="1100" dirty="0">
                <a:solidFill>
                  <a:srgbClr val="1F2937"/>
                </a:solidFill>
                <a:latin typeface="Manrope" pitchFamily="34" charset="0"/>
                <a:ea typeface="Manrope" pitchFamily="34" charset="-122"/>
                <a:cs typeface="Manrope" pitchFamily="34" charset="-120"/>
              </a:rPr>
              <a:t> En cours de livraison</a:t>
            </a:r>
            <a:endParaRPr lang="en-US" sz="1100" dirty="0"/>
          </a:p>
        </p:txBody>
      </p:sp>
      <p:sp>
        <p:nvSpPr>
          <p:cNvPr id="27" name="Text 24"/>
          <p:cNvSpPr txBox="1"/>
          <p:nvPr/>
        </p:nvSpPr>
        <p:spPr>
          <a:xfrm>
            <a:off x="14211605" y="4815230"/>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10</a:t>
            </a:r>
            <a:r>
              <a:rPr lang="en-US" sz="1100" dirty="0">
                <a:solidFill>
                  <a:srgbClr val="1F2937"/>
                </a:solidFill>
                <a:latin typeface="Manrope" pitchFamily="34" charset="0"/>
                <a:ea typeface="Manrope" pitchFamily="34" charset="-122"/>
                <a:cs typeface="Manrope" pitchFamily="34" charset="-120"/>
              </a:rPr>
              <a:t> Livré</a:t>
            </a:r>
            <a:endParaRPr lang="en-US" sz="1100" dirty="0"/>
          </a:p>
        </p:txBody>
      </p:sp>
      <p:sp>
        <p:nvSpPr>
          <p:cNvPr id="28" name="Text 25"/>
          <p:cNvSpPr txBox="1"/>
          <p:nvPr/>
        </p:nvSpPr>
        <p:spPr>
          <a:xfrm>
            <a:off x="10858500" y="5091379"/>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11</a:t>
            </a:r>
            <a:r>
              <a:rPr lang="en-US" sz="1100" dirty="0">
                <a:solidFill>
                  <a:srgbClr val="1F2937"/>
                </a:solidFill>
                <a:latin typeface="Manrope" pitchFamily="34" charset="0"/>
                <a:ea typeface="Manrope" pitchFamily="34" charset="-122"/>
                <a:cs typeface="Manrope" pitchFamily="34" charset="-120"/>
              </a:rPr>
              <a:t> Preuve de livraison</a:t>
            </a:r>
            <a:endParaRPr lang="en-US" sz="1100" dirty="0"/>
          </a:p>
        </p:txBody>
      </p:sp>
      <p:sp>
        <p:nvSpPr>
          <p:cNvPr id="29" name="Text 26"/>
          <p:cNvSpPr txBox="1"/>
          <p:nvPr/>
        </p:nvSpPr>
        <p:spPr>
          <a:xfrm>
            <a:off x="14211605" y="5091379"/>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12</a:t>
            </a:r>
            <a:r>
              <a:rPr lang="en-US" sz="1100" dirty="0">
                <a:solidFill>
                  <a:srgbClr val="1F2937"/>
                </a:solidFill>
                <a:latin typeface="Manrope" pitchFamily="34" charset="0"/>
                <a:ea typeface="Manrope" pitchFamily="34" charset="-122"/>
                <a:cs typeface="Manrope" pitchFamily="34" charset="-120"/>
              </a:rPr>
              <a:t> Paiement</a:t>
            </a:r>
            <a:endParaRPr lang="en-US" sz="1100" dirty="0"/>
          </a:p>
        </p:txBody>
      </p:sp>
      <p:sp>
        <p:nvSpPr>
          <p:cNvPr id="30" name="Text 27"/>
          <p:cNvSpPr txBox="1"/>
          <p:nvPr/>
        </p:nvSpPr>
        <p:spPr>
          <a:xfrm>
            <a:off x="10858500" y="5367528"/>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13</a:t>
            </a:r>
            <a:r>
              <a:rPr lang="en-US" sz="1100" dirty="0">
                <a:solidFill>
                  <a:srgbClr val="1F2937"/>
                </a:solidFill>
                <a:latin typeface="Manrope" pitchFamily="34" charset="0"/>
                <a:ea typeface="Manrope" pitchFamily="34" charset="-122"/>
                <a:cs typeface="Manrope" pitchFamily="34" charset="-120"/>
              </a:rPr>
              <a:t> Commission</a:t>
            </a:r>
            <a:endParaRPr lang="en-US" sz="1100" dirty="0"/>
          </a:p>
        </p:txBody>
      </p:sp>
      <p:sp>
        <p:nvSpPr>
          <p:cNvPr id="31" name="Text 28"/>
          <p:cNvSpPr txBox="1"/>
          <p:nvPr/>
        </p:nvSpPr>
        <p:spPr>
          <a:xfrm>
            <a:off x="14211605" y="5367528"/>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14</a:t>
            </a:r>
            <a:r>
              <a:rPr lang="en-US" sz="1100" dirty="0">
                <a:solidFill>
                  <a:srgbClr val="1F2937"/>
                </a:solidFill>
                <a:latin typeface="Manrope" pitchFamily="34" charset="0"/>
                <a:ea typeface="Manrope" pitchFamily="34" charset="-122"/>
                <a:cs typeface="Manrope" pitchFamily="34" charset="-120"/>
              </a:rPr>
              <a:t> Historique &amp; réclamation</a:t>
            </a:r>
            <a:endParaRPr lang="en-US" sz="1100" dirty="0"/>
          </a:p>
        </p:txBody>
      </p:sp>
      <p:sp>
        <p:nvSpPr>
          <p:cNvPr id="32" name="Shape 29"/>
          <p:cNvSpPr/>
          <p:nvPr/>
        </p:nvSpPr>
        <p:spPr>
          <a:xfrm>
            <a:off x="10858500" y="5853074"/>
            <a:ext cx="6476695" cy="1190549"/>
          </a:xfrm>
          <a:prstGeom prst="roundRect">
            <a:avLst>
              <a:gd name="adj" fmla="val 7988"/>
            </a:avLst>
          </a:prstGeom>
          <a:solidFill>
            <a:srgbClr val="FFFFFF"/>
          </a:solidFill>
          <a:ln/>
        </p:spPr>
        <p:txBody>
          <a:bodyPr/>
          <a:lstStyle/>
          <a:p>
            <a:endParaRPr lang="fr-CI"/>
          </a:p>
        </p:txBody>
      </p:sp>
      <p:sp>
        <p:nvSpPr>
          <p:cNvPr id="33" name="Shape 30"/>
          <p:cNvSpPr/>
          <p:nvPr/>
        </p:nvSpPr>
        <p:spPr>
          <a:xfrm>
            <a:off x="10858500" y="5853074"/>
            <a:ext cx="38405" cy="1190549"/>
          </a:xfrm>
          <a:prstGeom prst="roundRect">
            <a:avLst>
              <a:gd name="adj" fmla="val 247618"/>
            </a:avLst>
          </a:prstGeom>
          <a:solidFill>
            <a:srgbClr val="6D28D9"/>
          </a:solidFill>
          <a:ln w="12700">
            <a:solidFill>
              <a:srgbClr val="6D28D9">
                <a:alpha val="0"/>
              </a:srgbClr>
            </a:solidFill>
            <a:prstDash val="solid"/>
          </a:ln>
        </p:spPr>
        <p:txBody>
          <a:bodyPr/>
          <a:lstStyle/>
          <a:p>
            <a:endParaRPr lang="fr-CI"/>
          </a:p>
        </p:txBody>
      </p:sp>
      <p:sp>
        <p:nvSpPr>
          <p:cNvPr id="34" name="Text 31"/>
          <p:cNvSpPr txBox="1"/>
          <p:nvPr/>
        </p:nvSpPr>
        <p:spPr>
          <a:xfrm>
            <a:off x="11067898" y="6024982"/>
            <a:ext cx="6096305" cy="133502"/>
          </a:xfrm>
          <a:prstGeom prst="rect">
            <a:avLst/>
          </a:prstGeom>
          <a:noFill/>
          <a:ln/>
        </p:spPr>
        <p:txBody>
          <a:bodyPr wrap="none" lIns="0" tIns="0" rIns="0" bIns="0" rtlCol="0" anchor="ctr"/>
          <a:lstStyle/>
          <a:p>
            <a:pPr marL="0" indent="0" algn="l">
              <a:buNone/>
            </a:pPr>
            <a:r>
              <a:rPr lang="en-US" sz="800" b="1" kern="0" spc="99" dirty="0">
                <a:solidFill>
                  <a:srgbClr val="6D28D9"/>
                </a:solidFill>
                <a:latin typeface="JetBrains Mono" pitchFamily="34" charset="0"/>
                <a:ea typeface="JetBrains Mono" pitchFamily="34" charset="-122"/>
                <a:cs typeface="JetBrains Mono" pitchFamily="34" charset="-120"/>
              </a:rPr>
              <a:t>Use cases associés</a:t>
            </a:r>
            <a:endParaRPr lang="en-US" sz="800" dirty="0"/>
          </a:p>
        </p:txBody>
      </p:sp>
      <p:sp>
        <p:nvSpPr>
          <p:cNvPr id="35" name="Shape 32"/>
          <p:cNvSpPr/>
          <p:nvPr/>
        </p:nvSpPr>
        <p:spPr>
          <a:xfrm>
            <a:off x="11067898" y="6253582"/>
            <a:ext cx="676656"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36" name="Text 33"/>
          <p:cNvSpPr/>
          <p:nvPr/>
        </p:nvSpPr>
        <p:spPr>
          <a:xfrm>
            <a:off x="11067898" y="6253582"/>
            <a:ext cx="676656"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UC-L01</a:t>
            </a:r>
            <a:endParaRPr lang="en-US" sz="900" dirty="0"/>
          </a:p>
        </p:txBody>
      </p:sp>
      <p:sp>
        <p:nvSpPr>
          <p:cNvPr id="37" name="Shape 34"/>
          <p:cNvSpPr/>
          <p:nvPr/>
        </p:nvSpPr>
        <p:spPr>
          <a:xfrm>
            <a:off x="11815877" y="6253582"/>
            <a:ext cx="694944"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38" name="Text 35"/>
          <p:cNvSpPr/>
          <p:nvPr/>
        </p:nvSpPr>
        <p:spPr>
          <a:xfrm>
            <a:off x="11815877" y="6253582"/>
            <a:ext cx="695858"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UC-L02</a:t>
            </a:r>
            <a:endParaRPr lang="en-US" sz="900" dirty="0"/>
          </a:p>
        </p:txBody>
      </p:sp>
      <p:sp>
        <p:nvSpPr>
          <p:cNvPr id="39" name="Shape 36"/>
          <p:cNvSpPr/>
          <p:nvPr/>
        </p:nvSpPr>
        <p:spPr>
          <a:xfrm>
            <a:off x="12583058" y="6253582"/>
            <a:ext cx="694944"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40" name="Text 37"/>
          <p:cNvSpPr/>
          <p:nvPr/>
        </p:nvSpPr>
        <p:spPr>
          <a:xfrm>
            <a:off x="12583058" y="6253582"/>
            <a:ext cx="695858"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UC-L03</a:t>
            </a:r>
            <a:endParaRPr lang="en-US" sz="900" dirty="0"/>
          </a:p>
        </p:txBody>
      </p:sp>
      <p:sp>
        <p:nvSpPr>
          <p:cNvPr id="41" name="Shape 38"/>
          <p:cNvSpPr/>
          <p:nvPr/>
        </p:nvSpPr>
        <p:spPr>
          <a:xfrm>
            <a:off x="13349326" y="6253582"/>
            <a:ext cx="694944"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42" name="Text 39"/>
          <p:cNvSpPr/>
          <p:nvPr/>
        </p:nvSpPr>
        <p:spPr>
          <a:xfrm>
            <a:off x="13349326" y="6253582"/>
            <a:ext cx="695858"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UC-L04</a:t>
            </a:r>
            <a:endParaRPr lang="en-US" sz="900" dirty="0"/>
          </a:p>
        </p:txBody>
      </p:sp>
      <p:sp>
        <p:nvSpPr>
          <p:cNvPr id="43" name="Text 40"/>
          <p:cNvSpPr txBox="1"/>
          <p:nvPr/>
        </p:nvSpPr>
        <p:spPr>
          <a:xfrm>
            <a:off x="11067898" y="6653174"/>
            <a:ext cx="6096305" cy="219456"/>
          </a:xfrm>
          <a:prstGeom prst="rect">
            <a:avLst/>
          </a:prstGeom>
          <a:noFill/>
          <a:ln/>
        </p:spPr>
        <p:txBody>
          <a:bodyPr wrap="none" lIns="0" tIns="0" rIns="0" bIns="0" rtlCol="0" anchor="ctr"/>
          <a:lstStyle/>
          <a:p>
            <a:pPr marL="0" indent="0" algn="l">
              <a:buNone/>
            </a:pPr>
            <a:r>
              <a:rPr lang="en-US" sz="1100" dirty="0">
                <a:solidFill>
                  <a:srgbClr val="6B7280"/>
                </a:solidFill>
                <a:latin typeface="Manrope" pitchFamily="34" charset="0"/>
                <a:ea typeface="Manrope" pitchFamily="34" charset="-122"/>
                <a:cs typeface="Manrope" pitchFamily="34" charset="-120"/>
              </a:rPr>
              <a:t>Voir slides 33-34 pour le détail des scénarios.</a:t>
            </a:r>
            <a:endParaRPr lang="en-US" sz="1100" dirty="0"/>
          </a:p>
        </p:txBody>
      </p:sp>
      <p:sp>
        <p:nvSpPr>
          <p:cNvPr id="44" name="Shape 41"/>
          <p:cNvSpPr/>
          <p:nvPr/>
        </p:nvSpPr>
        <p:spPr>
          <a:xfrm>
            <a:off x="10858500" y="7229246"/>
            <a:ext cx="1333195" cy="286207"/>
          </a:xfrm>
          <a:prstGeom prst="roundRect">
            <a:avLst>
              <a:gd name="adj" fmla="val 49840"/>
            </a:avLst>
          </a:prstGeom>
          <a:solidFill>
            <a:srgbClr val="FEF3C7"/>
          </a:solidFill>
          <a:ln w="12700">
            <a:solidFill>
              <a:srgbClr val="FFFFFF">
                <a:alpha val="0"/>
              </a:srgbClr>
            </a:solidFill>
            <a:prstDash val="solid"/>
          </a:ln>
        </p:spPr>
        <p:txBody>
          <a:bodyPr/>
          <a:lstStyle/>
          <a:p>
            <a:endParaRPr lang="fr-CI"/>
          </a:p>
        </p:txBody>
      </p:sp>
      <p:sp>
        <p:nvSpPr>
          <p:cNvPr id="45" name="Text 42"/>
          <p:cNvSpPr/>
          <p:nvPr/>
        </p:nvSpPr>
        <p:spPr>
          <a:xfrm>
            <a:off x="10858500" y="7229246"/>
            <a:ext cx="1334110"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2400E"/>
                </a:solidFill>
                <a:latin typeface="Manrope" pitchFamily="34" charset="0"/>
                <a:ea typeface="Manrope" pitchFamily="34" charset="-122"/>
                <a:cs typeface="Manrope" pitchFamily="34" charset="-120"/>
              </a:rPr>
              <a:t>Criticité : Critique</a:t>
            </a:r>
            <a:endParaRPr lang="en-US" sz="900" dirty="0"/>
          </a:p>
        </p:txBody>
      </p:sp>
      <p:sp>
        <p:nvSpPr>
          <p:cNvPr id="46" name="Shape 43"/>
          <p:cNvSpPr/>
          <p:nvPr/>
        </p:nvSpPr>
        <p:spPr>
          <a:xfrm>
            <a:off x="12287707" y="7229246"/>
            <a:ext cx="2018995"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47" name="Text 44"/>
          <p:cNvSpPr/>
          <p:nvPr/>
        </p:nvSpPr>
        <p:spPr>
          <a:xfrm>
            <a:off x="12287707" y="7229246"/>
            <a:ext cx="2019910"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10 motos/livreurs en test réel</a:t>
            </a:r>
            <a:endParaRPr lang="en-US" sz="900" dirty="0"/>
          </a:p>
        </p:txBody>
      </p:sp>
      <p:sp>
        <p:nvSpPr>
          <p:cNvPr id="48" name="Shape 45"/>
          <p:cNvSpPr/>
          <p:nvPr/>
        </p:nvSpPr>
        <p:spPr>
          <a:xfrm>
            <a:off x="0" y="9791395"/>
            <a:ext cx="18288000" cy="495605"/>
          </a:xfrm>
          <a:prstGeom prst="rect">
            <a:avLst/>
          </a:prstGeom>
          <a:solidFill>
            <a:srgbClr val="FFFFFF"/>
          </a:solidFill>
          <a:ln/>
        </p:spPr>
        <p:txBody>
          <a:bodyPr/>
          <a:lstStyle/>
          <a:p>
            <a:endParaRPr lang="fr-CI"/>
          </a:p>
        </p:txBody>
      </p:sp>
      <p:sp>
        <p:nvSpPr>
          <p:cNvPr id="49" name="Shape 46"/>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50" name="Text 47"/>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51" name="Text 48"/>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10 / 59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5839237" y="256946"/>
            <a:ext cx="2169871"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Service 5.3 — Fret urbain</a:t>
            </a:r>
            <a:endParaRPr lang="en-US" sz="900" dirty="0"/>
          </a:p>
        </p:txBody>
      </p:sp>
      <p:sp>
        <p:nvSpPr>
          <p:cNvPr id="10" name="Text 8"/>
          <p:cNvSpPr txBox="1"/>
          <p:nvPr/>
        </p:nvSpPr>
        <p:spPr>
          <a:xfrm>
            <a:off x="914400" y="1205179"/>
            <a:ext cx="2572207" cy="181051"/>
          </a:xfrm>
          <a:prstGeom prst="rect">
            <a:avLst/>
          </a:prstGeom>
          <a:noFill/>
          <a:ln/>
        </p:spPr>
        <p:txBody>
          <a:bodyPr wrap="none" lIns="0" tIns="0" rIns="0" bIns="0" rtlCol="0" anchor="ctr"/>
          <a:lstStyle/>
          <a:p>
            <a:pPr marL="0" indent="0" algn="l">
              <a:buNone/>
            </a:pPr>
            <a:r>
              <a:rPr lang="en-US" sz="1400" b="1" kern="0" spc="189" dirty="0">
                <a:solidFill>
                  <a:srgbClr val="6D28D9"/>
                </a:solidFill>
                <a:latin typeface="Manrope" pitchFamily="34" charset="0"/>
                <a:ea typeface="Manrope" pitchFamily="34" charset="-122"/>
                <a:cs typeface="Manrope" pitchFamily="34" charset="-120"/>
              </a:rPr>
              <a:t>5.3 · Service à recetter</a:t>
            </a:r>
            <a:endParaRPr lang="en-US" sz="14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6193110" cy="1095451"/>
          </a:xfrm>
          <a:prstGeom prst="rect">
            <a:avLst/>
          </a:prstGeom>
          <a:noFill/>
          <a:ln/>
        </p:spPr>
        <p:txBody>
          <a:bodyPr wrap="squar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Fret urbain — circuit partenaire-centrique avec devis avant affectation.</a:t>
            </a:r>
            <a:endParaRPr lang="en-US" sz="3900" dirty="0"/>
          </a:p>
        </p:txBody>
      </p:sp>
      <p:sp>
        <p:nvSpPr>
          <p:cNvPr id="13" name="Text 11"/>
          <p:cNvSpPr txBox="1"/>
          <p:nvPr/>
        </p:nvSpPr>
        <p:spPr>
          <a:xfrm>
            <a:off x="914400" y="2381554"/>
            <a:ext cx="16204995" cy="718719"/>
          </a:xfrm>
          <a:prstGeom prst="rect">
            <a:avLst/>
          </a:prstGeom>
          <a:noFill/>
          <a:ln/>
        </p:spPr>
        <p:txBody>
          <a:bodyPr wrap="square" lIns="0" tIns="0" rIns="0" bIns="0" rtlCol="0" anchor="ctr"/>
          <a:lstStyle/>
          <a:p>
            <a:pPr marL="0" indent="0" algn="l">
              <a:buNone/>
            </a:pPr>
            <a:r>
              <a:rPr lang="en-US" sz="1300" b="1" dirty="0">
                <a:solidFill>
                  <a:srgbClr val="6D28D9"/>
                </a:solidFill>
                <a:latin typeface="Manrope" pitchFamily="34" charset="0"/>
                <a:ea typeface="Manrope" pitchFamily="34" charset="-122"/>
                <a:cs typeface="Manrope" pitchFamily="34" charset="-120"/>
              </a:rPr>
              <a:t>La demande de fret est reçue et traitée par le partenaire flotte fret</a:t>
            </a:r>
            <a:r>
              <a:rPr lang="en-US" sz="1300" dirty="0">
                <a:solidFill>
                  <a:srgbClr val="4B5563"/>
                </a:solidFill>
                <a:latin typeface="Manrope" pitchFamily="34" charset="0"/>
                <a:ea typeface="Manrope" pitchFamily="34" charset="-122"/>
                <a:cs typeface="Manrope" pitchFamily="34" charset="-120"/>
              </a:rPr>
              <a:t> (et non directement par un chauffeur). Le partenaire analyse la demande, </a:t>
            </a:r>
            <a:r>
              <a:rPr lang="en-US" sz="1300" b="1" dirty="0">
                <a:solidFill>
                  <a:srgbClr val="6D28D9"/>
                </a:solidFill>
                <a:latin typeface="Manrope" pitchFamily="34" charset="0"/>
                <a:ea typeface="Manrope" pitchFamily="34" charset="-122"/>
                <a:cs typeface="Manrope" pitchFamily="34" charset="-120"/>
              </a:rPr>
              <a:t>envoie un devis</a:t>
            </a:r>
            <a:r>
              <a:rPr lang="en-US" sz="1300" dirty="0">
                <a:solidFill>
                  <a:srgbClr val="4B5563"/>
                </a:solidFill>
                <a:latin typeface="Manrope" pitchFamily="34" charset="0"/>
                <a:ea typeface="Manrope" pitchFamily="34" charset="-122"/>
                <a:cs typeface="Manrope" pitchFamily="34" charset="-120"/>
              </a:rPr>
              <a:t> au client, puis affecte un chauffeur de sa propre flotte une fois le devis accepté.</a:t>
            </a:r>
            <a:endParaRPr lang="en-US" sz="1300" dirty="0"/>
          </a:p>
        </p:txBody>
      </p:sp>
      <p:pic>
        <p:nvPicPr>
          <p:cNvPr id="14" name="Image 0" descr="gen-dedup-34b7ecf7abbf143a5e1481fd2c5cce80.jpg"/>
          <p:cNvPicPr>
            <a:picLocks noChangeAspect="1"/>
          </p:cNvPicPr>
          <p:nvPr/>
        </p:nvPicPr>
        <p:blipFill>
          <a:blip r:embed="rId3"/>
          <a:srcRect t="-2612" b="-2612"/>
          <a:stretch/>
        </p:blipFill>
        <p:spPr>
          <a:xfrm>
            <a:off x="914400" y="3047695"/>
            <a:ext cx="9334195" cy="5524805"/>
          </a:xfrm>
          <a:prstGeom prst="rect">
            <a:avLst/>
          </a:prstGeom>
        </p:spPr>
      </p:pic>
      <p:sp>
        <p:nvSpPr>
          <p:cNvPr id="15" name="Text 12"/>
          <p:cNvSpPr txBox="1"/>
          <p:nvPr/>
        </p:nvSpPr>
        <p:spPr>
          <a:xfrm>
            <a:off x="914400" y="8667598"/>
            <a:ext cx="9335110" cy="219456"/>
          </a:xfrm>
          <a:prstGeom prst="rect">
            <a:avLst/>
          </a:prstGeom>
          <a:noFill/>
          <a:ln/>
        </p:spPr>
        <p:txBody>
          <a:bodyPr wrap="none" lIns="0" tIns="0" rIns="0" bIns="0" rtlCol="0" anchor="ctr"/>
          <a:lstStyle/>
          <a:p>
            <a:pPr marL="0" indent="0" algn="ctr">
              <a:buNone/>
            </a:pPr>
            <a:r>
              <a:rPr lang="en-US" sz="1100" i="1" dirty="0">
                <a:solidFill>
                  <a:srgbClr val="6B7280"/>
                </a:solidFill>
                <a:latin typeface="Manrope" pitchFamily="34" charset="0"/>
                <a:ea typeface="Manrope" pitchFamily="34" charset="-122"/>
                <a:cs typeface="Manrope" pitchFamily="34" charset="-120"/>
              </a:rPr>
              <a:t>Fig. 11.1 — Workflow fret : demande client → réception partenaire → devis → affectation chauffeur flotte</a:t>
            </a:r>
            <a:endParaRPr lang="en-US" sz="1100" dirty="0"/>
          </a:p>
        </p:txBody>
      </p:sp>
      <p:sp>
        <p:nvSpPr>
          <p:cNvPr id="16" name="Shape 13"/>
          <p:cNvSpPr/>
          <p:nvPr/>
        </p:nvSpPr>
        <p:spPr>
          <a:xfrm>
            <a:off x="10554005" y="3047695"/>
            <a:ext cx="6858000" cy="5524805"/>
          </a:xfrm>
          <a:prstGeom prst="roundRect">
            <a:avLst>
              <a:gd name="adj" fmla="val 2416"/>
            </a:avLst>
          </a:prstGeom>
          <a:solidFill>
            <a:srgbClr val="FAFAFC"/>
          </a:solidFill>
          <a:ln w="12700">
            <a:solidFill>
              <a:srgbClr val="E5E7EB"/>
            </a:solidFill>
            <a:prstDash val="solid"/>
          </a:ln>
        </p:spPr>
        <p:txBody>
          <a:bodyPr/>
          <a:lstStyle/>
          <a:p>
            <a:endParaRPr lang="fr-CI"/>
          </a:p>
        </p:txBody>
      </p:sp>
      <p:sp>
        <p:nvSpPr>
          <p:cNvPr id="17" name="Text 14"/>
          <p:cNvSpPr txBox="1"/>
          <p:nvPr/>
        </p:nvSpPr>
        <p:spPr>
          <a:xfrm>
            <a:off x="10858500" y="3276295"/>
            <a:ext cx="6477610" cy="267005"/>
          </a:xfrm>
          <a:prstGeom prst="rect">
            <a:avLst/>
          </a:prstGeom>
          <a:noFill/>
          <a:ln/>
        </p:spPr>
        <p:txBody>
          <a:bodyPr wrap="none" lIns="0" tIns="0" rIns="0" bIns="0" rtlCol="0" anchor="ctr"/>
          <a:lstStyle/>
          <a:p>
            <a:pPr marL="0" indent="0" algn="l">
              <a:buNone/>
            </a:pPr>
            <a:r>
              <a:rPr lang="en-US" sz="1600" b="1" dirty="0">
                <a:solidFill>
                  <a:srgbClr val="1F2937"/>
                </a:solidFill>
                <a:latin typeface="Manrope" pitchFamily="34" charset="0"/>
                <a:ea typeface="Manrope" pitchFamily="34" charset="-122"/>
                <a:cs typeface="Manrope" pitchFamily="34" charset="-120"/>
              </a:rPr>
              <a:t>14 fonctionnalités à tester</a:t>
            </a:r>
            <a:endParaRPr lang="en-US" sz="1600" dirty="0"/>
          </a:p>
        </p:txBody>
      </p:sp>
      <p:sp>
        <p:nvSpPr>
          <p:cNvPr id="18" name="Text 15"/>
          <p:cNvSpPr txBox="1"/>
          <p:nvPr/>
        </p:nvSpPr>
        <p:spPr>
          <a:xfrm>
            <a:off x="10858500" y="3709721"/>
            <a:ext cx="3124505"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01</a:t>
            </a:r>
            <a:r>
              <a:rPr lang="en-US" sz="1000" dirty="0">
                <a:solidFill>
                  <a:srgbClr val="1F2937"/>
                </a:solidFill>
                <a:latin typeface="Manrope" pitchFamily="34" charset="0"/>
                <a:ea typeface="Manrope" pitchFamily="34" charset="-122"/>
                <a:cs typeface="Manrope" pitchFamily="34" charset="-120"/>
              </a:rPr>
              <a:t> Création demande fret (client)</a:t>
            </a:r>
            <a:endParaRPr lang="en-US" sz="1000" dirty="0"/>
          </a:p>
        </p:txBody>
      </p:sp>
      <p:sp>
        <p:nvSpPr>
          <p:cNvPr id="19" name="Text 16"/>
          <p:cNvSpPr txBox="1"/>
          <p:nvPr/>
        </p:nvSpPr>
        <p:spPr>
          <a:xfrm>
            <a:off x="14211605" y="3709721"/>
            <a:ext cx="3124505"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02</a:t>
            </a:r>
            <a:r>
              <a:rPr lang="en-US" sz="1000" dirty="0">
                <a:solidFill>
                  <a:srgbClr val="1F2937"/>
                </a:solidFill>
                <a:latin typeface="Manrope" pitchFamily="34" charset="0"/>
                <a:ea typeface="Manrope" pitchFamily="34" charset="-122"/>
                <a:cs typeface="Manrope" pitchFamily="34" charset="-120"/>
              </a:rPr>
              <a:t> Type de marchandise</a:t>
            </a:r>
            <a:endParaRPr lang="en-US" sz="1000" dirty="0"/>
          </a:p>
        </p:txBody>
      </p:sp>
      <p:sp>
        <p:nvSpPr>
          <p:cNvPr id="20" name="Text 17"/>
          <p:cNvSpPr txBox="1"/>
          <p:nvPr/>
        </p:nvSpPr>
        <p:spPr>
          <a:xfrm>
            <a:off x="10858500" y="3967582"/>
            <a:ext cx="3124505"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03</a:t>
            </a:r>
            <a:r>
              <a:rPr lang="en-US" sz="1000" dirty="0">
                <a:solidFill>
                  <a:srgbClr val="1F2937"/>
                </a:solidFill>
                <a:latin typeface="Manrope" pitchFamily="34" charset="0"/>
                <a:ea typeface="Manrope" pitchFamily="34" charset="-122"/>
                <a:cs typeface="Manrope" pitchFamily="34" charset="-120"/>
              </a:rPr>
              <a:t> Volume / poids estimatif</a:t>
            </a:r>
            <a:endParaRPr lang="en-US" sz="1000" dirty="0"/>
          </a:p>
        </p:txBody>
      </p:sp>
      <p:sp>
        <p:nvSpPr>
          <p:cNvPr id="21" name="Text 18"/>
          <p:cNvSpPr txBox="1"/>
          <p:nvPr/>
        </p:nvSpPr>
        <p:spPr>
          <a:xfrm>
            <a:off x="14211605" y="3967582"/>
            <a:ext cx="3124505"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04</a:t>
            </a:r>
            <a:r>
              <a:rPr lang="en-US" sz="1000" dirty="0">
                <a:solidFill>
                  <a:srgbClr val="1F2937"/>
                </a:solidFill>
                <a:latin typeface="Manrope" pitchFamily="34" charset="0"/>
                <a:ea typeface="Manrope" pitchFamily="34" charset="-122"/>
                <a:cs typeface="Manrope" pitchFamily="34" charset="-120"/>
              </a:rPr>
              <a:t> Type véhicule requis</a:t>
            </a:r>
            <a:endParaRPr lang="en-US" sz="1000" dirty="0"/>
          </a:p>
        </p:txBody>
      </p:sp>
      <p:sp>
        <p:nvSpPr>
          <p:cNvPr id="22" name="Text 19"/>
          <p:cNvSpPr txBox="1"/>
          <p:nvPr/>
        </p:nvSpPr>
        <p:spPr>
          <a:xfrm>
            <a:off x="10858500" y="4224528"/>
            <a:ext cx="3124505"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05</a:t>
            </a:r>
            <a:r>
              <a:rPr lang="en-US" sz="1000" dirty="0">
                <a:solidFill>
                  <a:srgbClr val="1F2937"/>
                </a:solidFill>
                <a:latin typeface="Manrope" pitchFamily="34" charset="0"/>
                <a:ea typeface="Manrope" pitchFamily="34" charset="-122"/>
                <a:cs typeface="Manrope" pitchFamily="34" charset="-120"/>
              </a:rPr>
              <a:t> Adresse d'enlèvement</a:t>
            </a:r>
            <a:endParaRPr lang="en-US" sz="1000" dirty="0"/>
          </a:p>
        </p:txBody>
      </p:sp>
      <p:sp>
        <p:nvSpPr>
          <p:cNvPr id="23" name="Text 20"/>
          <p:cNvSpPr txBox="1"/>
          <p:nvPr/>
        </p:nvSpPr>
        <p:spPr>
          <a:xfrm>
            <a:off x="14211605" y="4224528"/>
            <a:ext cx="3124505"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06</a:t>
            </a:r>
            <a:r>
              <a:rPr lang="en-US" sz="1000" dirty="0">
                <a:solidFill>
                  <a:srgbClr val="1F2937"/>
                </a:solidFill>
                <a:latin typeface="Manrope" pitchFamily="34" charset="0"/>
                <a:ea typeface="Manrope" pitchFamily="34" charset="-122"/>
                <a:cs typeface="Manrope" pitchFamily="34" charset="-120"/>
              </a:rPr>
              <a:t> Adresse de livraison</a:t>
            </a:r>
            <a:endParaRPr lang="en-US" sz="1000" dirty="0"/>
          </a:p>
        </p:txBody>
      </p:sp>
      <p:sp>
        <p:nvSpPr>
          <p:cNvPr id="24" name="Shape 21"/>
          <p:cNvSpPr/>
          <p:nvPr/>
        </p:nvSpPr>
        <p:spPr>
          <a:xfrm>
            <a:off x="10858500" y="4481474"/>
            <a:ext cx="3124505" cy="256946"/>
          </a:xfrm>
          <a:prstGeom prst="roundRect">
            <a:avLst>
              <a:gd name="adj" fmla="val 22420"/>
            </a:avLst>
          </a:prstGeom>
          <a:solidFill>
            <a:srgbClr val="F5F3FF"/>
          </a:solidFill>
          <a:ln w="12700">
            <a:solidFill>
              <a:srgbClr val="FFFFFF">
                <a:alpha val="0"/>
              </a:srgbClr>
            </a:solidFill>
            <a:prstDash val="solid"/>
          </a:ln>
        </p:spPr>
        <p:txBody>
          <a:bodyPr/>
          <a:lstStyle/>
          <a:p>
            <a:endParaRPr lang="fr-CI"/>
          </a:p>
        </p:txBody>
      </p:sp>
      <p:sp>
        <p:nvSpPr>
          <p:cNvPr id="25" name="Text 22"/>
          <p:cNvSpPr txBox="1"/>
          <p:nvPr/>
        </p:nvSpPr>
        <p:spPr>
          <a:xfrm>
            <a:off x="10934395" y="4519879"/>
            <a:ext cx="162763"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07</a:t>
            </a:r>
            <a:endParaRPr lang="en-US" sz="1000" dirty="0"/>
          </a:p>
        </p:txBody>
      </p:sp>
      <p:sp>
        <p:nvSpPr>
          <p:cNvPr id="26" name="Text 23"/>
          <p:cNvSpPr txBox="1"/>
          <p:nvPr/>
        </p:nvSpPr>
        <p:spPr>
          <a:xfrm>
            <a:off x="11171225" y="4519879"/>
            <a:ext cx="2018081"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Réception côté partenaire</a:t>
            </a:r>
            <a:endParaRPr lang="en-US" sz="1000" dirty="0"/>
          </a:p>
        </p:txBody>
      </p:sp>
      <p:sp>
        <p:nvSpPr>
          <p:cNvPr id="27" name="Shape 24"/>
          <p:cNvSpPr/>
          <p:nvPr/>
        </p:nvSpPr>
        <p:spPr>
          <a:xfrm>
            <a:off x="14211605" y="4481474"/>
            <a:ext cx="3124505" cy="256946"/>
          </a:xfrm>
          <a:prstGeom prst="roundRect">
            <a:avLst>
              <a:gd name="adj" fmla="val 22420"/>
            </a:avLst>
          </a:prstGeom>
          <a:solidFill>
            <a:srgbClr val="F5F3FF"/>
          </a:solidFill>
          <a:ln w="12700">
            <a:solidFill>
              <a:srgbClr val="FFFFFF">
                <a:alpha val="0"/>
              </a:srgbClr>
            </a:solidFill>
            <a:prstDash val="solid"/>
          </a:ln>
        </p:spPr>
        <p:txBody>
          <a:bodyPr/>
          <a:lstStyle/>
          <a:p>
            <a:endParaRPr lang="fr-CI"/>
          </a:p>
        </p:txBody>
      </p:sp>
      <p:sp>
        <p:nvSpPr>
          <p:cNvPr id="28" name="Text 25"/>
          <p:cNvSpPr txBox="1"/>
          <p:nvPr/>
        </p:nvSpPr>
        <p:spPr>
          <a:xfrm>
            <a:off x="14287500" y="4519879"/>
            <a:ext cx="162763"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08</a:t>
            </a:r>
            <a:endParaRPr lang="en-US" sz="1000" dirty="0"/>
          </a:p>
        </p:txBody>
      </p:sp>
      <p:sp>
        <p:nvSpPr>
          <p:cNvPr id="29" name="Text 26"/>
          <p:cNvSpPr txBox="1"/>
          <p:nvPr/>
        </p:nvSpPr>
        <p:spPr>
          <a:xfrm>
            <a:off x="14523415" y="4519879"/>
            <a:ext cx="2448763"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Analyse &amp; traitement partenaire</a:t>
            </a:r>
            <a:endParaRPr lang="en-US" sz="1000" dirty="0"/>
          </a:p>
        </p:txBody>
      </p:sp>
      <p:sp>
        <p:nvSpPr>
          <p:cNvPr id="30" name="Shape 27"/>
          <p:cNvSpPr/>
          <p:nvPr/>
        </p:nvSpPr>
        <p:spPr>
          <a:xfrm>
            <a:off x="10858500" y="4815230"/>
            <a:ext cx="3124505" cy="256946"/>
          </a:xfrm>
          <a:prstGeom prst="roundRect">
            <a:avLst>
              <a:gd name="adj" fmla="val 22420"/>
            </a:avLst>
          </a:prstGeom>
          <a:solidFill>
            <a:srgbClr val="F5F3FF"/>
          </a:solidFill>
          <a:ln w="12700">
            <a:solidFill>
              <a:srgbClr val="FFFFFF">
                <a:alpha val="0"/>
              </a:srgbClr>
            </a:solidFill>
            <a:prstDash val="solid"/>
          </a:ln>
        </p:spPr>
        <p:txBody>
          <a:bodyPr/>
          <a:lstStyle/>
          <a:p>
            <a:endParaRPr lang="fr-CI"/>
          </a:p>
        </p:txBody>
      </p:sp>
      <p:sp>
        <p:nvSpPr>
          <p:cNvPr id="31" name="Text 28"/>
          <p:cNvSpPr txBox="1"/>
          <p:nvPr/>
        </p:nvSpPr>
        <p:spPr>
          <a:xfrm>
            <a:off x="10934395" y="4852721"/>
            <a:ext cx="162763"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09</a:t>
            </a:r>
            <a:endParaRPr lang="en-US" sz="1000" dirty="0"/>
          </a:p>
        </p:txBody>
      </p:sp>
      <p:sp>
        <p:nvSpPr>
          <p:cNvPr id="32" name="Text 29"/>
          <p:cNvSpPr txBox="1"/>
          <p:nvPr/>
        </p:nvSpPr>
        <p:spPr>
          <a:xfrm>
            <a:off x="11171225" y="4852721"/>
            <a:ext cx="1791310"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Envoi du devis au client</a:t>
            </a:r>
            <a:endParaRPr lang="en-US" sz="1000" dirty="0"/>
          </a:p>
        </p:txBody>
      </p:sp>
      <p:sp>
        <p:nvSpPr>
          <p:cNvPr id="33" name="Shape 30"/>
          <p:cNvSpPr/>
          <p:nvPr/>
        </p:nvSpPr>
        <p:spPr>
          <a:xfrm>
            <a:off x="14211605" y="4815230"/>
            <a:ext cx="3124505" cy="256946"/>
          </a:xfrm>
          <a:prstGeom prst="roundRect">
            <a:avLst>
              <a:gd name="adj" fmla="val 22420"/>
            </a:avLst>
          </a:prstGeom>
          <a:solidFill>
            <a:srgbClr val="F5F3FF"/>
          </a:solidFill>
          <a:ln w="12700">
            <a:solidFill>
              <a:srgbClr val="FFFFFF">
                <a:alpha val="0"/>
              </a:srgbClr>
            </a:solidFill>
            <a:prstDash val="solid"/>
          </a:ln>
        </p:spPr>
        <p:txBody>
          <a:bodyPr/>
          <a:lstStyle/>
          <a:p>
            <a:endParaRPr lang="fr-CI"/>
          </a:p>
        </p:txBody>
      </p:sp>
      <p:sp>
        <p:nvSpPr>
          <p:cNvPr id="34" name="Text 31"/>
          <p:cNvSpPr txBox="1"/>
          <p:nvPr/>
        </p:nvSpPr>
        <p:spPr>
          <a:xfrm>
            <a:off x="14287500" y="4852721"/>
            <a:ext cx="162763"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10</a:t>
            </a:r>
            <a:endParaRPr lang="en-US" sz="1000" dirty="0"/>
          </a:p>
        </p:txBody>
      </p:sp>
      <p:sp>
        <p:nvSpPr>
          <p:cNvPr id="35" name="Text 32"/>
          <p:cNvSpPr txBox="1"/>
          <p:nvPr/>
        </p:nvSpPr>
        <p:spPr>
          <a:xfrm>
            <a:off x="14523415" y="4852721"/>
            <a:ext cx="1995221"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Acceptation devis (client)</a:t>
            </a:r>
            <a:endParaRPr lang="en-US" sz="1000" dirty="0"/>
          </a:p>
        </p:txBody>
      </p:sp>
      <p:sp>
        <p:nvSpPr>
          <p:cNvPr id="36" name="Text 33"/>
          <p:cNvSpPr txBox="1"/>
          <p:nvPr/>
        </p:nvSpPr>
        <p:spPr>
          <a:xfrm>
            <a:off x="10858500" y="5148072"/>
            <a:ext cx="3124505"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11</a:t>
            </a:r>
            <a:r>
              <a:rPr lang="en-US" sz="1000" dirty="0">
                <a:solidFill>
                  <a:srgbClr val="1F2937"/>
                </a:solidFill>
                <a:latin typeface="Manrope" pitchFamily="34" charset="0"/>
                <a:ea typeface="Manrope" pitchFamily="34" charset="-122"/>
                <a:cs typeface="Manrope" pitchFamily="34" charset="-120"/>
              </a:rPr>
              <a:t> Affectation chauffeur flotte</a:t>
            </a:r>
            <a:endParaRPr lang="en-US" sz="1000" dirty="0"/>
          </a:p>
        </p:txBody>
      </p:sp>
      <p:sp>
        <p:nvSpPr>
          <p:cNvPr id="37" name="Text 34"/>
          <p:cNvSpPr txBox="1"/>
          <p:nvPr/>
        </p:nvSpPr>
        <p:spPr>
          <a:xfrm>
            <a:off x="14211605" y="5148072"/>
            <a:ext cx="3124505"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12</a:t>
            </a:r>
            <a:r>
              <a:rPr lang="en-US" sz="1000" dirty="0">
                <a:solidFill>
                  <a:srgbClr val="1F2937"/>
                </a:solidFill>
                <a:latin typeface="Manrope" pitchFamily="34" charset="0"/>
                <a:ea typeface="Manrope" pitchFamily="34" charset="-122"/>
                <a:cs typeface="Manrope" pitchFamily="34" charset="-120"/>
              </a:rPr>
              <a:t> Suivi transport</a:t>
            </a:r>
            <a:endParaRPr lang="en-US" sz="1000" dirty="0"/>
          </a:p>
        </p:txBody>
      </p:sp>
      <p:sp>
        <p:nvSpPr>
          <p:cNvPr id="38" name="Text 35"/>
          <p:cNvSpPr txBox="1"/>
          <p:nvPr/>
        </p:nvSpPr>
        <p:spPr>
          <a:xfrm>
            <a:off x="10858500" y="5405018"/>
            <a:ext cx="3124505"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13</a:t>
            </a:r>
            <a:r>
              <a:rPr lang="en-US" sz="1000" dirty="0">
                <a:solidFill>
                  <a:srgbClr val="1F2937"/>
                </a:solidFill>
                <a:latin typeface="Manrope" pitchFamily="34" charset="0"/>
                <a:ea typeface="Manrope" pitchFamily="34" charset="-122"/>
                <a:cs typeface="Manrope" pitchFamily="34" charset="-120"/>
              </a:rPr>
              <a:t> Clôture mission</a:t>
            </a:r>
            <a:endParaRPr lang="en-US" sz="1000" dirty="0"/>
          </a:p>
        </p:txBody>
      </p:sp>
      <p:sp>
        <p:nvSpPr>
          <p:cNvPr id="39" name="Text 36"/>
          <p:cNvSpPr txBox="1"/>
          <p:nvPr/>
        </p:nvSpPr>
        <p:spPr>
          <a:xfrm>
            <a:off x="14211605" y="5405018"/>
            <a:ext cx="3124505"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14</a:t>
            </a:r>
            <a:r>
              <a:rPr lang="en-US" sz="1000" dirty="0">
                <a:solidFill>
                  <a:srgbClr val="1F2937"/>
                </a:solidFill>
                <a:latin typeface="Manrope" pitchFamily="34" charset="0"/>
                <a:ea typeface="Manrope" pitchFamily="34" charset="-122"/>
                <a:cs typeface="Manrope" pitchFamily="34" charset="-120"/>
              </a:rPr>
              <a:t> Reporting &amp; commission</a:t>
            </a:r>
            <a:endParaRPr lang="en-US" sz="1000" dirty="0"/>
          </a:p>
        </p:txBody>
      </p:sp>
      <p:sp>
        <p:nvSpPr>
          <p:cNvPr id="40" name="Shape 37"/>
          <p:cNvSpPr/>
          <p:nvPr/>
        </p:nvSpPr>
        <p:spPr>
          <a:xfrm>
            <a:off x="10858500" y="5814670"/>
            <a:ext cx="6476695" cy="1037844"/>
          </a:xfrm>
          <a:prstGeom prst="roundRect">
            <a:avLst>
              <a:gd name="adj" fmla="val 9163"/>
            </a:avLst>
          </a:prstGeom>
          <a:solidFill>
            <a:srgbClr val="1F2937"/>
          </a:solidFill>
          <a:ln w="12700">
            <a:solidFill>
              <a:srgbClr val="FFFFFF">
                <a:alpha val="0"/>
              </a:srgbClr>
            </a:solidFill>
            <a:prstDash val="solid"/>
          </a:ln>
        </p:spPr>
        <p:txBody>
          <a:bodyPr/>
          <a:lstStyle/>
          <a:p>
            <a:endParaRPr lang="fr-CI"/>
          </a:p>
        </p:txBody>
      </p:sp>
      <p:sp>
        <p:nvSpPr>
          <p:cNvPr id="41" name="Text 38"/>
          <p:cNvSpPr txBox="1"/>
          <p:nvPr/>
        </p:nvSpPr>
        <p:spPr>
          <a:xfrm>
            <a:off x="11011205" y="5948172"/>
            <a:ext cx="6172200" cy="133502"/>
          </a:xfrm>
          <a:prstGeom prst="rect">
            <a:avLst/>
          </a:prstGeom>
          <a:noFill/>
          <a:ln/>
        </p:spPr>
        <p:txBody>
          <a:bodyPr wrap="none" lIns="0" tIns="0" rIns="0" bIns="0" rtlCol="0" anchor="ctr"/>
          <a:lstStyle/>
          <a:p>
            <a:pPr marL="0" indent="0" algn="l">
              <a:buNone/>
            </a:pPr>
            <a:r>
              <a:rPr lang="en-US" sz="800" b="1" kern="0" spc="99" dirty="0">
                <a:solidFill>
                  <a:srgbClr val="A78BFA"/>
                </a:solidFill>
                <a:latin typeface="JetBrains Mono" pitchFamily="34" charset="0"/>
                <a:ea typeface="JetBrains Mono" pitchFamily="34" charset="-122"/>
                <a:cs typeface="JetBrains Mono" pitchFamily="34" charset="-120"/>
              </a:rPr>
              <a:t>Spécificité du circuit fret</a:t>
            </a:r>
            <a:endParaRPr lang="en-US" sz="800" dirty="0"/>
          </a:p>
        </p:txBody>
      </p:sp>
      <p:sp>
        <p:nvSpPr>
          <p:cNvPr id="42" name="Text 39"/>
          <p:cNvSpPr txBox="1"/>
          <p:nvPr/>
        </p:nvSpPr>
        <p:spPr>
          <a:xfrm>
            <a:off x="11011205" y="6157570"/>
            <a:ext cx="6172200" cy="562356"/>
          </a:xfrm>
          <a:prstGeom prst="rect">
            <a:avLst/>
          </a:prstGeom>
          <a:noFill/>
          <a:ln/>
        </p:spPr>
        <p:txBody>
          <a:bodyPr wrap="squar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Contrairement au transport VTC où la demande est diffusée directement aux chauffeurs, le fret </a:t>
            </a:r>
            <a:r>
              <a:rPr lang="en-US" sz="900" b="1" dirty="0">
                <a:solidFill>
                  <a:srgbClr val="A78BFA"/>
                </a:solidFill>
                <a:latin typeface="Manrope" pitchFamily="34" charset="0"/>
                <a:ea typeface="Manrope" pitchFamily="34" charset="-122"/>
                <a:cs typeface="Manrope" pitchFamily="34" charset="-120"/>
              </a:rPr>
              <a:t>passe d'abord par le partenaire</a:t>
            </a:r>
            <a:r>
              <a:rPr lang="en-US" sz="900" dirty="0">
                <a:solidFill>
                  <a:srgbClr val="FFFFFF"/>
                </a:solidFill>
                <a:latin typeface="Manrope" pitchFamily="34" charset="0"/>
                <a:ea typeface="Manrope" pitchFamily="34" charset="-122"/>
                <a:cs typeface="Manrope" pitchFamily="34" charset="-120"/>
              </a:rPr>
              <a:t> qui maîtrise sa flotte, ses capacités véhicule et sa tarification. Le devis est une étape obligatoire.</a:t>
            </a:r>
            <a:endParaRPr lang="en-US" sz="900" dirty="0"/>
          </a:p>
        </p:txBody>
      </p:sp>
      <p:sp>
        <p:nvSpPr>
          <p:cNvPr id="43" name="Shape 40"/>
          <p:cNvSpPr/>
          <p:nvPr/>
        </p:nvSpPr>
        <p:spPr>
          <a:xfrm>
            <a:off x="10858500" y="7019849"/>
            <a:ext cx="6476695" cy="761695"/>
          </a:xfrm>
          <a:prstGeom prst="roundRect">
            <a:avLst>
              <a:gd name="adj" fmla="val 12485"/>
            </a:avLst>
          </a:prstGeom>
          <a:solidFill>
            <a:srgbClr val="FFFFFF"/>
          </a:solidFill>
          <a:ln/>
        </p:spPr>
        <p:txBody>
          <a:bodyPr/>
          <a:lstStyle/>
          <a:p>
            <a:endParaRPr lang="fr-CI"/>
          </a:p>
        </p:txBody>
      </p:sp>
      <p:sp>
        <p:nvSpPr>
          <p:cNvPr id="44" name="Shape 41"/>
          <p:cNvSpPr/>
          <p:nvPr/>
        </p:nvSpPr>
        <p:spPr>
          <a:xfrm>
            <a:off x="10858500" y="7019849"/>
            <a:ext cx="38405" cy="761695"/>
          </a:xfrm>
          <a:prstGeom prst="roundRect">
            <a:avLst>
              <a:gd name="adj" fmla="val 247618"/>
            </a:avLst>
          </a:prstGeom>
          <a:solidFill>
            <a:srgbClr val="6D28D9"/>
          </a:solidFill>
          <a:ln w="12700">
            <a:solidFill>
              <a:srgbClr val="6D28D9">
                <a:alpha val="0"/>
              </a:srgbClr>
            </a:solidFill>
            <a:prstDash val="solid"/>
          </a:ln>
        </p:spPr>
        <p:txBody>
          <a:bodyPr/>
          <a:lstStyle/>
          <a:p>
            <a:endParaRPr lang="fr-CI"/>
          </a:p>
        </p:txBody>
      </p:sp>
      <p:sp>
        <p:nvSpPr>
          <p:cNvPr id="45" name="Text 42"/>
          <p:cNvSpPr txBox="1"/>
          <p:nvPr/>
        </p:nvSpPr>
        <p:spPr>
          <a:xfrm>
            <a:off x="11048695" y="7153351"/>
            <a:ext cx="6134710" cy="133502"/>
          </a:xfrm>
          <a:prstGeom prst="rect">
            <a:avLst/>
          </a:prstGeom>
          <a:noFill/>
          <a:ln/>
        </p:spPr>
        <p:txBody>
          <a:bodyPr wrap="none" lIns="0" tIns="0" rIns="0" bIns="0" rtlCol="0" anchor="ctr"/>
          <a:lstStyle/>
          <a:p>
            <a:pPr marL="0" indent="0" algn="l">
              <a:buNone/>
            </a:pPr>
            <a:r>
              <a:rPr lang="en-US" sz="800" b="1" kern="0" spc="99" dirty="0">
                <a:solidFill>
                  <a:srgbClr val="6D28D9"/>
                </a:solidFill>
                <a:latin typeface="JetBrains Mono" pitchFamily="34" charset="0"/>
                <a:ea typeface="JetBrains Mono" pitchFamily="34" charset="-122"/>
                <a:cs typeface="JetBrains Mono" pitchFamily="34" charset="-120"/>
              </a:rPr>
              <a:t>Use cases associés</a:t>
            </a:r>
            <a:endParaRPr lang="en-US" sz="800" dirty="0"/>
          </a:p>
        </p:txBody>
      </p:sp>
      <p:sp>
        <p:nvSpPr>
          <p:cNvPr id="46" name="Shape 43"/>
          <p:cNvSpPr/>
          <p:nvPr/>
        </p:nvSpPr>
        <p:spPr>
          <a:xfrm>
            <a:off x="11048695" y="7362749"/>
            <a:ext cx="676656"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47" name="Text 44"/>
          <p:cNvSpPr/>
          <p:nvPr/>
        </p:nvSpPr>
        <p:spPr>
          <a:xfrm>
            <a:off x="11048695" y="7362749"/>
            <a:ext cx="676656"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UC-F01</a:t>
            </a:r>
            <a:endParaRPr lang="en-US" sz="900" dirty="0"/>
          </a:p>
        </p:txBody>
      </p:sp>
      <p:sp>
        <p:nvSpPr>
          <p:cNvPr id="48" name="Shape 45"/>
          <p:cNvSpPr/>
          <p:nvPr/>
        </p:nvSpPr>
        <p:spPr>
          <a:xfrm>
            <a:off x="11795760" y="7362749"/>
            <a:ext cx="694944"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49" name="Text 46"/>
          <p:cNvSpPr/>
          <p:nvPr/>
        </p:nvSpPr>
        <p:spPr>
          <a:xfrm>
            <a:off x="11795760" y="7362749"/>
            <a:ext cx="695858"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UC-F02</a:t>
            </a:r>
            <a:endParaRPr lang="en-US" sz="900" dirty="0"/>
          </a:p>
        </p:txBody>
      </p:sp>
      <p:sp>
        <p:nvSpPr>
          <p:cNvPr id="50" name="Shape 47"/>
          <p:cNvSpPr/>
          <p:nvPr/>
        </p:nvSpPr>
        <p:spPr>
          <a:xfrm>
            <a:off x="10858500" y="7915046"/>
            <a:ext cx="1333195" cy="286207"/>
          </a:xfrm>
          <a:prstGeom prst="roundRect">
            <a:avLst>
              <a:gd name="adj" fmla="val 49840"/>
            </a:avLst>
          </a:prstGeom>
          <a:solidFill>
            <a:srgbClr val="FEF3C7"/>
          </a:solidFill>
          <a:ln w="12700">
            <a:solidFill>
              <a:srgbClr val="FFFFFF">
                <a:alpha val="0"/>
              </a:srgbClr>
            </a:solidFill>
            <a:prstDash val="solid"/>
          </a:ln>
        </p:spPr>
        <p:txBody>
          <a:bodyPr/>
          <a:lstStyle/>
          <a:p>
            <a:endParaRPr lang="fr-CI"/>
          </a:p>
        </p:txBody>
      </p:sp>
      <p:sp>
        <p:nvSpPr>
          <p:cNvPr id="51" name="Text 48"/>
          <p:cNvSpPr/>
          <p:nvPr/>
        </p:nvSpPr>
        <p:spPr>
          <a:xfrm>
            <a:off x="10858500" y="7915046"/>
            <a:ext cx="1334110"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2400E"/>
                </a:solidFill>
                <a:latin typeface="Manrope" pitchFamily="34" charset="0"/>
                <a:ea typeface="Manrope" pitchFamily="34" charset="-122"/>
                <a:cs typeface="Manrope" pitchFamily="34" charset="-120"/>
              </a:rPr>
              <a:t>Criticité : Majeure</a:t>
            </a:r>
            <a:endParaRPr lang="en-US" sz="900" dirty="0"/>
          </a:p>
        </p:txBody>
      </p:sp>
      <p:sp>
        <p:nvSpPr>
          <p:cNvPr id="52" name="Shape 49"/>
          <p:cNvSpPr/>
          <p:nvPr/>
        </p:nvSpPr>
        <p:spPr>
          <a:xfrm>
            <a:off x="12284050" y="7915046"/>
            <a:ext cx="1638605"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53" name="Text 50"/>
          <p:cNvSpPr/>
          <p:nvPr/>
        </p:nvSpPr>
        <p:spPr>
          <a:xfrm>
            <a:off x="12284050" y="7915046"/>
            <a:ext cx="1638605"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5 véhicules fret en test</a:t>
            </a:r>
            <a:endParaRPr lang="en-US" sz="900" dirty="0"/>
          </a:p>
        </p:txBody>
      </p:sp>
      <p:sp>
        <p:nvSpPr>
          <p:cNvPr id="54" name="Shape 51"/>
          <p:cNvSpPr/>
          <p:nvPr/>
        </p:nvSpPr>
        <p:spPr>
          <a:xfrm>
            <a:off x="0" y="9791395"/>
            <a:ext cx="18288000" cy="495605"/>
          </a:xfrm>
          <a:prstGeom prst="rect">
            <a:avLst/>
          </a:prstGeom>
          <a:solidFill>
            <a:srgbClr val="FFFFFF"/>
          </a:solidFill>
          <a:ln/>
        </p:spPr>
        <p:txBody>
          <a:bodyPr/>
          <a:lstStyle/>
          <a:p>
            <a:endParaRPr lang="fr-CI"/>
          </a:p>
        </p:txBody>
      </p:sp>
      <p:sp>
        <p:nvSpPr>
          <p:cNvPr id="55" name="Shape 52"/>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56" name="Text 53"/>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57" name="Text 54"/>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11 / 59</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6020288" y="256946"/>
            <a:ext cx="1909267"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Service 5.4 — Location</a:t>
            </a:r>
            <a:endParaRPr lang="en-US" sz="900" dirty="0"/>
          </a:p>
        </p:txBody>
      </p:sp>
      <p:sp>
        <p:nvSpPr>
          <p:cNvPr id="10" name="Text 8"/>
          <p:cNvSpPr txBox="1"/>
          <p:nvPr/>
        </p:nvSpPr>
        <p:spPr>
          <a:xfrm>
            <a:off x="914400" y="1205179"/>
            <a:ext cx="2581351" cy="181051"/>
          </a:xfrm>
          <a:prstGeom prst="rect">
            <a:avLst/>
          </a:prstGeom>
          <a:noFill/>
          <a:ln/>
        </p:spPr>
        <p:txBody>
          <a:bodyPr wrap="none" lIns="0" tIns="0" rIns="0" bIns="0" rtlCol="0" anchor="ctr"/>
          <a:lstStyle/>
          <a:p>
            <a:pPr marL="0" indent="0" algn="l">
              <a:buNone/>
            </a:pPr>
            <a:r>
              <a:rPr lang="en-US" sz="1400" b="1" kern="0" spc="189" dirty="0">
                <a:solidFill>
                  <a:srgbClr val="6D28D9"/>
                </a:solidFill>
                <a:latin typeface="Manrope" pitchFamily="34" charset="0"/>
                <a:ea typeface="Manrope" pitchFamily="34" charset="-122"/>
                <a:cs typeface="Manrope" pitchFamily="34" charset="-120"/>
              </a:rPr>
              <a:t>5.4 · Service à recetter</a:t>
            </a:r>
            <a:endParaRPr lang="en-US" sz="14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8479110"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Location de véhicules — 10 fonctionnalités, avec ou sans chauffeur.</a:t>
            </a:r>
            <a:endParaRPr lang="en-US" sz="3900" dirty="0"/>
          </a:p>
        </p:txBody>
      </p:sp>
      <p:sp>
        <p:nvSpPr>
          <p:cNvPr id="13" name="Text 11"/>
          <p:cNvSpPr txBox="1"/>
          <p:nvPr/>
        </p:nvSpPr>
        <p:spPr>
          <a:xfrm>
            <a:off x="914400" y="2457907"/>
            <a:ext cx="16676827" cy="257861"/>
          </a:xfrm>
          <a:prstGeom prst="rect">
            <a:avLst/>
          </a:prstGeom>
          <a:noFill/>
          <a:ln/>
        </p:spPr>
        <p:txBody>
          <a:bodyPr wrap="none" lIns="0" tIns="0" rIns="0" bIns="0" rtlCol="0" anchor="ctr"/>
          <a:lstStyle/>
          <a:p>
            <a:pPr marL="0" indent="0" algn="l">
              <a:buNone/>
            </a:pPr>
            <a:r>
              <a:rPr lang="en-US" sz="1300" dirty="0">
                <a:solidFill>
                  <a:srgbClr val="4B5563"/>
                </a:solidFill>
                <a:latin typeface="Manrope" pitchFamily="34" charset="0"/>
                <a:ea typeface="Manrope" pitchFamily="34" charset="-122"/>
                <a:cs typeface="Manrope" pitchFamily="34" charset="-120"/>
              </a:rPr>
              <a:t>Mise à disposition de véhicules selon le modèle opérationnel retenu — réservation simple ou avec chauffeur, validée par le partenaire flotte ou l'administrateur.</a:t>
            </a:r>
            <a:endParaRPr lang="en-US" sz="1300" dirty="0"/>
          </a:p>
        </p:txBody>
      </p:sp>
      <p:pic>
        <p:nvPicPr>
          <p:cNvPr id="14" name="Image 0" descr="gen-dedup-43affb4bfdb10af385eb7a52248e6ba5.jpg"/>
          <p:cNvPicPr>
            <a:picLocks noChangeAspect="1"/>
          </p:cNvPicPr>
          <p:nvPr/>
        </p:nvPicPr>
        <p:blipFill>
          <a:blip r:embed="rId3"/>
          <a:srcRect t="-2612" b="-2612"/>
          <a:stretch/>
        </p:blipFill>
        <p:spPr>
          <a:xfrm>
            <a:off x="914400" y="3047695"/>
            <a:ext cx="9334195" cy="5524805"/>
          </a:xfrm>
          <a:prstGeom prst="rect">
            <a:avLst/>
          </a:prstGeom>
        </p:spPr>
      </p:pic>
      <p:sp>
        <p:nvSpPr>
          <p:cNvPr id="15" name="Text 12"/>
          <p:cNvSpPr txBox="1"/>
          <p:nvPr/>
        </p:nvSpPr>
        <p:spPr>
          <a:xfrm>
            <a:off x="914400" y="8667598"/>
            <a:ext cx="9335110" cy="219456"/>
          </a:xfrm>
          <a:prstGeom prst="rect">
            <a:avLst/>
          </a:prstGeom>
          <a:noFill/>
          <a:ln/>
        </p:spPr>
        <p:txBody>
          <a:bodyPr wrap="none" lIns="0" tIns="0" rIns="0" bIns="0" rtlCol="0" anchor="ctr"/>
          <a:lstStyle/>
          <a:p>
            <a:pPr marL="0" indent="0" algn="ctr">
              <a:buNone/>
            </a:pPr>
            <a:r>
              <a:rPr lang="en-US" sz="1100" i="1" dirty="0">
                <a:solidFill>
                  <a:srgbClr val="6B7280"/>
                </a:solidFill>
                <a:latin typeface="Manrope" pitchFamily="34" charset="0"/>
                <a:ea typeface="Manrope" pitchFamily="34" charset="-122"/>
                <a:cs typeface="Manrope" pitchFamily="34" charset="-120"/>
              </a:rPr>
              <a:t>Fig. 12.1 — Cycle de réservation et validation d'une location de véhicule</a:t>
            </a:r>
            <a:endParaRPr lang="en-US" sz="1100" dirty="0"/>
          </a:p>
        </p:txBody>
      </p:sp>
      <p:sp>
        <p:nvSpPr>
          <p:cNvPr id="16" name="Shape 13"/>
          <p:cNvSpPr/>
          <p:nvPr/>
        </p:nvSpPr>
        <p:spPr>
          <a:xfrm>
            <a:off x="10554005" y="3047695"/>
            <a:ext cx="6858000" cy="5524805"/>
          </a:xfrm>
          <a:prstGeom prst="roundRect">
            <a:avLst>
              <a:gd name="adj" fmla="val 2416"/>
            </a:avLst>
          </a:prstGeom>
          <a:solidFill>
            <a:srgbClr val="FAFAFC"/>
          </a:solidFill>
          <a:ln w="12700">
            <a:solidFill>
              <a:srgbClr val="E5E7EB"/>
            </a:solidFill>
            <a:prstDash val="solid"/>
          </a:ln>
        </p:spPr>
        <p:txBody>
          <a:bodyPr/>
          <a:lstStyle/>
          <a:p>
            <a:endParaRPr lang="fr-CI"/>
          </a:p>
        </p:txBody>
      </p:sp>
      <p:sp>
        <p:nvSpPr>
          <p:cNvPr id="17" name="Text 14"/>
          <p:cNvSpPr txBox="1"/>
          <p:nvPr/>
        </p:nvSpPr>
        <p:spPr>
          <a:xfrm>
            <a:off x="10858500" y="3276295"/>
            <a:ext cx="6477610" cy="267005"/>
          </a:xfrm>
          <a:prstGeom prst="rect">
            <a:avLst/>
          </a:prstGeom>
          <a:noFill/>
          <a:ln/>
        </p:spPr>
        <p:txBody>
          <a:bodyPr wrap="none" lIns="0" tIns="0" rIns="0" bIns="0" rtlCol="0" anchor="ctr"/>
          <a:lstStyle/>
          <a:p>
            <a:pPr marL="0" indent="0" algn="l">
              <a:buNone/>
            </a:pPr>
            <a:r>
              <a:rPr lang="en-US" sz="1600" b="1" dirty="0">
                <a:solidFill>
                  <a:srgbClr val="1F2937"/>
                </a:solidFill>
                <a:latin typeface="Manrope" pitchFamily="34" charset="0"/>
                <a:ea typeface="Manrope" pitchFamily="34" charset="-122"/>
                <a:cs typeface="Manrope" pitchFamily="34" charset="-120"/>
              </a:rPr>
              <a:t>10 fonctionnalités principales à tester</a:t>
            </a:r>
            <a:endParaRPr lang="en-US" sz="1600" dirty="0"/>
          </a:p>
        </p:txBody>
      </p:sp>
      <p:sp>
        <p:nvSpPr>
          <p:cNvPr id="18" name="Text 15"/>
          <p:cNvSpPr txBox="1"/>
          <p:nvPr/>
        </p:nvSpPr>
        <p:spPr>
          <a:xfrm>
            <a:off x="10858500" y="3709721"/>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01</a:t>
            </a:r>
            <a:r>
              <a:rPr lang="en-US" sz="1100" dirty="0">
                <a:solidFill>
                  <a:srgbClr val="1F2937"/>
                </a:solidFill>
                <a:latin typeface="Manrope" pitchFamily="34" charset="0"/>
                <a:ea typeface="Manrope" pitchFamily="34" charset="-122"/>
                <a:cs typeface="Manrope" pitchFamily="34" charset="-120"/>
              </a:rPr>
              <a:t> Consultation véhicules</a:t>
            </a:r>
            <a:endParaRPr lang="en-US" sz="1100" dirty="0"/>
          </a:p>
        </p:txBody>
      </p:sp>
      <p:sp>
        <p:nvSpPr>
          <p:cNvPr id="19" name="Text 16"/>
          <p:cNvSpPr txBox="1"/>
          <p:nvPr/>
        </p:nvSpPr>
        <p:spPr>
          <a:xfrm>
            <a:off x="14211605" y="3709721"/>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02</a:t>
            </a:r>
            <a:r>
              <a:rPr lang="en-US" sz="1100" dirty="0">
                <a:solidFill>
                  <a:srgbClr val="1F2937"/>
                </a:solidFill>
                <a:latin typeface="Manrope" pitchFamily="34" charset="0"/>
                <a:ea typeface="Manrope" pitchFamily="34" charset="-122"/>
                <a:cs typeface="Manrope" pitchFamily="34" charset="-120"/>
              </a:rPr>
              <a:t> Demande de location</a:t>
            </a:r>
            <a:endParaRPr lang="en-US" sz="1100" dirty="0"/>
          </a:p>
        </p:txBody>
      </p:sp>
      <p:sp>
        <p:nvSpPr>
          <p:cNvPr id="20" name="Text 17"/>
          <p:cNvSpPr txBox="1"/>
          <p:nvPr/>
        </p:nvSpPr>
        <p:spPr>
          <a:xfrm>
            <a:off x="10858500" y="3985870"/>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03</a:t>
            </a:r>
            <a:r>
              <a:rPr lang="en-US" sz="1100" dirty="0">
                <a:solidFill>
                  <a:srgbClr val="1F2937"/>
                </a:solidFill>
                <a:latin typeface="Manrope" pitchFamily="34" charset="0"/>
                <a:ea typeface="Manrope" pitchFamily="34" charset="-122"/>
                <a:cs typeface="Manrope" pitchFamily="34" charset="-120"/>
              </a:rPr>
              <a:t> Choix de durée</a:t>
            </a:r>
            <a:endParaRPr lang="en-US" sz="1100" dirty="0"/>
          </a:p>
        </p:txBody>
      </p:sp>
      <p:sp>
        <p:nvSpPr>
          <p:cNvPr id="21" name="Text 18"/>
          <p:cNvSpPr txBox="1"/>
          <p:nvPr/>
        </p:nvSpPr>
        <p:spPr>
          <a:xfrm>
            <a:off x="14211605" y="3985870"/>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04</a:t>
            </a:r>
            <a:r>
              <a:rPr lang="en-US" sz="1100" dirty="0">
                <a:solidFill>
                  <a:srgbClr val="1F2937"/>
                </a:solidFill>
                <a:latin typeface="Manrope" pitchFamily="34" charset="0"/>
                <a:ea typeface="Manrope" pitchFamily="34" charset="-122"/>
                <a:cs typeface="Manrope" pitchFamily="34" charset="-120"/>
              </a:rPr>
              <a:t> Choix de catégorie</a:t>
            </a:r>
            <a:endParaRPr lang="en-US" sz="1100" dirty="0"/>
          </a:p>
        </p:txBody>
      </p:sp>
      <p:sp>
        <p:nvSpPr>
          <p:cNvPr id="22" name="Text 19"/>
          <p:cNvSpPr txBox="1"/>
          <p:nvPr/>
        </p:nvSpPr>
        <p:spPr>
          <a:xfrm>
            <a:off x="10858500" y="4262018"/>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05</a:t>
            </a:r>
            <a:r>
              <a:rPr lang="en-US" sz="1100" dirty="0">
                <a:solidFill>
                  <a:srgbClr val="1F2937"/>
                </a:solidFill>
                <a:latin typeface="Manrope" pitchFamily="34" charset="0"/>
                <a:ea typeface="Manrope" pitchFamily="34" charset="-122"/>
                <a:cs typeface="Manrope" pitchFamily="34" charset="-120"/>
              </a:rPr>
              <a:t> Avec/sans chauffeur</a:t>
            </a:r>
            <a:endParaRPr lang="en-US" sz="1100" dirty="0"/>
          </a:p>
        </p:txBody>
      </p:sp>
      <p:sp>
        <p:nvSpPr>
          <p:cNvPr id="23" name="Text 20"/>
          <p:cNvSpPr txBox="1"/>
          <p:nvPr/>
        </p:nvSpPr>
        <p:spPr>
          <a:xfrm>
            <a:off x="14211605" y="4262018"/>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06</a:t>
            </a:r>
            <a:r>
              <a:rPr lang="en-US" sz="1100" dirty="0">
                <a:solidFill>
                  <a:srgbClr val="1F2937"/>
                </a:solidFill>
                <a:latin typeface="Manrope" pitchFamily="34" charset="0"/>
                <a:ea typeface="Manrope" pitchFamily="34" charset="-122"/>
                <a:cs typeface="Manrope" pitchFamily="34" charset="-120"/>
              </a:rPr>
              <a:t> Validation admin/partenaire</a:t>
            </a:r>
            <a:endParaRPr lang="en-US" sz="1100" dirty="0"/>
          </a:p>
        </p:txBody>
      </p:sp>
      <p:sp>
        <p:nvSpPr>
          <p:cNvPr id="24" name="Text 21"/>
          <p:cNvSpPr txBox="1"/>
          <p:nvPr/>
        </p:nvSpPr>
        <p:spPr>
          <a:xfrm>
            <a:off x="10858500" y="4539082"/>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07</a:t>
            </a:r>
            <a:r>
              <a:rPr lang="en-US" sz="1100" dirty="0">
                <a:solidFill>
                  <a:srgbClr val="1F2937"/>
                </a:solidFill>
                <a:latin typeface="Manrope" pitchFamily="34" charset="0"/>
                <a:ea typeface="Manrope" pitchFamily="34" charset="-122"/>
                <a:cs typeface="Manrope" pitchFamily="34" charset="-120"/>
              </a:rPr>
              <a:t> Suivi de réservation</a:t>
            </a:r>
            <a:endParaRPr lang="en-US" sz="1100" dirty="0"/>
          </a:p>
        </p:txBody>
      </p:sp>
      <p:sp>
        <p:nvSpPr>
          <p:cNvPr id="25" name="Text 22"/>
          <p:cNvSpPr txBox="1"/>
          <p:nvPr/>
        </p:nvSpPr>
        <p:spPr>
          <a:xfrm>
            <a:off x="14211605" y="4539082"/>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08</a:t>
            </a:r>
            <a:r>
              <a:rPr lang="en-US" sz="1100" dirty="0">
                <a:solidFill>
                  <a:srgbClr val="1F2937"/>
                </a:solidFill>
                <a:latin typeface="Manrope" pitchFamily="34" charset="0"/>
                <a:ea typeface="Manrope" pitchFamily="34" charset="-122"/>
                <a:cs typeface="Manrope" pitchFamily="34" charset="-120"/>
              </a:rPr>
              <a:t> Statut de location</a:t>
            </a:r>
            <a:endParaRPr lang="en-US" sz="1100" dirty="0"/>
          </a:p>
        </p:txBody>
      </p:sp>
      <p:sp>
        <p:nvSpPr>
          <p:cNvPr id="26" name="Text 23"/>
          <p:cNvSpPr txBox="1"/>
          <p:nvPr/>
        </p:nvSpPr>
        <p:spPr>
          <a:xfrm>
            <a:off x="10858500" y="4815230"/>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09</a:t>
            </a:r>
            <a:r>
              <a:rPr lang="en-US" sz="1100" dirty="0">
                <a:solidFill>
                  <a:srgbClr val="1F2937"/>
                </a:solidFill>
                <a:latin typeface="Manrope" pitchFamily="34" charset="0"/>
                <a:ea typeface="Manrope" pitchFamily="34" charset="-122"/>
                <a:cs typeface="Manrope" pitchFamily="34" charset="-120"/>
              </a:rPr>
              <a:t> Paiement / acompte</a:t>
            </a:r>
            <a:endParaRPr lang="en-US" sz="1100" dirty="0"/>
          </a:p>
        </p:txBody>
      </p:sp>
      <p:sp>
        <p:nvSpPr>
          <p:cNvPr id="27" name="Text 24"/>
          <p:cNvSpPr txBox="1"/>
          <p:nvPr/>
        </p:nvSpPr>
        <p:spPr>
          <a:xfrm>
            <a:off x="14211605" y="4815230"/>
            <a:ext cx="3124505"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10</a:t>
            </a:r>
            <a:r>
              <a:rPr lang="en-US" sz="1100" dirty="0">
                <a:solidFill>
                  <a:srgbClr val="1F2937"/>
                </a:solidFill>
                <a:latin typeface="Manrope" pitchFamily="34" charset="0"/>
                <a:ea typeface="Manrope" pitchFamily="34" charset="-122"/>
                <a:cs typeface="Manrope" pitchFamily="34" charset="-120"/>
              </a:rPr>
              <a:t> Reporting &amp; historique</a:t>
            </a:r>
            <a:endParaRPr lang="en-US" sz="1100" dirty="0"/>
          </a:p>
        </p:txBody>
      </p:sp>
      <p:sp>
        <p:nvSpPr>
          <p:cNvPr id="28" name="Shape 25"/>
          <p:cNvSpPr/>
          <p:nvPr/>
        </p:nvSpPr>
        <p:spPr>
          <a:xfrm>
            <a:off x="10858500" y="5300777"/>
            <a:ext cx="6476695" cy="1190549"/>
          </a:xfrm>
          <a:prstGeom prst="roundRect">
            <a:avLst>
              <a:gd name="adj" fmla="val 7988"/>
            </a:avLst>
          </a:prstGeom>
          <a:solidFill>
            <a:srgbClr val="FFFFFF"/>
          </a:solidFill>
          <a:ln/>
        </p:spPr>
        <p:txBody>
          <a:bodyPr/>
          <a:lstStyle/>
          <a:p>
            <a:endParaRPr lang="fr-CI"/>
          </a:p>
        </p:txBody>
      </p:sp>
      <p:sp>
        <p:nvSpPr>
          <p:cNvPr id="29" name="Shape 26"/>
          <p:cNvSpPr/>
          <p:nvPr/>
        </p:nvSpPr>
        <p:spPr>
          <a:xfrm>
            <a:off x="10858500" y="5300777"/>
            <a:ext cx="38405" cy="1190549"/>
          </a:xfrm>
          <a:prstGeom prst="roundRect">
            <a:avLst>
              <a:gd name="adj" fmla="val 247618"/>
            </a:avLst>
          </a:prstGeom>
          <a:solidFill>
            <a:srgbClr val="6D28D9"/>
          </a:solidFill>
          <a:ln w="12700">
            <a:solidFill>
              <a:srgbClr val="6D28D9">
                <a:alpha val="0"/>
              </a:srgbClr>
            </a:solidFill>
            <a:prstDash val="solid"/>
          </a:ln>
        </p:spPr>
        <p:txBody>
          <a:bodyPr/>
          <a:lstStyle/>
          <a:p>
            <a:endParaRPr lang="fr-CI"/>
          </a:p>
        </p:txBody>
      </p:sp>
      <p:sp>
        <p:nvSpPr>
          <p:cNvPr id="30" name="Text 27"/>
          <p:cNvSpPr txBox="1"/>
          <p:nvPr/>
        </p:nvSpPr>
        <p:spPr>
          <a:xfrm>
            <a:off x="11067898" y="5471770"/>
            <a:ext cx="6096305" cy="133502"/>
          </a:xfrm>
          <a:prstGeom prst="rect">
            <a:avLst/>
          </a:prstGeom>
          <a:noFill/>
          <a:ln/>
        </p:spPr>
        <p:txBody>
          <a:bodyPr wrap="none" lIns="0" tIns="0" rIns="0" bIns="0" rtlCol="0" anchor="ctr"/>
          <a:lstStyle/>
          <a:p>
            <a:pPr marL="0" indent="0" algn="l">
              <a:buNone/>
            </a:pPr>
            <a:r>
              <a:rPr lang="en-US" sz="800" b="1" kern="0" spc="99" dirty="0">
                <a:solidFill>
                  <a:srgbClr val="6D28D9"/>
                </a:solidFill>
                <a:latin typeface="JetBrains Mono" pitchFamily="34" charset="0"/>
                <a:ea typeface="JetBrains Mono" pitchFamily="34" charset="-122"/>
                <a:cs typeface="JetBrains Mono" pitchFamily="34" charset="-120"/>
              </a:rPr>
              <a:t>Use cases associés</a:t>
            </a:r>
            <a:endParaRPr lang="en-US" sz="800" dirty="0"/>
          </a:p>
        </p:txBody>
      </p:sp>
      <p:sp>
        <p:nvSpPr>
          <p:cNvPr id="31" name="Shape 28"/>
          <p:cNvSpPr/>
          <p:nvPr/>
        </p:nvSpPr>
        <p:spPr>
          <a:xfrm>
            <a:off x="11067898" y="5700370"/>
            <a:ext cx="771754"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32" name="Text 29"/>
          <p:cNvSpPr/>
          <p:nvPr/>
        </p:nvSpPr>
        <p:spPr>
          <a:xfrm>
            <a:off x="11067898" y="5700370"/>
            <a:ext cx="771754"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UC-LO01</a:t>
            </a:r>
            <a:endParaRPr lang="en-US" sz="900" dirty="0"/>
          </a:p>
        </p:txBody>
      </p:sp>
      <p:sp>
        <p:nvSpPr>
          <p:cNvPr id="33" name="Shape 30"/>
          <p:cNvSpPr/>
          <p:nvPr/>
        </p:nvSpPr>
        <p:spPr>
          <a:xfrm>
            <a:off x="11907317" y="5700370"/>
            <a:ext cx="790956"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34" name="Text 31"/>
          <p:cNvSpPr/>
          <p:nvPr/>
        </p:nvSpPr>
        <p:spPr>
          <a:xfrm>
            <a:off x="11907317" y="5700370"/>
            <a:ext cx="790956"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UC-LO02</a:t>
            </a:r>
            <a:endParaRPr lang="en-US" sz="900" dirty="0"/>
          </a:p>
        </p:txBody>
      </p:sp>
      <p:sp>
        <p:nvSpPr>
          <p:cNvPr id="35" name="Text 32"/>
          <p:cNvSpPr txBox="1"/>
          <p:nvPr/>
        </p:nvSpPr>
        <p:spPr>
          <a:xfrm>
            <a:off x="11067898" y="6100877"/>
            <a:ext cx="6096305" cy="219456"/>
          </a:xfrm>
          <a:prstGeom prst="rect">
            <a:avLst/>
          </a:prstGeom>
          <a:noFill/>
          <a:ln/>
        </p:spPr>
        <p:txBody>
          <a:bodyPr wrap="none" lIns="0" tIns="0" rIns="0" bIns="0" rtlCol="0" anchor="ctr"/>
          <a:lstStyle/>
          <a:p>
            <a:pPr marL="0" indent="0" algn="l">
              <a:buNone/>
            </a:pPr>
            <a:r>
              <a:rPr lang="en-US" sz="1100" dirty="0">
                <a:solidFill>
                  <a:srgbClr val="6B7280"/>
                </a:solidFill>
                <a:latin typeface="Manrope" pitchFamily="34" charset="0"/>
                <a:ea typeface="Manrope" pitchFamily="34" charset="-122"/>
                <a:cs typeface="Manrope" pitchFamily="34" charset="-120"/>
              </a:rPr>
              <a:t>Voir slide 36 pour le détail des scénarios.</a:t>
            </a:r>
            <a:endParaRPr lang="en-US" sz="1100" dirty="0"/>
          </a:p>
        </p:txBody>
      </p:sp>
      <p:sp>
        <p:nvSpPr>
          <p:cNvPr id="36" name="Shape 33"/>
          <p:cNvSpPr/>
          <p:nvPr/>
        </p:nvSpPr>
        <p:spPr>
          <a:xfrm>
            <a:off x="10858500" y="6676949"/>
            <a:ext cx="1333195" cy="286207"/>
          </a:xfrm>
          <a:prstGeom prst="roundRect">
            <a:avLst>
              <a:gd name="adj" fmla="val 49840"/>
            </a:avLst>
          </a:prstGeom>
          <a:solidFill>
            <a:srgbClr val="FEF3C7"/>
          </a:solidFill>
          <a:ln w="12700">
            <a:solidFill>
              <a:srgbClr val="FFFFFF">
                <a:alpha val="0"/>
              </a:srgbClr>
            </a:solidFill>
            <a:prstDash val="solid"/>
          </a:ln>
        </p:spPr>
        <p:txBody>
          <a:bodyPr/>
          <a:lstStyle/>
          <a:p>
            <a:endParaRPr lang="fr-CI"/>
          </a:p>
        </p:txBody>
      </p:sp>
      <p:sp>
        <p:nvSpPr>
          <p:cNvPr id="37" name="Text 34"/>
          <p:cNvSpPr/>
          <p:nvPr/>
        </p:nvSpPr>
        <p:spPr>
          <a:xfrm>
            <a:off x="10858500" y="6676949"/>
            <a:ext cx="1334110"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2400E"/>
                </a:solidFill>
                <a:latin typeface="Manrope" pitchFamily="34" charset="0"/>
                <a:ea typeface="Manrope" pitchFamily="34" charset="-122"/>
                <a:cs typeface="Manrope" pitchFamily="34" charset="-120"/>
              </a:rPr>
              <a:t>Criticité : Majeure</a:t>
            </a:r>
            <a:endParaRPr lang="en-US" sz="900" dirty="0"/>
          </a:p>
        </p:txBody>
      </p:sp>
      <p:sp>
        <p:nvSpPr>
          <p:cNvPr id="38" name="Shape 35"/>
          <p:cNvSpPr/>
          <p:nvPr/>
        </p:nvSpPr>
        <p:spPr>
          <a:xfrm>
            <a:off x="12284050" y="6676949"/>
            <a:ext cx="2180844"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39" name="Text 36"/>
          <p:cNvSpPr/>
          <p:nvPr/>
        </p:nvSpPr>
        <p:spPr>
          <a:xfrm>
            <a:off x="12284050" y="6676949"/>
            <a:ext cx="2181758"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5 véhicules location en test réel</a:t>
            </a:r>
            <a:endParaRPr lang="en-US" sz="900" dirty="0"/>
          </a:p>
        </p:txBody>
      </p:sp>
      <p:sp>
        <p:nvSpPr>
          <p:cNvPr id="40" name="Shape 37"/>
          <p:cNvSpPr/>
          <p:nvPr/>
        </p:nvSpPr>
        <p:spPr>
          <a:xfrm>
            <a:off x="0" y="9791395"/>
            <a:ext cx="18288000" cy="495605"/>
          </a:xfrm>
          <a:prstGeom prst="rect">
            <a:avLst/>
          </a:prstGeom>
          <a:solidFill>
            <a:srgbClr val="FFFFFF"/>
          </a:solidFill>
          <a:ln/>
        </p:spPr>
        <p:txBody>
          <a:bodyPr/>
          <a:lstStyle/>
          <a:p>
            <a:endParaRPr lang="fr-CI"/>
          </a:p>
        </p:txBody>
      </p:sp>
      <p:sp>
        <p:nvSpPr>
          <p:cNvPr id="41" name="Shape 38"/>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42" name="Text 39"/>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43" name="Text 40"/>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12 / 59</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5788030" y="256946"/>
            <a:ext cx="2171700"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Service 5.5 — Partenaires</a:t>
            </a:r>
            <a:endParaRPr lang="en-US" sz="900" dirty="0"/>
          </a:p>
        </p:txBody>
      </p:sp>
      <p:sp>
        <p:nvSpPr>
          <p:cNvPr id="10" name="Text 8"/>
          <p:cNvSpPr txBox="1"/>
          <p:nvPr/>
        </p:nvSpPr>
        <p:spPr>
          <a:xfrm>
            <a:off x="914400" y="1205179"/>
            <a:ext cx="2581351" cy="181051"/>
          </a:xfrm>
          <a:prstGeom prst="rect">
            <a:avLst/>
          </a:prstGeom>
          <a:noFill/>
          <a:ln/>
        </p:spPr>
        <p:txBody>
          <a:bodyPr wrap="none" lIns="0" tIns="0" rIns="0" bIns="0" rtlCol="0" anchor="ctr"/>
          <a:lstStyle/>
          <a:p>
            <a:pPr marL="0" indent="0" algn="l">
              <a:buNone/>
            </a:pPr>
            <a:r>
              <a:rPr lang="en-US" sz="1400" b="1" kern="0" spc="189" dirty="0">
                <a:solidFill>
                  <a:srgbClr val="6D28D9"/>
                </a:solidFill>
                <a:latin typeface="Manrope" pitchFamily="34" charset="0"/>
                <a:ea typeface="Manrope" pitchFamily="34" charset="-122"/>
                <a:cs typeface="Manrope" pitchFamily="34" charset="-120"/>
              </a:rPr>
              <a:t>5.5 · Service à recetter</a:t>
            </a:r>
            <a:endParaRPr lang="en-US" sz="14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6193110" cy="1095451"/>
          </a:xfrm>
          <a:prstGeom prst="rect">
            <a:avLst/>
          </a:prstGeom>
          <a:noFill/>
          <a:ln/>
        </p:spPr>
        <p:txBody>
          <a:bodyPr wrap="squar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Partenaires — portefeuille propre rechargeable par mobile money ou carte.</a:t>
            </a:r>
            <a:endParaRPr lang="en-US" sz="3900" dirty="0"/>
          </a:p>
        </p:txBody>
      </p:sp>
      <p:sp>
        <p:nvSpPr>
          <p:cNvPr id="13" name="Text 11"/>
          <p:cNvSpPr txBox="1"/>
          <p:nvPr/>
        </p:nvSpPr>
        <p:spPr>
          <a:xfrm>
            <a:off x="914400" y="2457907"/>
            <a:ext cx="16878910" cy="257861"/>
          </a:xfrm>
          <a:prstGeom prst="rect">
            <a:avLst/>
          </a:prstGeom>
          <a:noFill/>
          <a:ln/>
        </p:spPr>
        <p:txBody>
          <a:bodyPr wrap="none" lIns="0" tIns="0" rIns="0" bIns="0" rtlCol="0" anchor="ctr"/>
          <a:lstStyle/>
          <a:p>
            <a:pPr marL="0" indent="0" algn="l">
              <a:buNone/>
            </a:pPr>
            <a:r>
              <a:rPr lang="en-US" sz="1300" dirty="0">
                <a:solidFill>
                  <a:srgbClr val="4B5563"/>
                </a:solidFill>
                <a:latin typeface="Manrope" pitchFamily="34" charset="0"/>
                <a:ea typeface="Manrope" pitchFamily="34" charset="-122"/>
                <a:cs typeface="Manrope" pitchFamily="34" charset="-120"/>
              </a:rPr>
              <a:t>Les partenaires disposent de leur </a:t>
            </a:r>
            <a:r>
              <a:rPr lang="en-US" sz="1300" b="1" dirty="0">
                <a:solidFill>
                  <a:srgbClr val="6D28D9"/>
                </a:solidFill>
                <a:latin typeface="Manrope" pitchFamily="34" charset="0"/>
                <a:ea typeface="Manrope" pitchFamily="34" charset="-122"/>
                <a:cs typeface="Manrope" pitchFamily="34" charset="-120"/>
              </a:rPr>
              <a:t>propre portefeuille</a:t>
            </a:r>
            <a:r>
              <a:rPr lang="en-US" sz="1300" dirty="0">
                <a:solidFill>
                  <a:srgbClr val="4B5563"/>
                </a:solidFill>
                <a:latin typeface="Manrope" pitchFamily="34" charset="0"/>
                <a:ea typeface="Manrope" pitchFamily="34" charset="-122"/>
                <a:cs typeface="Manrope" pitchFamily="34" charset="-120"/>
              </a:rPr>
              <a:t> rechargeable par </a:t>
            </a:r>
            <a:r>
              <a:rPr lang="en-US" sz="1300" b="1" dirty="0">
                <a:solidFill>
                  <a:srgbClr val="6D28D9"/>
                </a:solidFill>
                <a:latin typeface="Manrope" pitchFamily="34" charset="0"/>
                <a:ea typeface="Manrope" pitchFamily="34" charset="-122"/>
                <a:cs typeface="Manrope" pitchFamily="34" charset="-120"/>
              </a:rPr>
              <a:t>mobile money OU carte bancaire</a:t>
            </a:r>
            <a:r>
              <a:rPr lang="en-US" sz="1300" dirty="0">
                <a:solidFill>
                  <a:srgbClr val="4B5563"/>
                </a:solidFill>
                <a:latin typeface="Manrope" pitchFamily="34" charset="0"/>
                <a:ea typeface="Manrope" pitchFamily="34" charset="-122"/>
                <a:cs typeface="Manrope" pitchFamily="34" charset="-120"/>
              </a:rPr>
              <a:t>, puis utilisent ce wallet pour recharger les chauffeurs de leur flotte en cascade.</a:t>
            </a:r>
            <a:endParaRPr lang="en-US" sz="1300" dirty="0"/>
          </a:p>
        </p:txBody>
      </p:sp>
      <p:pic>
        <p:nvPicPr>
          <p:cNvPr id="14" name="Image 0" descr="gen-dedup-884c7d61f13376d4dd665c7fe41e7a03.jpg"/>
          <p:cNvPicPr>
            <a:picLocks noChangeAspect="1"/>
          </p:cNvPicPr>
          <p:nvPr/>
        </p:nvPicPr>
        <p:blipFill>
          <a:blip r:embed="rId3"/>
          <a:srcRect l="-2740" r="-2740"/>
          <a:stretch/>
        </p:blipFill>
        <p:spPr>
          <a:xfrm>
            <a:off x="914400" y="3143707"/>
            <a:ext cx="10001707" cy="5333695"/>
          </a:xfrm>
          <a:prstGeom prst="rect">
            <a:avLst/>
          </a:prstGeom>
        </p:spPr>
      </p:pic>
      <p:sp>
        <p:nvSpPr>
          <p:cNvPr id="15" name="Text 12"/>
          <p:cNvSpPr txBox="1"/>
          <p:nvPr/>
        </p:nvSpPr>
        <p:spPr>
          <a:xfrm>
            <a:off x="914400" y="8572500"/>
            <a:ext cx="10001707" cy="219456"/>
          </a:xfrm>
          <a:prstGeom prst="rect">
            <a:avLst/>
          </a:prstGeom>
          <a:noFill/>
          <a:ln/>
        </p:spPr>
        <p:txBody>
          <a:bodyPr wrap="none" lIns="0" tIns="0" rIns="0" bIns="0" rtlCol="0" anchor="ctr"/>
          <a:lstStyle/>
          <a:p>
            <a:pPr marL="0" indent="0" algn="ctr">
              <a:buNone/>
            </a:pPr>
            <a:r>
              <a:rPr lang="en-US" sz="1100" i="1" dirty="0">
                <a:solidFill>
                  <a:srgbClr val="6B7280"/>
                </a:solidFill>
                <a:latin typeface="Manrope" pitchFamily="34" charset="0"/>
                <a:ea typeface="Manrope" pitchFamily="34" charset="-122"/>
                <a:cs typeface="Manrope" pitchFamily="34" charset="-120"/>
              </a:rPr>
              <a:t>Fig. 13.1 — Recharge cascade : Mobile Money / Carte bancaire → Wallet partenaire → Wallets chauffeurs de la flotte</a:t>
            </a:r>
            <a:endParaRPr lang="en-US" sz="1100" dirty="0"/>
          </a:p>
        </p:txBody>
      </p:sp>
      <p:sp>
        <p:nvSpPr>
          <p:cNvPr id="16" name="Shape 13"/>
          <p:cNvSpPr/>
          <p:nvPr/>
        </p:nvSpPr>
        <p:spPr>
          <a:xfrm>
            <a:off x="11220602" y="3143707"/>
            <a:ext cx="6191402" cy="5333695"/>
          </a:xfrm>
          <a:prstGeom prst="roundRect">
            <a:avLst>
              <a:gd name="adj" fmla="val 2503"/>
            </a:avLst>
          </a:prstGeom>
          <a:solidFill>
            <a:srgbClr val="FAFAFC"/>
          </a:solidFill>
          <a:ln w="12700">
            <a:solidFill>
              <a:srgbClr val="E5E7EB"/>
            </a:solidFill>
            <a:prstDash val="solid"/>
          </a:ln>
        </p:spPr>
        <p:txBody>
          <a:bodyPr/>
          <a:lstStyle/>
          <a:p>
            <a:endParaRPr lang="fr-CI"/>
          </a:p>
        </p:txBody>
      </p:sp>
      <p:sp>
        <p:nvSpPr>
          <p:cNvPr id="17" name="Text 14"/>
          <p:cNvSpPr txBox="1"/>
          <p:nvPr/>
        </p:nvSpPr>
        <p:spPr>
          <a:xfrm>
            <a:off x="11525098" y="3372307"/>
            <a:ext cx="5715000" cy="267005"/>
          </a:xfrm>
          <a:prstGeom prst="rect">
            <a:avLst/>
          </a:prstGeom>
          <a:noFill/>
          <a:ln/>
        </p:spPr>
        <p:txBody>
          <a:bodyPr wrap="none" lIns="0" tIns="0" rIns="0" bIns="0" rtlCol="0" anchor="ctr"/>
          <a:lstStyle/>
          <a:p>
            <a:pPr marL="0" indent="0" algn="l">
              <a:buNone/>
            </a:pPr>
            <a:r>
              <a:rPr lang="en-US" sz="1600" b="1" dirty="0">
                <a:solidFill>
                  <a:srgbClr val="1F2937"/>
                </a:solidFill>
                <a:latin typeface="Manrope" pitchFamily="34" charset="0"/>
                <a:ea typeface="Manrope" pitchFamily="34" charset="-122"/>
                <a:cs typeface="Manrope" pitchFamily="34" charset="-120"/>
              </a:rPr>
              <a:t>13 fonctionnalités principales</a:t>
            </a:r>
            <a:endParaRPr lang="en-US" sz="1600" dirty="0"/>
          </a:p>
        </p:txBody>
      </p:sp>
      <p:sp>
        <p:nvSpPr>
          <p:cNvPr id="18" name="Text 15"/>
          <p:cNvSpPr txBox="1"/>
          <p:nvPr/>
        </p:nvSpPr>
        <p:spPr>
          <a:xfrm>
            <a:off x="11525098" y="3767328"/>
            <a:ext cx="571500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Création du compte partenaire</a:t>
            </a:r>
            <a:endParaRPr lang="en-US" sz="1200" dirty="0"/>
          </a:p>
        </p:txBody>
      </p:sp>
      <p:sp>
        <p:nvSpPr>
          <p:cNvPr id="19" name="Shape 16"/>
          <p:cNvSpPr/>
          <p:nvPr/>
        </p:nvSpPr>
        <p:spPr>
          <a:xfrm>
            <a:off x="11525098" y="3862426"/>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20" name="Text 17"/>
          <p:cNvSpPr txBox="1"/>
          <p:nvPr/>
        </p:nvSpPr>
        <p:spPr>
          <a:xfrm>
            <a:off x="11525098" y="4097426"/>
            <a:ext cx="571500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Validation par l'admin central</a:t>
            </a:r>
            <a:endParaRPr lang="en-US" sz="1200" dirty="0"/>
          </a:p>
        </p:txBody>
      </p:sp>
      <p:sp>
        <p:nvSpPr>
          <p:cNvPr id="21" name="Shape 18"/>
          <p:cNvSpPr/>
          <p:nvPr/>
        </p:nvSpPr>
        <p:spPr>
          <a:xfrm>
            <a:off x="11525098" y="4192524"/>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22" name="Text 19"/>
          <p:cNvSpPr txBox="1"/>
          <p:nvPr/>
        </p:nvSpPr>
        <p:spPr>
          <a:xfrm>
            <a:off x="11525098" y="4427525"/>
            <a:ext cx="571500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Rattachement chauffeurs &amp; véhicules</a:t>
            </a:r>
            <a:endParaRPr lang="en-US" sz="1200" dirty="0"/>
          </a:p>
        </p:txBody>
      </p:sp>
      <p:sp>
        <p:nvSpPr>
          <p:cNvPr id="23" name="Shape 20"/>
          <p:cNvSpPr/>
          <p:nvPr/>
        </p:nvSpPr>
        <p:spPr>
          <a:xfrm>
            <a:off x="11525098" y="4522622"/>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24" name="Text 21"/>
          <p:cNvSpPr txBox="1"/>
          <p:nvPr/>
        </p:nvSpPr>
        <p:spPr>
          <a:xfrm>
            <a:off x="11525098" y="4757623"/>
            <a:ext cx="571500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Suivi d'activité chauffeurs &amp; flotte</a:t>
            </a:r>
            <a:endParaRPr lang="en-US" sz="1200" dirty="0"/>
          </a:p>
        </p:txBody>
      </p:sp>
      <p:sp>
        <p:nvSpPr>
          <p:cNvPr id="25" name="Shape 22"/>
          <p:cNvSpPr/>
          <p:nvPr/>
        </p:nvSpPr>
        <p:spPr>
          <a:xfrm>
            <a:off x="11525098" y="4852721"/>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26" name="Text 23"/>
          <p:cNvSpPr txBox="1"/>
          <p:nvPr/>
        </p:nvSpPr>
        <p:spPr>
          <a:xfrm>
            <a:off x="11525098" y="5087722"/>
            <a:ext cx="571500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Suivi revenus, commissions, performance</a:t>
            </a:r>
            <a:endParaRPr lang="en-US" sz="1200" dirty="0"/>
          </a:p>
        </p:txBody>
      </p:sp>
      <p:sp>
        <p:nvSpPr>
          <p:cNvPr id="27" name="Shape 24"/>
          <p:cNvSpPr/>
          <p:nvPr/>
        </p:nvSpPr>
        <p:spPr>
          <a:xfrm>
            <a:off x="11525098" y="5182819"/>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28" name="Text 25"/>
          <p:cNvSpPr txBox="1"/>
          <p:nvPr/>
        </p:nvSpPr>
        <p:spPr>
          <a:xfrm>
            <a:off x="11525098" y="5417820"/>
            <a:ext cx="571500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Reporting par période &amp; service</a:t>
            </a:r>
            <a:endParaRPr lang="en-US" sz="1200" dirty="0"/>
          </a:p>
        </p:txBody>
      </p:sp>
      <p:sp>
        <p:nvSpPr>
          <p:cNvPr id="29" name="Shape 26"/>
          <p:cNvSpPr/>
          <p:nvPr/>
        </p:nvSpPr>
        <p:spPr>
          <a:xfrm>
            <a:off x="11525098" y="5512918"/>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30" name="Text 27"/>
          <p:cNvSpPr txBox="1"/>
          <p:nvPr/>
        </p:nvSpPr>
        <p:spPr>
          <a:xfrm>
            <a:off x="11525098" y="5747918"/>
            <a:ext cx="571500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Gestion documents véhicule / chauffeur</a:t>
            </a:r>
            <a:endParaRPr lang="en-US" sz="1200" dirty="0"/>
          </a:p>
        </p:txBody>
      </p:sp>
      <p:sp>
        <p:nvSpPr>
          <p:cNvPr id="31" name="Shape 28"/>
          <p:cNvSpPr/>
          <p:nvPr/>
        </p:nvSpPr>
        <p:spPr>
          <a:xfrm>
            <a:off x="11525098" y="5843016"/>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pic>
        <p:nvPicPr>
          <p:cNvPr id="32" name="Image 1" descr="gen-dedup-5f61874f5c79a87f13edfed06a68cde6.png"/>
          <p:cNvPicPr>
            <a:picLocks noChangeAspect="1"/>
          </p:cNvPicPr>
          <p:nvPr/>
        </p:nvPicPr>
        <p:blipFill>
          <a:blip r:embed="rId4"/>
          <a:srcRect t="-564" b="-564"/>
          <a:stretch/>
        </p:blipFill>
        <p:spPr>
          <a:xfrm>
            <a:off x="11315700" y="6078017"/>
            <a:ext cx="5924398" cy="314554"/>
          </a:xfrm>
          <a:prstGeom prst="rect">
            <a:avLst/>
          </a:prstGeom>
        </p:spPr>
      </p:pic>
      <p:sp>
        <p:nvSpPr>
          <p:cNvPr id="33" name="Text 29"/>
          <p:cNvSpPr txBox="1"/>
          <p:nvPr/>
        </p:nvSpPr>
        <p:spPr>
          <a:xfrm>
            <a:off x="11525098" y="6078017"/>
            <a:ext cx="5715914" cy="314554"/>
          </a:xfrm>
          <a:prstGeom prst="rect">
            <a:avLst/>
          </a:prstGeom>
          <a:noFill/>
          <a:ln/>
        </p:spPr>
        <p:txBody>
          <a:bodyPr wrap="none" lIns="0" tIns="0" rIns="0" bIns="0" rtlCol="0" anchor="ctr"/>
          <a:lstStyle/>
          <a:p>
            <a:pPr marL="0" indent="0" algn="l">
              <a:buNone/>
            </a:pPr>
            <a:r>
              <a:rPr lang="en-US" sz="1200" b="1" dirty="0">
                <a:solidFill>
                  <a:srgbClr val="6D28D9"/>
                </a:solidFill>
                <a:latin typeface="Manrope" pitchFamily="34" charset="0"/>
                <a:ea typeface="Manrope" pitchFamily="34" charset="-122"/>
                <a:cs typeface="Manrope" pitchFamily="34" charset="-120"/>
              </a:rPr>
              <a:t>Recharge wallet partenaire — Mobile Money</a:t>
            </a:r>
            <a:endParaRPr lang="en-US" sz="1200" dirty="0"/>
          </a:p>
        </p:txBody>
      </p:sp>
      <p:sp>
        <p:nvSpPr>
          <p:cNvPr id="34" name="Shape 30"/>
          <p:cNvSpPr/>
          <p:nvPr/>
        </p:nvSpPr>
        <p:spPr>
          <a:xfrm>
            <a:off x="11315700" y="6173114"/>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35" name="Shape 31"/>
          <p:cNvSpPr/>
          <p:nvPr/>
        </p:nvSpPr>
        <p:spPr>
          <a:xfrm>
            <a:off x="11391595" y="6229807"/>
            <a:ext cx="57607" cy="57607"/>
          </a:xfrm>
          <a:prstGeom prst="roundRect">
            <a:avLst>
              <a:gd name="adj" fmla="val 33333"/>
            </a:avLst>
          </a:prstGeom>
          <a:solidFill>
            <a:srgbClr val="6D28D9"/>
          </a:solidFill>
          <a:ln w="12700">
            <a:solidFill>
              <a:srgbClr val="FFFFFF">
                <a:alpha val="0"/>
              </a:srgbClr>
            </a:solidFill>
            <a:prstDash val="solid"/>
          </a:ln>
        </p:spPr>
        <p:txBody>
          <a:bodyPr/>
          <a:lstStyle/>
          <a:p>
            <a:endParaRPr lang="fr-CI"/>
          </a:p>
        </p:txBody>
      </p:sp>
      <p:pic>
        <p:nvPicPr>
          <p:cNvPr id="36" name="Image 2" descr="gen-dedup-5f61874f5c79a87f13edfed06a68cde6.png"/>
          <p:cNvPicPr>
            <a:picLocks noChangeAspect="1"/>
          </p:cNvPicPr>
          <p:nvPr/>
        </p:nvPicPr>
        <p:blipFill>
          <a:blip r:embed="rId4"/>
          <a:srcRect t="-564" b="-564"/>
          <a:stretch/>
        </p:blipFill>
        <p:spPr>
          <a:xfrm>
            <a:off x="11315700" y="6484010"/>
            <a:ext cx="5924398" cy="314554"/>
          </a:xfrm>
          <a:prstGeom prst="rect">
            <a:avLst/>
          </a:prstGeom>
        </p:spPr>
      </p:pic>
      <p:sp>
        <p:nvSpPr>
          <p:cNvPr id="37" name="Text 32"/>
          <p:cNvSpPr txBox="1"/>
          <p:nvPr/>
        </p:nvSpPr>
        <p:spPr>
          <a:xfrm>
            <a:off x="11525098" y="6484010"/>
            <a:ext cx="5715914" cy="314554"/>
          </a:xfrm>
          <a:prstGeom prst="rect">
            <a:avLst/>
          </a:prstGeom>
          <a:noFill/>
          <a:ln/>
        </p:spPr>
        <p:txBody>
          <a:bodyPr wrap="none" lIns="0" tIns="0" rIns="0" bIns="0" rtlCol="0" anchor="ctr"/>
          <a:lstStyle/>
          <a:p>
            <a:pPr marL="0" indent="0" algn="l">
              <a:buNone/>
            </a:pPr>
            <a:r>
              <a:rPr lang="en-US" sz="1200" b="1" dirty="0">
                <a:solidFill>
                  <a:srgbClr val="6D28D9"/>
                </a:solidFill>
                <a:latin typeface="Manrope" pitchFamily="34" charset="0"/>
                <a:ea typeface="Manrope" pitchFamily="34" charset="-122"/>
                <a:cs typeface="Manrope" pitchFamily="34" charset="-120"/>
              </a:rPr>
              <a:t>Recharge wallet partenaire — Carte bancaire (CB / Visa)</a:t>
            </a:r>
            <a:endParaRPr lang="en-US" sz="1200" dirty="0"/>
          </a:p>
        </p:txBody>
      </p:sp>
      <p:sp>
        <p:nvSpPr>
          <p:cNvPr id="38" name="Shape 33"/>
          <p:cNvSpPr/>
          <p:nvPr/>
        </p:nvSpPr>
        <p:spPr>
          <a:xfrm>
            <a:off x="11315700" y="6579108"/>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39" name="Shape 34"/>
          <p:cNvSpPr/>
          <p:nvPr/>
        </p:nvSpPr>
        <p:spPr>
          <a:xfrm>
            <a:off x="11391595" y="6636715"/>
            <a:ext cx="57607" cy="57607"/>
          </a:xfrm>
          <a:prstGeom prst="roundRect">
            <a:avLst>
              <a:gd name="adj" fmla="val 33333"/>
            </a:avLst>
          </a:prstGeom>
          <a:solidFill>
            <a:srgbClr val="6D28D9"/>
          </a:solidFill>
          <a:ln w="12700">
            <a:solidFill>
              <a:srgbClr val="FFFFFF">
                <a:alpha val="0"/>
              </a:srgbClr>
            </a:solidFill>
            <a:prstDash val="solid"/>
          </a:ln>
        </p:spPr>
        <p:txBody>
          <a:bodyPr/>
          <a:lstStyle/>
          <a:p>
            <a:endParaRPr lang="fr-CI"/>
          </a:p>
        </p:txBody>
      </p:sp>
      <p:pic>
        <p:nvPicPr>
          <p:cNvPr id="40" name="Image 3" descr="gen-dedup-5f61874f5c79a87f13edfed06a68cde6.png"/>
          <p:cNvPicPr>
            <a:picLocks noChangeAspect="1"/>
          </p:cNvPicPr>
          <p:nvPr/>
        </p:nvPicPr>
        <p:blipFill>
          <a:blip r:embed="rId4"/>
          <a:srcRect t="-564" b="-564"/>
          <a:stretch/>
        </p:blipFill>
        <p:spPr>
          <a:xfrm>
            <a:off x="11315700" y="6890004"/>
            <a:ext cx="5924398" cy="314554"/>
          </a:xfrm>
          <a:prstGeom prst="rect">
            <a:avLst/>
          </a:prstGeom>
        </p:spPr>
      </p:pic>
      <p:sp>
        <p:nvSpPr>
          <p:cNvPr id="41" name="Text 35"/>
          <p:cNvSpPr txBox="1"/>
          <p:nvPr/>
        </p:nvSpPr>
        <p:spPr>
          <a:xfrm>
            <a:off x="11525098" y="6890004"/>
            <a:ext cx="5715914" cy="314554"/>
          </a:xfrm>
          <a:prstGeom prst="rect">
            <a:avLst/>
          </a:prstGeom>
          <a:noFill/>
          <a:ln/>
        </p:spPr>
        <p:txBody>
          <a:bodyPr wrap="none" lIns="0" tIns="0" rIns="0" bIns="0" rtlCol="0" anchor="ctr"/>
          <a:lstStyle/>
          <a:p>
            <a:pPr marL="0" indent="0" algn="l">
              <a:buNone/>
            </a:pPr>
            <a:r>
              <a:rPr lang="en-US" sz="1200" b="1" dirty="0">
                <a:solidFill>
                  <a:srgbClr val="6D28D9"/>
                </a:solidFill>
                <a:latin typeface="Manrope" pitchFamily="34" charset="0"/>
                <a:ea typeface="Manrope" pitchFamily="34" charset="-122"/>
                <a:cs typeface="Manrope" pitchFamily="34" charset="-120"/>
              </a:rPr>
              <a:t>Recharge chauffeurs de la flotte (cascade)</a:t>
            </a:r>
            <a:endParaRPr lang="en-US" sz="1200" dirty="0"/>
          </a:p>
        </p:txBody>
      </p:sp>
      <p:sp>
        <p:nvSpPr>
          <p:cNvPr id="42" name="Shape 36"/>
          <p:cNvSpPr/>
          <p:nvPr/>
        </p:nvSpPr>
        <p:spPr>
          <a:xfrm>
            <a:off x="11315700" y="6986016"/>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43" name="Shape 37"/>
          <p:cNvSpPr/>
          <p:nvPr/>
        </p:nvSpPr>
        <p:spPr>
          <a:xfrm>
            <a:off x="11391595" y="7042709"/>
            <a:ext cx="57607" cy="57607"/>
          </a:xfrm>
          <a:prstGeom prst="roundRect">
            <a:avLst>
              <a:gd name="adj" fmla="val 33333"/>
            </a:avLst>
          </a:prstGeom>
          <a:solidFill>
            <a:srgbClr val="6D28D9"/>
          </a:solidFill>
          <a:ln w="12700">
            <a:solidFill>
              <a:srgbClr val="FFFFFF">
                <a:alpha val="0"/>
              </a:srgbClr>
            </a:solidFill>
            <a:prstDash val="solid"/>
          </a:ln>
        </p:spPr>
        <p:txBody>
          <a:bodyPr/>
          <a:lstStyle/>
          <a:p>
            <a:endParaRPr lang="fr-CI"/>
          </a:p>
        </p:txBody>
      </p:sp>
      <p:sp>
        <p:nvSpPr>
          <p:cNvPr id="44" name="Text 38"/>
          <p:cNvSpPr txBox="1"/>
          <p:nvPr/>
        </p:nvSpPr>
        <p:spPr>
          <a:xfrm>
            <a:off x="11525098" y="7296912"/>
            <a:ext cx="571500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Réception &amp; traitement demandes fret + devis</a:t>
            </a:r>
            <a:endParaRPr lang="en-US" sz="1200" dirty="0"/>
          </a:p>
        </p:txBody>
      </p:sp>
      <p:sp>
        <p:nvSpPr>
          <p:cNvPr id="45" name="Shape 39"/>
          <p:cNvSpPr/>
          <p:nvPr/>
        </p:nvSpPr>
        <p:spPr>
          <a:xfrm>
            <a:off x="11525098" y="7392010"/>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46" name="Text 40"/>
          <p:cNvSpPr txBox="1"/>
          <p:nvPr/>
        </p:nvSpPr>
        <p:spPr>
          <a:xfrm>
            <a:off x="11525098" y="7627010"/>
            <a:ext cx="571500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Validation demandes location</a:t>
            </a:r>
            <a:endParaRPr lang="en-US" sz="1200" dirty="0"/>
          </a:p>
        </p:txBody>
      </p:sp>
      <p:sp>
        <p:nvSpPr>
          <p:cNvPr id="47" name="Shape 41"/>
          <p:cNvSpPr/>
          <p:nvPr/>
        </p:nvSpPr>
        <p:spPr>
          <a:xfrm>
            <a:off x="11525098" y="7722108"/>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48" name="Text 42"/>
          <p:cNvSpPr txBox="1"/>
          <p:nvPr/>
        </p:nvSpPr>
        <p:spPr>
          <a:xfrm>
            <a:off x="11525098" y="7957109"/>
            <a:ext cx="571500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Communication avec central &amp; réclamations</a:t>
            </a:r>
            <a:endParaRPr lang="en-US" sz="1200" dirty="0"/>
          </a:p>
        </p:txBody>
      </p:sp>
      <p:sp>
        <p:nvSpPr>
          <p:cNvPr id="49" name="Shape 43"/>
          <p:cNvSpPr/>
          <p:nvPr/>
        </p:nvSpPr>
        <p:spPr>
          <a:xfrm>
            <a:off x="11525098" y="8052206"/>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50" name="Shape 44"/>
          <p:cNvSpPr/>
          <p:nvPr/>
        </p:nvSpPr>
        <p:spPr>
          <a:xfrm>
            <a:off x="11525098" y="8324698"/>
            <a:ext cx="5715000" cy="761695"/>
          </a:xfrm>
          <a:prstGeom prst="roundRect">
            <a:avLst>
              <a:gd name="adj" fmla="val 12485"/>
            </a:avLst>
          </a:prstGeom>
          <a:solidFill>
            <a:srgbClr val="1F2937"/>
          </a:solidFill>
          <a:ln w="12700">
            <a:solidFill>
              <a:srgbClr val="FFFFFF">
                <a:alpha val="0"/>
              </a:srgbClr>
            </a:solidFill>
            <a:prstDash val="solid"/>
          </a:ln>
        </p:spPr>
        <p:txBody>
          <a:bodyPr/>
          <a:lstStyle/>
          <a:p>
            <a:endParaRPr lang="fr-CI"/>
          </a:p>
        </p:txBody>
      </p:sp>
      <p:sp>
        <p:nvSpPr>
          <p:cNvPr id="51" name="Text 45"/>
          <p:cNvSpPr txBox="1"/>
          <p:nvPr/>
        </p:nvSpPr>
        <p:spPr>
          <a:xfrm>
            <a:off x="11658600" y="8458200"/>
            <a:ext cx="5448910" cy="133502"/>
          </a:xfrm>
          <a:prstGeom prst="rect">
            <a:avLst/>
          </a:prstGeom>
          <a:noFill/>
          <a:ln/>
        </p:spPr>
        <p:txBody>
          <a:bodyPr wrap="none" lIns="0" tIns="0" rIns="0" bIns="0" rtlCol="0" anchor="ctr"/>
          <a:lstStyle/>
          <a:p>
            <a:pPr marL="0" indent="0" algn="l">
              <a:buNone/>
            </a:pPr>
            <a:r>
              <a:rPr lang="en-US" sz="800" b="1" kern="0" spc="99" dirty="0">
                <a:solidFill>
                  <a:srgbClr val="A78BFA"/>
                </a:solidFill>
                <a:latin typeface="JetBrains Mono" pitchFamily="34" charset="0"/>
                <a:ea typeface="JetBrains Mono" pitchFamily="34" charset="-122"/>
                <a:cs typeface="JetBrains Mono" pitchFamily="34" charset="-120"/>
              </a:rPr>
              <a:t>2 moyens d'alimentation</a:t>
            </a:r>
            <a:endParaRPr lang="en-US" sz="800" dirty="0"/>
          </a:p>
        </p:txBody>
      </p:sp>
      <p:sp>
        <p:nvSpPr>
          <p:cNvPr id="52" name="Shape 46"/>
          <p:cNvSpPr/>
          <p:nvPr/>
        </p:nvSpPr>
        <p:spPr>
          <a:xfrm>
            <a:off x="11658600" y="8667598"/>
            <a:ext cx="1076249" cy="286207"/>
          </a:xfrm>
          <a:prstGeom prst="roundRect">
            <a:avLst>
              <a:gd name="adj" fmla="val 49840"/>
            </a:avLst>
          </a:prstGeom>
          <a:solidFill>
            <a:srgbClr val="A78BFA"/>
          </a:solidFill>
          <a:ln w="12700">
            <a:solidFill>
              <a:srgbClr val="FFFFFF">
                <a:alpha val="0"/>
              </a:srgbClr>
            </a:solidFill>
            <a:prstDash val="solid"/>
          </a:ln>
        </p:spPr>
        <p:txBody>
          <a:bodyPr/>
          <a:lstStyle/>
          <a:p>
            <a:endParaRPr lang="fr-CI"/>
          </a:p>
        </p:txBody>
      </p:sp>
      <p:sp>
        <p:nvSpPr>
          <p:cNvPr id="53" name="Text 47"/>
          <p:cNvSpPr/>
          <p:nvPr/>
        </p:nvSpPr>
        <p:spPr>
          <a:xfrm>
            <a:off x="11658600" y="8667598"/>
            <a:ext cx="10771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1F2937"/>
                </a:solidFill>
                <a:latin typeface="Manrope" pitchFamily="34" charset="0"/>
                <a:ea typeface="Manrope" pitchFamily="34" charset="-122"/>
                <a:cs typeface="Manrope" pitchFamily="34" charset="-120"/>
              </a:rPr>
              <a:t>Mobile Money</a:t>
            </a:r>
            <a:endParaRPr lang="en-US" sz="900" dirty="0"/>
          </a:p>
        </p:txBody>
      </p:sp>
      <p:sp>
        <p:nvSpPr>
          <p:cNvPr id="54" name="Shape 48"/>
          <p:cNvSpPr/>
          <p:nvPr/>
        </p:nvSpPr>
        <p:spPr>
          <a:xfrm>
            <a:off x="12809830" y="8667598"/>
            <a:ext cx="1143000" cy="286207"/>
          </a:xfrm>
          <a:prstGeom prst="roundRect">
            <a:avLst>
              <a:gd name="adj" fmla="val 49840"/>
            </a:avLst>
          </a:prstGeom>
          <a:solidFill>
            <a:srgbClr val="A78BFA"/>
          </a:solidFill>
          <a:ln w="12700">
            <a:solidFill>
              <a:srgbClr val="FFFFFF">
                <a:alpha val="0"/>
              </a:srgbClr>
            </a:solidFill>
            <a:prstDash val="solid"/>
          </a:ln>
        </p:spPr>
        <p:txBody>
          <a:bodyPr/>
          <a:lstStyle/>
          <a:p>
            <a:endParaRPr lang="fr-CI"/>
          </a:p>
        </p:txBody>
      </p:sp>
      <p:sp>
        <p:nvSpPr>
          <p:cNvPr id="55" name="Text 49"/>
          <p:cNvSpPr/>
          <p:nvPr/>
        </p:nvSpPr>
        <p:spPr>
          <a:xfrm>
            <a:off x="12809830" y="8667598"/>
            <a:ext cx="1143000"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1F2937"/>
                </a:solidFill>
                <a:latin typeface="Manrope" pitchFamily="34" charset="0"/>
                <a:ea typeface="Manrope" pitchFamily="34" charset="-122"/>
                <a:cs typeface="Manrope" pitchFamily="34" charset="-120"/>
              </a:rPr>
              <a:t>Carte bancaire</a:t>
            </a:r>
            <a:endParaRPr lang="en-US" sz="900" dirty="0"/>
          </a:p>
        </p:txBody>
      </p:sp>
      <p:sp>
        <p:nvSpPr>
          <p:cNvPr id="56" name="Shape 50"/>
          <p:cNvSpPr/>
          <p:nvPr/>
        </p:nvSpPr>
        <p:spPr>
          <a:xfrm>
            <a:off x="11525098" y="9201607"/>
            <a:ext cx="685800"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57" name="Text 51"/>
          <p:cNvSpPr/>
          <p:nvPr/>
        </p:nvSpPr>
        <p:spPr>
          <a:xfrm>
            <a:off x="11525098" y="9201607"/>
            <a:ext cx="685800"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UC-P01</a:t>
            </a:r>
            <a:endParaRPr lang="en-US" sz="900" dirty="0"/>
          </a:p>
        </p:txBody>
      </p:sp>
      <p:sp>
        <p:nvSpPr>
          <p:cNvPr id="58" name="Shape 52"/>
          <p:cNvSpPr/>
          <p:nvPr/>
        </p:nvSpPr>
        <p:spPr>
          <a:xfrm>
            <a:off x="12209069" y="9201607"/>
            <a:ext cx="705002"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59" name="Text 53"/>
          <p:cNvSpPr/>
          <p:nvPr/>
        </p:nvSpPr>
        <p:spPr>
          <a:xfrm>
            <a:off x="12209069" y="9201607"/>
            <a:ext cx="705002"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UC-P02</a:t>
            </a:r>
            <a:endParaRPr lang="en-US" sz="900" dirty="0"/>
          </a:p>
        </p:txBody>
      </p:sp>
      <p:sp>
        <p:nvSpPr>
          <p:cNvPr id="60" name="Shape 54"/>
          <p:cNvSpPr/>
          <p:nvPr/>
        </p:nvSpPr>
        <p:spPr>
          <a:xfrm>
            <a:off x="12913157" y="9201607"/>
            <a:ext cx="800100"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61" name="Text 55"/>
          <p:cNvSpPr/>
          <p:nvPr/>
        </p:nvSpPr>
        <p:spPr>
          <a:xfrm>
            <a:off x="12913157" y="9201607"/>
            <a:ext cx="800100"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UC-FIN01</a:t>
            </a:r>
            <a:endParaRPr lang="en-US" sz="900" dirty="0"/>
          </a:p>
        </p:txBody>
      </p:sp>
      <p:sp>
        <p:nvSpPr>
          <p:cNvPr id="62" name="Shape 56"/>
          <p:cNvSpPr/>
          <p:nvPr/>
        </p:nvSpPr>
        <p:spPr>
          <a:xfrm>
            <a:off x="0" y="9791395"/>
            <a:ext cx="18288000" cy="495605"/>
          </a:xfrm>
          <a:prstGeom prst="rect">
            <a:avLst/>
          </a:prstGeom>
          <a:solidFill>
            <a:srgbClr val="FFFFFF"/>
          </a:solidFill>
          <a:ln/>
        </p:spPr>
        <p:txBody>
          <a:bodyPr/>
          <a:lstStyle/>
          <a:p>
            <a:endParaRPr lang="fr-CI"/>
          </a:p>
        </p:txBody>
      </p:sp>
      <p:sp>
        <p:nvSpPr>
          <p:cNvPr id="63" name="Shape 57"/>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4" name="Text 58"/>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65" name="Text 59"/>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13 / 59</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5851124" y="256946"/>
            <a:ext cx="2084832"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Service 5.6 — Franchises</a:t>
            </a:r>
            <a:endParaRPr lang="en-US" sz="900" dirty="0"/>
          </a:p>
        </p:txBody>
      </p:sp>
      <p:sp>
        <p:nvSpPr>
          <p:cNvPr id="10" name="Text 8"/>
          <p:cNvSpPr txBox="1"/>
          <p:nvPr/>
        </p:nvSpPr>
        <p:spPr>
          <a:xfrm>
            <a:off x="914400" y="1205179"/>
            <a:ext cx="2581351" cy="181051"/>
          </a:xfrm>
          <a:prstGeom prst="rect">
            <a:avLst/>
          </a:prstGeom>
          <a:noFill/>
          <a:ln/>
        </p:spPr>
        <p:txBody>
          <a:bodyPr wrap="none" lIns="0" tIns="0" rIns="0" bIns="0" rtlCol="0" anchor="ctr"/>
          <a:lstStyle/>
          <a:p>
            <a:pPr marL="0" indent="0" algn="l">
              <a:buNone/>
            </a:pPr>
            <a:r>
              <a:rPr lang="en-US" sz="1400" b="1" kern="0" spc="189" dirty="0">
                <a:solidFill>
                  <a:srgbClr val="6D28D9"/>
                </a:solidFill>
                <a:latin typeface="Manrope" pitchFamily="34" charset="0"/>
                <a:ea typeface="Manrope" pitchFamily="34" charset="-122"/>
                <a:cs typeface="Manrope" pitchFamily="34" charset="-120"/>
              </a:rPr>
              <a:t>5.6 · Service à recetter</a:t>
            </a:r>
            <a:endParaRPr lang="en-US" sz="14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6193110" cy="1095451"/>
          </a:xfrm>
          <a:prstGeom prst="rect">
            <a:avLst/>
          </a:prstGeom>
          <a:noFill/>
          <a:ln/>
        </p:spPr>
        <p:txBody>
          <a:bodyPr wrap="squar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Franchises — supervision de zone + reversement automatique de bonus.</a:t>
            </a:r>
            <a:endParaRPr lang="en-US" sz="3900" dirty="0"/>
          </a:p>
        </p:txBody>
      </p:sp>
      <p:sp>
        <p:nvSpPr>
          <p:cNvPr id="13" name="Text 11"/>
          <p:cNvSpPr txBox="1"/>
          <p:nvPr/>
        </p:nvSpPr>
        <p:spPr>
          <a:xfrm>
            <a:off x="914400" y="2457907"/>
            <a:ext cx="16193110" cy="514807"/>
          </a:xfrm>
          <a:prstGeom prst="rect">
            <a:avLst/>
          </a:prstGeom>
          <a:noFill/>
          <a:ln/>
        </p:spPr>
        <p:txBody>
          <a:bodyPr wrap="square" lIns="0" tIns="0" rIns="0" bIns="0" rtlCol="0" anchor="ctr"/>
          <a:lstStyle/>
          <a:p>
            <a:pPr marL="0" indent="0" algn="l">
              <a:buNone/>
            </a:pPr>
            <a:r>
              <a:rPr lang="en-US" sz="1400" dirty="0">
                <a:solidFill>
                  <a:srgbClr val="4B5563"/>
                </a:solidFill>
                <a:latin typeface="Manrope" pitchFamily="34" charset="0"/>
                <a:ea typeface="Manrope" pitchFamily="34" charset="-122"/>
                <a:cs typeface="Manrope" pitchFamily="34" charset="-120"/>
              </a:rPr>
              <a:t>La franchise supervise sa zone géographique, perçoit ses commissions et </a:t>
            </a:r>
            <a:r>
              <a:rPr lang="en-US" sz="1400" b="1" dirty="0">
                <a:solidFill>
                  <a:srgbClr val="6D28D9"/>
                </a:solidFill>
                <a:latin typeface="Manrope" pitchFamily="34" charset="0"/>
                <a:ea typeface="Manrope" pitchFamily="34" charset="-122"/>
                <a:cs typeface="Manrope" pitchFamily="34" charset="-120"/>
              </a:rPr>
              <a:t>reverse automatiquement des bonus de performance aux chauffeurs</a:t>
            </a:r>
            <a:r>
              <a:rPr lang="en-US" sz="1400" dirty="0">
                <a:solidFill>
                  <a:srgbClr val="4B5563"/>
                </a:solidFill>
                <a:latin typeface="Manrope" pitchFamily="34" charset="0"/>
                <a:ea typeface="Manrope" pitchFamily="34" charset="-122"/>
                <a:cs typeface="Manrope" pitchFamily="34" charset="-120"/>
              </a:rPr>
              <a:t> selon des indicateurs prédéfinis (notation, taux acceptation, volume).</a:t>
            </a:r>
            <a:endParaRPr lang="en-US" sz="1400" dirty="0"/>
          </a:p>
        </p:txBody>
      </p:sp>
      <p:sp>
        <p:nvSpPr>
          <p:cNvPr id="14" name="Shape 12"/>
          <p:cNvSpPr/>
          <p:nvPr/>
        </p:nvSpPr>
        <p:spPr>
          <a:xfrm>
            <a:off x="914400" y="3143707"/>
            <a:ext cx="8001000" cy="6096305"/>
          </a:xfrm>
          <a:prstGeom prst="roundRect">
            <a:avLst>
              <a:gd name="adj" fmla="val 2190"/>
            </a:avLst>
          </a:prstGeom>
          <a:solidFill>
            <a:srgbClr val="FAFAFC"/>
          </a:solidFill>
          <a:ln w="12700">
            <a:solidFill>
              <a:srgbClr val="E5E7EB"/>
            </a:solidFill>
            <a:prstDash val="solid"/>
          </a:ln>
        </p:spPr>
        <p:txBody>
          <a:bodyPr/>
          <a:lstStyle/>
          <a:p>
            <a:endParaRPr lang="fr-CI"/>
          </a:p>
        </p:txBody>
      </p:sp>
      <p:sp>
        <p:nvSpPr>
          <p:cNvPr id="15" name="Text 13"/>
          <p:cNvSpPr txBox="1"/>
          <p:nvPr/>
        </p:nvSpPr>
        <p:spPr>
          <a:xfrm>
            <a:off x="1218895" y="3372307"/>
            <a:ext cx="7429500" cy="267005"/>
          </a:xfrm>
          <a:prstGeom prst="rect">
            <a:avLst/>
          </a:prstGeom>
          <a:noFill/>
          <a:ln/>
        </p:spPr>
        <p:txBody>
          <a:bodyPr wrap="none" lIns="0" tIns="0" rIns="0" bIns="0" rtlCol="0" anchor="ctr"/>
          <a:lstStyle/>
          <a:p>
            <a:pPr marL="0" indent="0" algn="l">
              <a:buNone/>
            </a:pPr>
            <a:r>
              <a:rPr lang="en-US" sz="1600" b="1" dirty="0">
                <a:solidFill>
                  <a:srgbClr val="1F2937"/>
                </a:solidFill>
                <a:latin typeface="Manrope" pitchFamily="34" charset="0"/>
                <a:ea typeface="Manrope" pitchFamily="34" charset="-122"/>
                <a:cs typeface="Manrope" pitchFamily="34" charset="-120"/>
              </a:rPr>
              <a:t>13 fonctionnalités principales à tester</a:t>
            </a:r>
            <a:endParaRPr lang="en-US" sz="1600" dirty="0"/>
          </a:p>
        </p:txBody>
      </p:sp>
      <p:sp>
        <p:nvSpPr>
          <p:cNvPr id="16" name="Text 14"/>
          <p:cNvSpPr txBox="1"/>
          <p:nvPr/>
        </p:nvSpPr>
        <p:spPr>
          <a:xfrm>
            <a:off x="1218895" y="3786530"/>
            <a:ext cx="3600907"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01</a:t>
            </a:r>
            <a:r>
              <a:rPr lang="en-US" sz="1000" dirty="0">
                <a:solidFill>
                  <a:srgbClr val="1F2937"/>
                </a:solidFill>
                <a:latin typeface="Manrope" pitchFamily="34" charset="0"/>
                <a:ea typeface="Manrope" pitchFamily="34" charset="-122"/>
                <a:cs typeface="Manrope" pitchFamily="34" charset="-120"/>
              </a:rPr>
              <a:t> Gestion &amp; paramétrage de zone</a:t>
            </a:r>
            <a:endParaRPr lang="en-US" sz="1000" dirty="0"/>
          </a:p>
        </p:txBody>
      </p:sp>
      <p:sp>
        <p:nvSpPr>
          <p:cNvPr id="17" name="Text 15"/>
          <p:cNvSpPr txBox="1"/>
          <p:nvPr/>
        </p:nvSpPr>
        <p:spPr>
          <a:xfrm>
            <a:off x="5048402" y="3786530"/>
            <a:ext cx="3600907"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02</a:t>
            </a:r>
            <a:r>
              <a:rPr lang="en-US" sz="1000" dirty="0">
                <a:solidFill>
                  <a:srgbClr val="1F2937"/>
                </a:solidFill>
                <a:latin typeface="Manrope" pitchFamily="34" charset="0"/>
                <a:ea typeface="Manrope" pitchFamily="34" charset="-122"/>
                <a:cs typeface="Manrope" pitchFamily="34" charset="-120"/>
              </a:rPr>
              <a:t> Suivi des partenaires</a:t>
            </a:r>
            <a:endParaRPr lang="en-US" sz="1000" dirty="0"/>
          </a:p>
        </p:txBody>
      </p:sp>
      <p:sp>
        <p:nvSpPr>
          <p:cNvPr id="18" name="Text 16"/>
          <p:cNvSpPr txBox="1"/>
          <p:nvPr/>
        </p:nvSpPr>
        <p:spPr>
          <a:xfrm>
            <a:off x="1218895" y="4062679"/>
            <a:ext cx="3600907"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03</a:t>
            </a:r>
            <a:r>
              <a:rPr lang="en-US" sz="1000" dirty="0">
                <a:solidFill>
                  <a:srgbClr val="1F2937"/>
                </a:solidFill>
                <a:latin typeface="Manrope" pitchFamily="34" charset="0"/>
                <a:ea typeface="Manrope" pitchFamily="34" charset="-122"/>
                <a:cs typeface="Manrope" pitchFamily="34" charset="-120"/>
              </a:rPr>
              <a:t> Suivi des chauffeurs</a:t>
            </a:r>
            <a:endParaRPr lang="en-US" sz="1000" dirty="0"/>
          </a:p>
        </p:txBody>
      </p:sp>
      <p:sp>
        <p:nvSpPr>
          <p:cNvPr id="19" name="Text 17"/>
          <p:cNvSpPr txBox="1"/>
          <p:nvPr/>
        </p:nvSpPr>
        <p:spPr>
          <a:xfrm>
            <a:off x="5048402" y="4062679"/>
            <a:ext cx="3600907"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04</a:t>
            </a:r>
            <a:r>
              <a:rPr lang="en-US" sz="1000" dirty="0">
                <a:solidFill>
                  <a:srgbClr val="1F2937"/>
                </a:solidFill>
                <a:latin typeface="Manrope" pitchFamily="34" charset="0"/>
                <a:ea typeface="Manrope" pitchFamily="34" charset="-122"/>
                <a:cs typeface="Manrope" pitchFamily="34" charset="-120"/>
              </a:rPr>
              <a:t> Suivi des livreurs</a:t>
            </a:r>
            <a:endParaRPr lang="en-US" sz="1000" dirty="0"/>
          </a:p>
        </p:txBody>
      </p:sp>
      <p:sp>
        <p:nvSpPr>
          <p:cNvPr id="20" name="Text 18"/>
          <p:cNvSpPr txBox="1"/>
          <p:nvPr/>
        </p:nvSpPr>
        <p:spPr>
          <a:xfrm>
            <a:off x="1218895" y="4338828"/>
            <a:ext cx="3600907"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05</a:t>
            </a:r>
            <a:r>
              <a:rPr lang="en-US" sz="1000" dirty="0">
                <a:solidFill>
                  <a:srgbClr val="1F2937"/>
                </a:solidFill>
                <a:latin typeface="Manrope" pitchFamily="34" charset="0"/>
                <a:ea typeface="Manrope" pitchFamily="34" charset="-122"/>
                <a:cs typeface="Manrope" pitchFamily="34" charset="-120"/>
              </a:rPr>
              <a:t> Suivi des clients</a:t>
            </a:r>
            <a:endParaRPr lang="en-US" sz="1000" dirty="0"/>
          </a:p>
        </p:txBody>
      </p:sp>
      <p:sp>
        <p:nvSpPr>
          <p:cNvPr id="21" name="Text 19"/>
          <p:cNvSpPr txBox="1"/>
          <p:nvPr/>
        </p:nvSpPr>
        <p:spPr>
          <a:xfrm>
            <a:off x="5048402" y="4338828"/>
            <a:ext cx="3600907"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06</a:t>
            </a:r>
            <a:r>
              <a:rPr lang="en-US" sz="1000" dirty="0">
                <a:solidFill>
                  <a:srgbClr val="1F2937"/>
                </a:solidFill>
                <a:latin typeface="Manrope" pitchFamily="34" charset="0"/>
                <a:ea typeface="Manrope" pitchFamily="34" charset="-122"/>
                <a:cs typeface="Manrope" pitchFamily="34" charset="-120"/>
              </a:rPr>
              <a:t> Suivi courses &amp; livraisons</a:t>
            </a:r>
            <a:endParaRPr lang="en-US" sz="1000" dirty="0"/>
          </a:p>
        </p:txBody>
      </p:sp>
      <p:sp>
        <p:nvSpPr>
          <p:cNvPr id="22" name="Text 20"/>
          <p:cNvSpPr txBox="1"/>
          <p:nvPr/>
        </p:nvSpPr>
        <p:spPr>
          <a:xfrm>
            <a:off x="1218895" y="4614977"/>
            <a:ext cx="3600907"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07</a:t>
            </a:r>
            <a:r>
              <a:rPr lang="en-US" sz="1000" dirty="0">
                <a:solidFill>
                  <a:srgbClr val="1F2937"/>
                </a:solidFill>
                <a:latin typeface="Manrope" pitchFamily="34" charset="0"/>
                <a:ea typeface="Manrope" pitchFamily="34" charset="-122"/>
                <a:cs typeface="Manrope" pitchFamily="34" charset="-120"/>
              </a:rPr>
              <a:t> Perception des commissions zone</a:t>
            </a:r>
            <a:endParaRPr lang="en-US" sz="1000" dirty="0"/>
          </a:p>
        </p:txBody>
      </p:sp>
      <p:sp>
        <p:nvSpPr>
          <p:cNvPr id="23" name="Text 21"/>
          <p:cNvSpPr txBox="1"/>
          <p:nvPr/>
        </p:nvSpPr>
        <p:spPr>
          <a:xfrm>
            <a:off x="5048402" y="4614977"/>
            <a:ext cx="3600907"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08</a:t>
            </a:r>
            <a:r>
              <a:rPr lang="en-US" sz="1000" dirty="0">
                <a:solidFill>
                  <a:srgbClr val="1F2937"/>
                </a:solidFill>
                <a:latin typeface="Manrope" pitchFamily="34" charset="0"/>
                <a:ea typeface="Manrope" pitchFamily="34" charset="-122"/>
                <a:cs typeface="Manrope" pitchFamily="34" charset="-120"/>
              </a:rPr>
              <a:t> Reporting opérationnel</a:t>
            </a:r>
            <a:endParaRPr lang="en-US" sz="1000" dirty="0"/>
          </a:p>
        </p:txBody>
      </p:sp>
      <p:sp>
        <p:nvSpPr>
          <p:cNvPr id="24" name="Text 22"/>
          <p:cNvSpPr txBox="1"/>
          <p:nvPr/>
        </p:nvSpPr>
        <p:spPr>
          <a:xfrm>
            <a:off x="1218895" y="4891126"/>
            <a:ext cx="3600907" cy="257861"/>
          </a:xfrm>
          <a:prstGeom prst="rect">
            <a:avLst/>
          </a:prstGeom>
          <a:noFill/>
          <a:ln/>
        </p:spPr>
        <p:txBody>
          <a:bodyPr wrap="squar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09</a:t>
            </a:r>
            <a:r>
              <a:rPr lang="en-US" sz="1000" dirty="0">
                <a:solidFill>
                  <a:srgbClr val="1F2937"/>
                </a:solidFill>
                <a:latin typeface="Manrope" pitchFamily="34" charset="0"/>
                <a:ea typeface="Manrope" pitchFamily="34" charset="-122"/>
                <a:cs typeface="Manrope" pitchFamily="34" charset="-120"/>
              </a:rPr>
              <a:t> Reporting financier</a:t>
            </a:r>
            <a:endParaRPr lang="en-US" sz="1000" dirty="0"/>
          </a:p>
        </p:txBody>
      </p:sp>
      <p:sp>
        <p:nvSpPr>
          <p:cNvPr id="25" name="Shape 23"/>
          <p:cNvSpPr/>
          <p:nvPr/>
        </p:nvSpPr>
        <p:spPr>
          <a:xfrm>
            <a:off x="5048402" y="4891126"/>
            <a:ext cx="3600907" cy="256946"/>
          </a:xfrm>
          <a:prstGeom prst="roundRect">
            <a:avLst>
              <a:gd name="adj" fmla="val 22420"/>
            </a:avLst>
          </a:prstGeom>
          <a:solidFill>
            <a:srgbClr val="F5F3FF"/>
          </a:solidFill>
          <a:ln w="12700">
            <a:solidFill>
              <a:srgbClr val="FFFFFF">
                <a:alpha val="0"/>
              </a:srgbClr>
            </a:solidFill>
            <a:prstDash val="solid"/>
          </a:ln>
        </p:spPr>
        <p:txBody>
          <a:bodyPr/>
          <a:lstStyle/>
          <a:p>
            <a:endParaRPr lang="fr-CI"/>
          </a:p>
        </p:txBody>
      </p:sp>
      <p:sp>
        <p:nvSpPr>
          <p:cNvPr id="26" name="Text 24"/>
          <p:cNvSpPr txBox="1"/>
          <p:nvPr/>
        </p:nvSpPr>
        <p:spPr>
          <a:xfrm>
            <a:off x="5124298" y="4929530"/>
            <a:ext cx="162763"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10</a:t>
            </a:r>
            <a:endParaRPr lang="en-US" sz="1000" dirty="0"/>
          </a:p>
        </p:txBody>
      </p:sp>
      <p:sp>
        <p:nvSpPr>
          <p:cNvPr id="27" name="Text 25"/>
          <p:cNvSpPr txBox="1"/>
          <p:nvPr/>
        </p:nvSpPr>
        <p:spPr>
          <a:xfrm>
            <a:off x="5361127" y="4929530"/>
            <a:ext cx="3049524"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Paramétrage règles bonus performance</a:t>
            </a:r>
            <a:endParaRPr lang="en-US" sz="1000" dirty="0"/>
          </a:p>
        </p:txBody>
      </p:sp>
      <p:sp>
        <p:nvSpPr>
          <p:cNvPr id="28" name="Shape 26"/>
          <p:cNvSpPr/>
          <p:nvPr/>
        </p:nvSpPr>
        <p:spPr>
          <a:xfrm>
            <a:off x="1218895" y="5243170"/>
            <a:ext cx="3600907" cy="256946"/>
          </a:xfrm>
          <a:prstGeom prst="roundRect">
            <a:avLst>
              <a:gd name="adj" fmla="val 22420"/>
            </a:avLst>
          </a:prstGeom>
          <a:solidFill>
            <a:srgbClr val="F5F3FF"/>
          </a:solidFill>
          <a:ln w="12700">
            <a:solidFill>
              <a:srgbClr val="FFFFFF">
                <a:alpha val="0"/>
              </a:srgbClr>
            </a:solidFill>
            <a:prstDash val="solid"/>
          </a:ln>
        </p:spPr>
        <p:txBody>
          <a:bodyPr/>
          <a:lstStyle/>
          <a:p>
            <a:endParaRPr lang="fr-CI"/>
          </a:p>
        </p:txBody>
      </p:sp>
      <p:sp>
        <p:nvSpPr>
          <p:cNvPr id="29" name="Text 27"/>
          <p:cNvSpPr txBox="1"/>
          <p:nvPr/>
        </p:nvSpPr>
        <p:spPr>
          <a:xfrm>
            <a:off x="1295705" y="5281574"/>
            <a:ext cx="162763"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11</a:t>
            </a:r>
            <a:endParaRPr lang="en-US" sz="1000" dirty="0"/>
          </a:p>
        </p:txBody>
      </p:sp>
      <p:sp>
        <p:nvSpPr>
          <p:cNvPr id="30" name="Text 28"/>
          <p:cNvSpPr txBox="1"/>
          <p:nvPr/>
        </p:nvSpPr>
        <p:spPr>
          <a:xfrm>
            <a:off x="1531620" y="5281574"/>
            <a:ext cx="2484425"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Reversement bonus automatique</a:t>
            </a:r>
            <a:endParaRPr lang="en-US" sz="1000" dirty="0"/>
          </a:p>
        </p:txBody>
      </p:sp>
      <p:sp>
        <p:nvSpPr>
          <p:cNvPr id="31" name="Text 29"/>
          <p:cNvSpPr txBox="1"/>
          <p:nvPr/>
        </p:nvSpPr>
        <p:spPr>
          <a:xfrm>
            <a:off x="5048402" y="5243170"/>
            <a:ext cx="3600907" cy="257861"/>
          </a:xfrm>
          <a:prstGeom prst="rect">
            <a:avLst/>
          </a:prstGeom>
          <a:noFill/>
          <a:ln/>
        </p:spPr>
        <p:txBody>
          <a:bodyPr wrap="squar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12</a:t>
            </a:r>
            <a:r>
              <a:rPr lang="en-US" sz="1000" dirty="0">
                <a:solidFill>
                  <a:srgbClr val="1F2937"/>
                </a:solidFill>
                <a:latin typeface="Manrope" pitchFamily="34" charset="0"/>
                <a:ea typeface="Manrope" pitchFamily="34" charset="-122"/>
                <a:cs typeface="Manrope" pitchFamily="34" charset="-120"/>
              </a:rPr>
              <a:t> Gestion incidents zone</a:t>
            </a:r>
            <a:endParaRPr lang="en-US" sz="1000" dirty="0"/>
          </a:p>
        </p:txBody>
      </p:sp>
      <p:sp>
        <p:nvSpPr>
          <p:cNvPr id="32" name="Text 30"/>
          <p:cNvSpPr txBox="1"/>
          <p:nvPr/>
        </p:nvSpPr>
        <p:spPr>
          <a:xfrm>
            <a:off x="1218895" y="5596128"/>
            <a:ext cx="3600907"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13</a:t>
            </a:r>
            <a:r>
              <a:rPr lang="en-US" sz="1000" dirty="0">
                <a:solidFill>
                  <a:srgbClr val="1F2937"/>
                </a:solidFill>
                <a:latin typeface="Manrope" pitchFamily="34" charset="0"/>
                <a:ea typeface="Manrope" pitchFamily="34" charset="-122"/>
                <a:cs typeface="Manrope" pitchFamily="34" charset="-120"/>
              </a:rPr>
              <a:t> Escalade vers central</a:t>
            </a:r>
            <a:endParaRPr lang="en-US" sz="1000" dirty="0"/>
          </a:p>
        </p:txBody>
      </p:sp>
      <p:sp>
        <p:nvSpPr>
          <p:cNvPr id="33" name="Shape 31"/>
          <p:cNvSpPr/>
          <p:nvPr/>
        </p:nvSpPr>
        <p:spPr>
          <a:xfrm>
            <a:off x="1218895" y="6005779"/>
            <a:ext cx="7429500" cy="1314907"/>
          </a:xfrm>
          <a:prstGeom prst="roundRect">
            <a:avLst>
              <a:gd name="adj" fmla="val 7232"/>
            </a:avLst>
          </a:prstGeom>
          <a:solidFill>
            <a:srgbClr val="FFFFFF"/>
          </a:solidFill>
          <a:ln w="25400">
            <a:solidFill>
              <a:srgbClr val="6D28D9"/>
            </a:solidFill>
            <a:prstDash val="solid"/>
          </a:ln>
        </p:spPr>
        <p:txBody>
          <a:bodyPr/>
          <a:lstStyle/>
          <a:p>
            <a:endParaRPr lang="fr-CI"/>
          </a:p>
        </p:txBody>
      </p:sp>
      <p:sp>
        <p:nvSpPr>
          <p:cNvPr id="34" name="Text 32"/>
          <p:cNvSpPr txBox="1"/>
          <p:nvPr/>
        </p:nvSpPr>
        <p:spPr>
          <a:xfrm>
            <a:off x="1410005" y="6195974"/>
            <a:ext cx="7049110" cy="133502"/>
          </a:xfrm>
          <a:prstGeom prst="rect">
            <a:avLst/>
          </a:prstGeom>
          <a:noFill/>
          <a:ln/>
        </p:spPr>
        <p:txBody>
          <a:bodyPr wrap="none" lIns="0" tIns="0" rIns="0" bIns="0" rtlCol="0" anchor="ctr"/>
          <a:lstStyle/>
          <a:p>
            <a:pPr marL="0" indent="0" algn="l">
              <a:buNone/>
            </a:pPr>
            <a:r>
              <a:rPr lang="en-US" sz="800" b="1" kern="0" spc="99" dirty="0">
                <a:solidFill>
                  <a:srgbClr val="6D28D9"/>
                </a:solidFill>
                <a:latin typeface="JetBrains Mono" pitchFamily="34" charset="0"/>
                <a:ea typeface="JetBrains Mono" pitchFamily="34" charset="-122"/>
                <a:cs typeface="JetBrains Mono" pitchFamily="34" charset="-120"/>
              </a:rPr>
              <a:t>Moteur de bonus — indicateurs prédéfinis</a:t>
            </a:r>
            <a:endParaRPr lang="en-US" sz="800" dirty="0"/>
          </a:p>
        </p:txBody>
      </p:sp>
      <p:sp>
        <p:nvSpPr>
          <p:cNvPr id="35" name="Text 33"/>
          <p:cNvSpPr txBox="1"/>
          <p:nvPr/>
        </p:nvSpPr>
        <p:spPr>
          <a:xfrm>
            <a:off x="1410005" y="6443777"/>
            <a:ext cx="3448202" cy="171907"/>
          </a:xfrm>
          <a:prstGeom prst="rect">
            <a:avLst/>
          </a:prstGeom>
          <a:noFill/>
          <a:ln/>
        </p:spPr>
        <p:txBody>
          <a:bodyPr wrap="none" lIns="0" tIns="0" rIns="0" bIns="0" rtlCol="0" anchor="ctr"/>
          <a:lstStyle/>
          <a:p>
            <a:pPr marL="0" indent="0" algn="l">
              <a:buNone/>
            </a:pPr>
            <a:r>
              <a:rPr lang="en-US" sz="900" b="1" dirty="0">
                <a:solidFill>
                  <a:srgbClr val="6D28D9"/>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Nombre de courses ≥ seuil</a:t>
            </a:r>
            <a:endParaRPr lang="en-US" sz="900" dirty="0"/>
          </a:p>
        </p:txBody>
      </p:sp>
      <p:sp>
        <p:nvSpPr>
          <p:cNvPr id="36" name="Text 34"/>
          <p:cNvSpPr txBox="1"/>
          <p:nvPr/>
        </p:nvSpPr>
        <p:spPr>
          <a:xfrm>
            <a:off x="5009998" y="6443777"/>
            <a:ext cx="3448202" cy="171907"/>
          </a:xfrm>
          <a:prstGeom prst="rect">
            <a:avLst/>
          </a:prstGeom>
          <a:noFill/>
          <a:ln/>
        </p:spPr>
        <p:txBody>
          <a:bodyPr wrap="none" lIns="0" tIns="0" rIns="0" bIns="0" rtlCol="0" anchor="ctr"/>
          <a:lstStyle/>
          <a:p>
            <a:pPr marL="0" indent="0" algn="l">
              <a:buNone/>
            </a:pPr>
            <a:r>
              <a:rPr lang="en-US" sz="900" b="1" dirty="0">
                <a:solidFill>
                  <a:srgbClr val="6D28D9"/>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Note moyenne ≥ 4.5 / 5</a:t>
            </a:r>
            <a:endParaRPr lang="en-US" sz="900" dirty="0"/>
          </a:p>
        </p:txBody>
      </p:sp>
      <p:sp>
        <p:nvSpPr>
          <p:cNvPr id="37" name="Text 35"/>
          <p:cNvSpPr txBox="1"/>
          <p:nvPr/>
        </p:nvSpPr>
        <p:spPr>
          <a:xfrm>
            <a:off x="1410005" y="6691579"/>
            <a:ext cx="3448202" cy="171907"/>
          </a:xfrm>
          <a:prstGeom prst="rect">
            <a:avLst/>
          </a:prstGeom>
          <a:noFill/>
          <a:ln/>
        </p:spPr>
        <p:txBody>
          <a:bodyPr wrap="none" lIns="0" tIns="0" rIns="0" bIns="0" rtlCol="0" anchor="ctr"/>
          <a:lstStyle/>
          <a:p>
            <a:pPr marL="0" indent="0" algn="l">
              <a:buNone/>
            </a:pPr>
            <a:r>
              <a:rPr lang="en-US" sz="900" b="1" dirty="0">
                <a:solidFill>
                  <a:srgbClr val="6D28D9"/>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Taux acceptation ≥ 90 %</a:t>
            </a:r>
            <a:endParaRPr lang="en-US" sz="900" dirty="0"/>
          </a:p>
        </p:txBody>
      </p:sp>
      <p:sp>
        <p:nvSpPr>
          <p:cNvPr id="38" name="Text 36"/>
          <p:cNvSpPr txBox="1"/>
          <p:nvPr/>
        </p:nvSpPr>
        <p:spPr>
          <a:xfrm>
            <a:off x="5009998" y="6691579"/>
            <a:ext cx="3448202" cy="171907"/>
          </a:xfrm>
          <a:prstGeom prst="rect">
            <a:avLst/>
          </a:prstGeom>
          <a:noFill/>
          <a:ln/>
        </p:spPr>
        <p:txBody>
          <a:bodyPr wrap="none" lIns="0" tIns="0" rIns="0" bIns="0" rtlCol="0" anchor="ctr"/>
          <a:lstStyle/>
          <a:p>
            <a:pPr marL="0" indent="0" algn="l">
              <a:buNone/>
            </a:pPr>
            <a:r>
              <a:rPr lang="en-US" sz="900" b="1" dirty="0">
                <a:solidFill>
                  <a:srgbClr val="6D28D9"/>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Taux annulation ≤ 5 %</a:t>
            </a:r>
            <a:endParaRPr lang="en-US" sz="900" dirty="0"/>
          </a:p>
        </p:txBody>
      </p:sp>
      <p:sp>
        <p:nvSpPr>
          <p:cNvPr id="39" name="Text 37"/>
          <p:cNvSpPr txBox="1"/>
          <p:nvPr/>
        </p:nvSpPr>
        <p:spPr>
          <a:xfrm>
            <a:off x="1410005" y="6957670"/>
            <a:ext cx="7734910" cy="171907"/>
          </a:xfrm>
          <a:prstGeom prst="rect">
            <a:avLst/>
          </a:prstGeom>
          <a:noFill/>
          <a:ln/>
        </p:spPr>
        <p:txBody>
          <a:bodyPr wrap="none" lIns="0" tIns="0" rIns="0" bIns="0" rtlCol="0" anchor="ctr"/>
          <a:lstStyle/>
          <a:p>
            <a:pPr marL="0" indent="0" algn="l">
              <a:buNone/>
            </a:pPr>
            <a:r>
              <a:rPr lang="en-US" sz="900" i="1" dirty="0">
                <a:solidFill>
                  <a:srgbClr val="6B7280"/>
                </a:solidFill>
                <a:latin typeface="Manrope" pitchFamily="34" charset="0"/>
                <a:ea typeface="Manrope" pitchFamily="34" charset="-122"/>
                <a:cs typeface="Manrope" pitchFamily="34" charset="-120"/>
              </a:rPr>
              <a:t>Le moteur évalue automatiquement les chauffeurs en fin de période et crédite leur wallet sans intervention manuelle.</a:t>
            </a:r>
            <a:endParaRPr lang="en-US" sz="900" dirty="0"/>
          </a:p>
        </p:txBody>
      </p:sp>
      <p:sp>
        <p:nvSpPr>
          <p:cNvPr id="40" name="Shape 38"/>
          <p:cNvSpPr/>
          <p:nvPr/>
        </p:nvSpPr>
        <p:spPr>
          <a:xfrm>
            <a:off x="1218895" y="7453274"/>
            <a:ext cx="1333195" cy="286207"/>
          </a:xfrm>
          <a:prstGeom prst="roundRect">
            <a:avLst>
              <a:gd name="adj" fmla="val 49840"/>
            </a:avLst>
          </a:prstGeom>
          <a:solidFill>
            <a:srgbClr val="FEF3C7"/>
          </a:solidFill>
          <a:ln w="12700">
            <a:solidFill>
              <a:srgbClr val="FFFFFF">
                <a:alpha val="0"/>
              </a:srgbClr>
            </a:solidFill>
            <a:prstDash val="solid"/>
          </a:ln>
        </p:spPr>
        <p:txBody>
          <a:bodyPr/>
          <a:lstStyle/>
          <a:p>
            <a:endParaRPr lang="fr-CI"/>
          </a:p>
        </p:txBody>
      </p:sp>
      <p:sp>
        <p:nvSpPr>
          <p:cNvPr id="41" name="Text 39"/>
          <p:cNvSpPr/>
          <p:nvPr/>
        </p:nvSpPr>
        <p:spPr>
          <a:xfrm>
            <a:off x="1218895" y="7453274"/>
            <a:ext cx="1334110"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2400E"/>
                </a:solidFill>
                <a:latin typeface="Manrope" pitchFamily="34" charset="0"/>
                <a:ea typeface="Manrope" pitchFamily="34" charset="-122"/>
                <a:cs typeface="Manrope" pitchFamily="34" charset="-120"/>
              </a:rPr>
              <a:t>Criticité : Critique</a:t>
            </a:r>
            <a:endParaRPr lang="en-US" sz="900" dirty="0"/>
          </a:p>
        </p:txBody>
      </p:sp>
      <p:sp>
        <p:nvSpPr>
          <p:cNvPr id="42" name="Shape 40"/>
          <p:cNvSpPr/>
          <p:nvPr/>
        </p:nvSpPr>
        <p:spPr>
          <a:xfrm>
            <a:off x="2648102" y="7453274"/>
            <a:ext cx="1390802"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43" name="Text 41"/>
          <p:cNvSpPr/>
          <p:nvPr/>
        </p:nvSpPr>
        <p:spPr>
          <a:xfrm>
            <a:off x="2648102" y="7453274"/>
            <a:ext cx="1390802"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UC-FR01 · UC-FR02</a:t>
            </a:r>
            <a:endParaRPr lang="en-US" sz="900" dirty="0"/>
          </a:p>
        </p:txBody>
      </p:sp>
      <p:pic>
        <p:nvPicPr>
          <p:cNvPr id="44" name="Image 0" descr="gen-dedup-2af7be120ed38991f6616fbe6dd0a54d.jpg"/>
          <p:cNvPicPr>
            <a:picLocks noChangeAspect="1"/>
          </p:cNvPicPr>
          <p:nvPr/>
        </p:nvPicPr>
        <p:blipFill>
          <a:blip r:embed="rId3"/>
          <a:srcRect t="-16156" b="-16156"/>
          <a:stretch/>
        </p:blipFill>
        <p:spPr>
          <a:xfrm>
            <a:off x="9219895" y="3143707"/>
            <a:ext cx="8191195" cy="6096305"/>
          </a:xfrm>
          <a:prstGeom prst="rect">
            <a:avLst/>
          </a:prstGeom>
        </p:spPr>
      </p:pic>
      <p:sp>
        <p:nvSpPr>
          <p:cNvPr id="45" name="Text 42"/>
          <p:cNvSpPr txBox="1"/>
          <p:nvPr/>
        </p:nvSpPr>
        <p:spPr>
          <a:xfrm>
            <a:off x="9219895" y="9334195"/>
            <a:ext cx="8192110" cy="219456"/>
          </a:xfrm>
          <a:prstGeom prst="rect">
            <a:avLst/>
          </a:prstGeom>
          <a:noFill/>
          <a:ln/>
        </p:spPr>
        <p:txBody>
          <a:bodyPr wrap="none" lIns="0" tIns="0" rIns="0" bIns="0" rtlCol="0" anchor="ctr"/>
          <a:lstStyle/>
          <a:p>
            <a:pPr marL="0" indent="0" algn="ctr">
              <a:buNone/>
            </a:pPr>
            <a:r>
              <a:rPr lang="en-US" sz="1100" i="1" dirty="0">
                <a:solidFill>
                  <a:srgbClr val="6B7280"/>
                </a:solidFill>
                <a:latin typeface="Manrope" pitchFamily="34" charset="0"/>
                <a:ea typeface="Manrope" pitchFamily="34" charset="-122"/>
                <a:cs typeface="Manrope" pitchFamily="34" charset="-120"/>
              </a:rPr>
              <a:t>Fig. 14.1 — Reversement automatique des bonus aux chauffeurs selon indicateurs prédéfinis</a:t>
            </a:r>
            <a:endParaRPr lang="en-US" sz="1100" dirty="0"/>
          </a:p>
        </p:txBody>
      </p:sp>
      <p:sp>
        <p:nvSpPr>
          <p:cNvPr id="46" name="Shape 43"/>
          <p:cNvSpPr/>
          <p:nvPr/>
        </p:nvSpPr>
        <p:spPr>
          <a:xfrm>
            <a:off x="0" y="9791395"/>
            <a:ext cx="18288000" cy="495605"/>
          </a:xfrm>
          <a:prstGeom prst="rect">
            <a:avLst/>
          </a:prstGeom>
          <a:solidFill>
            <a:srgbClr val="FFFFFF"/>
          </a:solidFill>
          <a:ln/>
        </p:spPr>
        <p:txBody>
          <a:bodyPr/>
          <a:lstStyle/>
          <a:p>
            <a:endParaRPr lang="fr-CI"/>
          </a:p>
        </p:txBody>
      </p:sp>
      <p:sp>
        <p:nvSpPr>
          <p:cNvPr id="47" name="Shape 44"/>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48" name="Text 45"/>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49" name="Text 46"/>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14 / 59</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5581376" y="256946"/>
            <a:ext cx="2505456"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Service 5.7 — Central / Siège</a:t>
            </a:r>
            <a:endParaRPr lang="en-US" sz="900" dirty="0"/>
          </a:p>
        </p:txBody>
      </p:sp>
      <p:sp>
        <p:nvSpPr>
          <p:cNvPr id="10" name="Text 8"/>
          <p:cNvSpPr txBox="1"/>
          <p:nvPr/>
        </p:nvSpPr>
        <p:spPr>
          <a:xfrm>
            <a:off x="914400" y="1205179"/>
            <a:ext cx="2572207" cy="181051"/>
          </a:xfrm>
          <a:prstGeom prst="rect">
            <a:avLst/>
          </a:prstGeom>
          <a:noFill/>
          <a:ln/>
        </p:spPr>
        <p:txBody>
          <a:bodyPr wrap="none" lIns="0" tIns="0" rIns="0" bIns="0" rtlCol="0" anchor="ctr"/>
          <a:lstStyle/>
          <a:p>
            <a:pPr marL="0" indent="0" algn="l">
              <a:buNone/>
            </a:pPr>
            <a:r>
              <a:rPr lang="en-US" sz="1400" b="1" kern="0" spc="189" dirty="0">
                <a:solidFill>
                  <a:srgbClr val="6D28D9"/>
                </a:solidFill>
                <a:latin typeface="Manrope" pitchFamily="34" charset="0"/>
                <a:ea typeface="Manrope" pitchFamily="34" charset="-122"/>
                <a:cs typeface="Manrope" pitchFamily="34" charset="-120"/>
              </a:rPr>
              <a:t>5.7 · Service à recetter</a:t>
            </a:r>
            <a:endParaRPr lang="en-US" sz="14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6695174" cy="1095451"/>
          </a:xfrm>
          <a:prstGeom prst="rect">
            <a:avLst/>
          </a:prstGeom>
          <a:noFill/>
          <a:ln/>
        </p:spPr>
        <p:txBody>
          <a:bodyPr wrap="squar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Central / Siège — supervision globale &amp; paramétrage · 18 fonctionnalités.</a:t>
            </a:r>
            <a:endParaRPr lang="en-US" sz="3900" dirty="0"/>
          </a:p>
        </p:txBody>
      </p:sp>
      <p:sp>
        <p:nvSpPr>
          <p:cNvPr id="13" name="Text 11"/>
          <p:cNvSpPr txBox="1"/>
          <p:nvPr/>
        </p:nvSpPr>
        <p:spPr>
          <a:xfrm>
            <a:off x="934516" y="2648103"/>
            <a:ext cx="16193110" cy="514807"/>
          </a:xfrm>
          <a:prstGeom prst="rect">
            <a:avLst/>
          </a:prstGeom>
          <a:noFill/>
          <a:ln/>
        </p:spPr>
        <p:txBody>
          <a:bodyPr wrap="square" lIns="0" tIns="0" rIns="0" bIns="0" rtlCol="0" anchor="ctr"/>
          <a:lstStyle/>
          <a:p>
            <a:pPr marL="0" indent="0" algn="l">
              <a:buNone/>
            </a:pPr>
            <a:r>
              <a:rPr lang="en-US" sz="1300" dirty="0">
                <a:solidFill>
                  <a:srgbClr val="4B5563"/>
                </a:solidFill>
                <a:latin typeface="Manrope" pitchFamily="34" charset="0"/>
                <a:ea typeface="Manrope" pitchFamily="34" charset="-122"/>
                <a:cs typeface="Manrope" pitchFamily="34" charset="-120"/>
              </a:rPr>
              <a:t>Le central </a:t>
            </a:r>
            <a:r>
              <a:rPr lang="en-US" sz="1300" b="1" dirty="0">
                <a:solidFill>
                  <a:srgbClr val="4B5563"/>
                </a:solidFill>
                <a:latin typeface="Manrope" pitchFamily="34" charset="0"/>
                <a:ea typeface="Manrope" pitchFamily="34" charset="-122"/>
                <a:cs typeface="Manrope" pitchFamily="34" charset="-120"/>
              </a:rPr>
              <a:t>paramètre tarifs, commissions et règles de bonus</a:t>
            </a:r>
            <a:r>
              <a:rPr lang="en-US" sz="1300" dirty="0">
                <a:solidFill>
                  <a:srgbClr val="4B5563"/>
                </a:solidFill>
                <a:latin typeface="Manrope" pitchFamily="34" charset="0"/>
                <a:ea typeface="Manrope" pitchFamily="34" charset="-122"/>
                <a:cs typeface="Manrope" pitchFamily="34" charset="-120"/>
              </a:rPr>
              <a:t>, supervise toutes les opérations, gère les wallets, audite les transactions et arbitre les escalades. </a:t>
            </a:r>
            <a:r>
              <a:rPr lang="en-US" sz="1300" b="1" dirty="0">
                <a:solidFill>
                  <a:srgbClr val="6D28D9"/>
                </a:solidFill>
                <a:latin typeface="Manrope" pitchFamily="34" charset="0"/>
                <a:ea typeface="Manrope" pitchFamily="34" charset="-122"/>
                <a:cs typeface="Manrope" pitchFamily="34" charset="-120"/>
              </a:rPr>
              <a:t>Il NE recharge PAS les wallets des chauffeurs</a:t>
            </a:r>
            <a:r>
              <a:rPr lang="en-US" sz="1300" dirty="0">
                <a:solidFill>
                  <a:srgbClr val="4B5563"/>
                </a:solidFill>
                <a:latin typeface="Manrope" pitchFamily="34" charset="0"/>
                <a:ea typeface="Manrope" pitchFamily="34" charset="-122"/>
                <a:cs typeface="Manrope" pitchFamily="34" charset="-120"/>
              </a:rPr>
              <a:t> — cette opération relève exclusivement du partenaire ou de l'auto-recharge.</a:t>
            </a:r>
            <a:endParaRPr lang="en-US" sz="1300" dirty="0"/>
          </a:p>
        </p:txBody>
      </p:sp>
      <p:sp>
        <p:nvSpPr>
          <p:cNvPr id="14" name="Shape 12"/>
          <p:cNvSpPr/>
          <p:nvPr/>
        </p:nvSpPr>
        <p:spPr>
          <a:xfrm>
            <a:off x="914400" y="3429000"/>
            <a:ext cx="4028846" cy="714146"/>
          </a:xfrm>
          <a:prstGeom prst="roundRect">
            <a:avLst>
              <a:gd name="adj" fmla="val 18694"/>
            </a:avLst>
          </a:prstGeom>
          <a:solidFill>
            <a:srgbClr val="F5F4FB"/>
          </a:solidFill>
          <a:ln w="12700">
            <a:solidFill>
              <a:srgbClr val="E5E7EB"/>
            </a:solidFill>
            <a:prstDash val="solid"/>
          </a:ln>
        </p:spPr>
        <p:txBody>
          <a:bodyPr/>
          <a:lstStyle/>
          <a:p>
            <a:endParaRPr lang="fr-CI"/>
          </a:p>
        </p:txBody>
      </p:sp>
      <p:sp>
        <p:nvSpPr>
          <p:cNvPr id="15" name="Text 13"/>
          <p:cNvSpPr txBox="1"/>
          <p:nvPr/>
        </p:nvSpPr>
        <p:spPr>
          <a:xfrm>
            <a:off x="1076249" y="3590849"/>
            <a:ext cx="3706063"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01</a:t>
            </a:r>
            <a:endParaRPr lang="en-US" sz="800" dirty="0"/>
          </a:p>
        </p:txBody>
      </p:sp>
      <p:sp>
        <p:nvSpPr>
          <p:cNvPr id="16" name="Text 14"/>
          <p:cNvSpPr txBox="1"/>
          <p:nvPr/>
        </p:nvSpPr>
        <p:spPr>
          <a:xfrm>
            <a:off x="1076249" y="3781044"/>
            <a:ext cx="3706063" cy="200254"/>
          </a:xfrm>
          <a:prstGeom prst="rect">
            <a:avLst/>
          </a:prstGeom>
          <a:noFill/>
          <a:ln/>
        </p:spPr>
        <p:txBody>
          <a:bodyPr wrap="none" lIns="0" tIns="0" rIns="0" bIns="0" rtlCol="0" anchor="ctr"/>
          <a:lstStyle/>
          <a:p>
            <a:pPr marL="0" indent="0" algn="l">
              <a:buNone/>
            </a:pPr>
            <a:r>
              <a:rPr lang="en-US" sz="1100" b="1" dirty="0">
                <a:solidFill>
                  <a:srgbClr val="1F2937"/>
                </a:solidFill>
                <a:latin typeface="Manrope" pitchFamily="34" charset="0"/>
                <a:ea typeface="Manrope" pitchFamily="34" charset="-122"/>
                <a:cs typeface="Manrope" pitchFamily="34" charset="-120"/>
              </a:rPr>
              <a:t>Administration globale</a:t>
            </a:r>
            <a:endParaRPr lang="en-US" sz="1100" dirty="0"/>
          </a:p>
        </p:txBody>
      </p:sp>
      <p:sp>
        <p:nvSpPr>
          <p:cNvPr id="17" name="Shape 15"/>
          <p:cNvSpPr/>
          <p:nvPr/>
        </p:nvSpPr>
        <p:spPr>
          <a:xfrm>
            <a:off x="5072177" y="3429000"/>
            <a:ext cx="4028846" cy="714146"/>
          </a:xfrm>
          <a:prstGeom prst="roundRect">
            <a:avLst>
              <a:gd name="adj" fmla="val 18694"/>
            </a:avLst>
          </a:prstGeom>
          <a:solidFill>
            <a:srgbClr val="F5F4FB"/>
          </a:solidFill>
          <a:ln w="12700">
            <a:solidFill>
              <a:srgbClr val="E5E7EB"/>
            </a:solidFill>
            <a:prstDash val="solid"/>
          </a:ln>
        </p:spPr>
        <p:txBody>
          <a:bodyPr/>
          <a:lstStyle/>
          <a:p>
            <a:endParaRPr lang="fr-CI"/>
          </a:p>
        </p:txBody>
      </p:sp>
      <p:sp>
        <p:nvSpPr>
          <p:cNvPr id="18" name="Text 16"/>
          <p:cNvSpPr txBox="1"/>
          <p:nvPr/>
        </p:nvSpPr>
        <p:spPr>
          <a:xfrm>
            <a:off x="5234026" y="3590849"/>
            <a:ext cx="3706063"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02</a:t>
            </a:r>
            <a:endParaRPr lang="en-US" sz="800" dirty="0"/>
          </a:p>
        </p:txBody>
      </p:sp>
      <p:sp>
        <p:nvSpPr>
          <p:cNvPr id="19" name="Text 17"/>
          <p:cNvSpPr txBox="1"/>
          <p:nvPr/>
        </p:nvSpPr>
        <p:spPr>
          <a:xfrm>
            <a:off x="5234026" y="3781044"/>
            <a:ext cx="3706063" cy="200254"/>
          </a:xfrm>
          <a:prstGeom prst="rect">
            <a:avLst/>
          </a:prstGeom>
          <a:noFill/>
          <a:ln/>
        </p:spPr>
        <p:txBody>
          <a:bodyPr wrap="none" lIns="0" tIns="0" rIns="0" bIns="0" rtlCol="0" anchor="ctr"/>
          <a:lstStyle/>
          <a:p>
            <a:pPr marL="0" indent="0" algn="l">
              <a:buNone/>
            </a:pPr>
            <a:r>
              <a:rPr lang="en-US" sz="1100" b="1" dirty="0">
                <a:solidFill>
                  <a:srgbClr val="1F2937"/>
                </a:solidFill>
                <a:latin typeface="Manrope" pitchFamily="34" charset="0"/>
                <a:ea typeface="Manrope" pitchFamily="34" charset="-122"/>
                <a:cs typeface="Manrope" pitchFamily="34" charset="-120"/>
              </a:rPr>
              <a:t>Supervision tous services</a:t>
            </a:r>
            <a:endParaRPr lang="en-US" sz="1100" dirty="0"/>
          </a:p>
        </p:txBody>
      </p:sp>
      <p:sp>
        <p:nvSpPr>
          <p:cNvPr id="20" name="Shape 18"/>
          <p:cNvSpPr/>
          <p:nvPr/>
        </p:nvSpPr>
        <p:spPr>
          <a:xfrm>
            <a:off x="9229954" y="3429000"/>
            <a:ext cx="4028846" cy="714146"/>
          </a:xfrm>
          <a:prstGeom prst="roundRect">
            <a:avLst>
              <a:gd name="adj" fmla="val 18694"/>
            </a:avLst>
          </a:prstGeom>
          <a:solidFill>
            <a:srgbClr val="F5F4FB"/>
          </a:solidFill>
          <a:ln w="12700">
            <a:solidFill>
              <a:srgbClr val="E5E7EB"/>
            </a:solidFill>
            <a:prstDash val="solid"/>
          </a:ln>
        </p:spPr>
        <p:txBody>
          <a:bodyPr/>
          <a:lstStyle/>
          <a:p>
            <a:endParaRPr lang="fr-CI"/>
          </a:p>
        </p:txBody>
      </p:sp>
      <p:sp>
        <p:nvSpPr>
          <p:cNvPr id="21" name="Text 19"/>
          <p:cNvSpPr txBox="1"/>
          <p:nvPr/>
        </p:nvSpPr>
        <p:spPr>
          <a:xfrm>
            <a:off x="9391802" y="3590849"/>
            <a:ext cx="3706063"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03</a:t>
            </a:r>
            <a:endParaRPr lang="en-US" sz="800" dirty="0"/>
          </a:p>
        </p:txBody>
      </p:sp>
      <p:sp>
        <p:nvSpPr>
          <p:cNvPr id="22" name="Text 20"/>
          <p:cNvSpPr txBox="1"/>
          <p:nvPr/>
        </p:nvSpPr>
        <p:spPr>
          <a:xfrm>
            <a:off x="9391802" y="3781044"/>
            <a:ext cx="3706063" cy="200254"/>
          </a:xfrm>
          <a:prstGeom prst="rect">
            <a:avLst/>
          </a:prstGeom>
          <a:noFill/>
          <a:ln/>
        </p:spPr>
        <p:txBody>
          <a:bodyPr wrap="none" lIns="0" tIns="0" rIns="0" bIns="0" rtlCol="0" anchor="ctr"/>
          <a:lstStyle/>
          <a:p>
            <a:pPr marL="0" indent="0" algn="l">
              <a:buNone/>
            </a:pPr>
            <a:r>
              <a:rPr lang="en-US" sz="1100" b="1" dirty="0">
                <a:solidFill>
                  <a:srgbClr val="1F2937"/>
                </a:solidFill>
                <a:latin typeface="Manrope" pitchFamily="34" charset="0"/>
                <a:ea typeface="Manrope" pitchFamily="34" charset="-122"/>
                <a:cs typeface="Manrope" pitchFamily="34" charset="-120"/>
              </a:rPr>
              <a:t>Gestion des franchises</a:t>
            </a:r>
            <a:endParaRPr lang="en-US" sz="1100" dirty="0"/>
          </a:p>
        </p:txBody>
      </p:sp>
      <p:sp>
        <p:nvSpPr>
          <p:cNvPr id="23" name="Shape 21"/>
          <p:cNvSpPr/>
          <p:nvPr/>
        </p:nvSpPr>
        <p:spPr>
          <a:xfrm>
            <a:off x="13387730" y="3429000"/>
            <a:ext cx="4028846" cy="714146"/>
          </a:xfrm>
          <a:prstGeom prst="roundRect">
            <a:avLst>
              <a:gd name="adj" fmla="val 18694"/>
            </a:avLst>
          </a:prstGeom>
          <a:solidFill>
            <a:srgbClr val="F5F4FB"/>
          </a:solidFill>
          <a:ln w="12700">
            <a:solidFill>
              <a:srgbClr val="E5E7EB"/>
            </a:solidFill>
            <a:prstDash val="solid"/>
          </a:ln>
        </p:spPr>
        <p:txBody>
          <a:bodyPr/>
          <a:lstStyle/>
          <a:p>
            <a:endParaRPr lang="fr-CI"/>
          </a:p>
        </p:txBody>
      </p:sp>
      <p:sp>
        <p:nvSpPr>
          <p:cNvPr id="24" name="Text 22"/>
          <p:cNvSpPr txBox="1"/>
          <p:nvPr/>
        </p:nvSpPr>
        <p:spPr>
          <a:xfrm>
            <a:off x="13549579" y="3590849"/>
            <a:ext cx="3706063"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04</a:t>
            </a:r>
            <a:endParaRPr lang="en-US" sz="800" dirty="0"/>
          </a:p>
        </p:txBody>
      </p:sp>
      <p:sp>
        <p:nvSpPr>
          <p:cNvPr id="25" name="Text 23"/>
          <p:cNvSpPr txBox="1"/>
          <p:nvPr/>
        </p:nvSpPr>
        <p:spPr>
          <a:xfrm>
            <a:off x="13549579" y="3781044"/>
            <a:ext cx="3706063" cy="200254"/>
          </a:xfrm>
          <a:prstGeom prst="rect">
            <a:avLst/>
          </a:prstGeom>
          <a:noFill/>
          <a:ln/>
        </p:spPr>
        <p:txBody>
          <a:bodyPr wrap="none" lIns="0" tIns="0" rIns="0" bIns="0" rtlCol="0" anchor="ctr"/>
          <a:lstStyle/>
          <a:p>
            <a:pPr marL="0" indent="0" algn="l">
              <a:buNone/>
            </a:pPr>
            <a:r>
              <a:rPr lang="en-US" sz="1100" b="1" dirty="0">
                <a:solidFill>
                  <a:srgbClr val="1F2937"/>
                </a:solidFill>
                <a:latin typeface="Manrope" pitchFamily="34" charset="0"/>
                <a:ea typeface="Manrope" pitchFamily="34" charset="-122"/>
                <a:cs typeface="Manrope" pitchFamily="34" charset="-120"/>
              </a:rPr>
              <a:t>Gestion des partenaires</a:t>
            </a:r>
            <a:endParaRPr lang="en-US" sz="1100" dirty="0"/>
          </a:p>
        </p:txBody>
      </p:sp>
      <p:sp>
        <p:nvSpPr>
          <p:cNvPr id="26" name="Shape 24"/>
          <p:cNvSpPr/>
          <p:nvPr/>
        </p:nvSpPr>
        <p:spPr>
          <a:xfrm>
            <a:off x="914400" y="4276649"/>
            <a:ext cx="4028846" cy="714146"/>
          </a:xfrm>
          <a:prstGeom prst="roundRect">
            <a:avLst>
              <a:gd name="adj" fmla="val 18694"/>
            </a:avLst>
          </a:prstGeom>
          <a:solidFill>
            <a:srgbClr val="F5F4FB"/>
          </a:solidFill>
          <a:ln w="12700">
            <a:solidFill>
              <a:srgbClr val="E5E7EB"/>
            </a:solidFill>
            <a:prstDash val="solid"/>
          </a:ln>
        </p:spPr>
        <p:txBody>
          <a:bodyPr/>
          <a:lstStyle/>
          <a:p>
            <a:endParaRPr lang="fr-CI"/>
          </a:p>
        </p:txBody>
      </p:sp>
      <p:sp>
        <p:nvSpPr>
          <p:cNvPr id="27" name="Text 25"/>
          <p:cNvSpPr txBox="1"/>
          <p:nvPr/>
        </p:nvSpPr>
        <p:spPr>
          <a:xfrm>
            <a:off x="1076249" y="4438498"/>
            <a:ext cx="3706063"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05</a:t>
            </a:r>
            <a:endParaRPr lang="en-US" sz="800" dirty="0"/>
          </a:p>
        </p:txBody>
      </p:sp>
      <p:sp>
        <p:nvSpPr>
          <p:cNvPr id="28" name="Text 26"/>
          <p:cNvSpPr txBox="1"/>
          <p:nvPr/>
        </p:nvSpPr>
        <p:spPr>
          <a:xfrm>
            <a:off x="1076249" y="4629607"/>
            <a:ext cx="3706063" cy="200254"/>
          </a:xfrm>
          <a:prstGeom prst="rect">
            <a:avLst/>
          </a:prstGeom>
          <a:noFill/>
          <a:ln/>
        </p:spPr>
        <p:txBody>
          <a:bodyPr wrap="none" lIns="0" tIns="0" rIns="0" bIns="0" rtlCol="0" anchor="ctr"/>
          <a:lstStyle/>
          <a:p>
            <a:pPr marL="0" indent="0" algn="l">
              <a:buNone/>
            </a:pPr>
            <a:r>
              <a:rPr lang="en-US" sz="1100" b="1" dirty="0">
                <a:solidFill>
                  <a:srgbClr val="1F2937"/>
                </a:solidFill>
                <a:latin typeface="Manrope" pitchFamily="34" charset="0"/>
                <a:ea typeface="Manrope" pitchFamily="34" charset="-122"/>
                <a:cs typeface="Manrope" pitchFamily="34" charset="-120"/>
              </a:rPr>
              <a:t>Gestion des chauffeurs</a:t>
            </a:r>
            <a:endParaRPr lang="en-US" sz="1100" dirty="0"/>
          </a:p>
        </p:txBody>
      </p:sp>
      <p:sp>
        <p:nvSpPr>
          <p:cNvPr id="29" name="Shape 27"/>
          <p:cNvSpPr/>
          <p:nvPr/>
        </p:nvSpPr>
        <p:spPr>
          <a:xfrm>
            <a:off x="5072177" y="4276649"/>
            <a:ext cx="4028846" cy="714146"/>
          </a:xfrm>
          <a:prstGeom prst="roundRect">
            <a:avLst>
              <a:gd name="adj" fmla="val 18694"/>
            </a:avLst>
          </a:prstGeom>
          <a:solidFill>
            <a:srgbClr val="F5F4FB"/>
          </a:solidFill>
          <a:ln w="12700">
            <a:solidFill>
              <a:srgbClr val="E5E7EB"/>
            </a:solidFill>
            <a:prstDash val="solid"/>
          </a:ln>
        </p:spPr>
        <p:txBody>
          <a:bodyPr/>
          <a:lstStyle/>
          <a:p>
            <a:endParaRPr lang="fr-CI"/>
          </a:p>
        </p:txBody>
      </p:sp>
      <p:sp>
        <p:nvSpPr>
          <p:cNvPr id="30" name="Text 28"/>
          <p:cNvSpPr txBox="1"/>
          <p:nvPr/>
        </p:nvSpPr>
        <p:spPr>
          <a:xfrm>
            <a:off x="5234026" y="4438498"/>
            <a:ext cx="3706063"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06</a:t>
            </a:r>
            <a:endParaRPr lang="en-US" sz="800" dirty="0"/>
          </a:p>
        </p:txBody>
      </p:sp>
      <p:sp>
        <p:nvSpPr>
          <p:cNvPr id="31" name="Text 29"/>
          <p:cNvSpPr txBox="1"/>
          <p:nvPr/>
        </p:nvSpPr>
        <p:spPr>
          <a:xfrm>
            <a:off x="5234026" y="4629607"/>
            <a:ext cx="3706063" cy="200254"/>
          </a:xfrm>
          <a:prstGeom prst="rect">
            <a:avLst/>
          </a:prstGeom>
          <a:noFill/>
          <a:ln/>
        </p:spPr>
        <p:txBody>
          <a:bodyPr wrap="none" lIns="0" tIns="0" rIns="0" bIns="0" rtlCol="0" anchor="ctr"/>
          <a:lstStyle/>
          <a:p>
            <a:pPr marL="0" indent="0" algn="l">
              <a:buNone/>
            </a:pPr>
            <a:r>
              <a:rPr lang="en-US" sz="1100" b="1" dirty="0">
                <a:solidFill>
                  <a:srgbClr val="1F2937"/>
                </a:solidFill>
                <a:latin typeface="Manrope" pitchFamily="34" charset="0"/>
                <a:ea typeface="Manrope" pitchFamily="34" charset="-122"/>
                <a:cs typeface="Manrope" pitchFamily="34" charset="-120"/>
              </a:rPr>
              <a:t>Gestion des livreurs</a:t>
            </a:r>
            <a:endParaRPr lang="en-US" sz="1100" dirty="0"/>
          </a:p>
        </p:txBody>
      </p:sp>
      <p:sp>
        <p:nvSpPr>
          <p:cNvPr id="32" name="Shape 30"/>
          <p:cNvSpPr/>
          <p:nvPr/>
        </p:nvSpPr>
        <p:spPr>
          <a:xfrm>
            <a:off x="9229954" y="4276649"/>
            <a:ext cx="4028846" cy="714146"/>
          </a:xfrm>
          <a:prstGeom prst="roundRect">
            <a:avLst>
              <a:gd name="adj" fmla="val 18694"/>
            </a:avLst>
          </a:prstGeom>
          <a:solidFill>
            <a:srgbClr val="F5F4FB"/>
          </a:solidFill>
          <a:ln w="12700">
            <a:solidFill>
              <a:srgbClr val="E5E7EB"/>
            </a:solidFill>
            <a:prstDash val="solid"/>
          </a:ln>
        </p:spPr>
        <p:txBody>
          <a:bodyPr/>
          <a:lstStyle/>
          <a:p>
            <a:endParaRPr lang="fr-CI"/>
          </a:p>
        </p:txBody>
      </p:sp>
      <p:sp>
        <p:nvSpPr>
          <p:cNvPr id="33" name="Text 31"/>
          <p:cNvSpPr txBox="1"/>
          <p:nvPr/>
        </p:nvSpPr>
        <p:spPr>
          <a:xfrm>
            <a:off x="9391802" y="4438498"/>
            <a:ext cx="3706063"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07</a:t>
            </a:r>
            <a:endParaRPr lang="en-US" sz="800" dirty="0"/>
          </a:p>
        </p:txBody>
      </p:sp>
      <p:sp>
        <p:nvSpPr>
          <p:cNvPr id="34" name="Text 32"/>
          <p:cNvSpPr txBox="1"/>
          <p:nvPr/>
        </p:nvSpPr>
        <p:spPr>
          <a:xfrm>
            <a:off x="9391802" y="4629607"/>
            <a:ext cx="3706063" cy="200254"/>
          </a:xfrm>
          <a:prstGeom prst="rect">
            <a:avLst/>
          </a:prstGeom>
          <a:noFill/>
          <a:ln/>
        </p:spPr>
        <p:txBody>
          <a:bodyPr wrap="none" lIns="0" tIns="0" rIns="0" bIns="0" rtlCol="0" anchor="ctr"/>
          <a:lstStyle/>
          <a:p>
            <a:pPr marL="0" indent="0" algn="l">
              <a:buNone/>
            </a:pPr>
            <a:r>
              <a:rPr lang="en-US" sz="1100" b="1" dirty="0">
                <a:solidFill>
                  <a:srgbClr val="1F2937"/>
                </a:solidFill>
                <a:latin typeface="Manrope" pitchFamily="34" charset="0"/>
                <a:ea typeface="Manrope" pitchFamily="34" charset="-122"/>
                <a:cs typeface="Manrope" pitchFamily="34" charset="-120"/>
              </a:rPr>
              <a:t>Gestion des clients</a:t>
            </a:r>
            <a:endParaRPr lang="en-US" sz="1100" dirty="0"/>
          </a:p>
        </p:txBody>
      </p:sp>
      <p:sp>
        <p:nvSpPr>
          <p:cNvPr id="35" name="Shape 33"/>
          <p:cNvSpPr/>
          <p:nvPr/>
        </p:nvSpPr>
        <p:spPr>
          <a:xfrm>
            <a:off x="13387730" y="4276649"/>
            <a:ext cx="4028846" cy="714146"/>
          </a:xfrm>
          <a:prstGeom prst="roundRect">
            <a:avLst>
              <a:gd name="adj" fmla="val 18694"/>
            </a:avLst>
          </a:prstGeom>
          <a:solidFill>
            <a:srgbClr val="F5F3FF"/>
          </a:solidFill>
          <a:ln w="12700">
            <a:solidFill>
              <a:srgbClr val="DDD6FE"/>
            </a:solidFill>
            <a:prstDash val="solid"/>
          </a:ln>
        </p:spPr>
        <p:txBody>
          <a:bodyPr/>
          <a:lstStyle/>
          <a:p>
            <a:endParaRPr lang="fr-CI"/>
          </a:p>
        </p:txBody>
      </p:sp>
      <p:sp>
        <p:nvSpPr>
          <p:cNvPr id="36" name="Text 34"/>
          <p:cNvSpPr txBox="1"/>
          <p:nvPr/>
        </p:nvSpPr>
        <p:spPr>
          <a:xfrm>
            <a:off x="13549579" y="4438498"/>
            <a:ext cx="3706063"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08</a:t>
            </a:r>
            <a:endParaRPr lang="en-US" sz="800" dirty="0"/>
          </a:p>
        </p:txBody>
      </p:sp>
      <p:sp>
        <p:nvSpPr>
          <p:cNvPr id="37" name="Text 35"/>
          <p:cNvSpPr txBox="1"/>
          <p:nvPr/>
        </p:nvSpPr>
        <p:spPr>
          <a:xfrm>
            <a:off x="13549579" y="4629607"/>
            <a:ext cx="3706063" cy="200254"/>
          </a:xfrm>
          <a:prstGeom prst="rect">
            <a:avLst/>
          </a:prstGeom>
          <a:noFill/>
          <a:ln/>
        </p:spPr>
        <p:txBody>
          <a:bodyPr wrap="none" lIns="0" tIns="0" rIns="0" bIns="0" rtlCol="0" anchor="ctr"/>
          <a:lstStyle/>
          <a:p>
            <a:pPr marL="0" indent="0" algn="l">
              <a:buNone/>
            </a:pPr>
            <a:r>
              <a:rPr lang="en-US" sz="1100" b="1" dirty="0">
                <a:solidFill>
                  <a:srgbClr val="1F2937"/>
                </a:solidFill>
                <a:latin typeface="Manrope" pitchFamily="34" charset="0"/>
                <a:ea typeface="Manrope" pitchFamily="34" charset="-122"/>
                <a:cs typeface="Manrope" pitchFamily="34" charset="-120"/>
              </a:rPr>
              <a:t>Paramétrage des tarifs</a:t>
            </a:r>
            <a:endParaRPr lang="en-US" sz="1100" dirty="0"/>
          </a:p>
        </p:txBody>
      </p:sp>
      <p:sp>
        <p:nvSpPr>
          <p:cNvPr id="38" name="Shape 36"/>
          <p:cNvSpPr/>
          <p:nvPr/>
        </p:nvSpPr>
        <p:spPr>
          <a:xfrm>
            <a:off x="914400" y="5124298"/>
            <a:ext cx="4028846" cy="714146"/>
          </a:xfrm>
          <a:prstGeom prst="roundRect">
            <a:avLst>
              <a:gd name="adj" fmla="val 18694"/>
            </a:avLst>
          </a:prstGeom>
          <a:solidFill>
            <a:srgbClr val="F5F3FF"/>
          </a:solidFill>
          <a:ln w="12700">
            <a:solidFill>
              <a:srgbClr val="DDD6FE"/>
            </a:solidFill>
            <a:prstDash val="solid"/>
          </a:ln>
        </p:spPr>
        <p:txBody>
          <a:bodyPr/>
          <a:lstStyle/>
          <a:p>
            <a:endParaRPr lang="fr-CI"/>
          </a:p>
        </p:txBody>
      </p:sp>
      <p:sp>
        <p:nvSpPr>
          <p:cNvPr id="39" name="Text 37"/>
          <p:cNvSpPr txBox="1"/>
          <p:nvPr/>
        </p:nvSpPr>
        <p:spPr>
          <a:xfrm>
            <a:off x="1076249" y="5286146"/>
            <a:ext cx="3706063"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09</a:t>
            </a:r>
            <a:endParaRPr lang="en-US" sz="800" dirty="0"/>
          </a:p>
        </p:txBody>
      </p:sp>
      <p:sp>
        <p:nvSpPr>
          <p:cNvPr id="40" name="Text 38"/>
          <p:cNvSpPr txBox="1"/>
          <p:nvPr/>
        </p:nvSpPr>
        <p:spPr>
          <a:xfrm>
            <a:off x="1076249" y="5477256"/>
            <a:ext cx="3706063" cy="200254"/>
          </a:xfrm>
          <a:prstGeom prst="rect">
            <a:avLst/>
          </a:prstGeom>
          <a:noFill/>
          <a:ln/>
        </p:spPr>
        <p:txBody>
          <a:bodyPr wrap="none" lIns="0" tIns="0" rIns="0" bIns="0" rtlCol="0" anchor="ctr"/>
          <a:lstStyle/>
          <a:p>
            <a:pPr marL="0" indent="0" algn="l">
              <a:buNone/>
            </a:pPr>
            <a:r>
              <a:rPr lang="en-US" sz="1100" b="1" dirty="0">
                <a:solidFill>
                  <a:srgbClr val="1F2937"/>
                </a:solidFill>
                <a:latin typeface="Manrope" pitchFamily="34" charset="0"/>
                <a:ea typeface="Manrope" pitchFamily="34" charset="-122"/>
                <a:cs typeface="Manrope" pitchFamily="34" charset="-120"/>
              </a:rPr>
              <a:t>Paramétrage commissions</a:t>
            </a:r>
            <a:endParaRPr lang="en-US" sz="1100" dirty="0"/>
          </a:p>
        </p:txBody>
      </p:sp>
      <p:sp>
        <p:nvSpPr>
          <p:cNvPr id="41" name="Shape 39"/>
          <p:cNvSpPr/>
          <p:nvPr/>
        </p:nvSpPr>
        <p:spPr>
          <a:xfrm>
            <a:off x="5072177" y="5124298"/>
            <a:ext cx="4028846" cy="714146"/>
          </a:xfrm>
          <a:prstGeom prst="roundRect">
            <a:avLst>
              <a:gd name="adj" fmla="val 18694"/>
            </a:avLst>
          </a:prstGeom>
          <a:solidFill>
            <a:srgbClr val="F5F3FF"/>
          </a:solidFill>
          <a:ln w="12700">
            <a:solidFill>
              <a:srgbClr val="DDD6FE"/>
            </a:solidFill>
            <a:prstDash val="solid"/>
          </a:ln>
        </p:spPr>
        <p:txBody>
          <a:bodyPr/>
          <a:lstStyle/>
          <a:p>
            <a:endParaRPr lang="fr-CI"/>
          </a:p>
        </p:txBody>
      </p:sp>
      <p:sp>
        <p:nvSpPr>
          <p:cNvPr id="42" name="Text 40"/>
          <p:cNvSpPr txBox="1"/>
          <p:nvPr/>
        </p:nvSpPr>
        <p:spPr>
          <a:xfrm>
            <a:off x="5234026" y="5286146"/>
            <a:ext cx="3706063"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10</a:t>
            </a:r>
            <a:endParaRPr lang="en-US" sz="800" dirty="0"/>
          </a:p>
        </p:txBody>
      </p:sp>
      <p:sp>
        <p:nvSpPr>
          <p:cNvPr id="43" name="Text 41"/>
          <p:cNvSpPr txBox="1"/>
          <p:nvPr/>
        </p:nvSpPr>
        <p:spPr>
          <a:xfrm>
            <a:off x="5234026" y="5477256"/>
            <a:ext cx="3706063" cy="200254"/>
          </a:xfrm>
          <a:prstGeom prst="rect">
            <a:avLst/>
          </a:prstGeom>
          <a:noFill/>
          <a:ln/>
        </p:spPr>
        <p:txBody>
          <a:bodyPr wrap="none" lIns="0" tIns="0" rIns="0" bIns="0" rtlCol="0" anchor="ctr"/>
          <a:lstStyle/>
          <a:p>
            <a:pPr marL="0" indent="0" algn="l">
              <a:buNone/>
            </a:pPr>
            <a:r>
              <a:rPr lang="en-US" sz="1100" b="1" dirty="0">
                <a:solidFill>
                  <a:srgbClr val="1F2937"/>
                </a:solidFill>
                <a:latin typeface="Manrope" pitchFamily="34" charset="0"/>
                <a:ea typeface="Manrope" pitchFamily="34" charset="-122"/>
                <a:cs typeface="Manrope" pitchFamily="34" charset="-120"/>
              </a:rPr>
              <a:t>Paramétrage règles bonus</a:t>
            </a:r>
            <a:endParaRPr lang="en-US" sz="1100" dirty="0"/>
          </a:p>
        </p:txBody>
      </p:sp>
      <p:sp>
        <p:nvSpPr>
          <p:cNvPr id="44" name="Shape 42"/>
          <p:cNvSpPr/>
          <p:nvPr/>
        </p:nvSpPr>
        <p:spPr>
          <a:xfrm>
            <a:off x="9229954" y="5124298"/>
            <a:ext cx="4028846" cy="714146"/>
          </a:xfrm>
          <a:prstGeom prst="roundRect">
            <a:avLst>
              <a:gd name="adj" fmla="val 18694"/>
            </a:avLst>
          </a:prstGeom>
          <a:solidFill>
            <a:srgbClr val="F5F3FF"/>
          </a:solidFill>
          <a:ln w="12700">
            <a:solidFill>
              <a:srgbClr val="DDD6FE"/>
            </a:solidFill>
            <a:prstDash val="solid"/>
          </a:ln>
        </p:spPr>
        <p:txBody>
          <a:bodyPr/>
          <a:lstStyle/>
          <a:p>
            <a:endParaRPr lang="fr-CI"/>
          </a:p>
        </p:txBody>
      </p:sp>
      <p:sp>
        <p:nvSpPr>
          <p:cNvPr id="45" name="Text 43"/>
          <p:cNvSpPr txBox="1"/>
          <p:nvPr/>
        </p:nvSpPr>
        <p:spPr>
          <a:xfrm>
            <a:off x="9391802" y="5286146"/>
            <a:ext cx="3706063"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11</a:t>
            </a:r>
            <a:endParaRPr lang="en-US" sz="800" dirty="0"/>
          </a:p>
        </p:txBody>
      </p:sp>
      <p:sp>
        <p:nvSpPr>
          <p:cNvPr id="46" name="Text 44"/>
          <p:cNvSpPr txBox="1"/>
          <p:nvPr/>
        </p:nvSpPr>
        <p:spPr>
          <a:xfrm>
            <a:off x="9391802" y="5477256"/>
            <a:ext cx="3706063" cy="200254"/>
          </a:xfrm>
          <a:prstGeom prst="rect">
            <a:avLst/>
          </a:prstGeom>
          <a:noFill/>
          <a:ln/>
        </p:spPr>
        <p:txBody>
          <a:bodyPr wrap="none" lIns="0" tIns="0" rIns="0" bIns="0" rtlCol="0" anchor="ctr"/>
          <a:lstStyle/>
          <a:p>
            <a:pPr marL="0" indent="0" algn="l">
              <a:buNone/>
            </a:pPr>
            <a:r>
              <a:rPr lang="en-US" sz="1100" b="1" dirty="0">
                <a:solidFill>
                  <a:srgbClr val="1F2937"/>
                </a:solidFill>
                <a:latin typeface="Manrope" pitchFamily="34" charset="0"/>
                <a:ea typeface="Manrope" pitchFamily="34" charset="-122"/>
                <a:cs typeface="Manrope" pitchFamily="34" charset="-120"/>
              </a:rPr>
              <a:t>Paramétrage zones</a:t>
            </a:r>
            <a:endParaRPr lang="en-US" sz="1100" dirty="0"/>
          </a:p>
        </p:txBody>
      </p:sp>
      <p:sp>
        <p:nvSpPr>
          <p:cNvPr id="47" name="Shape 45"/>
          <p:cNvSpPr/>
          <p:nvPr/>
        </p:nvSpPr>
        <p:spPr>
          <a:xfrm>
            <a:off x="13387730" y="5124298"/>
            <a:ext cx="4028846" cy="714146"/>
          </a:xfrm>
          <a:prstGeom prst="roundRect">
            <a:avLst>
              <a:gd name="adj" fmla="val 18694"/>
            </a:avLst>
          </a:prstGeom>
          <a:solidFill>
            <a:srgbClr val="F5F3FF"/>
          </a:solidFill>
          <a:ln w="12700">
            <a:solidFill>
              <a:srgbClr val="DDD6FE"/>
            </a:solidFill>
            <a:prstDash val="solid"/>
          </a:ln>
        </p:spPr>
        <p:txBody>
          <a:bodyPr/>
          <a:lstStyle/>
          <a:p>
            <a:endParaRPr lang="fr-CI"/>
          </a:p>
        </p:txBody>
      </p:sp>
      <p:sp>
        <p:nvSpPr>
          <p:cNvPr id="48" name="Text 46"/>
          <p:cNvSpPr txBox="1"/>
          <p:nvPr/>
        </p:nvSpPr>
        <p:spPr>
          <a:xfrm>
            <a:off x="13549579" y="5286146"/>
            <a:ext cx="3706063"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12</a:t>
            </a:r>
            <a:endParaRPr lang="en-US" sz="800" dirty="0"/>
          </a:p>
        </p:txBody>
      </p:sp>
      <p:sp>
        <p:nvSpPr>
          <p:cNvPr id="49" name="Text 47"/>
          <p:cNvSpPr txBox="1"/>
          <p:nvPr/>
        </p:nvSpPr>
        <p:spPr>
          <a:xfrm>
            <a:off x="13549579" y="5477256"/>
            <a:ext cx="3706063" cy="200254"/>
          </a:xfrm>
          <a:prstGeom prst="rect">
            <a:avLst/>
          </a:prstGeom>
          <a:noFill/>
          <a:ln/>
        </p:spPr>
        <p:txBody>
          <a:bodyPr wrap="none" lIns="0" tIns="0" rIns="0" bIns="0" rtlCol="0" anchor="ctr"/>
          <a:lstStyle/>
          <a:p>
            <a:pPr marL="0" indent="0" algn="l">
              <a:buNone/>
            </a:pPr>
            <a:r>
              <a:rPr lang="en-US" sz="1100" b="1" dirty="0">
                <a:solidFill>
                  <a:srgbClr val="1F2937"/>
                </a:solidFill>
                <a:latin typeface="Manrope" pitchFamily="34" charset="0"/>
                <a:ea typeface="Manrope" pitchFamily="34" charset="-122"/>
                <a:cs typeface="Manrope" pitchFamily="34" charset="-120"/>
              </a:rPr>
              <a:t>Supervision wallets (lecture seule)</a:t>
            </a:r>
            <a:endParaRPr lang="en-US" sz="1100" dirty="0"/>
          </a:p>
        </p:txBody>
      </p:sp>
      <p:sp>
        <p:nvSpPr>
          <p:cNvPr id="50" name="Shape 48"/>
          <p:cNvSpPr/>
          <p:nvPr/>
        </p:nvSpPr>
        <p:spPr>
          <a:xfrm>
            <a:off x="914400" y="5971946"/>
            <a:ext cx="4028846" cy="714146"/>
          </a:xfrm>
          <a:prstGeom prst="roundRect">
            <a:avLst>
              <a:gd name="adj" fmla="val 18694"/>
            </a:avLst>
          </a:prstGeom>
          <a:solidFill>
            <a:srgbClr val="F5F4FB"/>
          </a:solidFill>
          <a:ln w="12700">
            <a:solidFill>
              <a:srgbClr val="E5E7EB"/>
            </a:solidFill>
            <a:prstDash val="solid"/>
          </a:ln>
        </p:spPr>
        <p:txBody>
          <a:bodyPr/>
          <a:lstStyle/>
          <a:p>
            <a:endParaRPr lang="fr-CI"/>
          </a:p>
        </p:txBody>
      </p:sp>
      <p:sp>
        <p:nvSpPr>
          <p:cNvPr id="51" name="Text 49"/>
          <p:cNvSpPr txBox="1"/>
          <p:nvPr/>
        </p:nvSpPr>
        <p:spPr>
          <a:xfrm>
            <a:off x="1076249" y="6133795"/>
            <a:ext cx="3706063"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13</a:t>
            </a:r>
            <a:endParaRPr lang="en-US" sz="800" dirty="0"/>
          </a:p>
        </p:txBody>
      </p:sp>
      <p:sp>
        <p:nvSpPr>
          <p:cNvPr id="52" name="Text 50"/>
          <p:cNvSpPr txBox="1"/>
          <p:nvPr/>
        </p:nvSpPr>
        <p:spPr>
          <a:xfrm>
            <a:off x="1076249" y="6324905"/>
            <a:ext cx="3706063" cy="200254"/>
          </a:xfrm>
          <a:prstGeom prst="rect">
            <a:avLst/>
          </a:prstGeom>
          <a:noFill/>
          <a:ln/>
        </p:spPr>
        <p:txBody>
          <a:bodyPr wrap="none" lIns="0" tIns="0" rIns="0" bIns="0" rtlCol="0" anchor="ctr"/>
          <a:lstStyle/>
          <a:p>
            <a:pPr marL="0" indent="0" algn="l">
              <a:buNone/>
            </a:pPr>
            <a:r>
              <a:rPr lang="en-US" sz="1100" b="1" dirty="0">
                <a:solidFill>
                  <a:srgbClr val="1F2937"/>
                </a:solidFill>
                <a:latin typeface="Manrope" pitchFamily="34" charset="0"/>
                <a:ea typeface="Manrope" pitchFamily="34" charset="-122"/>
                <a:cs typeface="Manrope" pitchFamily="34" charset="-120"/>
              </a:rPr>
              <a:t>Gestion réclamations</a:t>
            </a:r>
            <a:endParaRPr lang="en-US" sz="1100" dirty="0"/>
          </a:p>
        </p:txBody>
      </p:sp>
      <p:sp>
        <p:nvSpPr>
          <p:cNvPr id="53" name="Shape 51"/>
          <p:cNvSpPr/>
          <p:nvPr/>
        </p:nvSpPr>
        <p:spPr>
          <a:xfrm>
            <a:off x="5072177" y="5971946"/>
            <a:ext cx="4028846" cy="714146"/>
          </a:xfrm>
          <a:prstGeom prst="roundRect">
            <a:avLst>
              <a:gd name="adj" fmla="val 18694"/>
            </a:avLst>
          </a:prstGeom>
          <a:solidFill>
            <a:srgbClr val="F5F4FB"/>
          </a:solidFill>
          <a:ln w="12700">
            <a:solidFill>
              <a:srgbClr val="E5E7EB"/>
            </a:solidFill>
            <a:prstDash val="solid"/>
          </a:ln>
        </p:spPr>
        <p:txBody>
          <a:bodyPr/>
          <a:lstStyle/>
          <a:p>
            <a:endParaRPr lang="fr-CI"/>
          </a:p>
        </p:txBody>
      </p:sp>
      <p:sp>
        <p:nvSpPr>
          <p:cNvPr id="54" name="Text 52"/>
          <p:cNvSpPr txBox="1"/>
          <p:nvPr/>
        </p:nvSpPr>
        <p:spPr>
          <a:xfrm>
            <a:off x="5234026" y="6133795"/>
            <a:ext cx="3706063"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14</a:t>
            </a:r>
            <a:endParaRPr lang="en-US" sz="800" dirty="0"/>
          </a:p>
        </p:txBody>
      </p:sp>
      <p:sp>
        <p:nvSpPr>
          <p:cNvPr id="55" name="Text 53"/>
          <p:cNvSpPr txBox="1"/>
          <p:nvPr/>
        </p:nvSpPr>
        <p:spPr>
          <a:xfrm>
            <a:off x="5234026" y="6324905"/>
            <a:ext cx="3706063" cy="200254"/>
          </a:xfrm>
          <a:prstGeom prst="rect">
            <a:avLst/>
          </a:prstGeom>
          <a:noFill/>
          <a:ln/>
        </p:spPr>
        <p:txBody>
          <a:bodyPr wrap="none" lIns="0" tIns="0" rIns="0" bIns="0" rtlCol="0" anchor="ctr"/>
          <a:lstStyle/>
          <a:p>
            <a:pPr marL="0" indent="0" algn="l">
              <a:buNone/>
            </a:pPr>
            <a:r>
              <a:rPr lang="en-US" sz="1100" b="1" dirty="0">
                <a:solidFill>
                  <a:srgbClr val="1F2937"/>
                </a:solidFill>
                <a:latin typeface="Manrope" pitchFamily="34" charset="0"/>
                <a:ea typeface="Manrope" pitchFamily="34" charset="-122"/>
                <a:cs typeface="Manrope" pitchFamily="34" charset="-120"/>
              </a:rPr>
              <a:t>Reporting consolidé</a:t>
            </a:r>
            <a:endParaRPr lang="en-US" sz="1100" dirty="0"/>
          </a:p>
        </p:txBody>
      </p:sp>
      <p:sp>
        <p:nvSpPr>
          <p:cNvPr id="56" name="Shape 54"/>
          <p:cNvSpPr/>
          <p:nvPr/>
        </p:nvSpPr>
        <p:spPr>
          <a:xfrm>
            <a:off x="9229954" y="5971946"/>
            <a:ext cx="4028846" cy="714146"/>
          </a:xfrm>
          <a:prstGeom prst="roundRect">
            <a:avLst>
              <a:gd name="adj" fmla="val 18694"/>
            </a:avLst>
          </a:prstGeom>
          <a:solidFill>
            <a:srgbClr val="F5F4FB"/>
          </a:solidFill>
          <a:ln w="12700">
            <a:solidFill>
              <a:srgbClr val="E5E7EB"/>
            </a:solidFill>
            <a:prstDash val="solid"/>
          </a:ln>
        </p:spPr>
        <p:txBody>
          <a:bodyPr/>
          <a:lstStyle/>
          <a:p>
            <a:endParaRPr lang="fr-CI"/>
          </a:p>
        </p:txBody>
      </p:sp>
      <p:sp>
        <p:nvSpPr>
          <p:cNvPr id="57" name="Text 55"/>
          <p:cNvSpPr txBox="1"/>
          <p:nvPr/>
        </p:nvSpPr>
        <p:spPr>
          <a:xfrm>
            <a:off x="9391802" y="6133795"/>
            <a:ext cx="3706063"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15</a:t>
            </a:r>
            <a:endParaRPr lang="en-US" sz="800" dirty="0"/>
          </a:p>
        </p:txBody>
      </p:sp>
      <p:sp>
        <p:nvSpPr>
          <p:cNvPr id="58" name="Text 56"/>
          <p:cNvSpPr txBox="1"/>
          <p:nvPr/>
        </p:nvSpPr>
        <p:spPr>
          <a:xfrm>
            <a:off x="9391802" y="6324905"/>
            <a:ext cx="3706063" cy="200254"/>
          </a:xfrm>
          <a:prstGeom prst="rect">
            <a:avLst/>
          </a:prstGeom>
          <a:noFill/>
          <a:ln/>
        </p:spPr>
        <p:txBody>
          <a:bodyPr wrap="none" lIns="0" tIns="0" rIns="0" bIns="0" rtlCol="0" anchor="ctr"/>
          <a:lstStyle/>
          <a:p>
            <a:pPr marL="0" indent="0" algn="l">
              <a:buNone/>
            </a:pPr>
            <a:r>
              <a:rPr lang="en-US" sz="1100" b="1" dirty="0">
                <a:solidFill>
                  <a:srgbClr val="1F2937"/>
                </a:solidFill>
                <a:latin typeface="Manrope" pitchFamily="34" charset="0"/>
                <a:ea typeface="Manrope" pitchFamily="34" charset="-122"/>
                <a:cs typeface="Manrope" pitchFamily="34" charset="-120"/>
              </a:rPr>
              <a:t>Export financier</a:t>
            </a:r>
            <a:endParaRPr lang="en-US" sz="1100" dirty="0"/>
          </a:p>
        </p:txBody>
      </p:sp>
      <p:sp>
        <p:nvSpPr>
          <p:cNvPr id="59" name="Shape 57"/>
          <p:cNvSpPr/>
          <p:nvPr/>
        </p:nvSpPr>
        <p:spPr>
          <a:xfrm>
            <a:off x="13387730" y="5971946"/>
            <a:ext cx="4028846" cy="714146"/>
          </a:xfrm>
          <a:prstGeom prst="roundRect">
            <a:avLst>
              <a:gd name="adj" fmla="val 18694"/>
            </a:avLst>
          </a:prstGeom>
          <a:solidFill>
            <a:srgbClr val="F5F4FB"/>
          </a:solidFill>
          <a:ln w="12700">
            <a:solidFill>
              <a:srgbClr val="E5E7EB"/>
            </a:solidFill>
            <a:prstDash val="solid"/>
          </a:ln>
        </p:spPr>
        <p:txBody>
          <a:bodyPr/>
          <a:lstStyle/>
          <a:p>
            <a:endParaRPr lang="fr-CI"/>
          </a:p>
        </p:txBody>
      </p:sp>
      <p:sp>
        <p:nvSpPr>
          <p:cNvPr id="60" name="Text 58"/>
          <p:cNvSpPr txBox="1"/>
          <p:nvPr/>
        </p:nvSpPr>
        <p:spPr>
          <a:xfrm>
            <a:off x="13549579" y="6133795"/>
            <a:ext cx="3706063"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16</a:t>
            </a:r>
            <a:endParaRPr lang="en-US" sz="800" dirty="0"/>
          </a:p>
        </p:txBody>
      </p:sp>
      <p:sp>
        <p:nvSpPr>
          <p:cNvPr id="61" name="Text 59"/>
          <p:cNvSpPr txBox="1"/>
          <p:nvPr/>
        </p:nvSpPr>
        <p:spPr>
          <a:xfrm>
            <a:off x="13549579" y="6324905"/>
            <a:ext cx="3706063" cy="200254"/>
          </a:xfrm>
          <a:prstGeom prst="rect">
            <a:avLst/>
          </a:prstGeom>
          <a:noFill/>
          <a:ln/>
        </p:spPr>
        <p:txBody>
          <a:bodyPr wrap="none" lIns="0" tIns="0" rIns="0" bIns="0" rtlCol="0" anchor="ctr"/>
          <a:lstStyle/>
          <a:p>
            <a:pPr marL="0" indent="0" algn="l">
              <a:buNone/>
            </a:pPr>
            <a:r>
              <a:rPr lang="en-US" sz="1100" b="1" dirty="0">
                <a:solidFill>
                  <a:srgbClr val="1F2937"/>
                </a:solidFill>
                <a:latin typeface="Manrope" pitchFamily="34" charset="0"/>
                <a:ea typeface="Manrope" pitchFamily="34" charset="-122"/>
                <a:cs typeface="Manrope" pitchFamily="34" charset="-120"/>
              </a:rPr>
              <a:t>Audit des opérations</a:t>
            </a:r>
            <a:endParaRPr lang="en-US" sz="1100" dirty="0"/>
          </a:p>
        </p:txBody>
      </p:sp>
      <p:sp>
        <p:nvSpPr>
          <p:cNvPr id="62" name="Shape 60"/>
          <p:cNvSpPr/>
          <p:nvPr/>
        </p:nvSpPr>
        <p:spPr>
          <a:xfrm>
            <a:off x="914400" y="6819595"/>
            <a:ext cx="4028846" cy="714146"/>
          </a:xfrm>
          <a:prstGeom prst="roundRect">
            <a:avLst>
              <a:gd name="adj" fmla="val 18694"/>
            </a:avLst>
          </a:prstGeom>
          <a:solidFill>
            <a:srgbClr val="F5F4FB"/>
          </a:solidFill>
          <a:ln w="12700">
            <a:solidFill>
              <a:srgbClr val="E5E7EB"/>
            </a:solidFill>
            <a:prstDash val="solid"/>
          </a:ln>
        </p:spPr>
        <p:txBody>
          <a:bodyPr/>
          <a:lstStyle/>
          <a:p>
            <a:endParaRPr lang="fr-CI"/>
          </a:p>
        </p:txBody>
      </p:sp>
      <p:sp>
        <p:nvSpPr>
          <p:cNvPr id="63" name="Text 61"/>
          <p:cNvSpPr txBox="1"/>
          <p:nvPr/>
        </p:nvSpPr>
        <p:spPr>
          <a:xfrm>
            <a:off x="1076249" y="6981444"/>
            <a:ext cx="3706063"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17</a:t>
            </a:r>
            <a:endParaRPr lang="en-US" sz="800" dirty="0"/>
          </a:p>
        </p:txBody>
      </p:sp>
      <p:sp>
        <p:nvSpPr>
          <p:cNvPr id="64" name="Text 62"/>
          <p:cNvSpPr txBox="1"/>
          <p:nvPr/>
        </p:nvSpPr>
        <p:spPr>
          <a:xfrm>
            <a:off x="1076249" y="7172554"/>
            <a:ext cx="3706063" cy="200254"/>
          </a:xfrm>
          <a:prstGeom prst="rect">
            <a:avLst/>
          </a:prstGeom>
          <a:noFill/>
          <a:ln/>
        </p:spPr>
        <p:txBody>
          <a:bodyPr wrap="none" lIns="0" tIns="0" rIns="0" bIns="0" rtlCol="0" anchor="ctr"/>
          <a:lstStyle/>
          <a:p>
            <a:pPr marL="0" indent="0" algn="l">
              <a:buNone/>
            </a:pPr>
            <a:r>
              <a:rPr lang="en-US" sz="1100" b="1" dirty="0">
                <a:solidFill>
                  <a:srgbClr val="1F2937"/>
                </a:solidFill>
                <a:latin typeface="Manrope" pitchFamily="34" charset="0"/>
                <a:ea typeface="Manrope" pitchFamily="34" charset="-122"/>
                <a:cs typeface="Manrope" pitchFamily="34" charset="-120"/>
              </a:rPr>
              <a:t>Gestion des droits &amp; rôles</a:t>
            </a:r>
            <a:endParaRPr lang="en-US" sz="1100" dirty="0"/>
          </a:p>
        </p:txBody>
      </p:sp>
      <p:sp>
        <p:nvSpPr>
          <p:cNvPr id="65" name="Shape 63"/>
          <p:cNvSpPr/>
          <p:nvPr/>
        </p:nvSpPr>
        <p:spPr>
          <a:xfrm>
            <a:off x="5072177" y="6819595"/>
            <a:ext cx="4028846" cy="714146"/>
          </a:xfrm>
          <a:prstGeom prst="roundRect">
            <a:avLst>
              <a:gd name="adj" fmla="val 18694"/>
            </a:avLst>
          </a:prstGeom>
          <a:solidFill>
            <a:srgbClr val="F5F4FB"/>
          </a:solidFill>
          <a:ln w="12700">
            <a:solidFill>
              <a:srgbClr val="E5E7EB"/>
            </a:solidFill>
            <a:prstDash val="solid"/>
          </a:ln>
        </p:spPr>
        <p:txBody>
          <a:bodyPr/>
          <a:lstStyle/>
          <a:p>
            <a:endParaRPr lang="fr-CI"/>
          </a:p>
        </p:txBody>
      </p:sp>
      <p:sp>
        <p:nvSpPr>
          <p:cNvPr id="66" name="Text 64"/>
          <p:cNvSpPr txBox="1"/>
          <p:nvPr/>
        </p:nvSpPr>
        <p:spPr>
          <a:xfrm>
            <a:off x="5234026" y="6981444"/>
            <a:ext cx="3706063"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18</a:t>
            </a:r>
            <a:endParaRPr lang="en-US" sz="800" dirty="0"/>
          </a:p>
        </p:txBody>
      </p:sp>
      <p:sp>
        <p:nvSpPr>
          <p:cNvPr id="67" name="Text 65"/>
          <p:cNvSpPr txBox="1"/>
          <p:nvPr/>
        </p:nvSpPr>
        <p:spPr>
          <a:xfrm>
            <a:off x="5234026" y="7172554"/>
            <a:ext cx="3706063" cy="200254"/>
          </a:xfrm>
          <a:prstGeom prst="rect">
            <a:avLst/>
          </a:prstGeom>
          <a:noFill/>
          <a:ln/>
        </p:spPr>
        <p:txBody>
          <a:bodyPr wrap="none" lIns="0" tIns="0" rIns="0" bIns="0" rtlCol="0" anchor="ctr"/>
          <a:lstStyle/>
          <a:p>
            <a:pPr marL="0" indent="0" algn="l">
              <a:buNone/>
            </a:pPr>
            <a:r>
              <a:rPr lang="en-US" sz="1100" b="1" dirty="0">
                <a:solidFill>
                  <a:srgbClr val="1F2937"/>
                </a:solidFill>
                <a:latin typeface="Manrope" pitchFamily="34" charset="0"/>
                <a:ea typeface="Manrope" pitchFamily="34" charset="-122"/>
                <a:cs typeface="Manrope" pitchFamily="34" charset="-120"/>
              </a:rPr>
              <a:t>Conformité &amp; logs</a:t>
            </a:r>
            <a:endParaRPr lang="en-US" sz="1100" dirty="0"/>
          </a:p>
        </p:txBody>
      </p:sp>
      <p:sp>
        <p:nvSpPr>
          <p:cNvPr id="68" name="Shape 66"/>
          <p:cNvSpPr/>
          <p:nvPr/>
        </p:nvSpPr>
        <p:spPr>
          <a:xfrm>
            <a:off x="914400" y="8287207"/>
            <a:ext cx="16497605" cy="1238098"/>
          </a:xfrm>
          <a:prstGeom prst="roundRect">
            <a:avLst>
              <a:gd name="adj" fmla="val 10783"/>
            </a:avLst>
          </a:prstGeom>
          <a:solidFill>
            <a:srgbClr val="FEE2E2"/>
          </a:solidFill>
          <a:ln w="25400">
            <a:solidFill>
              <a:srgbClr val="EF4444"/>
            </a:solidFill>
            <a:prstDash val="solid"/>
          </a:ln>
        </p:spPr>
        <p:txBody>
          <a:bodyPr/>
          <a:lstStyle/>
          <a:p>
            <a:endParaRPr lang="fr-CI"/>
          </a:p>
        </p:txBody>
      </p:sp>
      <p:sp>
        <p:nvSpPr>
          <p:cNvPr id="69" name="Shape 67"/>
          <p:cNvSpPr/>
          <p:nvPr/>
        </p:nvSpPr>
        <p:spPr>
          <a:xfrm>
            <a:off x="1218895" y="8600846"/>
            <a:ext cx="457200" cy="457200"/>
          </a:xfrm>
          <a:prstGeom prst="roundRect">
            <a:avLst>
              <a:gd name="adj" fmla="val 20800"/>
            </a:avLst>
          </a:prstGeom>
          <a:solidFill>
            <a:srgbClr val="EF4444"/>
          </a:solidFill>
          <a:ln w="12700">
            <a:solidFill>
              <a:srgbClr val="FFFFFF">
                <a:alpha val="0"/>
              </a:srgbClr>
            </a:solidFill>
            <a:prstDash val="solid"/>
          </a:ln>
        </p:spPr>
        <p:txBody>
          <a:bodyPr/>
          <a:lstStyle/>
          <a:p>
            <a:endParaRPr lang="fr-CI"/>
          </a:p>
        </p:txBody>
      </p:sp>
      <p:sp>
        <p:nvSpPr>
          <p:cNvPr id="70" name="Text 68"/>
          <p:cNvSpPr txBox="1"/>
          <p:nvPr/>
        </p:nvSpPr>
        <p:spPr>
          <a:xfrm>
            <a:off x="1218895" y="8600846"/>
            <a:ext cx="457200" cy="45720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800" b="1" dirty="0">
                <a:solidFill>
                  <a:srgbClr val="FFFFFF"/>
                </a:solidFill>
                <a:latin typeface="Manrope" pitchFamily="34" charset="0"/>
                <a:ea typeface="Manrope" pitchFamily="34" charset="-122"/>
                <a:cs typeface="Manrope" pitchFamily="34" charset="-120"/>
              </a:rPr>
              <a:t>⊘</a:t>
            </a:r>
            <a:endParaRPr lang="en-US" sz="1800" dirty="0"/>
          </a:p>
        </p:txBody>
      </p:sp>
      <p:sp>
        <p:nvSpPr>
          <p:cNvPr id="71" name="Text 69"/>
          <p:cNvSpPr txBox="1"/>
          <p:nvPr/>
        </p:nvSpPr>
        <p:spPr>
          <a:xfrm>
            <a:off x="1904695" y="8496605"/>
            <a:ext cx="13182905" cy="162763"/>
          </a:xfrm>
          <a:prstGeom prst="rect">
            <a:avLst/>
          </a:prstGeom>
          <a:noFill/>
          <a:ln/>
        </p:spPr>
        <p:txBody>
          <a:bodyPr wrap="none" lIns="0" tIns="0" rIns="0" bIns="0" rtlCol="0" anchor="ctr"/>
          <a:lstStyle/>
          <a:p>
            <a:pPr marL="0" indent="0" algn="l">
              <a:buNone/>
            </a:pPr>
            <a:r>
              <a:rPr lang="en-US" sz="900" b="1" kern="0" spc="137" dirty="0">
                <a:solidFill>
                  <a:srgbClr val="991B1B"/>
                </a:solidFill>
                <a:latin typeface="JetBrains Mono" pitchFamily="34" charset="0"/>
                <a:ea typeface="JetBrains Mono" pitchFamily="34" charset="-122"/>
                <a:cs typeface="JetBrains Mono" pitchFamily="34" charset="-120"/>
              </a:rPr>
              <a:t>Règle stricte — séparation des responsabilités</a:t>
            </a:r>
            <a:endParaRPr lang="en-US" sz="900" dirty="0"/>
          </a:p>
        </p:txBody>
      </p:sp>
      <p:sp>
        <p:nvSpPr>
          <p:cNvPr id="72" name="Text 70"/>
          <p:cNvSpPr txBox="1"/>
          <p:nvPr/>
        </p:nvSpPr>
        <p:spPr>
          <a:xfrm>
            <a:off x="1904695" y="8715146"/>
            <a:ext cx="13182905"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Le central NE recharge PAS les wallets des chauffeurs ni des livreurs.</a:t>
            </a:r>
            <a:endParaRPr lang="en-US" sz="1300" dirty="0"/>
          </a:p>
        </p:txBody>
      </p:sp>
      <p:sp>
        <p:nvSpPr>
          <p:cNvPr id="73" name="Text 71"/>
          <p:cNvSpPr txBox="1"/>
          <p:nvPr/>
        </p:nvSpPr>
        <p:spPr>
          <a:xfrm>
            <a:off x="1904695" y="8982151"/>
            <a:ext cx="13182905" cy="181051"/>
          </a:xfrm>
          <a:prstGeom prst="rect">
            <a:avLst/>
          </a:prstGeom>
          <a:noFill/>
          <a:ln/>
        </p:spPr>
        <p:txBody>
          <a:bodyPr wrap="none" lIns="0" tIns="0" rIns="0" bIns="0" rtlCol="0" anchor="ctr"/>
          <a:lstStyle/>
          <a:p>
            <a:pPr marL="0" indent="0" algn="l">
              <a:buNone/>
            </a:pPr>
            <a:r>
              <a:rPr lang="en-US" sz="1000" dirty="0">
                <a:solidFill>
                  <a:srgbClr val="4B5563"/>
                </a:solidFill>
                <a:latin typeface="Manrope" pitchFamily="34" charset="0"/>
                <a:ea typeface="Manrope" pitchFamily="34" charset="-122"/>
                <a:cs typeface="Manrope" pitchFamily="34" charset="-120"/>
              </a:rPr>
              <a:t>Sa supervision financière est en </a:t>
            </a:r>
            <a:r>
              <a:rPr lang="en-US" sz="1000" b="1" dirty="0">
                <a:solidFill>
                  <a:srgbClr val="4B5563"/>
                </a:solidFill>
                <a:latin typeface="Manrope" pitchFamily="34" charset="0"/>
                <a:ea typeface="Manrope" pitchFamily="34" charset="-122"/>
                <a:cs typeface="Manrope" pitchFamily="34" charset="-120"/>
              </a:rPr>
              <a:t>lecture seule</a:t>
            </a:r>
            <a:r>
              <a:rPr lang="en-US" sz="1000" dirty="0">
                <a:solidFill>
                  <a:srgbClr val="4B5563"/>
                </a:solidFill>
                <a:latin typeface="Manrope" pitchFamily="34" charset="0"/>
                <a:ea typeface="Manrope" pitchFamily="34" charset="-122"/>
                <a:cs typeface="Manrope" pitchFamily="34" charset="-120"/>
              </a:rPr>
              <a:t>. Les recharges sont l'affaire des partenaires (cascade) ou des chauffeurs eux-mêmes (auto-recharge).</a:t>
            </a:r>
            <a:endParaRPr lang="en-US" sz="1000" dirty="0"/>
          </a:p>
        </p:txBody>
      </p:sp>
      <p:sp>
        <p:nvSpPr>
          <p:cNvPr id="74" name="Shape 72"/>
          <p:cNvSpPr/>
          <p:nvPr/>
        </p:nvSpPr>
        <p:spPr>
          <a:xfrm>
            <a:off x="15307970" y="8686800"/>
            <a:ext cx="1819656" cy="286207"/>
          </a:xfrm>
          <a:prstGeom prst="roundRect">
            <a:avLst>
              <a:gd name="adj" fmla="val 49840"/>
            </a:avLst>
          </a:prstGeom>
          <a:solidFill>
            <a:srgbClr val="1F2937"/>
          </a:solidFill>
          <a:ln w="12700">
            <a:solidFill>
              <a:srgbClr val="FFFFFF">
                <a:alpha val="0"/>
              </a:srgbClr>
            </a:solidFill>
            <a:prstDash val="solid"/>
          </a:ln>
        </p:spPr>
        <p:txBody>
          <a:bodyPr/>
          <a:lstStyle/>
          <a:p>
            <a:endParaRPr lang="fr-CI"/>
          </a:p>
        </p:txBody>
      </p:sp>
      <p:sp>
        <p:nvSpPr>
          <p:cNvPr id="75" name="Text 73"/>
          <p:cNvSpPr/>
          <p:nvPr/>
        </p:nvSpPr>
        <p:spPr>
          <a:xfrm>
            <a:off x="15307970" y="8686800"/>
            <a:ext cx="1819656"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FFFFFF"/>
                </a:solidFill>
                <a:latin typeface="Manrope" pitchFamily="34" charset="0"/>
                <a:ea typeface="Manrope" pitchFamily="34" charset="-122"/>
                <a:cs typeface="Manrope" pitchFamily="34" charset="-120"/>
              </a:rPr>
              <a:t>UC-C01 · UC-C02 · UC-A01</a:t>
            </a:r>
            <a:endParaRPr lang="en-US" sz="900" dirty="0"/>
          </a:p>
        </p:txBody>
      </p:sp>
      <p:sp>
        <p:nvSpPr>
          <p:cNvPr id="76" name="Shape 74"/>
          <p:cNvSpPr/>
          <p:nvPr/>
        </p:nvSpPr>
        <p:spPr>
          <a:xfrm>
            <a:off x="0" y="9791395"/>
            <a:ext cx="18288000" cy="495605"/>
          </a:xfrm>
          <a:prstGeom prst="rect">
            <a:avLst/>
          </a:prstGeom>
          <a:solidFill>
            <a:srgbClr val="FFFFFF"/>
          </a:solidFill>
          <a:ln/>
        </p:spPr>
        <p:txBody>
          <a:bodyPr/>
          <a:lstStyle/>
          <a:p>
            <a:endParaRPr lang="fr-CI"/>
          </a:p>
        </p:txBody>
      </p:sp>
      <p:sp>
        <p:nvSpPr>
          <p:cNvPr id="77" name="Shape 75"/>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78" name="Text 76"/>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79" name="Text 77"/>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15 / 59</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5346375" y="256946"/>
            <a:ext cx="2777033"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Partie III — Profils utilisateurs</a:t>
            </a:r>
            <a:endParaRPr lang="en-US" sz="900" dirty="0"/>
          </a:p>
        </p:txBody>
      </p:sp>
      <p:sp>
        <p:nvSpPr>
          <p:cNvPr id="10" name="Text 8"/>
          <p:cNvSpPr txBox="1"/>
          <p:nvPr/>
        </p:nvSpPr>
        <p:spPr>
          <a:xfrm>
            <a:off x="914400" y="1205179"/>
            <a:ext cx="3525012" cy="181051"/>
          </a:xfrm>
          <a:prstGeom prst="rect">
            <a:avLst/>
          </a:prstGeom>
          <a:noFill/>
          <a:ln/>
        </p:spPr>
        <p:txBody>
          <a:bodyPr wrap="none" lIns="0" tIns="0" rIns="0" bIns="0" rtlCol="0" anchor="ctr"/>
          <a:lstStyle/>
          <a:p>
            <a:pPr marL="0" indent="0" algn="l">
              <a:buNone/>
            </a:pPr>
            <a:r>
              <a:rPr lang="en-US" sz="1400" b="1" kern="0" spc="189" dirty="0">
                <a:solidFill>
                  <a:srgbClr val="6D28D9"/>
                </a:solidFill>
                <a:latin typeface="Manrope" pitchFamily="34" charset="0"/>
                <a:ea typeface="Manrope" pitchFamily="34" charset="-122"/>
                <a:cs typeface="Manrope" pitchFamily="34" charset="-120"/>
              </a:rPr>
              <a:t>Diagramme use case · vue globale</a:t>
            </a:r>
            <a:endParaRPr lang="en-US" sz="14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6193110" cy="1095451"/>
          </a:xfrm>
          <a:prstGeom prst="rect">
            <a:avLst/>
          </a:prstGeom>
          <a:noFill/>
          <a:ln/>
        </p:spPr>
        <p:txBody>
          <a:bodyPr wrap="square" lIns="0" tIns="0" rIns="0" bIns="0" rtlCol="0" anchor="ctr"/>
          <a:lstStyle/>
          <a:p>
            <a:pPr marL="0" indent="0" algn="l">
              <a:buNone/>
            </a:pPr>
            <a:r>
              <a:rPr lang="en-US" sz="3600" b="1" kern="0" spc="-58" dirty="0">
                <a:solidFill>
                  <a:srgbClr val="1F2937"/>
                </a:solidFill>
                <a:latin typeface="Manrope" pitchFamily="34" charset="0"/>
                <a:ea typeface="Manrope" pitchFamily="34" charset="-122"/>
                <a:cs typeface="Manrope" pitchFamily="34" charset="-120"/>
              </a:rPr>
              <a:t>Six acteurs interagissent avec la plateforme — cartographie des cas d'usage.</a:t>
            </a:r>
            <a:endParaRPr lang="en-US" sz="3600" dirty="0"/>
          </a:p>
        </p:txBody>
      </p:sp>
      <p:pic>
        <p:nvPicPr>
          <p:cNvPr id="13" name="Image 0" descr="gen-dedup-a7aa0507d1643cf3db73eaddd9c7465c.jpg"/>
          <p:cNvPicPr>
            <a:picLocks noChangeAspect="1"/>
          </p:cNvPicPr>
          <p:nvPr/>
        </p:nvPicPr>
        <p:blipFill>
          <a:blip r:embed="rId3"/>
          <a:srcRect t="-1" b="-1"/>
          <a:stretch/>
        </p:blipFill>
        <p:spPr>
          <a:xfrm>
            <a:off x="914400" y="2667305"/>
            <a:ext cx="12191695" cy="6858000"/>
          </a:xfrm>
          <a:prstGeom prst="rect">
            <a:avLst/>
          </a:prstGeom>
        </p:spPr>
      </p:pic>
      <p:sp>
        <p:nvSpPr>
          <p:cNvPr id="14" name="Shape 11"/>
          <p:cNvSpPr/>
          <p:nvPr/>
        </p:nvSpPr>
        <p:spPr>
          <a:xfrm>
            <a:off x="13411505" y="2667305"/>
            <a:ext cx="4000500" cy="6858000"/>
          </a:xfrm>
          <a:prstGeom prst="roundRect">
            <a:avLst>
              <a:gd name="adj" fmla="val 3337"/>
            </a:avLst>
          </a:prstGeom>
          <a:solidFill>
            <a:srgbClr val="FAFAFC"/>
          </a:solidFill>
          <a:ln w="12700">
            <a:solidFill>
              <a:srgbClr val="E5E7EB"/>
            </a:solidFill>
            <a:prstDash val="solid"/>
          </a:ln>
        </p:spPr>
        <p:txBody>
          <a:bodyPr/>
          <a:lstStyle/>
          <a:p>
            <a:endParaRPr lang="fr-CI"/>
          </a:p>
        </p:txBody>
      </p:sp>
      <p:sp>
        <p:nvSpPr>
          <p:cNvPr id="15" name="Text 12"/>
          <p:cNvSpPr txBox="1"/>
          <p:nvPr/>
        </p:nvSpPr>
        <p:spPr>
          <a:xfrm>
            <a:off x="13640105" y="2915107"/>
            <a:ext cx="3620110" cy="238658"/>
          </a:xfrm>
          <a:prstGeom prst="rect">
            <a:avLst/>
          </a:prstGeom>
          <a:noFill/>
          <a:ln/>
        </p:spPr>
        <p:txBody>
          <a:bodyPr wrap="none" lIns="0" tIns="0" rIns="0" bIns="0" rtlCol="0" anchor="ctr"/>
          <a:lstStyle/>
          <a:p>
            <a:pPr marL="0" indent="0" algn="l">
              <a:buNone/>
            </a:pPr>
            <a:r>
              <a:rPr lang="en-US" sz="1500" b="1" dirty="0">
                <a:solidFill>
                  <a:srgbClr val="1F2937"/>
                </a:solidFill>
                <a:latin typeface="Manrope" pitchFamily="34" charset="0"/>
                <a:ea typeface="Manrope" pitchFamily="34" charset="-122"/>
                <a:cs typeface="Manrope" pitchFamily="34" charset="-120"/>
              </a:rPr>
              <a:t>6 acteurs principaux</a:t>
            </a:r>
            <a:endParaRPr lang="en-US" sz="1500" dirty="0"/>
          </a:p>
        </p:txBody>
      </p:sp>
      <p:sp>
        <p:nvSpPr>
          <p:cNvPr id="16" name="Shape 13"/>
          <p:cNvSpPr/>
          <p:nvPr/>
        </p:nvSpPr>
        <p:spPr>
          <a:xfrm>
            <a:off x="13640105" y="3323844"/>
            <a:ext cx="3619195" cy="619049"/>
          </a:xfrm>
          <a:prstGeom prst="roundRect">
            <a:avLst>
              <a:gd name="adj" fmla="val 15362"/>
            </a:avLst>
          </a:prstGeom>
          <a:solidFill>
            <a:srgbClr val="FFFFFF"/>
          </a:solidFill>
          <a:ln/>
        </p:spPr>
        <p:txBody>
          <a:bodyPr/>
          <a:lstStyle/>
          <a:p>
            <a:endParaRPr lang="fr-CI"/>
          </a:p>
        </p:txBody>
      </p:sp>
      <p:sp>
        <p:nvSpPr>
          <p:cNvPr id="17" name="Shape 14"/>
          <p:cNvSpPr/>
          <p:nvPr/>
        </p:nvSpPr>
        <p:spPr>
          <a:xfrm>
            <a:off x="13640105" y="3323844"/>
            <a:ext cx="28346" cy="619049"/>
          </a:xfrm>
          <a:prstGeom prst="roundRect">
            <a:avLst>
              <a:gd name="adj" fmla="val 335489"/>
            </a:avLst>
          </a:prstGeom>
          <a:solidFill>
            <a:srgbClr val="6D28D9"/>
          </a:solidFill>
          <a:ln w="12700">
            <a:solidFill>
              <a:srgbClr val="6D28D9">
                <a:alpha val="0"/>
              </a:srgbClr>
            </a:solidFill>
            <a:prstDash val="solid"/>
          </a:ln>
        </p:spPr>
        <p:txBody>
          <a:bodyPr/>
          <a:lstStyle/>
          <a:p>
            <a:endParaRPr lang="fr-CI"/>
          </a:p>
        </p:txBody>
      </p:sp>
      <p:sp>
        <p:nvSpPr>
          <p:cNvPr id="18" name="Text 15"/>
          <p:cNvSpPr txBox="1"/>
          <p:nvPr/>
        </p:nvSpPr>
        <p:spPr>
          <a:xfrm>
            <a:off x="13801954" y="3438144"/>
            <a:ext cx="3324758" cy="200254"/>
          </a:xfrm>
          <a:prstGeom prst="rect">
            <a:avLst/>
          </a:prstGeom>
          <a:noFill/>
          <a:ln/>
        </p:spPr>
        <p:txBody>
          <a:bodyPr wrap="none" lIns="0" tIns="0" rIns="0" bIns="0" rtlCol="0" anchor="ctr"/>
          <a:lstStyle/>
          <a:p>
            <a:pPr marL="0" indent="0" algn="l">
              <a:buNone/>
            </a:pPr>
            <a:r>
              <a:rPr lang="en-US" sz="1100" b="1" dirty="0">
                <a:solidFill>
                  <a:srgbClr val="1F2937"/>
                </a:solidFill>
                <a:latin typeface="Manrope" pitchFamily="34" charset="0"/>
                <a:ea typeface="Manrope" pitchFamily="34" charset="-122"/>
                <a:cs typeface="Manrope" pitchFamily="34" charset="-120"/>
              </a:rPr>
              <a:t>Client</a:t>
            </a:r>
            <a:endParaRPr lang="en-US" sz="1100" dirty="0"/>
          </a:p>
        </p:txBody>
      </p:sp>
      <p:sp>
        <p:nvSpPr>
          <p:cNvPr id="19" name="Text 16"/>
          <p:cNvSpPr txBox="1"/>
          <p:nvPr/>
        </p:nvSpPr>
        <p:spPr>
          <a:xfrm>
            <a:off x="13801954" y="3657600"/>
            <a:ext cx="3324758"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Consomme les services</a:t>
            </a:r>
            <a:endParaRPr lang="en-US" sz="900" dirty="0"/>
          </a:p>
        </p:txBody>
      </p:sp>
      <p:sp>
        <p:nvSpPr>
          <p:cNvPr id="20" name="Shape 17"/>
          <p:cNvSpPr/>
          <p:nvPr/>
        </p:nvSpPr>
        <p:spPr>
          <a:xfrm>
            <a:off x="13640105" y="4058107"/>
            <a:ext cx="3619195" cy="619049"/>
          </a:xfrm>
          <a:prstGeom prst="roundRect">
            <a:avLst>
              <a:gd name="adj" fmla="val 15362"/>
            </a:avLst>
          </a:prstGeom>
          <a:solidFill>
            <a:srgbClr val="FFFFFF"/>
          </a:solidFill>
          <a:ln/>
        </p:spPr>
        <p:txBody>
          <a:bodyPr/>
          <a:lstStyle/>
          <a:p>
            <a:endParaRPr lang="fr-CI"/>
          </a:p>
        </p:txBody>
      </p:sp>
      <p:sp>
        <p:nvSpPr>
          <p:cNvPr id="21" name="Shape 18"/>
          <p:cNvSpPr/>
          <p:nvPr/>
        </p:nvSpPr>
        <p:spPr>
          <a:xfrm>
            <a:off x="13640105" y="4058107"/>
            <a:ext cx="28346" cy="619049"/>
          </a:xfrm>
          <a:prstGeom prst="roundRect">
            <a:avLst>
              <a:gd name="adj" fmla="val 335489"/>
            </a:avLst>
          </a:prstGeom>
          <a:solidFill>
            <a:srgbClr val="6D28D9"/>
          </a:solidFill>
          <a:ln w="12700">
            <a:solidFill>
              <a:srgbClr val="6D28D9">
                <a:alpha val="0"/>
              </a:srgbClr>
            </a:solidFill>
            <a:prstDash val="solid"/>
          </a:ln>
        </p:spPr>
        <p:txBody>
          <a:bodyPr/>
          <a:lstStyle/>
          <a:p>
            <a:endParaRPr lang="fr-CI"/>
          </a:p>
        </p:txBody>
      </p:sp>
      <p:sp>
        <p:nvSpPr>
          <p:cNvPr id="22" name="Text 19"/>
          <p:cNvSpPr txBox="1"/>
          <p:nvPr/>
        </p:nvSpPr>
        <p:spPr>
          <a:xfrm>
            <a:off x="13801954" y="4172407"/>
            <a:ext cx="3324758" cy="200254"/>
          </a:xfrm>
          <a:prstGeom prst="rect">
            <a:avLst/>
          </a:prstGeom>
          <a:noFill/>
          <a:ln/>
        </p:spPr>
        <p:txBody>
          <a:bodyPr wrap="none" lIns="0" tIns="0" rIns="0" bIns="0" rtlCol="0" anchor="ctr"/>
          <a:lstStyle/>
          <a:p>
            <a:pPr marL="0" indent="0" algn="l">
              <a:buNone/>
            </a:pPr>
            <a:r>
              <a:rPr lang="en-US" sz="1100" b="1" dirty="0">
                <a:solidFill>
                  <a:srgbClr val="1F2937"/>
                </a:solidFill>
                <a:latin typeface="Manrope" pitchFamily="34" charset="0"/>
                <a:ea typeface="Manrope" pitchFamily="34" charset="-122"/>
                <a:cs typeface="Manrope" pitchFamily="34" charset="-120"/>
              </a:rPr>
              <a:t>Chauffeur</a:t>
            </a:r>
            <a:endParaRPr lang="en-US" sz="1100" dirty="0"/>
          </a:p>
        </p:txBody>
      </p:sp>
      <p:sp>
        <p:nvSpPr>
          <p:cNvPr id="23" name="Text 20"/>
          <p:cNvSpPr txBox="1"/>
          <p:nvPr/>
        </p:nvSpPr>
        <p:spPr>
          <a:xfrm>
            <a:off x="13801954" y="4390949"/>
            <a:ext cx="3324758"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Transport / location avec chauffeur</a:t>
            </a:r>
            <a:endParaRPr lang="en-US" sz="900" dirty="0"/>
          </a:p>
        </p:txBody>
      </p:sp>
      <p:sp>
        <p:nvSpPr>
          <p:cNvPr id="24" name="Shape 21"/>
          <p:cNvSpPr/>
          <p:nvPr/>
        </p:nvSpPr>
        <p:spPr>
          <a:xfrm>
            <a:off x="13640105" y="4791456"/>
            <a:ext cx="3619195" cy="619049"/>
          </a:xfrm>
          <a:prstGeom prst="roundRect">
            <a:avLst>
              <a:gd name="adj" fmla="val 15362"/>
            </a:avLst>
          </a:prstGeom>
          <a:solidFill>
            <a:srgbClr val="FFFFFF"/>
          </a:solidFill>
          <a:ln/>
        </p:spPr>
        <p:txBody>
          <a:bodyPr/>
          <a:lstStyle/>
          <a:p>
            <a:endParaRPr lang="fr-CI"/>
          </a:p>
        </p:txBody>
      </p:sp>
      <p:sp>
        <p:nvSpPr>
          <p:cNvPr id="25" name="Shape 22"/>
          <p:cNvSpPr/>
          <p:nvPr/>
        </p:nvSpPr>
        <p:spPr>
          <a:xfrm>
            <a:off x="13640105" y="4791456"/>
            <a:ext cx="28346" cy="619049"/>
          </a:xfrm>
          <a:prstGeom prst="roundRect">
            <a:avLst>
              <a:gd name="adj" fmla="val 335489"/>
            </a:avLst>
          </a:prstGeom>
          <a:solidFill>
            <a:srgbClr val="6D28D9"/>
          </a:solidFill>
          <a:ln w="12700">
            <a:solidFill>
              <a:srgbClr val="6D28D9">
                <a:alpha val="0"/>
              </a:srgbClr>
            </a:solidFill>
            <a:prstDash val="solid"/>
          </a:ln>
        </p:spPr>
        <p:txBody>
          <a:bodyPr/>
          <a:lstStyle/>
          <a:p>
            <a:endParaRPr lang="fr-CI"/>
          </a:p>
        </p:txBody>
      </p:sp>
      <p:sp>
        <p:nvSpPr>
          <p:cNvPr id="26" name="Text 23"/>
          <p:cNvSpPr txBox="1"/>
          <p:nvPr/>
        </p:nvSpPr>
        <p:spPr>
          <a:xfrm>
            <a:off x="13801954" y="4905756"/>
            <a:ext cx="3324758" cy="200254"/>
          </a:xfrm>
          <a:prstGeom prst="rect">
            <a:avLst/>
          </a:prstGeom>
          <a:noFill/>
          <a:ln/>
        </p:spPr>
        <p:txBody>
          <a:bodyPr wrap="none" lIns="0" tIns="0" rIns="0" bIns="0" rtlCol="0" anchor="ctr"/>
          <a:lstStyle/>
          <a:p>
            <a:pPr marL="0" indent="0" algn="l">
              <a:buNone/>
            </a:pPr>
            <a:r>
              <a:rPr lang="en-US" sz="1100" b="1" dirty="0">
                <a:solidFill>
                  <a:srgbClr val="1F2937"/>
                </a:solidFill>
                <a:latin typeface="Manrope" pitchFamily="34" charset="0"/>
                <a:ea typeface="Manrope" pitchFamily="34" charset="-122"/>
                <a:cs typeface="Manrope" pitchFamily="34" charset="-120"/>
              </a:rPr>
              <a:t>Livreur</a:t>
            </a:r>
            <a:endParaRPr lang="en-US" sz="1100" dirty="0"/>
          </a:p>
        </p:txBody>
      </p:sp>
      <p:sp>
        <p:nvSpPr>
          <p:cNvPr id="27" name="Text 24"/>
          <p:cNvSpPr txBox="1"/>
          <p:nvPr/>
        </p:nvSpPr>
        <p:spPr>
          <a:xfrm>
            <a:off x="13801954" y="5124298"/>
            <a:ext cx="3324758"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Missions de livraison</a:t>
            </a:r>
            <a:endParaRPr lang="en-US" sz="900" dirty="0"/>
          </a:p>
        </p:txBody>
      </p:sp>
      <p:sp>
        <p:nvSpPr>
          <p:cNvPr id="28" name="Shape 25"/>
          <p:cNvSpPr/>
          <p:nvPr/>
        </p:nvSpPr>
        <p:spPr>
          <a:xfrm>
            <a:off x="13640105" y="5524805"/>
            <a:ext cx="3619195" cy="619049"/>
          </a:xfrm>
          <a:prstGeom prst="roundRect">
            <a:avLst>
              <a:gd name="adj" fmla="val 15362"/>
            </a:avLst>
          </a:prstGeom>
          <a:solidFill>
            <a:srgbClr val="FFFFFF"/>
          </a:solidFill>
          <a:ln/>
        </p:spPr>
        <p:txBody>
          <a:bodyPr/>
          <a:lstStyle/>
          <a:p>
            <a:endParaRPr lang="fr-CI"/>
          </a:p>
        </p:txBody>
      </p:sp>
      <p:sp>
        <p:nvSpPr>
          <p:cNvPr id="29" name="Shape 26"/>
          <p:cNvSpPr/>
          <p:nvPr/>
        </p:nvSpPr>
        <p:spPr>
          <a:xfrm>
            <a:off x="13640105" y="5524805"/>
            <a:ext cx="28346" cy="619049"/>
          </a:xfrm>
          <a:prstGeom prst="roundRect">
            <a:avLst>
              <a:gd name="adj" fmla="val 335489"/>
            </a:avLst>
          </a:prstGeom>
          <a:solidFill>
            <a:srgbClr val="4C1D95"/>
          </a:solidFill>
          <a:ln w="12700">
            <a:solidFill>
              <a:srgbClr val="4C1D95">
                <a:alpha val="0"/>
              </a:srgbClr>
            </a:solidFill>
            <a:prstDash val="solid"/>
          </a:ln>
        </p:spPr>
        <p:txBody>
          <a:bodyPr/>
          <a:lstStyle/>
          <a:p>
            <a:endParaRPr lang="fr-CI"/>
          </a:p>
        </p:txBody>
      </p:sp>
      <p:sp>
        <p:nvSpPr>
          <p:cNvPr id="30" name="Text 27"/>
          <p:cNvSpPr txBox="1"/>
          <p:nvPr/>
        </p:nvSpPr>
        <p:spPr>
          <a:xfrm>
            <a:off x="13801954" y="5639105"/>
            <a:ext cx="3324758" cy="200254"/>
          </a:xfrm>
          <a:prstGeom prst="rect">
            <a:avLst/>
          </a:prstGeom>
          <a:noFill/>
          <a:ln/>
        </p:spPr>
        <p:txBody>
          <a:bodyPr wrap="none" lIns="0" tIns="0" rIns="0" bIns="0" rtlCol="0" anchor="ctr"/>
          <a:lstStyle/>
          <a:p>
            <a:pPr marL="0" indent="0" algn="l">
              <a:buNone/>
            </a:pPr>
            <a:r>
              <a:rPr lang="en-US" sz="1100" b="1" dirty="0">
                <a:solidFill>
                  <a:srgbClr val="1F2937"/>
                </a:solidFill>
                <a:latin typeface="Manrope" pitchFamily="34" charset="0"/>
                <a:ea typeface="Manrope" pitchFamily="34" charset="-122"/>
                <a:cs typeface="Manrope" pitchFamily="34" charset="-120"/>
              </a:rPr>
              <a:t>Partenaire</a:t>
            </a:r>
            <a:endParaRPr lang="en-US" sz="1100" dirty="0"/>
          </a:p>
        </p:txBody>
      </p:sp>
      <p:sp>
        <p:nvSpPr>
          <p:cNvPr id="31" name="Text 28"/>
          <p:cNvSpPr txBox="1"/>
          <p:nvPr/>
        </p:nvSpPr>
        <p:spPr>
          <a:xfrm>
            <a:off x="13801954" y="5857646"/>
            <a:ext cx="3324758"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Flotte chauffeurs &amp; véhicules</a:t>
            </a:r>
            <a:endParaRPr lang="en-US" sz="900" dirty="0"/>
          </a:p>
        </p:txBody>
      </p:sp>
      <p:sp>
        <p:nvSpPr>
          <p:cNvPr id="32" name="Shape 29"/>
          <p:cNvSpPr/>
          <p:nvPr/>
        </p:nvSpPr>
        <p:spPr>
          <a:xfrm>
            <a:off x="13640105" y="6258154"/>
            <a:ext cx="3619195" cy="619049"/>
          </a:xfrm>
          <a:prstGeom prst="roundRect">
            <a:avLst>
              <a:gd name="adj" fmla="val 15362"/>
            </a:avLst>
          </a:prstGeom>
          <a:solidFill>
            <a:srgbClr val="FFFFFF"/>
          </a:solidFill>
          <a:ln/>
        </p:spPr>
        <p:txBody>
          <a:bodyPr/>
          <a:lstStyle/>
          <a:p>
            <a:endParaRPr lang="fr-CI"/>
          </a:p>
        </p:txBody>
      </p:sp>
      <p:sp>
        <p:nvSpPr>
          <p:cNvPr id="33" name="Shape 30"/>
          <p:cNvSpPr/>
          <p:nvPr/>
        </p:nvSpPr>
        <p:spPr>
          <a:xfrm>
            <a:off x="13640105" y="6258154"/>
            <a:ext cx="28346" cy="619049"/>
          </a:xfrm>
          <a:prstGeom prst="roundRect">
            <a:avLst>
              <a:gd name="adj" fmla="val 335489"/>
            </a:avLst>
          </a:prstGeom>
          <a:solidFill>
            <a:srgbClr val="4C1D95"/>
          </a:solidFill>
          <a:ln w="12700">
            <a:solidFill>
              <a:srgbClr val="4C1D95">
                <a:alpha val="0"/>
              </a:srgbClr>
            </a:solidFill>
            <a:prstDash val="solid"/>
          </a:ln>
        </p:spPr>
        <p:txBody>
          <a:bodyPr/>
          <a:lstStyle/>
          <a:p>
            <a:endParaRPr lang="fr-CI"/>
          </a:p>
        </p:txBody>
      </p:sp>
      <p:sp>
        <p:nvSpPr>
          <p:cNvPr id="34" name="Text 31"/>
          <p:cNvSpPr txBox="1"/>
          <p:nvPr/>
        </p:nvSpPr>
        <p:spPr>
          <a:xfrm>
            <a:off x="13801954" y="6372454"/>
            <a:ext cx="3324758" cy="200254"/>
          </a:xfrm>
          <a:prstGeom prst="rect">
            <a:avLst/>
          </a:prstGeom>
          <a:noFill/>
          <a:ln/>
        </p:spPr>
        <p:txBody>
          <a:bodyPr wrap="none" lIns="0" tIns="0" rIns="0" bIns="0" rtlCol="0" anchor="ctr"/>
          <a:lstStyle/>
          <a:p>
            <a:pPr marL="0" indent="0" algn="l">
              <a:buNone/>
            </a:pPr>
            <a:r>
              <a:rPr lang="en-US" sz="1100" b="1" dirty="0">
                <a:solidFill>
                  <a:srgbClr val="1F2937"/>
                </a:solidFill>
                <a:latin typeface="Manrope" pitchFamily="34" charset="0"/>
                <a:ea typeface="Manrope" pitchFamily="34" charset="-122"/>
                <a:cs typeface="Manrope" pitchFamily="34" charset="-120"/>
              </a:rPr>
              <a:t>Franchise</a:t>
            </a:r>
            <a:endParaRPr lang="en-US" sz="1100" dirty="0"/>
          </a:p>
        </p:txBody>
      </p:sp>
      <p:sp>
        <p:nvSpPr>
          <p:cNvPr id="35" name="Text 32"/>
          <p:cNvSpPr txBox="1"/>
          <p:nvPr/>
        </p:nvSpPr>
        <p:spPr>
          <a:xfrm>
            <a:off x="13801954" y="6590995"/>
            <a:ext cx="3324758"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Supervision zone géographique</a:t>
            </a:r>
            <a:endParaRPr lang="en-US" sz="900" dirty="0"/>
          </a:p>
        </p:txBody>
      </p:sp>
      <p:sp>
        <p:nvSpPr>
          <p:cNvPr id="36" name="Shape 33"/>
          <p:cNvSpPr/>
          <p:nvPr/>
        </p:nvSpPr>
        <p:spPr>
          <a:xfrm>
            <a:off x="13640105" y="6991502"/>
            <a:ext cx="3619195" cy="619049"/>
          </a:xfrm>
          <a:prstGeom prst="roundRect">
            <a:avLst>
              <a:gd name="adj" fmla="val 15362"/>
            </a:avLst>
          </a:prstGeom>
          <a:solidFill>
            <a:srgbClr val="1F2937"/>
          </a:solidFill>
          <a:ln w="12700">
            <a:solidFill>
              <a:srgbClr val="FFFFFF">
                <a:alpha val="0"/>
              </a:srgbClr>
            </a:solidFill>
            <a:prstDash val="solid"/>
          </a:ln>
        </p:spPr>
        <p:txBody>
          <a:bodyPr/>
          <a:lstStyle/>
          <a:p>
            <a:endParaRPr lang="fr-CI"/>
          </a:p>
        </p:txBody>
      </p:sp>
      <p:sp>
        <p:nvSpPr>
          <p:cNvPr id="37" name="Text 34"/>
          <p:cNvSpPr txBox="1"/>
          <p:nvPr/>
        </p:nvSpPr>
        <p:spPr>
          <a:xfrm>
            <a:off x="13773607" y="7105802"/>
            <a:ext cx="3353105" cy="200254"/>
          </a:xfrm>
          <a:prstGeom prst="rect">
            <a:avLst/>
          </a:prstGeom>
          <a:noFill/>
          <a:ln/>
        </p:spPr>
        <p:txBody>
          <a:bodyPr wrap="none" lIns="0" tIns="0" rIns="0" bIns="0" rtlCol="0" anchor="ctr"/>
          <a:lstStyle/>
          <a:p>
            <a:pPr marL="0" indent="0" algn="l">
              <a:buNone/>
            </a:pPr>
            <a:r>
              <a:rPr lang="en-US" sz="1100" b="1" dirty="0">
                <a:solidFill>
                  <a:srgbClr val="FFFFFF"/>
                </a:solidFill>
                <a:latin typeface="Manrope" pitchFamily="34" charset="0"/>
                <a:ea typeface="Manrope" pitchFamily="34" charset="-122"/>
                <a:cs typeface="Manrope" pitchFamily="34" charset="-120"/>
              </a:rPr>
              <a:t>Central / Siège</a:t>
            </a:r>
            <a:endParaRPr lang="en-US" sz="1100" dirty="0"/>
          </a:p>
        </p:txBody>
      </p:sp>
      <p:sp>
        <p:nvSpPr>
          <p:cNvPr id="38" name="Text 35"/>
          <p:cNvSpPr txBox="1"/>
          <p:nvPr/>
        </p:nvSpPr>
        <p:spPr>
          <a:xfrm>
            <a:off x="13773607" y="7324344"/>
            <a:ext cx="3353105" cy="171907"/>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Vue globale, paramétrage, audit</a:t>
            </a:r>
            <a:endParaRPr lang="en-US" sz="900" dirty="0"/>
          </a:p>
        </p:txBody>
      </p:sp>
      <p:sp>
        <p:nvSpPr>
          <p:cNvPr id="39" name="Shape 36"/>
          <p:cNvSpPr/>
          <p:nvPr/>
        </p:nvSpPr>
        <p:spPr>
          <a:xfrm>
            <a:off x="13640105" y="7839151"/>
            <a:ext cx="3619195" cy="657454"/>
          </a:xfrm>
          <a:prstGeom prst="roundRect">
            <a:avLst>
              <a:gd name="adj" fmla="val 14465"/>
            </a:avLst>
          </a:prstGeom>
          <a:solidFill>
            <a:srgbClr val="F5F3FF"/>
          </a:solidFill>
          <a:ln w="12700">
            <a:solidFill>
              <a:srgbClr val="FFFFFF">
                <a:alpha val="0"/>
              </a:srgbClr>
            </a:solidFill>
            <a:prstDash val="solid"/>
          </a:ln>
        </p:spPr>
        <p:txBody>
          <a:bodyPr/>
          <a:lstStyle/>
          <a:p>
            <a:endParaRPr lang="fr-CI"/>
          </a:p>
        </p:txBody>
      </p:sp>
      <p:sp>
        <p:nvSpPr>
          <p:cNvPr id="40" name="Text 37"/>
          <p:cNvSpPr txBox="1"/>
          <p:nvPr/>
        </p:nvSpPr>
        <p:spPr>
          <a:xfrm>
            <a:off x="13773607" y="7972654"/>
            <a:ext cx="3353105" cy="133502"/>
          </a:xfrm>
          <a:prstGeom prst="rect">
            <a:avLst/>
          </a:prstGeom>
          <a:noFill/>
          <a:ln/>
        </p:spPr>
        <p:txBody>
          <a:bodyPr wrap="none" lIns="0" tIns="0" rIns="0" bIns="0" rtlCol="0" anchor="ctr"/>
          <a:lstStyle/>
          <a:p>
            <a:pPr marL="0" indent="0" algn="l">
              <a:buNone/>
            </a:pPr>
            <a:r>
              <a:rPr lang="en-US" sz="800" b="1" kern="0" spc="83" dirty="0">
                <a:solidFill>
                  <a:srgbClr val="6D28D9"/>
                </a:solidFill>
                <a:latin typeface="JetBrains Mono" pitchFamily="34" charset="0"/>
                <a:ea typeface="JetBrains Mono" pitchFamily="34" charset="-122"/>
                <a:cs typeface="JetBrains Mono" pitchFamily="34" charset="-120"/>
              </a:rPr>
              <a:t>+ Profils techniques</a:t>
            </a:r>
            <a:endParaRPr lang="en-US" sz="800" dirty="0"/>
          </a:p>
        </p:txBody>
      </p:sp>
      <p:sp>
        <p:nvSpPr>
          <p:cNvPr id="41" name="Text 38"/>
          <p:cNvSpPr txBox="1"/>
          <p:nvPr/>
        </p:nvSpPr>
        <p:spPr>
          <a:xfrm>
            <a:off x="13773607" y="8162849"/>
            <a:ext cx="3970325" cy="200254"/>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Support · Finance · Conformité · Reporting · Direction</a:t>
            </a:r>
            <a:endParaRPr lang="en-US" sz="900" dirty="0"/>
          </a:p>
        </p:txBody>
      </p:sp>
      <p:sp>
        <p:nvSpPr>
          <p:cNvPr id="42" name="Shape 39"/>
          <p:cNvSpPr/>
          <p:nvPr/>
        </p:nvSpPr>
        <p:spPr>
          <a:xfrm>
            <a:off x="0" y="9791395"/>
            <a:ext cx="18288000" cy="495605"/>
          </a:xfrm>
          <a:prstGeom prst="rect">
            <a:avLst/>
          </a:prstGeom>
          <a:solidFill>
            <a:srgbClr val="FFFFFF"/>
          </a:solidFill>
          <a:ln/>
        </p:spPr>
        <p:txBody>
          <a:bodyPr/>
          <a:lstStyle/>
          <a:p>
            <a:endParaRPr lang="fr-CI"/>
          </a:p>
        </p:txBody>
      </p:sp>
      <p:sp>
        <p:nvSpPr>
          <p:cNvPr id="43" name="Shape 40"/>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44" name="Text 41"/>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45" name="Text 42"/>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16 / 59</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6513150" y="256946"/>
            <a:ext cx="1513332"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§6 Profil Client</a:t>
            </a:r>
            <a:endParaRPr lang="en-US" sz="900" dirty="0"/>
          </a:p>
        </p:txBody>
      </p:sp>
      <p:sp>
        <p:nvSpPr>
          <p:cNvPr id="10" name="Text 8"/>
          <p:cNvSpPr txBox="1"/>
          <p:nvPr/>
        </p:nvSpPr>
        <p:spPr>
          <a:xfrm>
            <a:off x="914400" y="1205179"/>
            <a:ext cx="1819656" cy="181051"/>
          </a:xfrm>
          <a:prstGeom prst="rect">
            <a:avLst/>
          </a:prstGeom>
          <a:noFill/>
          <a:ln/>
        </p:spPr>
        <p:txBody>
          <a:bodyPr wrap="none" lIns="0" tIns="0" rIns="0" bIns="0" rtlCol="0" anchor="ctr"/>
          <a:lstStyle/>
          <a:p>
            <a:pPr marL="0" indent="0" algn="l">
              <a:buNone/>
            </a:pPr>
            <a:r>
              <a:rPr lang="en-US" sz="1400" b="1" kern="0" spc="189" dirty="0">
                <a:solidFill>
                  <a:srgbClr val="6D28D9"/>
                </a:solidFill>
                <a:latin typeface="Manrope" pitchFamily="34" charset="0"/>
                <a:ea typeface="Manrope" pitchFamily="34" charset="-122"/>
                <a:cs typeface="Manrope" pitchFamily="34" charset="-120"/>
              </a:rPr>
              <a:t>6. Profil Client</a:t>
            </a:r>
            <a:endParaRPr lang="en-US" sz="14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6193110" cy="1095451"/>
          </a:xfrm>
          <a:prstGeom prst="rect">
            <a:avLst/>
          </a:prstGeom>
          <a:noFill/>
          <a:ln/>
        </p:spPr>
        <p:txBody>
          <a:bodyPr wrap="squar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Le client — utilisateur final qui consomme les services de la plateforme.</a:t>
            </a:r>
            <a:endParaRPr lang="en-US" sz="3900" dirty="0"/>
          </a:p>
        </p:txBody>
      </p:sp>
      <p:sp>
        <p:nvSpPr>
          <p:cNvPr id="13" name="Shape 11"/>
          <p:cNvSpPr/>
          <p:nvPr/>
        </p:nvSpPr>
        <p:spPr>
          <a:xfrm>
            <a:off x="914400" y="2762402"/>
            <a:ext cx="8287207" cy="6667805"/>
          </a:xfrm>
          <a:prstGeom prst="roundRect">
            <a:avLst>
              <a:gd name="adj" fmla="val 2002"/>
            </a:avLst>
          </a:prstGeom>
          <a:solidFill>
            <a:srgbClr val="FAFAFC"/>
          </a:solidFill>
          <a:ln w="12700">
            <a:solidFill>
              <a:srgbClr val="E5E7EB"/>
            </a:solidFill>
            <a:prstDash val="solid"/>
          </a:ln>
        </p:spPr>
        <p:txBody>
          <a:bodyPr/>
          <a:lstStyle/>
          <a:p>
            <a:endParaRPr lang="fr-CI"/>
          </a:p>
        </p:txBody>
      </p:sp>
      <p:sp>
        <p:nvSpPr>
          <p:cNvPr id="14" name="Text 12"/>
          <p:cNvSpPr txBox="1"/>
          <p:nvPr/>
        </p:nvSpPr>
        <p:spPr>
          <a:xfrm>
            <a:off x="1218895" y="3010205"/>
            <a:ext cx="7715707" cy="162763"/>
          </a:xfrm>
          <a:prstGeom prst="rect">
            <a:avLst/>
          </a:prstGeom>
          <a:noFill/>
          <a:ln/>
        </p:spPr>
        <p:txBody>
          <a:bodyPr wrap="none" lIns="0" tIns="0" rIns="0" bIns="0" rtlCol="0" anchor="ctr"/>
          <a:lstStyle/>
          <a:p>
            <a:pPr marL="0" indent="0" algn="l">
              <a:buNone/>
            </a:pPr>
            <a:r>
              <a:rPr lang="en-US" sz="900" b="1" kern="0" spc="117" dirty="0">
                <a:solidFill>
                  <a:srgbClr val="6D28D9"/>
                </a:solidFill>
                <a:latin typeface="JetBrains Mono" pitchFamily="34" charset="0"/>
                <a:ea typeface="JetBrains Mono" pitchFamily="34" charset="-122"/>
                <a:cs typeface="JetBrains Mono" pitchFamily="34" charset="-120"/>
              </a:rPr>
              <a:t>6.1 · Fonctionnalités clés à tester</a:t>
            </a:r>
            <a:endParaRPr lang="en-US" sz="900" dirty="0"/>
          </a:p>
        </p:txBody>
      </p:sp>
      <p:sp>
        <p:nvSpPr>
          <p:cNvPr id="15" name="Text 13"/>
          <p:cNvSpPr txBox="1"/>
          <p:nvPr/>
        </p:nvSpPr>
        <p:spPr>
          <a:xfrm>
            <a:off x="1218895" y="3247949"/>
            <a:ext cx="7715707" cy="286207"/>
          </a:xfrm>
          <a:prstGeom prst="rect">
            <a:avLst/>
          </a:prstGeom>
          <a:noFill/>
          <a:ln/>
        </p:spPr>
        <p:txBody>
          <a:bodyPr wrap="none" lIns="0" tIns="0" rIns="0" bIns="0" rtlCol="0" anchor="ctr"/>
          <a:lstStyle/>
          <a:p>
            <a:pPr marL="0" indent="0" algn="l">
              <a:buNone/>
            </a:pPr>
            <a:r>
              <a:rPr lang="en-US" sz="1800" b="1" dirty="0">
                <a:solidFill>
                  <a:srgbClr val="1F2937"/>
                </a:solidFill>
                <a:latin typeface="Manrope" pitchFamily="34" charset="0"/>
                <a:ea typeface="Manrope" pitchFamily="34" charset="-122"/>
                <a:cs typeface="Manrope" pitchFamily="34" charset="-120"/>
              </a:rPr>
              <a:t>16 fonctionnalités</a:t>
            </a:r>
            <a:endParaRPr lang="en-US" sz="1800" dirty="0"/>
          </a:p>
        </p:txBody>
      </p:sp>
      <p:sp>
        <p:nvSpPr>
          <p:cNvPr id="16" name="Text 14"/>
          <p:cNvSpPr txBox="1"/>
          <p:nvPr/>
        </p:nvSpPr>
        <p:spPr>
          <a:xfrm>
            <a:off x="1218895" y="3724351"/>
            <a:ext cx="3724351"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01</a:t>
            </a:r>
            <a:r>
              <a:rPr lang="en-US" sz="1100" dirty="0">
                <a:solidFill>
                  <a:srgbClr val="1F2937"/>
                </a:solidFill>
                <a:latin typeface="Manrope" pitchFamily="34" charset="0"/>
                <a:ea typeface="Manrope" pitchFamily="34" charset="-122"/>
                <a:cs typeface="Manrope" pitchFamily="34" charset="-120"/>
              </a:rPr>
              <a:t> Création de compte</a:t>
            </a:r>
            <a:endParaRPr lang="en-US" sz="1100" dirty="0"/>
          </a:p>
        </p:txBody>
      </p:sp>
      <p:sp>
        <p:nvSpPr>
          <p:cNvPr id="17" name="Text 15"/>
          <p:cNvSpPr txBox="1"/>
          <p:nvPr/>
        </p:nvSpPr>
        <p:spPr>
          <a:xfrm>
            <a:off x="5210251" y="3724351"/>
            <a:ext cx="3724351"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02</a:t>
            </a:r>
            <a:r>
              <a:rPr lang="en-US" sz="1100" dirty="0">
                <a:solidFill>
                  <a:srgbClr val="1F2937"/>
                </a:solidFill>
                <a:latin typeface="Manrope" pitchFamily="34" charset="0"/>
                <a:ea typeface="Manrope" pitchFamily="34" charset="-122"/>
                <a:cs typeface="Manrope" pitchFamily="34" charset="-120"/>
              </a:rPr>
              <a:t> Connexion par OTP</a:t>
            </a:r>
            <a:endParaRPr lang="en-US" sz="1100" dirty="0"/>
          </a:p>
        </p:txBody>
      </p:sp>
      <p:sp>
        <p:nvSpPr>
          <p:cNvPr id="18" name="Text 16"/>
          <p:cNvSpPr txBox="1"/>
          <p:nvPr/>
        </p:nvSpPr>
        <p:spPr>
          <a:xfrm>
            <a:off x="1218895" y="4019702"/>
            <a:ext cx="3724351"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03</a:t>
            </a:r>
            <a:r>
              <a:rPr lang="en-US" sz="1100" dirty="0">
                <a:solidFill>
                  <a:srgbClr val="1F2937"/>
                </a:solidFill>
                <a:latin typeface="Manrope" pitchFamily="34" charset="0"/>
                <a:ea typeface="Manrope" pitchFamily="34" charset="-122"/>
                <a:cs typeface="Manrope" pitchFamily="34" charset="-120"/>
              </a:rPr>
              <a:t> Mise à jour du profil</a:t>
            </a:r>
            <a:endParaRPr lang="en-US" sz="1100" dirty="0"/>
          </a:p>
        </p:txBody>
      </p:sp>
      <p:sp>
        <p:nvSpPr>
          <p:cNvPr id="19" name="Text 17"/>
          <p:cNvSpPr txBox="1"/>
          <p:nvPr/>
        </p:nvSpPr>
        <p:spPr>
          <a:xfrm>
            <a:off x="5210251" y="4019702"/>
            <a:ext cx="3724351"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04</a:t>
            </a:r>
            <a:r>
              <a:rPr lang="en-US" sz="1100" dirty="0">
                <a:solidFill>
                  <a:srgbClr val="1F2937"/>
                </a:solidFill>
                <a:latin typeface="Manrope" pitchFamily="34" charset="0"/>
                <a:ea typeface="Manrope" pitchFamily="34" charset="-122"/>
                <a:cs typeface="Manrope" pitchFamily="34" charset="-120"/>
              </a:rPr>
              <a:t> Demande de course</a:t>
            </a:r>
            <a:endParaRPr lang="en-US" sz="1100" dirty="0"/>
          </a:p>
        </p:txBody>
      </p:sp>
      <p:sp>
        <p:nvSpPr>
          <p:cNvPr id="20" name="Text 18"/>
          <p:cNvSpPr txBox="1"/>
          <p:nvPr/>
        </p:nvSpPr>
        <p:spPr>
          <a:xfrm>
            <a:off x="1218895" y="4315054"/>
            <a:ext cx="3724351"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05</a:t>
            </a:r>
            <a:r>
              <a:rPr lang="en-US" sz="1100" dirty="0">
                <a:solidFill>
                  <a:srgbClr val="1F2937"/>
                </a:solidFill>
                <a:latin typeface="Manrope" pitchFamily="34" charset="0"/>
                <a:ea typeface="Manrope" pitchFamily="34" charset="-122"/>
                <a:cs typeface="Manrope" pitchFamily="34" charset="-120"/>
              </a:rPr>
              <a:t> Demande de livraison</a:t>
            </a:r>
            <a:endParaRPr lang="en-US" sz="1100" dirty="0"/>
          </a:p>
        </p:txBody>
      </p:sp>
      <p:sp>
        <p:nvSpPr>
          <p:cNvPr id="21" name="Text 19"/>
          <p:cNvSpPr txBox="1"/>
          <p:nvPr/>
        </p:nvSpPr>
        <p:spPr>
          <a:xfrm>
            <a:off x="5210251" y="4315054"/>
            <a:ext cx="3724351"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06</a:t>
            </a:r>
            <a:r>
              <a:rPr lang="en-US" sz="1100" dirty="0">
                <a:solidFill>
                  <a:srgbClr val="1F2937"/>
                </a:solidFill>
                <a:latin typeface="Manrope" pitchFamily="34" charset="0"/>
                <a:ea typeface="Manrope" pitchFamily="34" charset="-122"/>
                <a:cs typeface="Manrope" pitchFamily="34" charset="-120"/>
              </a:rPr>
              <a:t> Demande de fret</a:t>
            </a:r>
            <a:endParaRPr lang="en-US" sz="1100" dirty="0"/>
          </a:p>
        </p:txBody>
      </p:sp>
      <p:sp>
        <p:nvSpPr>
          <p:cNvPr id="22" name="Text 20"/>
          <p:cNvSpPr txBox="1"/>
          <p:nvPr/>
        </p:nvSpPr>
        <p:spPr>
          <a:xfrm>
            <a:off x="1218895" y="4610405"/>
            <a:ext cx="3724351"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07</a:t>
            </a:r>
            <a:r>
              <a:rPr lang="en-US" sz="1100" dirty="0">
                <a:solidFill>
                  <a:srgbClr val="1F2937"/>
                </a:solidFill>
                <a:latin typeface="Manrope" pitchFamily="34" charset="0"/>
                <a:ea typeface="Manrope" pitchFamily="34" charset="-122"/>
                <a:cs typeface="Manrope" pitchFamily="34" charset="-120"/>
              </a:rPr>
              <a:t> Demande de location</a:t>
            </a:r>
            <a:endParaRPr lang="en-US" sz="1100" dirty="0"/>
          </a:p>
        </p:txBody>
      </p:sp>
      <p:sp>
        <p:nvSpPr>
          <p:cNvPr id="23" name="Text 21"/>
          <p:cNvSpPr txBox="1"/>
          <p:nvPr/>
        </p:nvSpPr>
        <p:spPr>
          <a:xfrm>
            <a:off x="5210251" y="4610405"/>
            <a:ext cx="3724351"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08</a:t>
            </a:r>
            <a:r>
              <a:rPr lang="en-US" sz="1100" dirty="0">
                <a:solidFill>
                  <a:srgbClr val="1F2937"/>
                </a:solidFill>
                <a:latin typeface="Manrope" pitchFamily="34" charset="0"/>
                <a:ea typeface="Manrope" pitchFamily="34" charset="-122"/>
                <a:cs typeface="Manrope" pitchFamily="34" charset="-120"/>
              </a:rPr>
              <a:t> Choix d'un service</a:t>
            </a:r>
            <a:endParaRPr lang="en-US" sz="1100" dirty="0"/>
          </a:p>
        </p:txBody>
      </p:sp>
      <p:sp>
        <p:nvSpPr>
          <p:cNvPr id="24" name="Text 22"/>
          <p:cNvSpPr txBox="1"/>
          <p:nvPr/>
        </p:nvSpPr>
        <p:spPr>
          <a:xfrm>
            <a:off x="1218895" y="4905756"/>
            <a:ext cx="3724351"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09</a:t>
            </a:r>
            <a:r>
              <a:rPr lang="en-US" sz="1100" dirty="0">
                <a:solidFill>
                  <a:srgbClr val="1F2937"/>
                </a:solidFill>
                <a:latin typeface="Manrope" pitchFamily="34" charset="0"/>
                <a:ea typeface="Manrope" pitchFamily="34" charset="-122"/>
                <a:cs typeface="Manrope" pitchFamily="34" charset="-120"/>
              </a:rPr>
              <a:t> Suivi en temps réel</a:t>
            </a:r>
            <a:endParaRPr lang="en-US" sz="1100" dirty="0"/>
          </a:p>
        </p:txBody>
      </p:sp>
      <p:sp>
        <p:nvSpPr>
          <p:cNvPr id="25" name="Text 23"/>
          <p:cNvSpPr txBox="1"/>
          <p:nvPr/>
        </p:nvSpPr>
        <p:spPr>
          <a:xfrm>
            <a:off x="5210251" y="4905756"/>
            <a:ext cx="3724351"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10</a:t>
            </a:r>
            <a:r>
              <a:rPr lang="en-US" sz="1100" dirty="0">
                <a:solidFill>
                  <a:srgbClr val="1F2937"/>
                </a:solidFill>
                <a:latin typeface="Manrope" pitchFamily="34" charset="0"/>
                <a:ea typeface="Manrope" pitchFamily="34" charset="-122"/>
                <a:cs typeface="Manrope" pitchFamily="34" charset="-120"/>
              </a:rPr>
              <a:t> Consultation prix estimatif</a:t>
            </a:r>
            <a:endParaRPr lang="en-US" sz="1100" dirty="0"/>
          </a:p>
        </p:txBody>
      </p:sp>
      <p:sp>
        <p:nvSpPr>
          <p:cNvPr id="26" name="Text 24"/>
          <p:cNvSpPr txBox="1"/>
          <p:nvPr/>
        </p:nvSpPr>
        <p:spPr>
          <a:xfrm>
            <a:off x="1218895" y="5201107"/>
            <a:ext cx="3724351"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11</a:t>
            </a:r>
            <a:r>
              <a:rPr lang="en-US" sz="1100" dirty="0">
                <a:solidFill>
                  <a:srgbClr val="1F2937"/>
                </a:solidFill>
                <a:latin typeface="Manrope" pitchFamily="34" charset="0"/>
                <a:ea typeface="Manrope" pitchFamily="34" charset="-122"/>
                <a:cs typeface="Manrope" pitchFamily="34" charset="-120"/>
              </a:rPr>
              <a:t> Paiement (options disponibles)</a:t>
            </a:r>
            <a:endParaRPr lang="en-US" sz="1100" dirty="0"/>
          </a:p>
        </p:txBody>
      </p:sp>
      <p:sp>
        <p:nvSpPr>
          <p:cNvPr id="27" name="Text 25"/>
          <p:cNvSpPr txBox="1"/>
          <p:nvPr/>
        </p:nvSpPr>
        <p:spPr>
          <a:xfrm>
            <a:off x="5210251" y="5201107"/>
            <a:ext cx="3724351"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12</a:t>
            </a:r>
            <a:r>
              <a:rPr lang="en-US" sz="1100" dirty="0">
                <a:solidFill>
                  <a:srgbClr val="1F2937"/>
                </a:solidFill>
                <a:latin typeface="Manrope" pitchFamily="34" charset="0"/>
                <a:ea typeface="Manrope" pitchFamily="34" charset="-122"/>
                <a:cs typeface="Manrope" pitchFamily="34" charset="-120"/>
              </a:rPr>
              <a:t> Historique des demandes</a:t>
            </a:r>
            <a:endParaRPr lang="en-US" sz="1100" dirty="0"/>
          </a:p>
        </p:txBody>
      </p:sp>
      <p:sp>
        <p:nvSpPr>
          <p:cNvPr id="28" name="Text 26"/>
          <p:cNvSpPr txBox="1"/>
          <p:nvPr/>
        </p:nvSpPr>
        <p:spPr>
          <a:xfrm>
            <a:off x="1218895" y="5495544"/>
            <a:ext cx="3724351"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13</a:t>
            </a:r>
            <a:r>
              <a:rPr lang="en-US" sz="1100" dirty="0">
                <a:solidFill>
                  <a:srgbClr val="1F2937"/>
                </a:solidFill>
                <a:latin typeface="Manrope" pitchFamily="34" charset="0"/>
                <a:ea typeface="Manrope" pitchFamily="34" charset="-122"/>
                <a:cs typeface="Manrope" pitchFamily="34" charset="-120"/>
              </a:rPr>
              <a:t> Annulation</a:t>
            </a:r>
            <a:endParaRPr lang="en-US" sz="1100" dirty="0"/>
          </a:p>
        </p:txBody>
      </p:sp>
      <p:sp>
        <p:nvSpPr>
          <p:cNvPr id="29" name="Text 27"/>
          <p:cNvSpPr txBox="1"/>
          <p:nvPr/>
        </p:nvSpPr>
        <p:spPr>
          <a:xfrm>
            <a:off x="5210251" y="5495544"/>
            <a:ext cx="3724351"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14</a:t>
            </a:r>
            <a:r>
              <a:rPr lang="en-US" sz="1100" dirty="0">
                <a:solidFill>
                  <a:srgbClr val="1F2937"/>
                </a:solidFill>
                <a:latin typeface="Manrope" pitchFamily="34" charset="0"/>
                <a:ea typeface="Manrope" pitchFamily="34" charset="-122"/>
                <a:cs typeface="Manrope" pitchFamily="34" charset="-120"/>
              </a:rPr>
              <a:t> Notation</a:t>
            </a:r>
            <a:endParaRPr lang="en-US" sz="1100" dirty="0"/>
          </a:p>
        </p:txBody>
      </p:sp>
      <p:sp>
        <p:nvSpPr>
          <p:cNvPr id="30" name="Text 28"/>
          <p:cNvSpPr txBox="1"/>
          <p:nvPr/>
        </p:nvSpPr>
        <p:spPr>
          <a:xfrm>
            <a:off x="1218895" y="5790895"/>
            <a:ext cx="3724351"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15</a:t>
            </a:r>
            <a:r>
              <a:rPr lang="en-US" sz="1100" dirty="0">
                <a:solidFill>
                  <a:srgbClr val="1F2937"/>
                </a:solidFill>
                <a:latin typeface="Manrope" pitchFamily="34" charset="0"/>
                <a:ea typeface="Manrope" pitchFamily="34" charset="-122"/>
                <a:cs typeface="Manrope" pitchFamily="34" charset="-120"/>
              </a:rPr>
              <a:t> Réclamation</a:t>
            </a:r>
            <a:endParaRPr lang="en-US" sz="1100" dirty="0"/>
          </a:p>
        </p:txBody>
      </p:sp>
      <p:sp>
        <p:nvSpPr>
          <p:cNvPr id="31" name="Text 29"/>
          <p:cNvSpPr txBox="1"/>
          <p:nvPr/>
        </p:nvSpPr>
        <p:spPr>
          <a:xfrm>
            <a:off x="5210251" y="5790895"/>
            <a:ext cx="3724351" cy="200254"/>
          </a:xfrm>
          <a:prstGeom prst="rect">
            <a:avLst/>
          </a:prstGeom>
          <a:noFill/>
          <a:ln/>
        </p:spPr>
        <p:txBody>
          <a:bodyPr wrap="none" lIns="0" tIns="0" rIns="0" bIns="0" rtlCol="0" anchor="ctr"/>
          <a:lstStyle/>
          <a:p>
            <a:pPr marL="0" indent="0" algn="l">
              <a:buNone/>
            </a:pPr>
            <a:r>
              <a:rPr lang="en-US" sz="1100" b="1" dirty="0">
                <a:solidFill>
                  <a:srgbClr val="6D28D9"/>
                </a:solidFill>
                <a:latin typeface="JetBrains Mono" pitchFamily="34" charset="0"/>
                <a:ea typeface="JetBrains Mono" pitchFamily="34" charset="-122"/>
                <a:cs typeface="JetBrains Mono" pitchFamily="34" charset="-120"/>
              </a:rPr>
              <a:t>16</a:t>
            </a:r>
            <a:r>
              <a:rPr lang="en-US" sz="1100" dirty="0">
                <a:solidFill>
                  <a:srgbClr val="1F2937"/>
                </a:solidFill>
                <a:latin typeface="Manrope" pitchFamily="34" charset="0"/>
                <a:ea typeface="Manrope" pitchFamily="34" charset="-122"/>
                <a:cs typeface="Manrope" pitchFamily="34" charset="-120"/>
              </a:rPr>
              <a:t> Assistance</a:t>
            </a:r>
            <a:endParaRPr lang="en-US" sz="1100" dirty="0"/>
          </a:p>
        </p:txBody>
      </p:sp>
      <p:sp>
        <p:nvSpPr>
          <p:cNvPr id="32" name="Shape 30"/>
          <p:cNvSpPr/>
          <p:nvPr/>
        </p:nvSpPr>
        <p:spPr>
          <a:xfrm>
            <a:off x="1218895" y="6277356"/>
            <a:ext cx="7715707" cy="638251"/>
          </a:xfrm>
          <a:prstGeom prst="roundRect">
            <a:avLst>
              <a:gd name="adj" fmla="val 14900"/>
            </a:avLst>
          </a:prstGeom>
          <a:solidFill>
            <a:srgbClr val="F5F3FF"/>
          </a:solidFill>
          <a:ln/>
        </p:spPr>
        <p:txBody>
          <a:bodyPr/>
          <a:lstStyle/>
          <a:p>
            <a:endParaRPr lang="fr-CI"/>
          </a:p>
        </p:txBody>
      </p:sp>
      <p:sp>
        <p:nvSpPr>
          <p:cNvPr id="33" name="Shape 31"/>
          <p:cNvSpPr/>
          <p:nvPr/>
        </p:nvSpPr>
        <p:spPr>
          <a:xfrm>
            <a:off x="1218895" y="6277356"/>
            <a:ext cx="38405" cy="638251"/>
          </a:xfrm>
          <a:prstGeom prst="roundRect">
            <a:avLst>
              <a:gd name="adj" fmla="val 247618"/>
            </a:avLst>
          </a:prstGeom>
          <a:solidFill>
            <a:srgbClr val="6D28D9"/>
          </a:solidFill>
          <a:ln w="12700">
            <a:solidFill>
              <a:srgbClr val="6D28D9">
                <a:alpha val="0"/>
              </a:srgbClr>
            </a:solidFill>
            <a:prstDash val="solid"/>
          </a:ln>
        </p:spPr>
        <p:txBody>
          <a:bodyPr/>
          <a:lstStyle/>
          <a:p>
            <a:endParaRPr lang="fr-CI"/>
          </a:p>
        </p:txBody>
      </p:sp>
      <p:sp>
        <p:nvSpPr>
          <p:cNvPr id="34" name="Text 32"/>
          <p:cNvSpPr txBox="1"/>
          <p:nvPr/>
        </p:nvSpPr>
        <p:spPr>
          <a:xfrm>
            <a:off x="1429207" y="6409944"/>
            <a:ext cx="7334402" cy="133502"/>
          </a:xfrm>
          <a:prstGeom prst="rect">
            <a:avLst/>
          </a:prstGeom>
          <a:noFill/>
          <a:ln/>
        </p:spPr>
        <p:txBody>
          <a:bodyPr wrap="none" lIns="0" tIns="0" rIns="0" bIns="0" rtlCol="0" anchor="ctr"/>
          <a:lstStyle/>
          <a:p>
            <a:pPr marL="0" indent="0" algn="l">
              <a:buNone/>
            </a:pPr>
            <a:r>
              <a:rPr lang="en-US" sz="800" b="1" kern="0" spc="99" dirty="0">
                <a:solidFill>
                  <a:srgbClr val="6D28D9"/>
                </a:solidFill>
                <a:latin typeface="JetBrains Mono" pitchFamily="34" charset="0"/>
                <a:ea typeface="JetBrains Mono" pitchFamily="34" charset="-122"/>
                <a:cs typeface="JetBrains Mono" pitchFamily="34" charset="-120"/>
              </a:rPr>
              <a:t>Test réel</a:t>
            </a:r>
            <a:endParaRPr lang="en-US" sz="800" dirty="0"/>
          </a:p>
        </p:txBody>
      </p:sp>
      <p:sp>
        <p:nvSpPr>
          <p:cNvPr id="35" name="Text 33"/>
          <p:cNvSpPr txBox="1"/>
          <p:nvPr/>
        </p:nvSpPr>
        <p:spPr>
          <a:xfrm>
            <a:off x="1429207" y="6601054"/>
            <a:ext cx="7334402" cy="181051"/>
          </a:xfrm>
          <a:prstGeom prst="rect">
            <a:avLst/>
          </a:prstGeom>
          <a:noFill/>
          <a:ln/>
        </p:spPr>
        <p:txBody>
          <a:bodyPr wrap="none" lIns="0" tIns="0" rIns="0" bIns="0" rtlCol="0" anchor="ctr"/>
          <a:lstStyle/>
          <a:p>
            <a:pPr marL="0" indent="0" algn="l">
              <a:buNone/>
            </a:pPr>
            <a:r>
              <a:rPr lang="en-US" sz="1000" dirty="0">
                <a:solidFill>
                  <a:srgbClr val="1F2937"/>
                </a:solidFill>
                <a:latin typeface="Manrope" pitchFamily="34" charset="0"/>
                <a:ea typeface="Manrope" pitchFamily="34" charset="-122"/>
                <a:cs typeface="Manrope" pitchFamily="34" charset="-120"/>
              </a:rPr>
              <a:t>20 clients internes + 20 clients testeurs externes — opérateurs Orange, MTN, Moov &amp; Wave.</a:t>
            </a:r>
            <a:endParaRPr lang="en-US" sz="1000" dirty="0"/>
          </a:p>
        </p:txBody>
      </p:sp>
      <p:sp>
        <p:nvSpPr>
          <p:cNvPr id="36" name="Shape 34"/>
          <p:cNvSpPr/>
          <p:nvPr/>
        </p:nvSpPr>
        <p:spPr>
          <a:xfrm>
            <a:off x="9486900" y="2762402"/>
            <a:ext cx="7925105" cy="6667805"/>
          </a:xfrm>
          <a:prstGeom prst="roundRect">
            <a:avLst>
              <a:gd name="adj" fmla="val 2002"/>
            </a:avLst>
          </a:prstGeom>
          <a:solidFill>
            <a:srgbClr val="1F2937"/>
          </a:solidFill>
          <a:ln w="12700">
            <a:solidFill>
              <a:srgbClr val="FFFFFF">
                <a:alpha val="0"/>
              </a:srgbClr>
            </a:solidFill>
            <a:prstDash val="solid"/>
          </a:ln>
        </p:spPr>
        <p:txBody>
          <a:bodyPr/>
          <a:lstStyle/>
          <a:p>
            <a:endParaRPr lang="fr-CI"/>
          </a:p>
        </p:txBody>
      </p:sp>
      <p:sp>
        <p:nvSpPr>
          <p:cNvPr id="37" name="Text 35"/>
          <p:cNvSpPr txBox="1"/>
          <p:nvPr/>
        </p:nvSpPr>
        <p:spPr>
          <a:xfrm>
            <a:off x="9791395" y="3010205"/>
            <a:ext cx="7334402" cy="162763"/>
          </a:xfrm>
          <a:prstGeom prst="rect">
            <a:avLst/>
          </a:prstGeom>
          <a:noFill/>
          <a:ln/>
        </p:spPr>
        <p:txBody>
          <a:bodyPr wrap="none" lIns="0" tIns="0" rIns="0" bIns="0" rtlCol="0" anchor="ctr"/>
          <a:lstStyle/>
          <a:p>
            <a:pPr marL="0" indent="0" algn="l">
              <a:buNone/>
            </a:pPr>
            <a:r>
              <a:rPr lang="en-US" sz="900" b="1" kern="0" spc="117" dirty="0">
                <a:solidFill>
                  <a:srgbClr val="A78BFA"/>
                </a:solidFill>
                <a:latin typeface="JetBrains Mono" pitchFamily="34" charset="0"/>
                <a:ea typeface="JetBrains Mono" pitchFamily="34" charset="-122"/>
                <a:cs typeface="JetBrains Mono" pitchFamily="34" charset="-120"/>
              </a:rPr>
              <a:t>6.2 · Reporting attendu côté client</a:t>
            </a:r>
            <a:endParaRPr lang="en-US" sz="900" dirty="0"/>
          </a:p>
        </p:txBody>
      </p:sp>
      <p:sp>
        <p:nvSpPr>
          <p:cNvPr id="38" name="Text 36"/>
          <p:cNvSpPr txBox="1"/>
          <p:nvPr/>
        </p:nvSpPr>
        <p:spPr>
          <a:xfrm>
            <a:off x="9791395" y="3247949"/>
            <a:ext cx="7334402" cy="314554"/>
          </a:xfrm>
          <a:prstGeom prst="rect">
            <a:avLst/>
          </a:prstGeom>
          <a:noFill/>
          <a:ln/>
        </p:spPr>
        <p:txBody>
          <a:bodyPr wrap="none" lIns="0" tIns="0" rIns="0" bIns="0" rtlCol="0" anchor="ctr"/>
          <a:lstStyle/>
          <a:p>
            <a:pPr marL="0" indent="0" algn="l">
              <a:buNone/>
            </a:pPr>
            <a:r>
              <a:rPr lang="en-US" sz="1800" b="1" dirty="0">
                <a:solidFill>
                  <a:srgbClr val="FFFFFF"/>
                </a:solidFill>
                <a:latin typeface="Manrope" pitchFamily="34" charset="0"/>
                <a:ea typeface="Manrope" pitchFamily="34" charset="-122"/>
                <a:cs typeface="Manrope" pitchFamily="34" charset="-120"/>
              </a:rPr>
              <a:t>Le client doit pouvoir consulter</a:t>
            </a:r>
            <a:endParaRPr lang="en-US" sz="1800" dirty="0"/>
          </a:p>
        </p:txBody>
      </p:sp>
      <p:sp>
        <p:nvSpPr>
          <p:cNvPr id="39" name="Shape 37"/>
          <p:cNvSpPr/>
          <p:nvPr/>
        </p:nvSpPr>
        <p:spPr>
          <a:xfrm>
            <a:off x="9791395" y="3791102"/>
            <a:ext cx="7334402" cy="523951"/>
          </a:xfrm>
          <a:prstGeom prst="roundRect">
            <a:avLst>
              <a:gd name="adj" fmla="val 18150"/>
            </a:avLst>
          </a:prstGeom>
          <a:solidFill>
            <a:srgbClr val="374151"/>
          </a:solidFill>
          <a:ln w="12700">
            <a:solidFill>
              <a:srgbClr val="FFFFFF">
                <a:alpha val="0"/>
              </a:srgbClr>
            </a:solidFill>
            <a:prstDash val="solid"/>
          </a:ln>
        </p:spPr>
        <p:txBody>
          <a:bodyPr/>
          <a:lstStyle/>
          <a:p>
            <a:endParaRPr lang="fr-CI"/>
          </a:p>
        </p:txBody>
      </p:sp>
      <p:sp>
        <p:nvSpPr>
          <p:cNvPr id="40" name="Text 38"/>
          <p:cNvSpPr txBox="1"/>
          <p:nvPr/>
        </p:nvSpPr>
        <p:spPr>
          <a:xfrm>
            <a:off x="9963302" y="3952951"/>
            <a:ext cx="152705" cy="200254"/>
          </a:xfrm>
          <a:prstGeom prst="rect">
            <a:avLst/>
          </a:prstGeom>
          <a:noFill/>
          <a:ln/>
        </p:spPr>
        <p:txBody>
          <a:bodyPr wrap="none" lIns="0" tIns="0" rIns="0" bIns="0" rtlCol="0" anchor="ctr"/>
          <a:lstStyle/>
          <a:p>
            <a:pPr marL="0" indent="0" algn="l">
              <a:buNone/>
            </a:pPr>
            <a:r>
              <a:rPr lang="en-US" sz="1200" b="1" dirty="0">
                <a:solidFill>
                  <a:srgbClr val="A78BFA"/>
                </a:solidFill>
                <a:latin typeface="JetBrains Mono" pitchFamily="34" charset="0"/>
                <a:ea typeface="JetBrains Mono" pitchFamily="34" charset="-122"/>
                <a:cs typeface="JetBrains Mono" pitchFamily="34" charset="-120"/>
              </a:rPr>
              <a:t>→</a:t>
            </a:r>
            <a:endParaRPr lang="en-US" sz="1200" dirty="0"/>
          </a:p>
        </p:txBody>
      </p:sp>
      <p:sp>
        <p:nvSpPr>
          <p:cNvPr id="41" name="Text 39"/>
          <p:cNvSpPr txBox="1"/>
          <p:nvPr/>
        </p:nvSpPr>
        <p:spPr>
          <a:xfrm>
            <a:off x="10248595" y="3943807"/>
            <a:ext cx="1106424" cy="219456"/>
          </a:xfrm>
          <a:prstGeom prst="rect">
            <a:avLst/>
          </a:prstGeom>
          <a:noFill/>
          <a:ln/>
        </p:spPr>
        <p:txBody>
          <a:bodyPr wrap="none" lIns="0" tIns="0" rIns="0" bIns="0" rtlCol="0" anchor="ctr"/>
          <a:lstStyle/>
          <a:p>
            <a:pPr marL="0" indent="0" algn="l">
              <a:buNone/>
            </a:pPr>
            <a:r>
              <a:rPr lang="en-US" sz="1200" b="1" dirty="0">
                <a:solidFill>
                  <a:srgbClr val="FFFFFF"/>
                </a:solidFill>
                <a:latin typeface="Manrope" pitchFamily="34" charset="0"/>
                <a:ea typeface="Manrope" pitchFamily="34" charset="-122"/>
                <a:cs typeface="Manrope" pitchFamily="34" charset="-120"/>
              </a:rPr>
              <a:t>Ses courses</a:t>
            </a:r>
            <a:endParaRPr lang="en-US" sz="1200" dirty="0"/>
          </a:p>
        </p:txBody>
      </p:sp>
      <p:sp>
        <p:nvSpPr>
          <p:cNvPr id="42" name="Shape 40"/>
          <p:cNvSpPr/>
          <p:nvPr/>
        </p:nvSpPr>
        <p:spPr>
          <a:xfrm>
            <a:off x="9791395" y="4448556"/>
            <a:ext cx="7334402" cy="523951"/>
          </a:xfrm>
          <a:prstGeom prst="roundRect">
            <a:avLst>
              <a:gd name="adj" fmla="val 18150"/>
            </a:avLst>
          </a:prstGeom>
          <a:solidFill>
            <a:srgbClr val="374151"/>
          </a:solidFill>
          <a:ln w="12700">
            <a:solidFill>
              <a:srgbClr val="FFFFFF">
                <a:alpha val="0"/>
              </a:srgbClr>
            </a:solidFill>
            <a:prstDash val="solid"/>
          </a:ln>
        </p:spPr>
        <p:txBody>
          <a:bodyPr/>
          <a:lstStyle/>
          <a:p>
            <a:endParaRPr lang="fr-CI"/>
          </a:p>
        </p:txBody>
      </p:sp>
      <p:sp>
        <p:nvSpPr>
          <p:cNvPr id="43" name="Text 41"/>
          <p:cNvSpPr txBox="1"/>
          <p:nvPr/>
        </p:nvSpPr>
        <p:spPr>
          <a:xfrm>
            <a:off x="9963302" y="4610405"/>
            <a:ext cx="152705" cy="200254"/>
          </a:xfrm>
          <a:prstGeom prst="rect">
            <a:avLst/>
          </a:prstGeom>
          <a:noFill/>
          <a:ln/>
        </p:spPr>
        <p:txBody>
          <a:bodyPr wrap="none" lIns="0" tIns="0" rIns="0" bIns="0" rtlCol="0" anchor="ctr"/>
          <a:lstStyle/>
          <a:p>
            <a:pPr marL="0" indent="0" algn="l">
              <a:buNone/>
            </a:pPr>
            <a:r>
              <a:rPr lang="en-US" sz="1200" b="1" dirty="0">
                <a:solidFill>
                  <a:srgbClr val="A78BFA"/>
                </a:solidFill>
                <a:latin typeface="JetBrains Mono" pitchFamily="34" charset="0"/>
                <a:ea typeface="JetBrains Mono" pitchFamily="34" charset="-122"/>
                <a:cs typeface="JetBrains Mono" pitchFamily="34" charset="-120"/>
              </a:rPr>
              <a:t>→</a:t>
            </a:r>
            <a:endParaRPr lang="en-US" sz="1200" dirty="0"/>
          </a:p>
        </p:txBody>
      </p:sp>
      <p:sp>
        <p:nvSpPr>
          <p:cNvPr id="44" name="Text 42"/>
          <p:cNvSpPr txBox="1"/>
          <p:nvPr/>
        </p:nvSpPr>
        <p:spPr>
          <a:xfrm>
            <a:off x="10248595" y="4600346"/>
            <a:ext cx="1270102" cy="219456"/>
          </a:xfrm>
          <a:prstGeom prst="rect">
            <a:avLst/>
          </a:prstGeom>
          <a:noFill/>
          <a:ln/>
        </p:spPr>
        <p:txBody>
          <a:bodyPr wrap="none" lIns="0" tIns="0" rIns="0" bIns="0" rtlCol="0" anchor="ctr"/>
          <a:lstStyle/>
          <a:p>
            <a:pPr marL="0" indent="0" algn="l">
              <a:buNone/>
            </a:pPr>
            <a:r>
              <a:rPr lang="en-US" sz="1200" b="1" dirty="0">
                <a:solidFill>
                  <a:srgbClr val="FFFFFF"/>
                </a:solidFill>
                <a:latin typeface="Manrope" pitchFamily="34" charset="0"/>
                <a:ea typeface="Manrope" pitchFamily="34" charset="-122"/>
                <a:cs typeface="Manrope" pitchFamily="34" charset="-120"/>
              </a:rPr>
              <a:t>Ses livraisons</a:t>
            </a:r>
            <a:endParaRPr lang="en-US" sz="1200" dirty="0"/>
          </a:p>
        </p:txBody>
      </p:sp>
      <p:sp>
        <p:nvSpPr>
          <p:cNvPr id="45" name="Shape 43"/>
          <p:cNvSpPr/>
          <p:nvPr/>
        </p:nvSpPr>
        <p:spPr>
          <a:xfrm>
            <a:off x="9791395" y="5105095"/>
            <a:ext cx="7334402" cy="523951"/>
          </a:xfrm>
          <a:prstGeom prst="roundRect">
            <a:avLst>
              <a:gd name="adj" fmla="val 18150"/>
            </a:avLst>
          </a:prstGeom>
          <a:solidFill>
            <a:srgbClr val="374151"/>
          </a:solidFill>
          <a:ln w="12700">
            <a:solidFill>
              <a:srgbClr val="FFFFFF">
                <a:alpha val="0"/>
              </a:srgbClr>
            </a:solidFill>
            <a:prstDash val="solid"/>
          </a:ln>
        </p:spPr>
        <p:txBody>
          <a:bodyPr/>
          <a:lstStyle/>
          <a:p>
            <a:endParaRPr lang="fr-CI"/>
          </a:p>
        </p:txBody>
      </p:sp>
      <p:sp>
        <p:nvSpPr>
          <p:cNvPr id="46" name="Text 44"/>
          <p:cNvSpPr txBox="1"/>
          <p:nvPr/>
        </p:nvSpPr>
        <p:spPr>
          <a:xfrm>
            <a:off x="9963302" y="5266944"/>
            <a:ext cx="152705" cy="200254"/>
          </a:xfrm>
          <a:prstGeom prst="rect">
            <a:avLst/>
          </a:prstGeom>
          <a:noFill/>
          <a:ln/>
        </p:spPr>
        <p:txBody>
          <a:bodyPr wrap="none" lIns="0" tIns="0" rIns="0" bIns="0" rtlCol="0" anchor="ctr"/>
          <a:lstStyle/>
          <a:p>
            <a:pPr marL="0" indent="0" algn="l">
              <a:buNone/>
            </a:pPr>
            <a:r>
              <a:rPr lang="en-US" sz="1200" b="1" dirty="0">
                <a:solidFill>
                  <a:srgbClr val="A78BFA"/>
                </a:solidFill>
                <a:latin typeface="JetBrains Mono" pitchFamily="34" charset="0"/>
                <a:ea typeface="JetBrains Mono" pitchFamily="34" charset="-122"/>
                <a:cs typeface="JetBrains Mono" pitchFamily="34" charset="-120"/>
              </a:rPr>
              <a:t>→</a:t>
            </a:r>
            <a:endParaRPr lang="en-US" sz="1200" dirty="0"/>
          </a:p>
        </p:txBody>
      </p:sp>
      <p:sp>
        <p:nvSpPr>
          <p:cNvPr id="47" name="Text 45"/>
          <p:cNvSpPr txBox="1"/>
          <p:nvPr/>
        </p:nvSpPr>
        <p:spPr>
          <a:xfrm>
            <a:off x="10248595" y="5257800"/>
            <a:ext cx="2947111" cy="219456"/>
          </a:xfrm>
          <a:prstGeom prst="rect">
            <a:avLst/>
          </a:prstGeom>
          <a:noFill/>
          <a:ln/>
        </p:spPr>
        <p:txBody>
          <a:bodyPr wrap="none" lIns="0" tIns="0" rIns="0" bIns="0" rtlCol="0" anchor="ctr"/>
          <a:lstStyle/>
          <a:p>
            <a:pPr marL="0" indent="0" algn="l">
              <a:buNone/>
            </a:pPr>
            <a:r>
              <a:rPr lang="en-US" sz="1200" b="1" dirty="0">
                <a:solidFill>
                  <a:srgbClr val="FFFFFF"/>
                </a:solidFill>
                <a:latin typeface="Manrope" pitchFamily="34" charset="0"/>
                <a:ea typeface="Manrope" pitchFamily="34" charset="-122"/>
                <a:cs typeface="Manrope" pitchFamily="34" charset="-120"/>
              </a:rPr>
              <a:t>Ses réservations (location, fret)</a:t>
            </a:r>
            <a:endParaRPr lang="en-US" sz="1200" dirty="0"/>
          </a:p>
        </p:txBody>
      </p:sp>
      <p:sp>
        <p:nvSpPr>
          <p:cNvPr id="48" name="Shape 46"/>
          <p:cNvSpPr/>
          <p:nvPr/>
        </p:nvSpPr>
        <p:spPr>
          <a:xfrm>
            <a:off x="9791395" y="5762549"/>
            <a:ext cx="7334402" cy="523951"/>
          </a:xfrm>
          <a:prstGeom prst="roundRect">
            <a:avLst>
              <a:gd name="adj" fmla="val 18150"/>
            </a:avLst>
          </a:prstGeom>
          <a:solidFill>
            <a:srgbClr val="374151"/>
          </a:solidFill>
          <a:ln w="12700">
            <a:solidFill>
              <a:srgbClr val="FFFFFF">
                <a:alpha val="0"/>
              </a:srgbClr>
            </a:solidFill>
            <a:prstDash val="solid"/>
          </a:ln>
        </p:spPr>
        <p:txBody>
          <a:bodyPr/>
          <a:lstStyle/>
          <a:p>
            <a:endParaRPr lang="fr-CI"/>
          </a:p>
        </p:txBody>
      </p:sp>
      <p:sp>
        <p:nvSpPr>
          <p:cNvPr id="49" name="Text 47"/>
          <p:cNvSpPr txBox="1"/>
          <p:nvPr/>
        </p:nvSpPr>
        <p:spPr>
          <a:xfrm>
            <a:off x="9963302" y="5924398"/>
            <a:ext cx="152705" cy="200254"/>
          </a:xfrm>
          <a:prstGeom prst="rect">
            <a:avLst/>
          </a:prstGeom>
          <a:noFill/>
          <a:ln/>
        </p:spPr>
        <p:txBody>
          <a:bodyPr wrap="none" lIns="0" tIns="0" rIns="0" bIns="0" rtlCol="0" anchor="ctr"/>
          <a:lstStyle/>
          <a:p>
            <a:pPr marL="0" indent="0" algn="l">
              <a:buNone/>
            </a:pPr>
            <a:r>
              <a:rPr lang="en-US" sz="1200" b="1" dirty="0">
                <a:solidFill>
                  <a:srgbClr val="A78BFA"/>
                </a:solidFill>
                <a:latin typeface="JetBrains Mono" pitchFamily="34" charset="0"/>
                <a:ea typeface="JetBrains Mono" pitchFamily="34" charset="-122"/>
                <a:cs typeface="JetBrains Mono" pitchFamily="34" charset="-120"/>
              </a:rPr>
              <a:t>→</a:t>
            </a:r>
            <a:endParaRPr lang="en-US" sz="1200" dirty="0"/>
          </a:p>
        </p:txBody>
      </p:sp>
      <p:sp>
        <p:nvSpPr>
          <p:cNvPr id="50" name="Text 48"/>
          <p:cNvSpPr txBox="1"/>
          <p:nvPr/>
        </p:nvSpPr>
        <p:spPr>
          <a:xfrm>
            <a:off x="10248595" y="5915254"/>
            <a:ext cx="2115007" cy="219456"/>
          </a:xfrm>
          <a:prstGeom prst="rect">
            <a:avLst/>
          </a:prstGeom>
          <a:noFill/>
          <a:ln/>
        </p:spPr>
        <p:txBody>
          <a:bodyPr wrap="none" lIns="0" tIns="0" rIns="0" bIns="0" rtlCol="0" anchor="ctr"/>
          <a:lstStyle/>
          <a:p>
            <a:pPr marL="0" indent="0" algn="l">
              <a:buNone/>
            </a:pPr>
            <a:r>
              <a:rPr lang="en-US" sz="1200" b="1" dirty="0">
                <a:solidFill>
                  <a:srgbClr val="FFFFFF"/>
                </a:solidFill>
                <a:latin typeface="Manrope" pitchFamily="34" charset="0"/>
                <a:ea typeface="Manrope" pitchFamily="34" charset="-122"/>
                <a:cs typeface="Manrope" pitchFamily="34" charset="-120"/>
              </a:rPr>
              <a:t>Ses dépenses cumulées</a:t>
            </a:r>
            <a:endParaRPr lang="en-US" sz="1200" dirty="0"/>
          </a:p>
        </p:txBody>
      </p:sp>
      <p:sp>
        <p:nvSpPr>
          <p:cNvPr id="51" name="Shape 49"/>
          <p:cNvSpPr/>
          <p:nvPr/>
        </p:nvSpPr>
        <p:spPr>
          <a:xfrm>
            <a:off x="9791395" y="6420002"/>
            <a:ext cx="7334402" cy="523951"/>
          </a:xfrm>
          <a:prstGeom prst="roundRect">
            <a:avLst>
              <a:gd name="adj" fmla="val 18150"/>
            </a:avLst>
          </a:prstGeom>
          <a:solidFill>
            <a:srgbClr val="374151"/>
          </a:solidFill>
          <a:ln w="12700">
            <a:solidFill>
              <a:srgbClr val="FFFFFF">
                <a:alpha val="0"/>
              </a:srgbClr>
            </a:solidFill>
            <a:prstDash val="solid"/>
          </a:ln>
        </p:spPr>
        <p:txBody>
          <a:bodyPr/>
          <a:lstStyle/>
          <a:p>
            <a:endParaRPr lang="fr-CI"/>
          </a:p>
        </p:txBody>
      </p:sp>
      <p:sp>
        <p:nvSpPr>
          <p:cNvPr id="52" name="Text 50"/>
          <p:cNvSpPr txBox="1"/>
          <p:nvPr/>
        </p:nvSpPr>
        <p:spPr>
          <a:xfrm>
            <a:off x="9963302" y="6581851"/>
            <a:ext cx="152705" cy="200254"/>
          </a:xfrm>
          <a:prstGeom prst="rect">
            <a:avLst/>
          </a:prstGeom>
          <a:noFill/>
          <a:ln/>
        </p:spPr>
        <p:txBody>
          <a:bodyPr wrap="none" lIns="0" tIns="0" rIns="0" bIns="0" rtlCol="0" anchor="ctr"/>
          <a:lstStyle/>
          <a:p>
            <a:pPr marL="0" indent="0" algn="l">
              <a:buNone/>
            </a:pPr>
            <a:r>
              <a:rPr lang="en-US" sz="1200" b="1" dirty="0">
                <a:solidFill>
                  <a:srgbClr val="A78BFA"/>
                </a:solidFill>
                <a:latin typeface="JetBrains Mono" pitchFamily="34" charset="0"/>
                <a:ea typeface="JetBrains Mono" pitchFamily="34" charset="-122"/>
                <a:cs typeface="JetBrains Mono" pitchFamily="34" charset="-120"/>
              </a:rPr>
              <a:t>→</a:t>
            </a:r>
            <a:endParaRPr lang="en-US" sz="1200" dirty="0"/>
          </a:p>
        </p:txBody>
      </p:sp>
      <p:sp>
        <p:nvSpPr>
          <p:cNvPr id="53" name="Text 51"/>
          <p:cNvSpPr txBox="1"/>
          <p:nvPr/>
        </p:nvSpPr>
        <p:spPr>
          <a:xfrm>
            <a:off x="10248595" y="6572707"/>
            <a:ext cx="3060497" cy="219456"/>
          </a:xfrm>
          <a:prstGeom prst="rect">
            <a:avLst/>
          </a:prstGeom>
          <a:noFill/>
          <a:ln/>
        </p:spPr>
        <p:txBody>
          <a:bodyPr wrap="none" lIns="0" tIns="0" rIns="0" bIns="0" rtlCol="0" anchor="ctr"/>
          <a:lstStyle/>
          <a:p>
            <a:pPr marL="0" indent="0" algn="l">
              <a:buNone/>
            </a:pPr>
            <a:r>
              <a:rPr lang="en-US" sz="1200" b="1" dirty="0">
                <a:solidFill>
                  <a:srgbClr val="FFFFFF"/>
                </a:solidFill>
                <a:latin typeface="Manrope" pitchFamily="34" charset="0"/>
                <a:ea typeface="Manrope" pitchFamily="34" charset="-122"/>
                <a:cs typeface="Manrope" pitchFamily="34" charset="-120"/>
              </a:rPr>
              <a:t>Ses statuts de demande en cours</a:t>
            </a:r>
            <a:endParaRPr lang="en-US" sz="1200" dirty="0"/>
          </a:p>
        </p:txBody>
      </p:sp>
      <p:sp>
        <p:nvSpPr>
          <p:cNvPr id="54" name="Shape 52"/>
          <p:cNvSpPr/>
          <p:nvPr/>
        </p:nvSpPr>
        <p:spPr>
          <a:xfrm>
            <a:off x="9791395" y="7077456"/>
            <a:ext cx="7334402" cy="523951"/>
          </a:xfrm>
          <a:prstGeom prst="roundRect">
            <a:avLst>
              <a:gd name="adj" fmla="val 18150"/>
            </a:avLst>
          </a:prstGeom>
          <a:solidFill>
            <a:srgbClr val="374151"/>
          </a:solidFill>
          <a:ln w="12700">
            <a:solidFill>
              <a:srgbClr val="FFFFFF">
                <a:alpha val="0"/>
              </a:srgbClr>
            </a:solidFill>
            <a:prstDash val="solid"/>
          </a:ln>
        </p:spPr>
        <p:txBody>
          <a:bodyPr/>
          <a:lstStyle/>
          <a:p>
            <a:endParaRPr lang="fr-CI"/>
          </a:p>
        </p:txBody>
      </p:sp>
      <p:sp>
        <p:nvSpPr>
          <p:cNvPr id="55" name="Text 53"/>
          <p:cNvSpPr txBox="1"/>
          <p:nvPr/>
        </p:nvSpPr>
        <p:spPr>
          <a:xfrm>
            <a:off x="9963302" y="7239305"/>
            <a:ext cx="152705" cy="200254"/>
          </a:xfrm>
          <a:prstGeom prst="rect">
            <a:avLst/>
          </a:prstGeom>
          <a:noFill/>
          <a:ln/>
        </p:spPr>
        <p:txBody>
          <a:bodyPr wrap="none" lIns="0" tIns="0" rIns="0" bIns="0" rtlCol="0" anchor="ctr"/>
          <a:lstStyle/>
          <a:p>
            <a:pPr marL="0" indent="0" algn="l">
              <a:buNone/>
            </a:pPr>
            <a:r>
              <a:rPr lang="en-US" sz="1200" b="1" dirty="0">
                <a:solidFill>
                  <a:srgbClr val="A78BFA"/>
                </a:solidFill>
                <a:latin typeface="JetBrains Mono" pitchFamily="34" charset="0"/>
                <a:ea typeface="JetBrains Mono" pitchFamily="34" charset="-122"/>
                <a:cs typeface="JetBrains Mono" pitchFamily="34" charset="-120"/>
              </a:rPr>
              <a:t>→</a:t>
            </a:r>
            <a:endParaRPr lang="en-US" sz="1200" dirty="0"/>
          </a:p>
        </p:txBody>
      </p:sp>
      <p:sp>
        <p:nvSpPr>
          <p:cNvPr id="56" name="Text 54"/>
          <p:cNvSpPr txBox="1"/>
          <p:nvPr/>
        </p:nvSpPr>
        <p:spPr>
          <a:xfrm>
            <a:off x="10248595" y="7229246"/>
            <a:ext cx="2777033" cy="219456"/>
          </a:xfrm>
          <a:prstGeom prst="rect">
            <a:avLst/>
          </a:prstGeom>
          <a:noFill/>
          <a:ln/>
        </p:spPr>
        <p:txBody>
          <a:bodyPr wrap="none" lIns="0" tIns="0" rIns="0" bIns="0" rtlCol="0" anchor="ctr"/>
          <a:lstStyle/>
          <a:p>
            <a:pPr marL="0" indent="0" algn="l">
              <a:buNone/>
            </a:pPr>
            <a:r>
              <a:rPr lang="en-US" sz="1200" b="1" dirty="0">
                <a:solidFill>
                  <a:srgbClr val="FFFFFF"/>
                </a:solidFill>
                <a:latin typeface="Manrope" pitchFamily="34" charset="0"/>
                <a:ea typeface="Manrope" pitchFamily="34" charset="-122"/>
                <a:cs typeface="Manrope" pitchFamily="34" charset="-120"/>
              </a:rPr>
              <a:t>Ses réclamations &amp; leur statut</a:t>
            </a:r>
            <a:endParaRPr lang="en-US" sz="1200" dirty="0"/>
          </a:p>
        </p:txBody>
      </p:sp>
      <p:sp>
        <p:nvSpPr>
          <p:cNvPr id="57" name="Shape 55"/>
          <p:cNvSpPr/>
          <p:nvPr/>
        </p:nvSpPr>
        <p:spPr>
          <a:xfrm>
            <a:off x="9791395" y="7733995"/>
            <a:ext cx="7334402" cy="523951"/>
          </a:xfrm>
          <a:prstGeom prst="roundRect">
            <a:avLst>
              <a:gd name="adj" fmla="val 18150"/>
            </a:avLst>
          </a:prstGeom>
          <a:solidFill>
            <a:srgbClr val="374151"/>
          </a:solidFill>
          <a:ln w="12700">
            <a:solidFill>
              <a:srgbClr val="FFFFFF">
                <a:alpha val="0"/>
              </a:srgbClr>
            </a:solidFill>
            <a:prstDash val="solid"/>
          </a:ln>
        </p:spPr>
        <p:txBody>
          <a:bodyPr/>
          <a:lstStyle/>
          <a:p>
            <a:endParaRPr lang="fr-CI"/>
          </a:p>
        </p:txBody>
      </p:sp>
      <p:sp>
        <p:nvSpPr>
          <p:cNvPr id="58" name="Text 56"/>
          <p:cNvSpPr txBox="1"/>
          <p:nvPr/>
        </p:nvSpPr>
        <p:spPr>
          <a:xfrm>
            <a:off x="9963302" y="7895844"/>
            <a:ext cx="152705" cy="200254"/>
          </a:xfrm>
          <a:prstGeom prst="rect">
            <a:avLst/>
          </a:prstGeom>
          <a:noFill/>
          <a:ln/>
        </p:spPr>
        <p:txBody>
          <a:bodyPr wrap="none" lIns="0" tIns="0" rIns="0" bIns="0" rtlCol="0" anchor="ctr"/>
          <a:lstStyle/>
          <a:p>
            <a:pPr marL="0" indent="0" algn="l">
              <a:buNone/>
            </a:pPr>
            <a:r>
              <a:rPr lang="en-US" sz="1200" b="1" dirty="0">
                <a:solidFill>
                  <a:srgbClr val="A78BFA"/>
                </a:solidFill>
                <a:latin typeface="JetBrains Mono" pitchFamily="34" charset="0"/>
                <a:ea typeface="JetBrains Mono" pitchFamily="34" charset="-122"/>
                <a:cs typeface="JetBrains Mono" pitchFamily="34" charset="-120"/>
              </a:rPr>
              <a:t>→</a:t>
            </a:r>
            <a:endParaRPr lang="en-US" sz="1200" dirty="0"/>
          </a:p>
        </p:txBody>
      </p:sp>
      <p:sp>
        <p:nvSpPr>
          <p:cNvPr id="59" name="Text 57"/>
          <p:cNvSpPr txBox="1"/>
          <p:nvPr/>
        </p:nvSpPr>
        <p:spPr>
          <a:xfrm>
            <a:off x="10248595" y="7886700"/>
            <a:ext cx="1564538" cy="219456"/>
          </a:xfrm>
          <a:prstGeom prst="rect">
            <a:avLst/>
          </a:prstGeom>
          <a:noFill/>
          <a:ln/>
        </p:spPr>
        <p:txBody>
          <a:bodyPr wrap="none" lIns="0" tIns="0" rIns="0" bIns="0" rtlCol="0" anchor="ctr"/>
          <a:lstStyle/>
          <a:p>
            <a:pPr marL="0" indent="0" algn="l">
              <a:buNone/>
            </a:pPr>
            <a:r>
              <a:rPr lang="en-US" sz="1200" b="1" dirty="0">
                <a:solidFill>
                  <a:srgbClr val="FFFFFF"/>
                </a:solidFill>
                <a:latin typeface="Manrope" pitchFamily="34" charset="0"/>
                <a:ea typeface="Manrope" pitchFamily="34" charset="-122"/>
                <a:cs typeface="Manrope" pitchFamily="34" charset="-120"/>
              </a:rPr>
              <a:t>Ses notifications</a:t>
            </a:r>
            <a:endParaRPr lang="en-US" sz="1200" dirty="0"/>
          </a:p>
        </p:txBody>
      </p:sp>
      <p:sp>
        <p:nvSpPr>
          <p:cNvPr id="60" name="Shape 58"/>
          <p:cNvSpPr/>
          <p:nvPr/>
        </p:nvSpPr>
        <p:spPr>
          <a:xfrm>
            <a:off x="9791395" y="8524951"/>
            <a:ext cx="1171346" cy="286207"/>
          </a:xfrm>
          <a:prstGeom prst="roundRect">
            <a:avLst>
              <a:gd name="adj" fmla="val 49840"/>
            </a:avLst>
          </a:prstGeom>
          <a:solidFill>
            <a:srgbClr val="A78BFA"/>
          </a:solidFill>
          <a:ln w="12700">
            <a:solidFill>
              <a:srgbClr val="FFFFFF">
                <a:alpha val="0"/>
              </a:srgbClr>
            </a:solidFill>
            <a:prstDash val="solid"/>
          </a:ln>
        </p:spPr>
        <p:txBody>
          <a:bodyPr/>
          <a:lstStyle/>
          <a:p>
            <a:endParaRPr lang="fr-CI"/>
          </a:p>
        </p:txBody>
      </p:sp>
      <p:sp>
        <p:nvSpPr>
          <p:cNvPr id="61" name="Text 59"/>
          <p:cNvSpPr/>
          <p:nvPr/>
        </p:nvSpPr>
        <p:spPr>
          <a:xfrm>
            <a:off x="9791395" y="8524951"/>
            <a:ext cx="1172261"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1F2937"/>
                </a:solidFill>
                <a:latin typeface="Manrope" pitchFamily="34" charset="0"/>
                <a:ea typeface="Manrope" pitchFamily="34" charset="-122"/>
                <a:cs typeface="Manrope" pitchFamily="34" charset="-120"/>
              </a:rPr>
              <a:t>UC-01 Création</a:t>
            </a:r>
            <a:endParaRPr lang="en-US" sz="900" dirty="0"/>
          </a:p>
        </p:txBody>
      </p:sp>
      <p:sp>
        <p:nvSpPr>
          <p:cNvPr id="62" name="Shape 60"/>
          <p:cNvSpPr/>
          <p:nvPr/>
        </p:nvSpPr>
        <p:spPr>
          <a:xfrm>
            <a:off x="11056010" y="8524951"/>
            <a:ext cx="1285646" cy="286207"/>
          </a:xfrm>
          <a:prstGeom prst="roundRect">
            <a:avLst>
              <a:gd name="adj" fmla="val 49840"/>
            </a:avLst>
          </a:prstGeom>
          <a:solidFill>
            <a:srgbClr val="4C1D95"/>
          </a:solidFill>
          <a:ln w="12700">
            <a:solidFill>
              <a:srgbClr val="FFFFFF">
                <a:alpha val="0"/>
              </a:srgbClr>
            </a:solidFill>
            <a:prstDash val="solid"/>
          </a:ln>
        </p:spPr>
        <p:txBody>
          <a:bodyPr/>
          <a:lstStyle/>
          <a:p>
            <a:endParaRPr lang="fr-CI"/>
          </a:p>
        </p:txBody>
      </p:sp>
      <p:sp>
        <p:nvSpPr>
          <p:cNvPr id="63" name="Text 61"/>
          <p:cNvSpPr/>
          <p:nvPr/>
        </p:nvSpPr>
        <p:spPr>
          <a:xfrm>
            <a:off x="11056010" y="8524951"/>
            <a:ext cx="1286561"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FFFFFF"/>
                </a:solidFill>
                <a:latin typeface="Manrope" pitchFamily="34" charset="0"/>
                <a:ea typeface="Manrope" pitchFamily="34" charset="-122"/>
                <a:cs typeface="Manrope" pitchFamily="34" charset="-120"/>
              </a:rPr>
              <a:t>UC-T01 Demande</a:t>
            </a:r>
            <a:endParaRPr lang="en-US" sz="900" dirty="0"/>
          </a:p>
        </p:txBody>
      </p:sp>
      <p:sp>
        <p:nvSpPr>
          <p:cNvPr id="64" name="Shape 62"/>
          <p:cNvSpPr/>
          <p:nvPr/>
        </p:nvSpPr>
        <p:spPr>
          <a:xfrm>
            <a:off x="0" y="9791395"/>
            <a:ext cx="18288000" cy="495605"/>
          </a:xfrm>
          <a:prstGeom prst="rect">
            <a:avLst/>
          </a:prstGeom>
          <a:solidFill>
            <a:srgbClr val="FFFFFF"/>
          </a:solidFill>
          <a:ln/>
        </p:spPr>
        <p:txBody>
          <a:bodyPr/>
          <a:lstStyle/>
          <a:p>
            <a:endParaRPr lang="fr-CI"/>
          </a:p>
        </p:txBody>
      </p:sp>
      <p:sp>
        <p:nvSpPr>
          <p:cNvPr id="65" name="Shape 63"/>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6" name="Text 64"/>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67" name="Text 65"/>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17 / 59</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6207740" y="256946"/>
            <a:ext cx="1781251"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§7 Profil Chauffeur</a:t>
            </a:r>
            <a:endParaRPr lang="en-US" sz="900" dirty="0"/>
          </a:p>
        </p:txBody>
      </p:sp>
      <p:sp>
        <p:nvSpPr>
          <p:cNvPr id="10" name="Text 8"/>
          <p:cNvSpPr txBox="1"/>
          <p:nvPr/>
        </p:nvSpPr>
        <p:spPr>
          <a:xfrm>
            <a:off x="914400" y="1205179"/>
            <a:ext cx="3495751"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7. Profil Chauffeur · Conducteur</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6459200" cy="1095451"/>
          </a:xfrm>
          <a:prstGeom prst="rect">
            <a:avLst/>
          </a:prstGeom>
          <a:noFill/>
          <a:ln/>
        </p:spPr>
        <p:txBody>
          <a:bodyPr wrap="square" lIns="0" tIns="0" rIns="0" bIns="0" rtlCol="0" anchor="ctr"/>
          <a:lstStyle/>
          <a:p>
            <a:pPr marL="0" indent="0" algn="l">
              <a:buNone/>
            </a:pPr>
            <a:r>
              <a:rPr lang="en-US" sz="3600" b="1" kern="0" spc="-58" dirty="0">
                <a:solidFill>
                  <a:srgbClr val="1F2937"/>
                </a:solidFill>
                <a:latin typeface="Manrope" pitchFamily="34" charset="0"/>
                <a:ea typeface="Manrope" pitchFamily="34" charset="-122"/>
                <a:cs typeface="Manrope" pitchFamily="34" charset="-120"/>
              </a:rPr>
              <a:t>Le chauffeur — wallet, commission, recharge : un parcours intégralement </a:t>
            </a:r>
            <a:r>
              <a:rPr lang="en-US" sz="3900" b="1" kern="0" spc="-58" dirty="0">
                <a:solidFill>
                  <a:srgbClr val="1F2937"/>
                </a:solidFill>
                <a:latin typeface="Manrope" pitchFamily="34" charset="0"/>
                <a:ea typeface="Manrope" pitchFamily="34" charset="-122"/>
                <a:cs typeface="Manrope" pitchFamily="34" charset="-120"/>
              </a:rPr>
              <a:t>financier.</a:t>
            </a:r>
            <a:endParaRPr lang="en-US" sz="3900" dirty="0"/>
          </a:p>
        </p:txBody>
      </p:sp>
      <p:sp>
        <p:nvSpPr>
          <p:cNvPr id="13" name="Text 11"/>
          <p:cNvSpPr txBox="1"/>
          <p:nvPr/>
        </p:nvSpPr>
        <p:spPr>
          <a:xfrm>
            <a:off x="914400" y="2457907"/>
            <a:ext cx="16878910" cy="257861"/>
          </a:xfrm>
          <a:prstGeom prst="rect">
            <a:avLst/>
          </a:prstGeom>
          <a:noFill/>
          <a:ln/>
        </p:spPr>
        <p:txBody>
          <a:bodyPr wrap="none" lIns="0" tIns="0" rIns="0" bIns="0" rtlCol="0" anchor="ctr"/>
          <a:lstStyle/>
          <a:p>
            <a:pPr marL="0" indent="0" algn="l">
              <a:buNone/>
            </a:pPr>
            <a:r>
              <a:rPr lang="en-US" sz="1300" dirty="0">
                <a:solidFill>
                  <a:srgbClr val="4B5563"/>
                </a:solidFill>
                <a:latin typeface="Manrope" pitchFamily="34" charset="0"/>
                <a:ea typeface="Manrope" pitchFamily="34" charset="-122"/>
                <a:cs typeface="Manrope" pitchFamily="34" charset="-120"/>
              </a:rPr>
              <a:t>Affecté aux courses VTC, au fret ou aux locations avec chauffeur. Peut </a:t>
            </a:r>
            <a:r>
              <a:rPr lang="en-US" sz="1300" b="1" dirty="0">
                <a:solidFill>
                  <a:srgbClr val="6D28D9"/>
                </a:solidFill>
                <a:latin typeface="Manrope" pitchFamily="34" charset="0"/>
                <a:ea typeface="Manrope" pitchFamily="34" charset="-122"/>
                <a:cs typeface="Manrope" pitchFamily="34" charset="-120"/>
              </a:rPr>
              <a:t>se recharger lui-même</a:t>
            </a:r>
            <a:r>
              <a:rPr lang="en-US" sz="1300" dirty="0">
                <a:solidFill>
                  <a:srgbClr val="4B5563"/>
                </a:solidFill>
                <a:latin typeface="Manrope" pitchFamily="34" charset="0"/>
                <a:ea typeface="Manrope" pitchFamily="34" charset="-122"/>
                <a:cs typeface="Manrope" pitchFamily="34" charset="-120"/>
              </a:rPr>
              <a:t>, recevoir une recharge par son partenaire, sa franchise ou le central.</a:t>
            </a:r>
            <a:endParaRPr lang="en-US" sz="1300" dirty="0"/>
          </a:p>
        </p:txBody>
      </p:sp>
      <p:sp>
        <p:nvSpPr>
          <p:cNvPr id="14" name="Shape 12"/>
          <p:cNvSpPr/>
          <p:nvPr/>
        </p:nvSpPr>
        <p:spPr>
          <a:xfrm>
            <a:off x="914400" y="3047695"/>
            <a:ext cx="8287207" cy="6476695"/>
          </a:xfrm>
          <a:prstGeom prst="roundRect">
            <a:avLst>
              <a:gd name="adj" fmla="val 2061"/>
            </a:avLst>
          </a:prstGeom>
          <a:solidFill>
            <a:srgbClr val="FAFAFC"/>
          </a:solidFill>
          <a:ln w="12700">
            <a:solidFill>
              <a:srgbClr val="E5E7EB"/>
            </a:solidFill>
            <a:prstDash val="solid"/>
          </a:ln>
        </p:spPr>
        <p:txBody>
          <a:bodyPr/>
          <a:lstStyle/>
          <a:p>
            <a:endParaRPr lang="fr-CI"/>
          </a:p>
        </p:txBody>
      </p:sp>
      <p:sp>
        <p:nvSpPr>
          <p:cNvPr id="15" name="Text 13"/>
          <p:cNvSpPr txBox="1"/>
          <p:nvPr/>
        </p:nvSpPr>
        <p:spPr>
          <a:xfrm>
            <a:off x="1218895" y="3295498"/>
            <a:ext cx="7715707" cy="162763"/>
          </a:xfrm>
          <a:prstGeom prst="rect">
            <a:avLst/>
          </a:prstGeom>
          <a:noFill/>
          <a:ln/>
        </p:spPr>
        <p:txBody>
          <a:bodyPr wrap="none" lIns="0" tIns="0" rIns="0" bIns="0" rtlCol="0" anchor="ctr"/>
          <a:lstStyle/>
          <a:p>
            <a:pPr marL="0" indent="0" algn="l">
              <a:buNone/>
            </a:pPr>
            <a:r>
              <a:rPr lang="en-US" sz="900" b="1" kern="0" spc="117" dirty="0">
                <a:solidFill>
                  <a:srgbClr val="6D28D9"/>
                </a:solidFill>
                <a:latin typeface="JetBrains Mono" pitchFamily="34" charset="0"/>
                <a:ea typeface="JetBrains Mono" pitchFamily="34" charset="-122"/>
                <a:cs typeface="JetBrains Mono" pitchFamily="34" charset="-120"/>
              </a:rPr>
              <a:t>7.1 · Fonctionnalités clés à tester</a:t>
            </a:r>
            <a:endParaRPr lang="en-US" sz="900" dirty="0"/>
          </a:p>
        </p:txBody>
      </p:sp>
      <p:sp>
        <p:nvSpPr>
          <p:cNvPr id="16" name="Text 14"/>
          <p:cNvSpPr txBox="1"/>
          <p:nvPr/>
        </p:nvSpPr>
        <p:spPr>
          <a:xfrm>
            <a:off x="1218895" y="3534156"/>
            <a:ext cx="7715707" cy="267005"/>
          </a:xfrm>
          <a:prstGeom prst="rect">
            <a:avLst/>
          </a:prstGeom>
          <a:noFill/>
          <a:ln/>
        </p:spPr>
        <p:txBody>
          <a:bodyPr wrap="none" lIns="0" tIns="0" rIns="0" bIns="0" rtlCol="0" anchor="ctr"/>
          <a:lstStyle/>
          <a:p>
            <a:pPr marL="0" indent="0" algn="l">
              <a:buNone/>
            </a:pPr>
            <a:r>
              <a:rPr lang="en-US" sz="1600" b="1" dirty="0">
                <a:solidFill>
                  <a:srgbClr val="1F2937"/>
                </a:solidFill>
                <a:latin typeface="Manrope" pitchFamily="34" charset="0"/>
                <a:ea typeface="Manrope" pitchFamily="34" charset="-122"/>
                <a:cs typeface="Manrope" pitchFamily="34" charset="-120"/>
              </a:rPr>
              <a:t>18 fonctionnalités</a:t>
            </a:r>
            <a:endParaRPr lang="en-US" sz="1600" dirty="0"/>
          </a:p>
        </p:txBody>
      </p:sp>
      <p:sp>
        <p:nvSpPr>
          <p:cNvPr id="17" name="Text 15"/>
          <p:cNvSpPr txBox="1"/>
          <p:nvPr/>
        </p:nvSpPr>
        <p:spPr>
          <a:xfrm>
            <a:off x="1218895" y="3967582"/>
            <a:ext cx="3724351"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01</a:t>
            </a:r>
            <a:r>
              <a:rPr lang="en-US" sz="1000" dirty="0">
                <a:solidFill>
                  <a:srgbClr val="1F2937"/>
                </a:solidFill>
                <a:latin typeface="Manrope" pitchFamily="34" charset="0"/>
                <a:ea typeface="Manrope" pitchFamily="34" charset="-122"/>
                <a:cs typeface="Manrope" pitchFamily="34" charset="-120"/>
              </a:rPr>
              <a:t> Inscription</a:t>
            </a:r>
            <a:endParaRPr lang="en-US" sz="1000" dirty="0"/>
          </a:p>
        </p:txBody>
      </p:sp>
      <p:sp>
        <p:nvSpPr>
          <p:cNvPr id="18" name="Text 16"/>
          <p:cNvSpPr txBox="1"/>
          <p:nvPr/>
        </p:nvSpPr>
        <p:spPr>
          <a:xfrm>
            <a:off x="5210251" y="3967582"/>
            <a:ext cx="3724351"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02</a:t>
            </a:r>
            <a:r>
              <a:rPr lang="en-US" sz="1000" dirty="0">
                <a:solidFill>
                  <a:srgbClr val="1F2937"/>
                </a:solidFill>
                <a:latin typeface="Manrope" pitchFamily="34" charset="0"/>
                <a:ea typeface="Manrope" pitchFamily="34" charset="-122"/>
                <a:cs typeface="Manrope" pitchFamily="34" charset="-120"/>
              </a:rPr>
              <a:t> Soumission documents</a:t>
            </a:r>
            <a:endParaRPr lang="en-US" sz="1000" dirty="0"/>
          </a:p>
        </p:txBody>
      </p:sp>
      <p:sp>
        <p:nvSpPr>
          <p:cNvPr id="19" name="Text 17"/>
          <p:cNvSpPr txBox="1"/>
          <p:nvPr/>
        </p:nvSpPr>
        <p:spPr>
          <a:xfrm>
            <a:off x="1218895" y="4224528"/>
            <a:ext cx="3724351"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03</a:t>
            </a:r>
            <a:r>
              <a:rPr lang="en-US" sz="1000" dirty="0">
                <a:solidFill>
                  <a:srgbClr val="1F2937"/>
                </a:solidFill>
                <a:latin typeface="Manrope" pitchFamily="34" charset="0"/>
                <a:ea typeface="Manrope" pitchFamily="34" charset="-122"/>
                <a:cs typeface="Manrope" pitchFamily="34" charset="-120"/>
              </a:rPr>
              <a:t> Validation administrative</a:t>
            </a:r>
            <a:endParaRPr lang="en-US" sz="1000" dirty="0"/>
          </a:p>
        </p:txBody>
      </p:sp>
      <p:sp>
        <p:nvSpPr>
          <p:cNvPr id="20" name="Text 18"/>
          <p:cNvSpPr txBox="1"/>
          <p:nvPr/>
        </p:nvSpPr>
        <p:spPr>
          <a:xfrm>
            <a:off x="5210251" y="4224528"/>
            <a:ext cx="3724351"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04</a:t>
            </a:r>
            <a:r>
              <a:rPr lang="en-US" sz="1000" dirty="0">
                <a:solidFill>
                  <a:srgbClr val="1F2937"/>
                </a:solidFill>
                <a:latin typeface="Manrope" pitchFamily="34" charset="0"/>
                <a:ea typeface="Manrope" pitchFamily="34" charset="-122"/>
                <a:cs typeface="Manrope" pitchFamily="34" charset="-120"/>
              </a:rPr>
              <a:t> Gestion du véhicule</a:t>
            </a:r>
            <a:endParaRPr lang="en-US" sz="1000" dirty="0"/>
          </a:p>
        </p:txBody>
      </p:sp>
      <p:sp>
        <p:nvSpPr>
          <p:cNvPr id="21" name="Text 19"/>
          <p:cNvSpPr txBox="1"/>
          <p:nvPr/>
        </p:nvSpPr>
        <p:spPr>
          <a:xfrm>
            <a:off x="1218895" y="4481474"/>
            <a:ext cx="3724351"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05</a:t>
            </a:r>
            <a:r>
              <a:rPr lang="en-US" sz="1000" dirty="0">
                <a:solidFill>
                  <a:srgbClr val="1F2937"/>
                </a:solidFill>
                <a:latin typeface="Manrope" pitchFamily="34" charset="0"/>
                <a:ea typeface="Manrope" pitchFamily="34" charset="-122"/>
                <a:cs typeface="Manrope" pitchFamily="34" charset="-120"/>
              </a:rPr>
              <a:t> Disponibilité on/off</a:t>
            </a:r>
            <a:endParaRPr lang="en-US" sz="1000" dirty="0"/>
          </a:p>
        </p:txBody>
      </p:sp>
      <p:sp>
        <p:nvSpPr>
          <p:cNvPr id="22" name="Text 20"/>
          <p:cNvSpPr txBox="1"/>
          <p:nvPr/>
        </p:nvSpPr>
        <p:spPr>
          <a:xfrm>
            <a:off x="5210251" y="4481474"/>
            <a:ext cx="3724351"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06</a:t>
            </a:r>
            <a:r>
              <a:rPr lang="en-US" sz="1000" dirty="0">
                <a:solidFill>
                  <a:srgbClr val="1F2937"/>
                </a:solidFill>
                <a:latin typeface="Manrope" pitchFamily="34" charset="0"/>
                <a:ea typeface="Manrope" pitchFamily="34" charset="-122"/>
                <a:cs typeface="Manrope" pitchFamily="34" charset="-120"/>
              </a:rPr>
              <a:t> Réception des demandes</a:t>
            </a:r>
            <a:endParaRPr lang="en-US" sz="1000" dirty="0"/>
          </a:p>
        </p:txBody>
      </p:sp>
      <p:sp>
        <p:nvSpPr>
          <p:cNvPr id="23" name="Text 21"/>
          <p:cNvSpPr txBox="1"/>
          <p:nvPr/>
        </p:nvSpPr>
        <p:spPr>
          <a:xfrm>
            <a:off x="1218895" y="4738421"/>
            <a:ext cx="3724351"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07</a:t>
            </a:r>
            <a:r>
              <a:rPr lang="en-US" sz="1000" dirty="0">
                <a:solidFill>
                  <a:srgbClr val="1F2937"/>
                </a:solidFill>
                <a:latin typeface="Manrope" pitchFamily="34" charset="0"/>
                <a:ea typeface="Manrope" pitchFamily="34" charset="-122"/>
                <a:cs typeface="Manrope" pitchFamily="34" charset="-120"/>
              </a:rPr>
              <a:t> Acceptation/refus course</a:t>
            </a:r>
            <a:endParaRPr lang="en-US" sz="1000" dirty="0"/>
          </a:p>
        </p:txBody>
      </p:sp>
      <p:sp>
        <p:nvSpPr>
          <p:cNvPr id="24" name="Text 22"/>
          <p:cNvSpPr txBox="1"/>
          <p:nvPr/>
        </p:nvSpPr>
        <p:spPr>
          <a:xfrm>
            <a:off x="5210251" y="4738421"/>
            <a:ext cx="3724351"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08</a:t>
            </a:r>
            <a:r>
              <a:rPr lang="en-US" sz="1000" dirty="0">
                <a:solidFill>
                  <a:srgbClr val="1F2937"/>
                </a:solidFill>
                <a:latin typeface="Manrope" pitchFamily="34" charset="0"/>
                <a:ea typeface="Manrope" pitchFamily="34" charset="-122"/>
                <a:cs typeface="Manrope" pitchFamily="34" charset="-120"/>
              </a:rPr>
              <a:t> Navigation vers client</a:t>
            </a:r>
            <a:endParaRPr lang="en-US" sz="1000" dirty="0"/>
          </a:p>
        </p:txBody>
      </p:sp>
      <p:sp>
        <p:nvSpPr>
          <p:cNvPr id="25" name="Text 23"/>
          <p:cNvSpPr txBox="1"/>
          <p:nvPr/>
        </p:nvSpPr>
        <p:spPr>
          <a:xfrm>
            <a:off x="1218895" y="4996282"/>
            <a:ext cx="3724351"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09</a:t>
            </a:r>
            <a:r>
              <a:rPr lang="en-US" sz="1000" dirty="0">
                <a:solidFill>
                  <a:srgbClr val="1F2937"/>
                </a:solidFill>
                <a:latin typeface="Manrope" pitchFamily="34" charset="0"/>
                <a:ea typeface="Manrope" pitchFamily="34" charset="-122"/>
                <a:cs typeface="Manrope" pitchFamily="34" charset="-120"/>
              </a:rPr>
              <a:t> Démarrage de course</a:t>
            </a:r>
            <a:endParaRPr lang="en-US" sz="1000" dirty="0"/>
          </a:p>
        </p:txBody>
      </p:sp>
      <p:sp>
        <p:nvSpPr>
          <p:cNvPr id="26" name="Text 24"/>
          <p:cNvSpPr txBox="1"/>
          <p:nvPr/>
        </p:nvSpPr>
        <p:spPr>
          <a:xfrm>
            <a:off x="5210251" y="4996282"/>
            <a:ext cx="3724351"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10</a:t>
            </a:r>
            <a:r>
              <a:rPr lang="en-US" sz="1000" dirty="0">
                <a:solidFill>
                  <a:srgbClr val="1F2937"/>
                </a:solidFill>
                <a:latin typeface="Manrope" pitchFamily="34" charset="0"/>
                <a:ea typeface="Manrope" pitchFamily="34" charset="-122"/>
                <a:cs typeface="Manrope" pitchFamily="34" charset="-120"/>
              </a:rPr>
              <a:t> Fin de course</a:t>
            </a:r>
            <a:endParaRPr lang="en-US" sz="1000" dirty="0"/>
          </a:p>
        </p:txBody>
      </p:sp>
      <p:sp>
        <p:nvSpPr>
          <p:cNvPr id="27" name="Text 25"/>
          <p:cNvSpPr txBox="1"/>
          <p:nvPr/>
        </p:nvSpPr>
        <p:spPr>
          <a:xfrm>
            <a:off x="1218895" y="5253228"/>
            <a:ext cx="3724351"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11</a:t>
            </a:r>
            <a:r>
              <a:rPr lang="en-US" sz="1000" dirty="0">
                <a:solidFill>
                  <a:srgbClr val="1F2937"/>
                </a:solidFill>
                <a:latin typeface="Manrope" pitchFamily="34" charset="0"/>
                <a:ea typeface="Manrope" pitchFamily="34" charset="-122"/>
                <a:cs typeface="Manrope" pitchFamily="34" charset="-120"/>
              </a:rPr>
              <a:t> Encaissement client</a:t>
            </a:r>
            <a:endParaRPr lang="en-US" sz="1000" dirty="0"/>
          </a:p>
        </p:txBody>
      </p:sp>
      <p:sp>
        <p:nvSpPr>
          <p:cNvPr id="28" name="Text 26"/>
          <p:cNvSpPr txBox="1"/>
          <p:nvPr/>
        </p:nvSpPr>
        <p:spPr>
          <a:xfrm>
            <a:off x="5210251" y="5253228"/>
            <a:ext cx="3724351"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12</a:t>
            </a:r>
            <a:r>
              <a:rPr lang="en-US" sz="1000" dirty="0">
                <a:solidFill>
                  <a:srgbClr val="1F2937"/>
                </a:solidFill>
                <a:latin typeface="Manrope" pitchFamily="34" charset="0"/>
                <a:ea typeface="Manrope" pitchFamily="34" charset="-122"/>
                <a:cs typeface="Manrope" pitchFamily="34" charset="-120"/>
              </a:rPr>
              <a:t> Débit de commission</a:t>
            </a:r>
            <a:endParaRPr lang="en-US" sz="1000" dirty="0"/>
          </a:p>
        </p:txBody>
      </p:sp>
      <p:sp>
        <p:nvSpPr>
          <p:cNvPr id="29" name="Shape 27"/>
          <p:cNvSpPr/>
          <p:nvPr/>
        </p:nvSpPr>
        <p:spPr>
          <a:xfrm>
            <a:off x="1218895" y="5510174"/>
            <a:ext cx="3724351" cy="256946"/>
          </a:xfrm>
          <a:prstGeom prst="roundRect">
            <a:avLst>
              <a:gd name="adj" fmla="val 22420"/>
            </a:avLst>
          </a:prstGeom>
          <a:solidFill>
            <a:srgbClr val="F5F3FF"/>
          </a:solidFill>
          <a:ln w="12700">
            <a:solidFill>
              <a:srgbClr val="FFFFFF">
                <a:alpha val="0"/>
              </a:srgbClr>
            </a:solidFill>
            <a:prstDash val="solid"/>
          </a:ln>
        </p:spPr>
        <p:txBody>
          <a:bodyPr/>
          <a:lstStyle/>
          <a:p>
            <a:endParaRPr lang="fr-CI"/>
          </a:p>
        </p:txBody>
      </p:sp>
      <p:sp>
        <p:nvSpPr>
          <p:cNvPr id="30" name="Text 28"/>
          <p:cNvSpPr txBox="1"/>
          <p:nvPr/>
        </p:nvSpPr>
        <p:spPr>
          <a:xfrm>
            <a:off x="1295705" y="5548579"/>
            <a:ext cx="162763"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13</a:t>
            </a:r>
            <a:endParaRPr lang="en-US" sz="1000" dirty="0"/>
          </a:p>
        </p:txBody>
      </p:sp>
      <p:sp>
        <p:nvSpPr>
          <p:cNvPr id="31" name="Text 29"/>
          <p:cNvSpPr txBox="1"/>
          <p:nvPr/>
        </p:nvSpPr>
        <p:spPr>
          <a:xfrm>
            <a:off x="1531620" y="5548579"/>
            <a:ext cx="1762049"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Consultation wallet</a:t>
            </a:r>
            <a:endParaRPr lang="en-US" sz="1000" dirty="0"/>
          </a:p>
        </p:txBody>
      </p:sp>
      <p:sp>
        <p:nvSpPr>
          <p:cNvPr id="32" name="Shape 30"/>
          <p:cNvSpPr/>
          <p:nvPr/>
        </p:nvSpPr>
        <p:spPr>
          <a:xfrm>
            <a:off x="5210251" y="5510174"/>
            <a:ext cx="3724351" cy="256946"/>
          </a:xfrm>
          <a:prstGeom prst="roundRect">
            <a:avLst>
              <a:gd name="adj" fmla="val 22420"/>
            </a:avLst>
          </a:prstGeom>
          <a:solidFill>
            <a:srgbClr val="F5F3FF"/>
          </a:solidFill>
          <a:ln w="12700">
            <a:solidFill>
              <a:srgbClr val="FFFFFF">
                <a:alpha val="0"/>
              </a:srgbClr>
            </a:solidFill>
            <a:prstDash val="solid"/>
          </a:ln>
        </p:spPr>
        <p:txBody>
          <a:bodyPr/>
          <a:lstStyle/>
          <a:p>
            <a:endParaRPr lang="fr-CI"/>
          </a:p>
        </p:txBody>
      </p:sp>
      <p:sp>
        <p:nvSpPr>
          <p:cNvPr id="33" name="Text 31"/>
          <p:cNvSpPr txBox="1"/>
          <p:nvPr/>
        </p:nvSpPr>
        <p:spPr>
          <a:xfrm>
            <a:off x="5286146" y="5548579"/>
            <a:ext cx="162763"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14</a:t>
            </a:r>
            <a:endParaRPr lang="en-US" sz="1000" dirty="0"/>
          </a:p>
        </p:txBody>
      </p:sp>
      <p:sp>
        <p:nvSpPr>
          <p:cNvPr id="34" name="Text 32"/>
          <p:cNvSpPr txBox="1"/>
          <p:nvPr/>
        </p:nvSpPr>
        <p:spPr>
          <a:xfrm>
            <a:off x="5522976" y="5548579"/>
            <a:ext cx="1396289"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Recharge wallet</a:t>
            </a:r>
            <a:endParaRPr lang="en-US" sz="1000" dirty="0"/>
          </a:p>
        </p:txBody>
      </p:sp>
      <p:sp>
        <p:nvSpPr>
          <p:cNvPr id="35" name="Text 33"/>
          <p:cNvSpPr txBox="1"/>
          <p:nvPr/>
        </p:nvSpPr>
        <p:spPr>
          <a:xfrm>
            <a:off x="1218895" y="5843930"/>
            <a:ext cx="3724351"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15</a:t>
            </a:r>
            <a:r>
              <a:rPr lang="en-US" sz="1000" dirty="0">
                <a:solidFill>
                  <a:srgbClr val="1F2937"/>
                </a:solidFill>
                <a:latin typeface="Manrope" pitchFamily="34" charset="0"/>
                <a:ea typeface="Manrope" pitchFamily="34" charset="-122"/>
                <a:cs typeface="Manrope" pitchFamily="34" charset="-120"/>
              </a:rPr>
              <a:t> Historique d'activité</a:t>
            </a:r>
            <a:endParaRPr lang="en-US" sz="1000" dirty="0"/>
          </a:p>
        </p:txBody>
      </p:sp>
      <p:sp>
        <p:nvSpPr>
          <p:cNvPr id="36" name="Text 34"/>
          <p:cNvSpPr txBox="1"/>
          <p:nvPr/>
        </p:nvSpPr>
        <p:spPr>
          <a:xfrm>
            <a:off x="5210251" y="5843930"/>
            <a:ext cx="3724351"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16</a:t>
            </a:r>
            <a:r>
              <a:rPr lang="en-US" sz="1000" dirty="0">
                <a:solidFill>
                  <a:srgbClr val="1F2937"/>
                </a:solidFill>
                <a:latin typeface="Manrope" pitchFamily="34" charset="0"/>
                <a:ea typeface="Manrope" pitchFamily="34" charset="-122"/>
                <a:cs typeface="Manrope" pitchFamily="34" charset="-120"/>
              </a:rPr>
              <a:t> Réclamations</a:t>
            </a:r>
            <a:endParaRPr lang="en-US" sz="1000" dirty="0"/>
          </a:p>
        </p:txBody>
      </p:sp>
      <p:sp>
        <p:nvSpPr>
          <p:cNvPr id="37" name="Text 35"/>
          <p:cNvSpPr txBox="1"/>
          <p:nvPr/>
        </p:nvSpPr>
        <p:spPr>
          <a:xfrm>
            <a:off x="1218895" y="6100877"/>
            <a:ext cx="3724351"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17</a:t>
            </a:r>
            <a:r>
              <a:rPr lang="en-US" sz="1000" dirty="0">
                <a:solidFill>
                  <a:srgbClr val="1F2937"/>
                </a:solidFill>
                <a:latin typeface="Manrope" pitchFamily="34" charset="0"/>
                <a:ea typeface="Manrope" pitchFamily="34" charset="-122"/>
                <a:cs typeface="Manrope" pitchFamily="34" charset="-120"/>
              </a:rPr>
              <a:t> Notifications</a:t>
            </a:r>
            <a:endParaRPr lang="en-US" sz="1000" dirty="0"/>
          </a:p>
        </p:txBody>
      </p:sp>
      <p:sp>
        <p:nvSpPr>
          <p:cNvPr id="38" name="Text 36"/>
          <p:cNvSpPr txBox="1"/>
          <p:nvPr/>
        </p:nvSpPr>
        <p:spPr>
          <a:xfrm>
            <a:off x="5210251" y="6100877"/>
            <a:ext cx="3724351"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18</a:t>
            </a:r>
            <a:r>
              <a:rPr lang="en-US" sz="1000" dirty="0">
                <a:solidFill>
                  <a:srgbClr val="1F2937"/>
                </a:solidFill>
                <a:latin typeface="Manrope" pitchFamily="34" charset="0"/>
                <a:ea typeface="Manrope" pitchFamily="34" charset="-122"/>
                <a:cs typeface="Manrope" pitchFamily="34" charset="-120"/>
              </a:rPr>
              <a:t> Suspension / réactivation</a:t>
            </a:r>
            <a:endParaRPr lang="en-US" sz="1000" dirty="0"/>
          </a:p>
        </p:txBody>
      </p:sp>
      <p:sp>
        <p:nvSpPr>
          <p:cNvPr id="39" name="Shape 37"/>
          <p:cNvSpPr/>
          <p:nvPr/>
        </p:nvSpPr>
        <p:spPr>
          <a:xfrm>
            <a:off x="1218895" y="6567221"/>
            <a:ext cx="7715707" cy="1333195"/>
          </a:xfrm>
          <a:prstGeom prst="roundRect">
            <a:avLst>
              <a:gd name="adj" fmla="val 7133"/>
            </a:avLst>
          </a:prstGeom>
          <a:solidFill>
            <a:srgbClr val="F5F3FF"/>
          </a:solidFill>
          <a:ln w="12700">
            <a:solidFill>
              <a:srgbClr val="DDD6FE"/>
            </a:solidFill>
            <a:prstDash val="solid"/>
          </a:ln>
        </p:spPr>
        <p:txBody>
          <a:bodyPr/>
          <a:lstStyle/>
          <a:p>
            <a:endParaRPr lang="fr-CI"/>
          </a:p>
        </p:txBody>
      </p:sp>
      <p:sp>
        <p:nvSpPr>
          <p:cNvPr id="40" name="Text 38"/>
          <p:cNvSpPr txBox="1"/>
          <p:nvPr/>
        </p:nvSpPr>
        <p:spPr>
          <a:xfrm>
            <a:off x="1399946" y="6748272"/>
            <a:ext cx="7353605" cy="133502"/>
          </a:xfrm>
          <a:prstGeom prst="rect">
            <a:avLst/>
          </a:prstGeom>
          <a:noFill/>
          <a:ln/>
        </p:spPr>
        <p:txBody>
          <a:bodyPr wrap="none" lIns="0" tIns="0" rIns="0" bIns="0" rtlCol="0" anchor="ctr"/>
          <a:lstStyle/>
          <a:p>
            <a:pPr marL="0" indent="0" algn="l">
              <a:buNone/>
            </a:pPr>
            <a:r>
              <a:rPr lang="en-US" sz="800" b="1" kern="0" spc="99" dirty="0">
                <a:solidFill>
                  <a:srgbClr val="6D28D9"/>
                </a:solidFill>
                <a:latin typeface="JetBrains Mono" pitchFamily="34" charset="0"/>
                <a:ea typeface="JetBrains Mono" pitchFamily="34" charset="-122"/>
                <a:cs typeface="JetBrains Mono" pitchFamily="34" charset="-120"/>
              </a:rPr>
              <a:t>3 voies d'alimentation wallet chauffeur</a:t>
            </a:r>
            <a:endParaRPr lang="en-US" sz="800" dirty="0"/>
          </a:p>
        </p:txBody>
      </p:sp>
      <p:sp>
        <p:nvSpPr>
          <p:cNvPr id="41" name="Shape 39"/>
          <p:cNvSpPr/>
          <p:nvPr/>
        </p:nvSpPr>
        <p:spPr>
          <a:xfrm>
            <a:off x="1399946" y="6996074"/>
            <a:ext cx="2152498"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42" name="Text 40"/>
          <p:cNvSpPr/>
          <p:nvPr/>
        </p:nvSpPr>
        <p:spPr>
          <a:xfrm>
            <a:off x="1399946" y="6996074"/>
            <a:ext cx="2153412"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1 · Auto-recharge mobile money</a:t>
            </a:r>
            <a:endParaRPr lang="en-US" sz="900" dirty="0"/>
          </a:p>
        </p:txBody>
      </p:sp>
      <p:sp>
        <p:nvSpPr>
          <p:cNvPr id="43" name="Shape 41"/>
          <p:cNvSpPr/>
          <p:nvPr/>
        </p:nvSpPr>
        <p:spPr>
          <a:xfrm>
            <a:off x="3626510" y="6996074"/>
            <a:ext cx="2162556"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44" name="Text 42"/>
          <p:cNvSpPr/>
          <p:nvPr/>
        </p:nvSpPr>
        <p:spPr>
          <a:xfrm>
            <a:off x="3626510" y="6996074"/>
            <a:ext cx="2162556"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2 · Par son partenaire (cascade)</a:t>
            </a:r>
            <a:endParaRPr lang="en-US" sz="900" dirty="0"/>
          </a:p>
        </p:txBody>
      </p:sp>
      <p:sp>
        <p:nvSpPr>
          <p:cNvPr id="45" name="Shape 43"/>
          <p:cNvSpPr/>
          <p:nvPr/>
        </p:nvSpPr>
        <p:spPr>
          <a:xfrm>
            <a:off x="5861304" y="6996074"/>
            <a:ext cx="1695298" cy="286207"/>
          </a:xfrm>
          <a:prstGeom prst="roundRect">
            <a:avLst>
              <a:gd name="adj" fmla="val 49840"/>
            </a:avLst>
          </a:prstGeom>
          <a:solidFill>
            <a:srgbClr val="6D28D9"/>
          </a:solidFill>
          <a:ln w="12700">
            <a:solidFill>
              <a:srgbClr val="FFFFFF">
                <a:alpha val="0"/>
              </a:srgbClr>
            </a:solidFill>
            <a:prstDash val="solid"/>
          </a:ln>
        </p:spPr>
        <p:txBody>
          <a:bodyPr/>
          <a:lstStyle/>
          <a:p>
            <a:endParaRPr lang="fr-CI"/>
          </a:p>
        </p:txBody>
      </p:sp>
      <p:sp>
        <p:nvSpPr>
          <p:cNvPr id="46" name="Text 44"/>
          <p:cNvSpPr/>
          <p:nvPr/>
        </p:nvSpPr>
        <p:spPr>
          <a:xfrm>
            <a:off x="5861304" y="6996074"/>
            <a:ext cx="1696212"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FFFFFF"/>
                </a:solidFill>
                <a:latin typeface="Manrope" pitchFamily="34" charset="0"/>
                <a:ea typeface="Manrope" pitchFamily="34" charset="-122"/>
                <a:cs typeface="Manrope" pitchFamily="34" charset="-120"/>
              </a:rPr>
              <a:t>3 · Bonus franchise auto</a:t>
            </a:r>
            <a:endParaRPr lang="en-US" sz="900" dirty="0"/>
          </a:p>
        </p:txBody>
      </p:sp>
      <p:sp>
        <p:nvSpPr>
          <p:cNvPr id="47" name="Text 45"/>
          <p:cNvSpPr txBox="1"/>
          <p:nvPr/>
        </p:nvSpPr>
        <p:spPr>
          <a:xfrm>
            <a:off x="1399946" y="7377379"/>
            <a:ext cx="7353605" cy="342900"/>
          </a:xfrm>
          <a:prstGeom prst="rect">
            <a:avLst/>
          </a:prstGeom>
          <a:noFill/>
          <a:ln/>
        </p:spPr>
        <p:txBody>
          <a:bodyPr wrap="squar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Le partenaire recharge son propre wallet (mobile money / carte) puis crédite ses chauffeurs en cascade. La franchise reverse des </a:t>
            </a:r>
            <a:r>
              <a:rPr lang="en-US" sz="900" b="1" dirty="0">
                <a:solidFill>
                  <a:srgbClr val="4B5563"/>
                </a:solidFill>
                <a:latin typeface="Manrope" pitchFamily="34" charset="0"/>
                <a:ea typeface="Manrope" pitchFamily="34" charset="-122"/>
                <a:cs typeface="Manrope" pitchFamily="34" charset="-120"/>
              </a:rPr>
              <a:t>bonus de performance automatiques</a:t>
            </a:r>
            <a:r>
              <a:rPr lang="en-US" sz="900" dirty="0">
                <a:solidFill>
                  <a:srgbClr val="4B5563"/>
                </a:solidFill>
                <a:latin typeface="Manrope" pitchFamily="34" charset="0"/>
                <a:ea typeface="Manrope" pitchFamily="34" charset="-122"/>
                <a:cs typeface="Manrope" pitchFamily="34" charset="-120"/>
              </a:rPr>
              <a:t>. </a:t>
            </a:r>
            <a:r>
              <a:rPr lang="en-US" sz="900" b="1" dirty="0">
                <a:solidFill>
                  <a:srgbClr val="991B1B"/>
                </a:solidFill>
                <a:latin typeface="Manrope" pitchFamily="34" charset="0"/>
                <a:ea typeface="Manrope" pitchFamily="34" charset="-122"/>
                <a:cs typeface="Manrope" pitchFamily="34" charset="-120"/>
              </a:rPr>
              <a:t>Le central ne recharge pas les chauffeurs.</a:t>
            </a:r>
            <a:endParaRPr lang="en-US" sz="900" dirty="0"/>
          </a:p>
        </p:txBody>
      </p:sp>
      <p:sp>
        <p:nvSpPr>
          <p:cNvPr id="48" name="Shape 46"/>
          <p:cNvSpPr/>
          <p:nvPr/>
        </p:nvSpPr>
        <p:spPr>
          <a:xfrm>
            <a:off x="9486900" y="3047695"/>
            <a:ext cx="7925105" cy="6476695"/>
          </a:xfrm>
          <a:prstGeom prst="roundRect">
            <a:avLst>
              <a:gd name="adj" fmla="val 2061"/>
            </a:avLst>
          </a:prstGeom>
          <a:solidFill>
            <a:srgbClr val="1F2937"/>
          </a:solidFill>
          <a:ln w="12700">
            <a:solidFill>
              <a:srgbClr val="FFFFFF">
                <a:alpha val="0"/>
              </a:srgbClr>
            </a:solidFill>
            <a:prstDash val="solid"/>
          </a:ln>
        </p:spPr>
        <p:txBody>
          <a:bodyPr/>
          <a:lstStyle/>
          <a:p>
            <a:endParaRPr lang="fr-CI"/>
          </a:p>
        </p:txBody>
      </p:sp>
      <p:sp>
        <p:nvSpPr>
          <p:cNvPr id="49" name="Text 47"/>
          <p:cNvSpPr txBox="1"/>
          <p:nvPr/>
        </p:nvSpPr>
        <p:spPr>
          <a:xfrm>
            <a:off x="9791395" y="3295498"/>
            <a:ext cx="7334402" cy="162763"/>
          </a:xfrm>
          <a:prstGeom prst="rect">
            <a:avLst/>
          </a:prstGeom>
          <a:noFill/>
          <a:ln/>
        </p:spPr>
        <p:txBody>
          <a:bodyPr wrap="none" lIns="0" tIns="0" rIns="0" bIns="0" rtlCol="0" anchor="ctr"/>
          <a:lstStyle/>
          <a:p>
            <a:pPr marL="0" indent="0" algn="l">
              <a:buNone/>
            </a:pPr>
            <a:r>
              <a:rPr lang="en-US" sz="900" b="1" kern="0" spc="117" dirty="0">
                <a:solidFill>
                  <a:srgbClr val="A78BFA"/>
                </a:solidFill>
                <a:latin typeface="JetBrains Mono" pitchFamily="34" charset="0"/>
                <a:ea typeface="JetBrains Mono" pitchFamily="34" charset="-122"/>
                <a:cs typeface="JetBrains Mono" pitchFamily="34" charset="-120"/>
              </a:rPr>
              <a:t>7.2 · Reporting attendu côté chauffeur</a:t>
            </a:r>
            <a:endParaRPr lang="en-US" sz="900" dirty="0"/>
          </a:p>
        </p:txBody>
      </p:sp>
      <p:sp>
        <p:nvSpPr>
          <p:cNvPr id="50" name="Text 48"/>
          <p:cNvSpPr txBox="1"/>
          <p:nvPr/>
        </p:nvSpPr>
        <p:spPr>
          <a:xfrm>
            <a:off x="9791395" y="3534156"/>
            <a:ext cx="7334402" cy="314554"/>
          </a:xfrm>
          <a:prstGeom prst="rect">
            <a:avLst/>
          </a:prstGeom>
          <a:noFill/>
          <a:ln/>
        </p:spPr>
        <p:txBody>
          <a:bodyPr wrap="none" lIns="0" tIns="0" rIns="0" bIns="0" rtlCol="0" anchor="ctr"/>
          <a:lstStyle/>
          <a:p>
            <a:pPr marL="0" indent="0" algn="l">
              <a:buNone/>
            </a:pPr>
            <a:r>
              <a:rPr lang="en-US" sz="1800" b="1" dirty="0">
                <a:solidFill>
                  <a:srgbClr val="FFFFFF"/>
                </a:solidFill>
                <a:latin typeface="Manrope" pitchFamily="34" charset="0"/>
                <a:ea typeface="Manrope" pitchFamily="34" charset="-122"/>
                <a:cs typeface="Manrope" pitchFamily="34" charset="-120"/>
              </a:rPr>
              <a:t>9 indicateurs financiers &amp; opérationnels</a:t>
            </a:r>
            <a:endParaRPr lang="en-US" sz="1800" dirty="0"/>
          </a:p>
        </p:txBody>
      </p:sp>
      <p:sp>
        <p:nvSpPr>
          <p:cNvPr id="51" name="Shape 49"/>
          <p:cNvSpPr/>
          <p:nvPr/>
        </p:nvSpPr>
        <p:spPr>
          <a:xfrm>
            <a:off x="9791395" y="4076395"/>
            <a:ext cx="3610051" cy="619049"/>
          </a:xfrm>
          <a:prstGeom prst="roundRect">
            <a:avLst>
              <a:gd name="adj" fmla="val 15362"/>
            </a:avLst>
          </a:prstGeom>
          <a:solidFill>
            <a:srgbClr val="374151"/>
          </a:solidFill>
          <a:ln w="12700">
            <a:solidFill>
              <a:srgbClr val="FFFFFF">
                <a:alpha val="0"/>
              </a:srgbClr>
            </a:solidFill>
            <a:prstDash val="solid"/>
          </a:ln>
        </p:spPr>
        <p:txBody>
          <a:bodyPr/>
          <a:lstStyle/>
          <a:p>
            <a:endParaRPr lang="fr-CI"/>
          </a:p>
        </p:txBody>
      </p:sp>
      <p:sp>
        <p:nvSpPr>
          <p:cNvPr id="52" name="Text 50"/>
          <p:cNvSpPr txBox="1"/>
          <p:nvPr/>
        </p:nvSpPr>
        <p:spPr>
          <a:xfrm>
            <a:off x="9924898" y="4209898"/>
            <a:ext cx="3343961"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01</a:t>
            </a:r>
            <a:endParaRPr lang="en-US" sz="800" dirty="0"/>
          </a:p>
        </p:txBody>
      </p:sp>
      <p:sp>
        <p:nvSpPr>
          <p:cNvPr id="53" name="Text 51"/>
          <p:cNvSpPr txBox="1"/>
          <p:nvPr/>
        </p:nvSpPr>
        <p:spPr>
          <a:xfrm>
            <a:off x="9924898" y="4381805"/>
            <a:ext cx="3343961" cy="181051"/>
          </a:xfrm>
          <a:prstGeom prst="rect">
            <a:avLst/>
          </a:prstGeom>
          <a:noFill/>
          <a:ln/>
        </p:spPr>
        <p:txBody>
          <a:bodyPr wrap="none" lIns="0" tIns="0" rIns="0" bIns="0" rtlCol="0" anchor="ctr"/>
          <a:lstStyle/>
          <a:p>
            <a:pPr marL="0" indent="0" algn="l">
              <a:buNone/>
            </a:pPr>
            <a:r>
              <a:rPr lang="en-US" sz="1000" b="1" dirty="0">
                <a:solidFill>
                  <a:srgbClr val="FFFFFF"/>
                </a:solidFill>
                <a:latin typeface="Manrope" pitchFamily="34" charset="0"/>
                <a:ea typeface="Manrope" pitchFamily="34" charset="-122"/>
                <a:cs typeface="Manrope" pitchFamily="34" charset="-120"/>
              </a:rPr>
              <a:t>Nombre de courses réalisées</a:t>
            </a:r>
            <a:endParaRPr lang="en-US" sz="1000" dirty="0"/>
          </a:p>
        </p:txBody>
      </p:sp>
      <p:sp>
        <p:nvSpPr>
          <p:cNvPr id="54" name="Shape 52"/>
          <p:cNvSpPr/>
          <p:nvPr/>
        </p:nvSpPr>
        <p:spPr>
          <a:xfrm>
            <a:off x="13515746" y="4076395"/>
            <a:ext cx="3610051" cy="619049"/>
          </a:xfrm>
          <a:prstGeom prst="roundRect">
            <a:avLst>
              <a:gd name="adj" fmla="val 15362"/>
            </a:avLst>
          </a:prstGeom>
          <a:solidFill>
            <a:srgbClr val="374151"/>
          </a:solidFill>
          <a:ln w="12700">
            <a:solidFill>
              <a:srgbClr val="FFFFFF">
                <a:alpha val="0"/>
              </a:srgbClr>
            </a:solidFill>
            <a:prstDash val="solid"/>
          </a:ln>
        </p:spPr>
        <p:txBody>
          <a:bodyPr/>
          <a:lstStyle/>
          <a:p>
            <a:endParaRPr lang="fr-CI"/>
          </a:p>
        </p:txBody>
      </p:sp>
      <p:sp>
        <p:nvSpPr>
          <p:cNvPr id="55" name="Text 53"/>
          <p:cNvSpPr txBox="1"/>
          <p:nvPr/>
        </p:nvSpPr>
        <p:spPr>
          <a:xfrm>
            <a:off x="13649249" y="4209898"/>
            <a:ext cx="3343961"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02</a:t>
            </a:r>
            <a:endParaRPr lang="en-US" sz="800" dirty="0"/>
          </a:p>
        </p:txBody>
      </p:sp>
      <p:sp>
        <p:nvSpPr>
          <p:cNvPr id="56" name="Text 54"/>
          <p:cNvSpPr txBox="1"/>
          <p:nvPr/>
        </p:nvSpPr>
        <p:spPr>
          <a:xfrm>
            <a:off x="13649249" y="4381805"/>
            <a:ext cx="3343961" cy="181051"/>
          </a:xfrm>
          <a:prstGeom prst="rect">
            <a:avLst/>
          </a:prstGeom>
          <a:noFill/>
          <a:ln/>
        </p:spPr>
        <p:txBody>
          <a:bodyPr wrap="none" lIns="0" tIns="0" rIns="0" bIns="0" rtlCol="0" anchor="ctr"/>
          <a:lstStyle/>
          <a:p>
            <a:pPr marL="0" indent="0" algn="l">
              <a:buNone/>
            </a:pPr>
            <a:r>
              <a:rPr lang="en-US" sz="1000" b="1" dirty="0">
                <a:solidFill>
                  <a:srgbClr val="FFFFFF"/>
                </a:solidFill>
                <a:latin typeface="Manrope" pitchFamily="34" charset="0"/>
                <a:ea typeface="Manrope" pitchFamily="34" charset="-122"/>
                <a:cs typeface="Manrope" pitchFamily="34" charset="-120"/>
              </a:rPr>
              <a:t>Montant brut encaissé</a:t>
            </a:r>
            <a:endParaRPr lang="en-US" sz="1000" dirty="0"/>
          </a:p>
        </p:txBody>
      </p:sp>
      <p:sp>
        <p:nvSpPr>
          <p:cNvPr id="57" name="Shape 55"/>
          <p:cNvSpPr/>
          <p:nvPr/>
        </p:nvSpPr>
        <p:spPr>
          <a:xfrm>
            <a:off x="9791395" y="4809744"/>
            <a:ext cx="3610051" cy="619049"/>
          </a:xfrm>
          <a:prstGeom prst="roundRect">
            <a:avLst>
              <a:gd name="adj" fmla="val 15362"/>
            </a:avLst>
          </a:prstGeom>
          <a:solidFill>
            <a:srgbClr val="374151"/>
          </a:solidFill>
          <a:ln w="12700">
            <a:solidFill>
              <a:srgbClr val="FFFFFF">
                <a:alpha val="0"/>
              </a:srgbClr>
            </a:solidFill>
            <a:prstDash val="solid"/>
          </a:ln>
        </p:spPr>
        <p:txBody>
          <a:bodyPr/>
          <a:lstStyle/>
          <a:p>
            <a:endParaRPr lang="fr-CI"/>
          </a:p>
        </p:txBody>
      </p:sp>
      <p:sp>
        <p:nvSpPr>
          <p:cNvPr id="58" name="Text 56"/>
          <p:cNvSpPr txBox="1"/>
          <p:nvPr/>
        </p:nvSpPr>
        <p:spPr>
          <a:xfrm>
            <a:off x="9924898" y="4943246"/>
            <a:ext cx="3343961"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03</a:t>
            </a:r>
            <a:endParaRPr lang="en-US" sz="800" dirty="0"/>
          </a:p>
        </p:txBody>
      </p:sp>
      <p:sp>
        <p:nvSpPr>
          <p:cNvPr id="59" name="Text 57"/>
          <p:cNvSpPr txBox="1"/>
          <p:nvPr/>
        </p:nvSpPr>
        <p:spPr>
          <a:xfrm>
            <a:off x="9924898" y="5115154"/>
            <a:ext cx="3343961" cy="181051"/>
          </a:xfrm>
          <a:prstGeom prst="rect">
            <a:avLst/>
          </a:prstGeom>
          <a:noFill/>
          <a:ln/>
        </p:spPr>
        <p:txBody>
          <a:bodyPr wrap="none" lIns="0" tIns="0" rIns="0" bIns="0" rtlCol="0" anchor="ctr"/>
          <a:lstStyle/>
          <a:p>
            <a:pPr marL="0" indent="0" algn="l">
              <a:buNone/>
            </a:pPr>
            <a:r>
              <a:rPr lang="en-US" sz="1000" b="1" dirty="0">
                <a:solidFill>
                  <a:srgbClr val="FFFFFF"/>
                </a:solidFill>
                <a:latin typeface="Manrope" pitchFamily="34" charset="0"/>
                <a:ea typeface="Manrope" pitchFamily="34" charset="-122"/>
                <a:cs typeface="Manrope" pitchFamily="34" charset="-120"/>
              </a:rPr>
              <a:t>Commissions prélevées</a:t>
            </a:r>
            <a:endParaRPr lang="en-US" sz="1000" dirty="0"/>
          </a:p>
        </p:txBody>
      </p:sp>
      <p:sp>
        <p:nvSpPr>
          <p:cNvPr id="60" name="Shape 58"/>
          <p:cNvSpPr/>
          <p:nvPr/>
        </p:nvSpPr>
        <p:spPr>
          <a:xfrm>
            <a:off x="13515746" y="4809744"/>
            <a:ext cx="3610051" cy="619049"/>
          </a:xfrm>
          <a:prstGeom prst="roundRect">
            <a:avLst>
              <a:gd name="adj" fmla="val 15362"/>
            </a:avLst>
          </a:prstGeom>
          <a:solidFill>
            <a:srgbClr val="4C1D95"/>
          </a:solidFill>
          <a:ln w="12700">
            <a:solidFill>
              <a:srgbClr val="FFFFFF">
                <a:alpha val="0"/>
              </a:srgbClr>
            </a:solidFill>
            <a:prstDash val="solid"/>
          </a:ln>
        </p:spPr>
        <p:txBody>
          <a:bodyPr/>
          <a:lstStyle/>
          <a:p>
            <a:endParaRPr lang="fr-CI"/>
          </a:p>
        </p:txBody>
      </p:sp>
      <p:sp>
        <p:nvSpPr>
          <p:cNvPr id="61" name="Text 59"/>
          <p:cNvSpPr txBox="1"/>
          <p:nvPr/>
        </p:nvSpPr>
        <p:spPr>
          <a:xfrm>
            <a:off x="13649249" y="4943246"/>
            <a:ext cx="3343961" cy="133502"/>
          </a:xfrm>
          <a:prstGeom prst="rect">
            <a:avLst/>
          </a:prstGeom>
          <a:noFill/>
          <a:ln/>
        </p:spPr>
        <p:txBody>
          <a:bodyPr wrap="none" lIns="0" tIns="0" rIns="0" bIns="0" rtlCol="0" anchor="ctr"/>
          <a:lstStyle/>
          <a:p>
            <a:pPr marL="0" indent="0" algn="l">
              <a:buNone/>
            </a:pPr>
            <a:r>
              <a:rPr lang="en-US" sz="800" b="1" dirty="0">
                <a:solidFill>
                  <a:srgbClr val="C4B5FD"/>
                </a:solidFill>
                <a:latin typeface="JetBrains Mono" pitchFamily="34" charset="0"/>
                <a:ea typeface="JetBrains Mono" pitchFamily="34" charset="-122"/>
                <a:cs typeface="JetBrains Mono" pitchFamily="34" charset="-120"/>
              </a:rPr>
              <a:t>04</a:t>
            </a:r>
            <a:endParaRPr lang="en-US" sz="800" dirty="0"/>
          </a:p>
        </p:txBody>
      </p:sp>
      <p:sp>
        <p:nvSpPr>
          <p:cNvPr id="62" name="Text 60"/>
          <p:cNvSpPr txBox="1"/>
          <p:nvPr/>
        </p:nvSpPr>
        <p:spPr>
          <a:xfrm>
            <a:off x="13649249" y="5115154"/>
            <a:ext cx="3343961" cy="181051"/>
          </a:xfrm>
          <a:prstGeom prst="rect">
            <a:avLst/>
          </a:prstGeom>
          <a:noFill/>
          <a:ln/>
        </p:spPr>
        <p:txBody>
          <a:bodyPr wrap="none" lIns="0" tIns="0" rIns="0" bIns="0" rtlCol="0" anchor="ctr"/>
          <a:lstStyle/>
          <a:p>
            <a:pPr marL="0" indent="0" algn="l">
              <a:buNone/>
            </a:pPr>
            <a:r>
              <a:rPr lang="en-US" sz="1000" b="1" dirty="0">
                <a:solidFill>
                  <a:srgbClr val="FFFFFF"/>
                </a:solidFill>
                <a:latin typeface="Manrope" pitchFamily="34" charset="0"/>
                <a:ea typeface="Manrope" pitchFamily="34" charset="-122"/>
                <a:cs typeface="Manrope" pitchFamily="34" charset="-120"/>
              </a:rPr>
              <a:t>Solde wallet temps réel</a:t>
            </a:r>
            <a:endParaRPr lang="en-US" sz="1000" dirty="0"/>
          </a:p>
        </p:txBody>
      </p:sp>
      <p:sp>
        <p:nvSpPr>
          <p:cNvPr id="63" name="Shape 61"/>
          <p:cNvSpPr/>
          <p:nvPr/>
        </p:nvSpPr>
        <p:spPr>
          <a:xfrm>
            <a:off x="9791395" y="5544007"/>
            <a:ext cx="3610051" cy="619049"/>
          </a:xfrm>
          <a:prstGeom prst="roundRect">
            <a:avLst>
              <a:gd name="adj" fmla="val 15362"/>
            </a:avLst>
          </a:prstGeom>
          <a:solidFill>
            <a:srgbClr val="374151"/>
          </a:solidFill>
          <a:ln w="12700">
            <a:solidFill>
              <a:srgbClr val="FFFFFF">
                <a:alpha val="0"/>
              </a:srgbClr>
            </a:solidFill>
            <a:prstDash val="solid"/>
          </a:ln>
        </p:spPr>
        <p:txBody>
          <a:bodyPr/>
          <a:lstStyle/>
          <a:p>
            <a:endParaRPr lang="fr-CI"/>
          </a:p>
        </p:txBody>
      </p:sp>
      <p:sp>
        <p:nvSpPr>
          <p:cNvPr id="64" name="Text 62"/>
          <p:cNvSpPr txBox="1"/>
          <p:nvPr/>
        </p:nvSpPr>
        <p:spPr>
          <a:xfrm>
            <a:off x="9924898" y="5676595"/>
            <a:ext cx="3343961"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05</a:t>
            </a:r>
            <a:endParaRPr lang="en-US" sz="800" dirty="0"/>
          </a:p>
        </p:txBody>
      </p:sp>
      <p:sp>
        <p:nvSpPr>
          <p:cNvPr id="65" name="Text 63"/>
          <p:cNvSpPr txBox="1"/>
          <p:nvPr/>
        </p:nvSpPr>
        <p:spPr>
          <a:xfrm>
            <a:off x="9924898" y="5848502"/>
            <a:ext cx="3343961" cy="181051"/>
          </a:xfrm>
          <a:prstGeom prst="rect">
            <a:avLst/>
          </a:prstGeom>
          <a:noFill/>
          <a:ln/>
        </p:spPr>
        <p:txBody>
          <a:bodyPr wrap="none" lIns="0" tIns="0" rIns="0" bIns="0" rtlCol="0" anchor="ctr"/>
          <a:lstStyle/>
          <a:p>
            <a:pPr marL="0" indent="0" algn="l">
              <a:buNone/>
            </a:pPr>
            <a:r>
              <a:rPr lang="en-US" sz="1000" b="1" dirty="0">
                <a:solidFill>
                  <a:srgbClr val="FFFFFF"/>
                </a:solidFill>
                <a:latin typeface="Manrope" pitchFamily="34" charset="0"/>
                <a:ea typeface="Manrope" pitchFamily="34" charset="-122"/>
                <a:cs typeface="Manrope" pitchFamily="34" charset="-120"/>
              </a:rPr>
              <a:t>Historique recharges</a:t>
            </a:r>
            <a:endParaRPr lang="en-US" sz="1000" dirty="0"/>
          </a:p>
        </p:txBody>
      </p:sp>
      <p:sp>
        <p:nvSpPr>
          <p:cNvPr id="66" name="Shape 64"/>
          <p:cNvSpPr/>
          <p:nvPr/>
        </p:nvSpPr>
        <p:spPr>
          <a:xfrm>
            <a:off x="13515746" y="5544007"/>
            <a:ext cx="3610051" cy="619049"/>
          </a:xfrm>
          <a:prstGeom prst="roundRect">
            <a:avLst>
              <a:gd name="adj" fmla="val 15362"/>
            </a:avLst>
          </a:prstGeom>
          <a:solidFill>
            <a:srgbClr val="374151"/>
          </a:solidFill>
          <a:ln w="12700">
            <a:solidFill>
              <a:srgbClr val="FFFFFF">
                <a:alpha val="0"/>
              </a:srgbClr>
            </a:solidFill>
            <a:prstDash val="solid"/>
          </a:ln>
        </p:spPr>
        <p:txBody>
          <a:bodyPr/>
          <a:lstStyle/>
          <a:p>
            <a:endParaRPr lang="fr-CI"/>
          </a:p>
        </p:txBody>
      </p:sp>
      <p:sp>
        <p:nvSpPr>
          <p:cNvPr id="67" name="Text 65"/>
          <p:cNvSpPr txBox="1"/>
          <p:nvPr/>
        </p:nvSpPr>
        <p:spPr>
          <a:xfrm>
            <a:off x="13649249" y="5676595"/>
            <a:ext cx="3343961"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06</a:t>
            </a:r>
            <a:endParaRPr lang="en-US" sz="800" dirty="0"/>
          </a:p>
        </p:txBody>
      </p:sp>
      <p:sp>
        <p:nvSpPr>
          <p:cNvPr id="68" name="Text 66"/>
          <p:cNvSpPr txBox="1"/>
          <p:nvPr/>
        </p:nvSpPr>
        <p:spPr>
          <a:xfrm>
            <a:off x="13649249" y="5848502"/>
            <a:ext cx="3343961" cy="181051"/>
          </a:xfrm>
          <a:prstGeom prst="rect">
            <a:avLst/>
          </a:prstGeom>
          <a:noFill/>
          <a:ln/>
        </p:spPr>
        <p:txBody>
          <a:bodyPr wrap="none" lIns="0" tIns="0" rIns="0" bIns="0" rtlCol="0" anchor="ctr"/>
          <a:lstStyle/>
          <a:p>
            <a:pPr marL="0" indent="0" algn="l">
              <a:buNone/>
            </a:pPr>
            <a:r>
              <a:rPr lang="en-US" sz="1000" b="1" dirty="0">
                <a:solidFill>
                  <a:srgbClr val="FFFFFF"/>
                </a:solidFill>
                <a:latin typeface="Manrope" pitchFamily="34" charset="0"/>
                <a:ea typeface="Manrope" pitchFamily="34" charset="-122"/>
                <a:cs typeface="Manrope" pitchFamily="34" charset="-120"/>
              </a:rPr>
              <a:t>Historique des débits</a:t>
            </a:r>
            <a:endParaRPr lang="en-US" sz="1000" dirty="0"/>
          </a:p>
        </p:txBody>
      </p:sp>
      <p:sp>
        <p:nvSpPr>
          <p:cNvPr id="69" name="Shape 67"/>
          <p:cNvSpPr/>
          <p:nvPr/>
        </p:nvSpPr>
        <p:spPr>
          <a:xfrm>
            <a:off x="9791395" y="6277356"/>
            <a:ext cx="3610051" cy="619049"/>
          </a:xfrm>
          <a:prstGeom prst="roundRect">
            <a:avLst>
              <a:gd name="adj" fmla="val 15362"/>
            </a:avLst>
          </a:prstGeom>
          <a:solidFill>
            <a:srgbClr val="374151"/>
          </a:solidFill>
          <a:ln w="12700">
            <a:solidFill>
              <a:srgbClr val="FFFFFF">
                <a:alpha val="0"/>
              </a:srgbClr>
            </a:solidFill>
            <a:prstDash val="solid"/>
          </a:ln>
        </p:spPr>
        <p:txBody>
          <a:bodyPr/>
          <a:lstStyle/>
          <a:p>
            <a:endParaRPr lang="fr-CI"/>
          </a:p>
        </p:txBody>
      </p:sp>
      <p:sp>
        <p:nvSpPr>
          <p:cNvPr id="70" name="Text 68"/>
          <p:cNvSpPr txBox="1"/>
          <p:nvPr/>
        </p:nvSpPr>
        <p:spPr>
          <a:xfrm>
            <a:off x="9924898" y="6409944"/>
            <a:ext cx="3343961"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07</a:t>
            </a:r>
            <a:endParaRPr lang="en-US" sz="800" dirty="0"/>
          </a:p>
        </p:txBody>
      </p:sp>
      <p:sp>
        <p:nvSpPr>
          <p:cNvPr id="71" name="Text 69"/>
          <p:cNvSpPr txBox="1"/>
          <p:nvPr/>
        </p:nvSpPr>
        <p:spPr>
          <a:xfrm>
            <a:off x="9924898" y="6581851"/>
            <a:ext cx="3343961" cy="181051"/>
          </a:xfrm>
          <a:prstGeom prst="rect">
            <a:avLst/>
          </a:prstGeom>
          <a:noFill/>
          <a:ln/>
        </p:spPr>
        <p:txBody>
          <a:bodyPr wrap="none" lIns="0" tIns="0" rIns="0" bIns="0" rtlCol="0" anchor="ctr"/>
          <a:lstStyle/>
          <a:p>
            <a:pPr marL="0" indent="0" algn="l">
              <a:buNone/>
            </a:pPr>
            <a:r>
              <a:rPr lang="en-US" sz="1000" b="1" dirty="0">
                <a:solidFill>
                  <a:srgbClr val="FFFFFF"/>
                </a:solidFill>
                <a:latin typeface="Manrope" pitchFamily="34" charset="0"/>
                <a:ea typeface="Manrope" pitchFamily="34" charset="-122"/>
                <a:cs typeface="Manrope" pitchFamily="34" charset="-120"/>
              </a:rPr>
              <a:t>Notes reçues</a:t>
            </a:r>
            <a:endParaRPr lang="en-US" sz="1000" dirty="0"/>
          </a:p>
        </p:txBody>
      </p:sp>
      <p:sp>
        <p:nvSpPr>
          <p:cNvPr id="72" name="Shape 70"/>
          <p:cNvSpPr/>
          <p:nvPr/>
        </p:nvSpPr>
        <p:spPr>
          <a:xfrm>
            <a:off x="13515746" y="6277356"/>
            <a:ext cx="3610051" cy="619049"/>
          </a:xfrm>
          <a:prstGeom prst="roundRect">
            <a:avLst>
              <a:gd name="adj" fmla="val 15362"/>
            </a:avLst>
          </a:prstGeom>
          <a:solidFill>
            <a:srgbClr val="374151"/>
          </a:solidFill>
          <a:ln w="12700">
            <a:solidFill>
              <a:srgbClr val="FFFFFF">
                <a:alpha val="0"/>
              </a:srgbClr>
            </a:solidFill>
            <a:prstDash val="solid"/>
          </a:ln>
        </p:spPr>
        <p:txBody>
          <a:bodyPr/>
          <a:lstStyle/>
          <a:p>
            <a:endParaRPr lang="fr-CI"/>
          </a:p>
        </p:txBody>
      </p:sp>
      <p:sp>
        <p:nvSpPr>
          <p:cNvPr id="73" name="Text 71"/>
          <p:cNvSpPr txBox="1"/>
          <p:nvPr/>
        </p:nvSpPr>
        <p:spPr>
          <a:xfrm>
            <a:off x="13649249" y="6409944"/>
            <a:ext cx="3343961"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08</a:t>
            </a:r>
            <a:endParaRPr lang="en-US" sz="800" dirty="0"/>
          </a:p>
        </p:txBody>
      </p:sp>
      <p:sp>
        <p:nvSpPr>
          <p:cNvPr id="74" name="Text 72"/>
          <p:cNvSpPr txBox="1"/>
          <p:nvPr/>
        </p:nvSpPr>
        <p:spPr>
          <a:xfrm>
            <a:off x="13649249" y="6581851"/>
            <a:ext cx="3343961" cy="181051"/>
          </a:xfrm>
          <a:prstGeom prst="rect">
            <a:avLst/>
          </a:prstGeom>
          <a:noFill/>
          <a:ln/>
        </p:spPr>
        <p:txBody>
          <a:bodyPr wrap="none" lIns="0" tIns="0" rIns="0" bIns="0" rtlCol="0" anchor="ctr"/>
          <a:lstStyle/>
          <a:p>
            <a:pPr marL="0" indent="0" algn="l">
              <a:buNone/>
            </a:pPr>
            <a:r>
              <a:rPr lang="en-US" sz="1000" b="1" dirty="0">
                <a:solidFill>
                  <a:srgbClr val="FFFFFF"/>
                </a:solidFill>
                <a:latin typeface="Manrope" pitchFamily="34" charset="0"/>
                <a:ea typeface="Manrope" pitchFamily="34" charset="-122"/>
                <a:cs typeface="Manrope" pitchFamily="34" charset="-120"/>
              </a:rPr>
              <a:t>Annulations</a:t>
            </a:r>
            <a:endParaRPr lang="en-US" sz="1000" dirty="0"/>
          </a:p>
        </p:txBody>
      </p:sp>
      <p:sp>
        <p:nvSpPr>
          <p:cNvPr id="75" name="Shape 73"/>
          <p:cNvSpPr/>
          <p:nvPr/>
        </p:nvSpPr>
        <p:spPr>
          <a:xfrm>
            <a:off x="9791395" y="7010705"/>
            <a:ext cx="7334402" cy="619049"/>
          </a:xfrm>
          <a:prstGeom prst="roundRect">
            <a:avLst>
              <a:gd name="adj" fmla="val 15362"/>
            </a:avLst>
          </a:prstGeom>
          <a:solidFill>
            <a:srgbClr val="374151"/>
          </a:solidFill>
          <a:ln w="12700">
            <a:solidFill>
              <a:srgbClr val="FFFFFF">
                <a:alpha val="0"/>
              </a:srgbClr>
            </a:solidFill>
            <a:prstDash val="solid"/>
          </a:ln>
        </p:spPr>
        <p:txBody>
          <a:bodyPr/>
          <a:lstStyle/>
          <a:p>
            <a:endParaRPr lang="fr-CI"/>
          </a:p>
        </p:txBody>
      </p:sp>
      <p:sp>
        <p:nvSpPr>
          <p:cNvPr id="76" name="Text 74"/>
          <p:cNvSpPr txBox="1"/>
          <p:nvPr/>
        </p:nvSpPr>
        <p:spPr>
          <a:xfrm>
            <a:off x="9924898" y="7144207"/>
            <a:ext cx="7068312"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09</a:t>
            </a:r>
            <a:endParaRPr lang="en-US" sz="800" dirty="0"/>
          </a:p>
        </p:txBody>
      </p:sp>
      <p:sp>
        <p:nvSpPr>
          <p:cNvPr id="77" name="Text 75"/>
          <p:cNvSpPr txBox="1"/>
          <p:nvPr/>
        </p:nvSpPr>
        <p:spPr>
          <a:xfrm>
            <a:off x="9924898" y="7315200"/>
            <a:ext cx="7068312" cy="181051"/>
          </a:xfrm>
          <a:prstGeom prst="rect">
            <a:avLst/>
          </a:prstGeom>
          <a:noFill/>
          <a:ln/>
        </p:spPr>
        <p:txBody>
          <a:bodyPr wrap="none" lIns="0" tIns="0" rIns="0" bIns="0" rtlCol="0" anchor="ctr"/>
          <a:lstStyle/>
          <a:p>
            <a:pPr marL="0" indent="0" algn="l">
              <a:buNone/>
            </a:pPr>
            <a:r>
              <a:rPr lang="en-US" sz="1000" b="1" dirty="0">
                <a:solidFill>
                  <a:srgbClr val="FFFFFF"/>
                </a:solidFill>
                <a:latin typeface="Manrope" pitchFamily="34" charset="0"/>
                <a:ea typeface="Manrope" pitchFamily="34" charset="-122"/>
                <a:cs typeface="Manrope" pitchFamily="34" charset="-120"/>
              </a:rPr>
              <a:t>Statut du compte (actif / suspendu / en attente document)</a:t>
            </a:r>
            <a:endParaRPr lang="en-US" sz="1000" dirty="0"/>
          </a:p>
        </p:txBody>
      </p:sp>
      <p:sp>
        <p:nvSpPr>
          <p:cNvPr id="78" name="Shape 76"/>
          <p:cNvSpPr/>
          <p:nvPr/>
        </p:nvSpPr>
        <p:spPr>
          <a:xfrm>
            <a:off x="9791395" y="7895844"/>
            <a:ext cx="800100" cy="286207"/>
          </a:xfrm>
          <a:prstGeom prst="roundRect">
            <a:avLst>
              <a:gd name="adj" fmla="val 49840"/>
            </a:avLst>
          </a:prstGeom>
          <a:solidFill>
            <a:srgbClr val="A78BFA"/>
          </a:solidFill>
          <a:ln w="12700">
            <a:solidFill>
              <a:srgbClr val="FFFFFF">
                <a:alpha val="0"/>
              </a:srgbClr>
            </a:solidFill>
            <a:prstDash val="solid"/>
          </a:ln>
        </p:spPr>
        <p:txBody>
          <a:bodyPr/>
          <a:lstStyle/>
          <a:p>
            <a:endParaRPr lang="fr-CI"/>
          </a:p>
        </p:txBody>
      </p:sp>
      <p:sp>
        <p:nvSpPr>
          <p:cNvPr id="79" name="Text 77"/>
          <p:cNvSpPr/>
          <p:nvPr/>
        </p:nvSpPr>
        <p:spPr>
          <a:xfrm>
            <a:off x="9791395" y="7895844"/>
            <a:ext cx="800100"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1F2937"/>
                </a:solidFill>
                <a:latin typeface="Manrope" pitchFamily="34" charset="0"/>
                <a:ea typeface="Manrope" pitchFamily="34" charset="-122"/>
                <a:cs typeface="Manrope" pitchFamily="34" charset="-120"/>
              </a:rPr>
              <a:t>UC-FIN01</a:t>
            </a:r>
            <a:endParaRPr lang="en-US" sz="900" dirty="0"/>
          </a:p>
        </p:txBody>
      </p:sp>
      <p:sp>
        <p:nvSpPr>
          <p:cNvPr id="80" name="Shape 78"/>
          <p:cNvSpPr/>
          <p:nvPr/>
        </p:nvSpPr>
        <p:spPr>
          <a:xfrm>
            <a:off x="10682021" y="7895844"/>
            <a:ext cx="819302" cy="286207"/>
          </a:xfrm>
          <a:prstGeom prst="roundRect">
            <a:avLst>
              <a:gd name="adj" fmla="val 49840"/>
            </a:avLst>
          </a:prstGeom>
          <a:solidFill>
            <a:srgbClr val="A78BFA"/>
          </a:solidFill>
          <a:ln w="12700">
            <a:solidFill>
              <a:srgbClr val="FFFFFF">
                <a:alpha val="0"/>
              </a:srgbClr>
            </a:solidFill>
            <a:prstDash val="solid"/>
          </a:ln>
        </p:spPr>
        <p:txBody>
          <a:bodyPr/>
          <a:lstStyle/>
          <a:p>
            <a:endParaRPr lang="fr-CI"/>
          </a:p>
        </p:txBody>
      </p:sp>
      <p:sp>
        <p:nvSpPr>
          <p:cNvPr id="81" name="Text 79"/>
          <p:cNvSpPr/>
          <p:nvPr/>
        </p:nvSpPr>
        <p:spPr>
          <a:xfrm>
            <a:off x="10682021" y="7895844"/>
            <a:ext cx="819302"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1F2937"/>
                </a:solidFill>
                <a:latin typeface="Manrope" pitchFamily="34" charset="0"/>
                <a:ea typeface="Manrope" pitchFamily="34" charset="-122"/>
                <a:cs typeface="Manrope" pitchFamily="34" charset="-120"/>
              </a:rPr>
              <a:t>UC-FIN02</a:t>
            </a:r>
            <a:endParaRPr lang="en-US" sz="900" dirty="0"/>
          </a:p>
        </p:txBody>
      </p:sp>
      <p:sp>
        <p:nvSpPr>
          <p:cNvPr id="82" name="Shape 80"/>
          <p:cNvSpPr/>
          <p:nvPr/>
        </p:nvSpPr>
        <p:spPr>
          <a:xfrm>
            <a:off x="11593678" y="7895844"/>
            <a:ext cx="819302" cy="286207"/>
          </a:xfrm>
          <a:prstGeom prst="roundRect">
            <a:avLst>
              <a:gd name="adj" fmla="val 49840"/>
            </a:avLst>
          </a:prstGeom>
          <a:solidFill>
            <a:srgbClr val="A78BFA"/>
          </a:solidFill>
          <a:ln w="12700">
            <a:solidFill>
              <a:srgbClr val="FFFFFF">
                <a:alpha val="0"/>
              </a:srgbClr>
            </a:solidFill>
            <a:prstDash val="solid"/>
          </a:ln>
        </p:spPr>
        <p:txBody>
          <a:bodyPr/>
          <a:lstStyle/>
          <a:p>
            <a:endParaRPr lang="fr-CI"/>
          </a:p>
        </p:txBody>
      </p:sp>
      <p:sp>
        <p:nvSpPr>
          <p:cNvPr id="83" name="Text 81"/>
          <p:cNvSpPr/>
          <p:nvPr/>
        </p:nvSpPr>
        <p:spPr>
          <a:xfrm>
            <a:off x="11593678" y="7895844"/>
            <a:ext cx="819302"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1F2937"/>
                </a:solidFill>
                <a:latin typeface="Manrope" pitchFamily="34" charset="0"/>
                <a:ea typeface="Manrope" pitchFamily="34" charset="-122"/>
                <a:cs typeface="Manrope" pitchFamily="34" charset="-120"/>
              </a:rPr>
              <a:t>UC-FIN04</a:t>
            </a:r>
            <a:endParaRPr lang="en-US" sz="900" dirty="0"/>
          </a:p>
        </p:txBody>
      </p:sp>
      <p:sp>
        <p:nvSpPr>
          <p:cNvPr id="84" name="Shape 82"/>
          <p:cNvSpPr/>
          <p:nvPr/>
        </p:nvSpPr>
        <p:spPr>
          <a:xfrm>
            <a:off x="0" y="9791395"/>
            <a:ext cx="18288000" cy="495605"/>
          </a:xfrm>
          <a:prstGeom prst="rect">
            <a:avLst/>
          </a:prstGeom>
          <a:solidFill>
            <a:srgbClr val="FFFFFF"/>
          </a:solidFill>
          <a:ln/>
        </p:spPr>
        <p:txBody>
          <a:bodyPr/>
          <a:lstStyle/>
          <a:p>
            <a:endParaRPr lang="fr-CI"/>
          </a:p>
        </p:txBody>
      </p:sp>
      <p:sp>
        <p:nvSpPr>
          <p:cNvPr id="85" name="Shape 83"/>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86" name="Text 84"/>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87" name="Text 85"/>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18 / 59</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6434511" y="256946"/>
            <a:ext cx="1609344"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§8 Profil Livreur</a:t>
            </a:r>
            <a:endParaRPr lang="en-US" sz="900" dirty="0"/>
          </a:p>
        </p:txBody>
      </p:sp>
      <p:sp>
        <p:nvSpPr>
          <p:cNvPr id="10" name="Text 8"/>
          <p:cNvSpPr txBox="1"/>
          <p:nvPr/>
        </p:nvSpPr>
        <p:spPr>
          <a:xfrm>
            <a:off x="914400" y="1205179"/>
            <a:ext cx="1914754"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8. Profil Livreur</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8479110"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Le livreur — un parcours dédié, du retrait à la preuve de livraison.</a:t>
            </a:r>
            <a:endParaRPr lang="en-US" sz="3900" dirty="0"/>
          </a:p>
        </p:txBody>
      </p:sp>
      <p:sp>
        <p:nvSpPr>
          <p:cNvPr id="13" name="Text 11"/>
          <p:cNvSpPr txBox="1"/>
          <p:nvPr/>
        </p:nvSpPr>
        <p:spPr>
          <a:xfrm>
            <a:off x="914400" y="2457907"/>
            <a:ext cx="16878910" cy="257861"/>
          </a:xfrm>
          <a:prstGeom prst="rect">
            <a:avLst/>
          </a:prstGeom>
          <a:noFill/>
          <a:ln/>
        </p:spPr>
        <p:txBody>
          <a:bodyPr wrap="none" lIns="0" tIns="0" rIns="0" bIns="0" rtlCol="0" anchor="ctr"/>
          <a:lstStyle/>
          <a:p>
            <a:pPr marL="0" indent="0" algn="l">
              <a:buNone/>
            </a:pPr>
            <a:r>
              <a:rPr lang="en-US" sz="1300" dirty="0">
                <a:solidFill>
                  <a:srgbClr val="4B5563"/>
                </a:solidFill>
                <a:latin typeface="Manrope" pitchFamily="34" charset="0"/>
                <a:ea typeface="Manrope" pitchFamily="34" charset="-122"/>
                <a:cs typeface="Manrope" pitchFamily="34" charset="-120"/>
              </a:rPr>
              <a:t>Affecté aux missions de livraison. Wallet et recharge identiques au chauffeur ; les voies de recharge incluent l'auto-recharge, le partenaire, la franchise et le central.</a:t>
            </a:r>
            <a:endParaRPr lang="en-US" sz="1300" dirty="0"/>
          </a:p>
        </p:txBody>
      </p:sp>
      <p:sp>
        <p:nvSpPr>
          <p:cNvPr id="14" name="Shape 12"/>
          <p:cNvSpPr/>
          <p:nvPr/>
        </p:nvSpPr>
        <p:spPr>
          <a:xfrm>
            <a:off x="914400" y="3047695"/>
            <a:ext cx="8287207" cy="6476695"/>
          </a:xfrm>
          <a:prstGeom prst="roundRect">
            <a:avLst>
              <a:gd name="adj" fmla="val 2061"/>
            </a:avLst>
          </a:prstGeom>
          <a:solidFill>
            <a:srgbClr val="FAFAFC"/>
          </a:solidFill>
          <a:ln w="12700">
            <a:solidFill>
              <a:srgbClr val="E5E7EB"/>
            </a:solidFill>
            <a:prstDash val="solid"/>
          </a:ln>
        </p:spPr>
        <p:txBody>
          <a:bodyPr/>
          <a:lstStyle/>
          <a:p>
            <a:endParaRPr lang="fr-CI"/>
          </a:p>
        </p:txBody>
      </p:sp>
      <p:sp>
        <p:nvSpPr>
          <p:cNvPr id="15" name="Text 13"/>
          <p:cNvSpPr txBox="1"/>
          <p:nvPr/>
        </p:nvSpPr>
        <p:spPr>
          <a:xfrm>
            <a:off x="1218895" y="3295498"/>
            <a:ext cx="7715707" cy="162763"/>
          </a:xfrm>
          <a:prstGeom prst="rect">
            <a:avLst/>
          </a:prstGeom>
          <a:noFill/>
          <a:ln/>
        </p:spPr>
        <p:txBody>
          <a:bodyPr wrap="none" lIns="0" tIns="0" rIns="0" bIns="0" rtlCol="0" anchor="ctr"/>
          <a:lstStyle/>
          <a:p>
            <a:pPr marL="0" indent="0" algn="l">
              <a:buNone/>
            </a:pPr>
            <a:r>
              <a:rPr lang="en-US" sz="900" b="1" kern="0" spc="117" dirty="0">
                <a:solidFill>
                  <a:srgbClr val="6D28D9"/>
                </a:solidFill>
                <a:latin typeface="JetBrains Mono" pitchFamily="34" charset="0"/>
                <a:ea typeface="JetBrains Mono" pitchFamily="34" charset="-122"/>
                <a:cs typeface="JetBrains Mono" pitchFamily="34" charset="-120"/>
              </a:rPr>
              <a:t>8.1 · Fonctionnalités clés à tester</a:t>
            </a:r>
            <a:endParaRPr lang="en-US" sz="900" dirty="0"/>
          </a:p>
        </p:txBody>
      </p:sp>
      <p:sp>
        <p:nvSpPr>
          <p:cNvPr id="16" name="Text 14"/>
          <p:cNvSpPr txBox="1"/>
          <p:nvPr/>
        </p:nvSpPr>
        <p:spPr>
          <a:xfrm>
            <a:off x="1218895" y="3534156"/>
            <a:ext cx="7715707" cy="267005"/>
          </a:xfrm>
          <a:prstGeom prst="rect">
            <a:avLst/>
          </a:prstGeom>
          <a:noFill/>
          <a:ln/>
        </p:spPr>
        <p:txBody>
          <a:bodyPr wrap="none" lIns="0" tIns="0" rIns="0" bIns="0" rtlCol="0" anchor="ctr"/>
          <a:lstStyle/>
          <a:p>
            <a:pPr marL="0" indent="0" algn="l">
              <a:buNone/>
            </a:pPr>
            <a:r>
              <a:rPr lang="en-US" sz="1600" b="1" dirty="0">
                <a:solidFill>
                  <a:srgbClr val="1F2937"/>
                </a:solidFill>
                <a:latin typeface="Manrope" pitchFamily="34" charset="0"/>
                <a:ea typeface="Manrope" pitchFamily="34" charset="-122"/>
                <a:cs typeface="Manrope" pitchFamily="34" charset="-120"/>
              </a:rPr>
              <a:t>14 fonctionnalités</a:t>
            </a:r>
            <a:endParaRPr lang="en-US" sz="1600" dirty="0"/>
          </a:p>
        </p:txBody>
      </p:sp>
      <p:sp>
        <p:nvSpPr>
          <p:cNvPr id="17" name="Text 15"/>
          <p:cNvSpPr txBox="1"/>
          <p:nvPr/>
        </p:nvSpPr>
        <p:spPr>
          <a:xfrm>
            <a:off x="1218895" y="3967582"/>
            <a:ext cx="3724351"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01</a:t>
            </a:r>
            <a:r>
              <a:rPr lang="en-US" sz="1000" dirty="0">
                <a:solidFill>
                  <a:srgbClr val="1F2937"/>
                </a:solidFill>
                <a:latin typeface="Manrope" pitchFamily="34" charset="0"/>
                <a:ea typeface="Manrope" pitchFamily="34" charset="-122"/>
                <a:cs typeface="Manrope" pitchFamily="34" charset="-120"/>
              </a:rPr>
              <a:t> Inscription</a:t>
            </a:r>
            <a:endParaRPr lang="en-US" sz="1000" dirty="0"/>
          </a:p>
        </p:txBody>
      </p:sp>
      <p:sp>
        <p:nvSpPr>
          <p:cNvPr id="18" name="Text 16"/>
          <p:cNvSpPr txBox="1"/>
          <p:nvPr/>
        </p:nvSpPr>
        <p:spPr>
          <a:xfrm>
            <a:off x="5210251" y="3967582"/>
            <a:ext cx="3724351"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02</a:t>
            </a:r>
            <a:r>
              <a:rPr lang="en-US" sz="1000" dirty="0">
                <a:solidFill>
                  <a:srgbClr val="1F2937"/>
                </a:solidFill>
                <a:latin typeface="Manrope" pitchFamily="34" charset="0"/>
                <a:ea typeface="Manrope" pitchFamily="34" charset="-122"/>
                <a:cs typeface="Manrope" pitchFamily="34" charset="-120"/>
              </a:rPr>
              <a:t> Validation du profil</a:t>
            </a:r>
            <a:endParaRPr lang="en-US" sz="1000" dirty="0"/>
          </a:p>
        </p:txBody>
      </p:sp>
      <p:sp>
        <p:nvSpPr>
          <p:cNvPr id="19" name="Text 17"/>
          <p:cNvSpPr txBox="1"/>
          <p:nvPr/>
        </p:nvSpPr>
        <p:spPr>
          <a:xfrm>
            <a:off x="1218895" y="4224528"/>
            <a:ext cx="3724351"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03</a:t>
            </a:r>
            <a:r>
              <a:rPr lang="en-US" sz="1000" dirty="0">
                <a:solidFill>
                  <a:srgbClr val="1F2937"/>
                </a:solidFill>
                <a:latin typeface="Manrope" pitchFamily="34" charset="0"/>
                <a:ea typeface="Manrope" pitchFamily="34" charset="-122"/>
                <a:cs typeface="Manrope" pitchFamily="34" charset="-120"/>
              </a:rPr>
              <a:t> Disponibilité on/off</a:t>
            </a:r>
            <a:endParaRPr lang="en-US" sz="1000" dirty="0"/>
          </a:p>
        </p:txBody>
      </p:sp>
      <p:sp>
        <p:nvSpPr>
          <p:cNvPr id="20" name="Text 18"/>
          <p:cNvSpPr txBox="1"/>
          <p:nvPr/>
        </p:nvSpPr>
        <p:spPr>
          <a:xfrm>
            <a:off x="5210251" y="4224528"/>
            <a:ext cx="3724351"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04</a:t>
            </a:r>
            <a:r>
              <a:rPr lang="en-US" sz="1000" dirty="0">
                <a:solidFill>
                  <a:srgbClr val="1F2937"/>
                </a:solidFill>
                <a:latin typeface="Manrope" pitchFamily="34" charset="0"/>
                <a:ea typeface="Manrope" pitchFamily="34" charset="-122"/>
                <a:cs typeface="Manrope" pitchFamily="34" charset="-120"/>
              </a:rPr>
              <a:t> Réception demande</a:t>
            </a:r>
            <a:endParaRPr lang="en-US" sz="1000" dirty="0"/>
          </a:p>
        </p:txBody>
      </p:sp>
      <p:sp>
        <p:nvSpPr>
          <p:cNvPr id="21" name="Text 19"/>
          <p:cNvSpPr txBox="1"/>
          <p:nvPr/>
        </p:nvSpPr>
        <p:spPr>
          <a:xfrm>
            <a:off x="1218895" y="4481474"/>
            <a:ext cx="3724351"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05</a:t>
            </a:r>
            <a:r>
              <a:rPr lang="en-US" sz="1000" dirty="0">
                <a:solidFill>
                  <a:srgbClr val="1F2937"/>
                </a:solidFill>
                <a:latin typeface="Manrope" pitchFamily="34" charset="0"/>
                <a:ea typeface="Manrope" pitchFamily="34" charset="-122"/>
                <a:cs typeface="Manrope" pitchFamily="34" charset="-120"/>
              </a:rPr>
              <a:t> Acceptation mission</a:t>
            </a:r>
            <a:endParaRPr lang="en-US" sz="1000" dirty="0"/>
          </a:p>
        </p:txBody>
      </p:sp>
      <p:sp>
        <p:nvSpPr>
          <p:cNvPr id="22" name="Text 20"/>
          <p:cNvSpPr txBox="1"/>
          <p:nvPr/>
        </p:nvSpPr>
        <p:spPr>
          <a:xfrm>
            <a:off x="5210251" y="4481474"/>
            <a:ext cx="3724351"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06</a:t>
            </a:r>
            <a:r>
              <a:rPr lang="en-US" sz="1000" dirty="0">
                <a:solidFill>
                  <a:srgbClr val="1F2937"/>
                </a:solidFill>
                <a:latin typeface="Manrope" pitchFamily="34" charset="0"/>
                <a:ea typeface="Manrope" pitchFamily="34" charset="-122"/>
                <a:cs typeface="Manrope" pitchFamily="34" charset="-120"/>
              </a:rPr>
              <a:t> Vers expéditeur</a:t>
            </a:r>
            <a:endParaRPr lang="en-US" sz="1000" dirty="0"/>
          </a:p>
        </p:txBody>
      </p:sp>
      <p:sp>
        <p:nvSpPr>
          <p:cNvPr id="23" name="Text 21"/>
          <p:cNvSpPr txBox="1"/>
          <p:nvPr/>
        </p:nvSpPr>
        <p:spPr>
          <a:xfrm>
            <a:off x="1218895" y="4738421"/>
            <a:ext cx="3724351"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07</a:t>
            </a:r>
            <a:r>
              <a:rPr lang="en-US" sz="1000" dirty="0">
                <a:solidFill>
                  <a:srgbClr val="1F2937"/>
                </a:solidFill>
                <a:latin typeface="Manrope" pitchFamily="34" charset="0"/>
                <a:ea typeface="Manrope" pitchFamily="34" charset="-122"/>
                <a:cs typeface="Manrope" pitchFamily="34" charset="-120"/>
              </a:rPr>
              <a:t> Confirmation récupération</a:t>
            </a:r>
            <a:endParaRPr lang="en-US" sz="1000" dirty="0"/>
          </a:p>
        </p:txBody>
      </p:sp>
      <p:sp>
        <p:nvSpPr>
          <p:cNvPr id="24" name="Text 22"/>
          <p:cNvSpPr txBox="1"/>
          <p:nvPr/>
        </p:nvSpPr>
        <p:spPr>
          <a:xfrm>
            <a:off x="5210251" y="4738421"/>
            <a:ext cx="3724351"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08</a:t>
            </a:r>
            <a:r>
              <a:rPr lang="en-US" sz="1000" dirty="0">
                <a:solidFill>
                  <a:srgbClr val="1F2937"/>
                </a:solidFill>
                <a:latin typeface="Manrope" pitchFamily="34" charset="0"/>
                <a:ea typeface="Manrope" pitchFamily="34" charset="-122"/>
                <a:cs typeface="Manrope" pitchFamily="34" charset="-120"/>
              </a:rPr>
              <a:t> Vers destinataire</a:t>
            </a:r>
            <a:endParaRPr lang="en-US" sz="1000" dirty="0"/>
          </a:p>
        </p:txBody>
      </p:sp>
      <p:sp>
        <p:nvSpPr>
          <p:cNvPr id="25" name="Text 23"/>
          <p:cNvSpPr txBox="1"/>
          <p:nvPr/>
        </p:nvSpPr>
        <p:spPr>
          <a:xfrm>
            <a:off x="1218895" y="4996282"/>
            <a:ext cx="3724351"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09</a:t>
            </a:r>
            <a:r>
              <a:rPr lang="en-US" sz="1000" dirty="0">
                <a:solidFill>
                  <a:srgbClr val="1F2937"/>
                </a:solidFill>
                <a:latin typeface="Manrope" pitchFamily="34" charset="0"/>
                <a:ea typeface="Manrope" pitchFamily="34" charset="-122"/>
                <a:cs typeface="Manrope" pitchFamily="34" charset="-120"/>
              </a:rPr>
              <a:t> Confirmation livraison</a:t>
            </a:r>
            <a:endParaRPr lang="en-US" sz="1000" dirty="0"/>
          </a:p>
        </p:txBody>
      </p:sp>
      <p:sp>
        <p:nvSpPr>
          <p:cNvPr id="26" name="Text 24"/>
          <p:cNvSpPr txBox="1"/>
          <p:nvPr/>
        </p:nvSpPr>
        <p:spPr>
          <a:xfrm>
            <a:off x="5210251" y="4996282"/>
            <a:ext cx="3724351"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10</a:t>
            </a:r>
            <a:r>
              <a:rPr lang="en-US" sz="1000" dirty="0">
                <a:solidFill>
                  <a:srgbClr val="1F2937"/>
                </a:solidFill>
                <a:latin typeface="Manrope" pitchFamily="34" charset="0"/>
                <a:ea typeface="Manrope" pitchFamily="34" charset="-122"/>
                <a:cs typeface="Manrope" pitchFamily="34" charset="-120"/>
              </a:rPr>
              <a:t> Preuve de livraison</a:t>
            </a:r>
            <a:endParaRPr lang="en-US" sz="1000" dirty="0"/>
          </a:p>
        </p:txBody>
      </p:sp>
      <p:sp>
        <p:nvSpPr>
          <p:cNvPr id="27" name="Text 25"/>
          <p:cNvSpPr txBox="1"/>
          <p:nvPr/>
        </p:nvSpPr>
        <p:spPr>
          <a:xfrm>
            <a:off x="1218895" y="5253228"/>
            <a:ext cx="3724351"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11</a:t>
            </a:r>
            <a:r>
              <a:rPr lang="en-US" sz="1000" dirty="0">
                <a:solidFill>
                  <a:srgbClr val="1F2937"/>
                </a:solidFill>
                <a:latin typeface="Manrope" pitchFamily="34" charset="0"/>
                <a:ea typeface="Manrope" pitchFamily="34" charset="-122"/>
                <a:cs typeface="Manrope" pitchFamily="34" charset="-120"/>
              </a:rPr>
              <a:t> Paiement</a:t>
            </a:r>
            <a:endParaRPr lang="en-US" sz="1000" dirty="0"/>
          </a:p>
        </p:txBody>
      </p:sp>
      <p:sp>
        <p:nvSpPr>
          <p:cNvPr id="28" name="Text 26"/>
          <p:cNvSpPr txBox="1"/>
          <p:nvPr/>
        </p:nvSpPr>
        <p:spPr>
          <a:xfrm>
            <a:off x="5210251" y="5253228"/>
            <a:ext cx="3724351"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12</a:t>
            </a:r>
            <a:r>
              <a:rPr lang="en-US" sz="1000" dirty="0">
                <a:solidFill>
                  <a:srgbClr val="1F2937"/>
                </a:solidFill>
                <a:latin typeface="Manrope" pitchFamily="34" charset="0"/>
                <a:ea typeface="Manrope" pitchFamily="34" charset="-122"/>
                <a:cs typeface="Manrope" pitchFamily="34" charset="-120"/>
              </a:rPr>
              <a:t> Commission</a:t>
            </a:r>
            <a:endParaRPr lang="en-US" sz="1000" dirty="0"/>
          </a:p>
        </p:txBody>
      </p:sp>
      <p:sp>
        <p:nvSpPr>
          <p:cNvPr id="29" name="Text 27"/>
          <p:cNvSpPr txBox="1"/>
          <p:nvPr/>
        </p:nvSpPr>
        <p:spPr>
          <a:xfrm>
            <a:off x="1218895" y="5510174"/>
            <a:ext cx="3724351"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13</a:t>
            </a:r>
            <a:r>
              <a:rPr lang="en-US" sz="1000" dirty="0">
                <a:solidFill>
                  <a:srgbClr val="1F2937"/>
                </a:solidFill>
                <a:latin typeface="Manrope" pitchFamily="34" charset="0"/>
                <a:ea typeface="Manrope" pitchFamily="34" charset="-122"/>
                <a:cs typeface="Manrope" pitchFamily="34" charset="-120"/>
              </a:rPr>
              <a:t> Historique</a:t>
            </a:r>
            <a:endParaRPr lang="en-US" sz="1000" dirty="0"/>
          </a:p>
        </p:txBody>
      </p:sp>
      <p:sp>
        <p:nvSpPr>
          <p:cNvPr id="30" name="Text 28"/>
          <p:cNvSpPr txBox="1"/>
          <p:nvPr/>
        </p:nvSpPr>
        <p:spPr>
          <a:xfrm>
            <a:off x="5210251" y="5510174"/>
            <a:ext cx="3724351"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14</a:t>
            </a:r>
            <a:r>
              <a:rPr lang="en-US" sz="1000" dirty="0">
                <a:solidFill>
                  <a:srgbClr val="1F2937"/>
                </a:solidFill>
                <a:latin typeface="Manrope" pitchFamily="34" charset="0"/>
                <a:ea typeface="Manrope" pitchFamily="34" charset="-122"/>
                <a:cs typeface="Manrope" pitchFamily="34" charset="-120"/>
              </a:rPr>
              <a:t> Réclamations</a:t>
            </a:r>
            <a:endParaRPr lang="en-US" sz="1000" dirty="0"/>
          </a:p>
        </p:txBody>
      </p:sp>
      <p:sp>
        <p:nvSpPr>
          <p:cNvPr id="31" name="Shape 29"/>
          <p:cNvSpPr/>
          <p:nvPr/>
        </p:nvSpPr>
        <p:spPr>
          <a:xfrm>
            <a:off x="1218895" y="5976518"/>
            <a:ext cx="7715707" cy="1333195"/>
          </a:xfrm>
          <a:prstGeom prst="roundRect">
            <a:avLst>
              <a:gd name="adj" fmla="val 7133"/>
            </a:avLst>
          </a:prstGeom>
          <a:solidFill>
            <a:srgbClr val="F5F3FF"/>
          </a:solidFill>
          <a:ln w="12700">
            <a:solidFill>
              <a:srgbClr val="DDD6FE"/>
            </a:solidFill>
            <a:prstDash val="solid"/>
          </a:ln>
        </p:spPr>
        <p:txBody>
          <a:bodyPr/>
          <a:lstStyle/>
          <a:p>
            <a:endParaRPr lang="fr-CI"/>
          </a:p>
        </p:txBody>
      </p:sp>
      <p:sp>
        <p:nvSpPr>
          <p:cNvPr id="32" name="Text 30"/>
          <p:cNvSpPr txBox="1"/>
          <p:nvPr/>
        </p:nvSpPr>
        <p:spPr>
          <a:xfrm>
            <a:off x="1399946" y="6157570"/>
            <a:ext cx="7353605" cy="133502"/>
          </a:xfrm>
          <a:prstGeom prst="rect">
            <a:avLst/>
          </a:prstGeom>
          <a:noFill/>
          <a:ln/>
        </p:spPr>
        <p:txBody>
          <a:bodyPr wrap="none" lIns="0" tIns="0" rIns="0" bIns="0" rtlCol="0" anchor="ctr"/>
          <a:lstStyle/>
          <a:p>
            <a:pPr marL="0" indent="0" algn="l">
              <a:buNone/>
            </a:pPr>
            <a:r>
              <a:rPr lang="en-US" sz="800" b="1" kern="0" spc="99" dirty="0">
                <a:solidFill>
                  <a:srgbClr val="6D28D9"/>
                </a:solidFill>
                <a:latin typeface="JetBrains Mono" pitchFamily="34" charset="0"/>
                <a:ea typeface="JetBrains Mono" pitchFamily="34" charset="-122"/>
                <a:cs typeface="JetBrains Mono" pitchFamily="34" charset="-120"/>
              </a:rPr>
              <a:t>Wallet livreur — 3 voies d'alimentation</a:t>
            </a:r>
            <a:endParaRPr lang="en-US" sz="800" dirty="0"/>
          </a:p>
        </p:txBody>
      </p:sp>
      <p:sp>
        <p:nvSpPr>
          <p:cNvPr id="33" name="Shape 31"/>
          <p:cNvSpPr/>
          <p:nvPr/>
        </p:nvSpPr>
        <p:spPr>
          <a:xfrm>
            <a:off x="1399946" y="6405372"/>
            <a:ext cx="2009851"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34" name="Text 32"/>
          <p:cNvSpPr/>
          <p:nvPr/>
        </p:nvSpPr>
        <p:spPr>
          <a:xfrm>
            <a:off x="1399946" y="6405372"/>
            <a:ext cx="2009851"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Auto-recharge mobile money</a:t>
            </a:r>
            <a:endParaRPr lang="en-US" sz="900" dirty="0"/>
          </a:p>
        </p:txBody>
      </p:sp>
      <p:sp>
        <p:nvSpPr>
          <p:cNvPr id="35" name="Shape 33"/>
          <p:cNvSpPr/>
          <p:nvPr/>
        </p:nvSpPr>
        <p:spPr>
          <a:xfrm>
            <a:off x="3483864" y="6405372"/>
            <a:ext cx="1723644"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36" name="Text 34"/>
          <p:cNvSpPr/>
          <p:nvPr/>
        </p:nvSpPr>
        <p:spPr>
          <a:xfrm>
            <a:off x="3483864" y="6405372"/>
            <a:ext cx="1724558"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Depuis wallet partenaire</a:t>
            </a:r>
            <a:endParaRPr lang="en-US" sz="900" dirty="0"/>
          </a:p>
        </p:txBody>
      </p:sp>
      <p:sp>
        <p:nvSpPr>
          <p:cNvPr id="37" name="Shape 35"/>
          <p:cNvSpPr/>
          <p:nvPr/>
        </p:nvSpPr>
        <p:spPr>
          <a:xfrm>
            <a:off x="5277002" y="6405372"/>
            <a:ext cx="1533449" cy="286207"/>
          </a:xfrm>
          <a:prstGeom prst="roundRect">
            <a:avLst>
              <a:gd name="adj" fmla="val 49840"/>
            </a:avLst>
          </a:prstGeom>
          <a:solidFill>
            <a:srgbClr val="6D28D9"/>
          </a:solidFill>
          <a:ln w="12700">
            <a:solidFill>
              <a:srgbClr val="FFFFFF">
                <a:alpha val="0"/>
              </a:srgbClr>
            </a:solidFill>
            <a:prstDash val="solid"/>
          </a:ln>
        </p:spPr>
        <p:txBody>
          <a:bodyPr/>
          <a:lstStyle/>
          <a:p>
            <a:endParaRPr lang="fr-CI"/>
          </a:p>
        </p:txBody>
      </p:sp>
      <p:sp>
        <p:nvSpPr>
          <p:cNvPr id="38" name="Text 36"/>
          <p:cNvSpPr/>
          <p:nvPr/>
        </p:nvSpPr>
        <p:spPr>
          <a:xfrm>
            <a:off x="5277002" y="6405372"/>
            <a:ext cx="15343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FFFFFF"/>
                </a:solidFill>
                <a:latin typeface="Manrope" pitchFamily="34" charset="0"/>
                <a:ea typeface="Manrope" pitchFamily="34" charset="-122"/>
                <a:cs typeface="Manrope" pitchFamily="34" charset="-120"/>
              </a:rPr>
              <a:t>Bonus franchise auto</a:t>
            </a:r>
            <a:endParaRPr lang="en-US" sz="900" dirty="0"/>
          </a:p>
        </p:txBody>
      </p:sp>
      <p:sp>
        <p:nvSpPr>
          <p:cNvPr id="39" name="Text 37"/>
          <p:cNvSpPr txBox="1"/>
          <p:nvPr/>
        </p:nvSpPr>
        <p:spPr>
          <a:xfrm>
            <a:off x="1399946" y="6786677"/>
            <a:ext cx="7353605" cy="342900"/>
          </a:xfrm>
          <a:prstGeom prst="rect">
            <a:avLst/>
          </a:prstGeom>
          <a:noFill/>
          <a:ln/>
        </p:spPr>
        <p:txBody>
          <a:bodyPr wrap="squar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Le partenaire recharge son propre wallet (mobile money / carte), puis crédite ses livreurs. La franchise reverse automatiquement des bonus de performance. </a:t>
            </a:r>
            <a:r>
              <a:rPr lang="en-US" sz="900" b="1" dirty="0">
                <a:solidFill>
                  <a:srgbClr val="991B1B"/>
                </a:solidFill>
                <a:latin typeface="Manrope" pitchFamily="34" charset="0"/>
                <a:ea typeface="Manrope" pitchFamily="34" charset="-122"/>
                <a:cs typeface="Manrope" pitchFamily="34" charset="-120"/>
              </a:rPr>
              <a:t>Le central ne recharge pas les livreurs.</a:t>
            </a:r>
            <a:endParaRPr lang="en-US" sz="900" dirty="0"/>
          </a:p>
        </p:txBody>
      </p:sp>
      <p:sp>
        <p:nvSpPr>
          <p:cNvPr id="40" name="Shape 38"/>
          <p:cNvSpPr/>
          <p:nvPr/>
        </p:nvSpPr>
        <p:spPr>
          <a:xfrm>
            <a:off x="9486900" y="3047695"/>
            <a:ext cx="7925105" cy="6476695"/>
          </a:xfrm>
          <a:prstGeom prst="roundRect">
            <a:avLst>
              <a:gd name="adj" fmla="val 2061"/>
            </a:avLst>
          </a:prstGeom>
          <a:solidFill>
            <a:srgbClr val="1F2937"/>
          </a:solidFill>
          <a:ln w="12700">
            <a:solidFill>
              <a:srgbClr val="FFFFFF">
                <a:alpha val="0"/>
              </a:srgbClr>
            </a:solidFill>
            <a:prstDash val="solid"/>
          </a:ln>
        </p:spPr>
        <p:txBody>
          <a:bodyPr/>
          <a:lstStyle/>
          <a:p>
            <a:endParaRPr lang="fr-CI"/>
          </a:p>
        </p:txBody>
      </p:sp>
      <p:sp>
        <p:nvSpPr>
          <p:cNvPr id="41" name="Text 39"/>
          <p:cNvSpPr txBox="1"/>
          <p:nvPr/>
        </p:nvSpPr>
        <p:spPr>
          <a:xfrm>
            <a:off x="9791395" y="3295498"/>
            <a:ext cx="7334402" cy="162763"/>
          </a:xfrm>
          <a:prstGeom prst="rect">
            <a:avLst/>
          </a:prstGeom>
          <a:noFill/>
          <a:ln/>
        </p:spPr>
        <p:txBody>
          <a:bodyPr wrap="none" lIns="0" tIns="0" rIns="0" bIns="0" rtlCol="0" anchor="ctr"/>
          <a:lstStyle/>
          <a:p>
            <a:pPr marL="0" indent="0" algn="l">
              <a:buNone/>
            </a:pPr>
            <a:r>
              <a:rPr lang="en-US" sz="900" b="1" kern="0" spc="117" dirty="0">
                <a:solidFill>
                  <a:srgbClr val="A78BFA"/>
                </a:solidFill>
                <a:latin typeface="JetBrains Mono" pitchFamily="34" charset="0"/>
                <a:ea typeface="JetBrains Mono" pitchFamily="34" charset="-122"/>
                <a:cs typeface="JetBrains Mono" pitchFamily="34" charset="-120"/>
              </a:rPr>
              <a:t>8.2 · Reporting attendu côté livreur</a:t>
            </a:r>
            <a:endParaRPr lang="en-US" sz="900" dirty="0"/>
          </a:p>
        </p:txBody>
      </p:sp>
      <p:sp>
        <p:nvSpPr>
          <p:cNvPr id="42" name="Text 40"/>
          <p:cNvSpPr txBox="1"/>
          <p:nvPr/>
        </p:nvSpPr>
        <p:spPr>
          <a:xfrm>
            <a:off x="9791395" y="3534156"/>
            <a:ext cx="7334402" cy="314554"/>
          </a:xfrm>
          <a:prstGeom prst="rect">
            <a:avLst/>
          </a:prstGeom>
          <a:noFill/>
          <a:ln/>
        </p:spPr>
        <p:txBody>
          <a:bodyPr wrap="none" lIns="0" tIns="0" rIns="0" bIns="0" rtlCol="0" anchor="ctr"/>
          <a:lstStyle/>
          <a:p>
            <a:pPr marL="0" indent="0" algn="l">
              <a:buNone/>
            </a:pPr>
            <a:r>
              <a:rPr lang="en-US" sz="1800" b="1" dirty="0">
                <a:solidFill>
                  <a:srgbClr val="FFFFFF"/>
                </a:solidFill>
                <a:latin typeface="Manrope" pitchFamily="34" charset="0"/>
                <a:ea typeface="Manrope" pitchFamily="34" charset="-122"/>
                <a:cs typeface="Manrope" pitchFamily="34" charset="-120"/>
              </a:rPr>
              <a:t>7 indicateurs clés</a:t>
            </a:r>
            <a:endParaRPr lang="en-US" sz="1800" dirty="0"/>
          </a:p>
        </p:txBody>
      </p:sp>
      <p:sp>
        <p:nvSpPr>
          <p:cNvPr id="43" name="Shape 41"/>
          <p:cNvSpPr/>
          <p:nvPr/>
        </p:nvSpPr>
        <p:spPr>
          <a:xfrm>
            <a:off x="9791395" y="4076395"/>
            <a:ext cx="7334402" cy="523951"/>
          </a:xfrm>
          <a:prstGeom prst="roundRect">
            <a:avLst>
              <a:gd name="adj" fmla="val 18150"/>
            </a:avLst>
          </a:prstGeom>
          <a:solidFill>
            <a:srgbClr val="374151"/>
          </a:solidFill>
          <a:ln w="12700">
            <a:solidFill>
              <a:srgbClr val="FFFFFF">
                <a:alpha val="0"/>
              </a:srgbClr>
            </a:solidFill>
            <a:prstDash val="solid"/>
          </a:ln>
        </p:spPr>
        <p:txBody>
          <a:bodyPr/>
          <a:lstStyle/>
          <a:p>
            <a:endParaRPr lang="fr-CI"/>
          </a:p>
        </p:txBody>
      </p:sp>
      <p:sp>
        <p:nvSpPr>
          <p:cNvPr id="44" name="Text 42"/>
          <p:cNvSpPr txBox="1"/>
          <p:nvPr/>
        </p:nvSpPr>
        <p:spPr>
          <a:xfrm>
            <a:off x="9963302" y="4238244"/>
            <a:ext cx="191110" cy="200254"/>
          </a:xfrm>
          <a:prstGeom prst="rect">
            <a:avLst/>
          </a:prstGeom>
          <a:noFill/>
          <a:ln/>
        </p:spPr>
        <p:txBody>
          <a:bodyPr wrap="none" lIns="0" tIns="0" rIns="0" bIns="0" rtlCol="0" anchor="ctr"/>
          <a:lstStyle/>
          <a:p>
            <a:pPr marL="0" indent="0" algn="l">
              <a:buNone/>
            </a:pPr>
            <a:r>
              <a:rPr lang="en-US" sz="1200" b="1" dirty="0">
                <a:solidFill>
                  <a:srgbClr val="A78BFA"/>
                </a:solidFill>
                <a:latin typeface="JetBrains Mono" pitchFamily="34" charset="0"/>
                <a:ea typeface="JetBrains Mono" pitchFamily="34" charset="-122"/>
                <a:cs typeface="JetBrains Mono" pitchFamily="34" charset="-120"/>
              </a:rPr>
              <a:t>01</a:t>
            </a:r>
            <a:endParaRPr lang="en-US" sz="1200" dirty="0"/>
          </a:p>
        </p:txBody>
      </p:sp>
      <p:sp>
        <p:nvSpPr>
          <p:cNvPr id="45" name="Text 43"/>
          <p:cNvSpPr txBox="1"/>
          <p:nvPr/>
        </p:nvSpPr>
        <p:spPr>
          <a:xfrm>
            <a:off x="10279685" y="4229100"/>
            <a:ext cx="1927555" cy="219456"/>
          </a:xfrm>
          <a:prstGeom prst="rect">
            <a:avLst/>
          </a:prstGeom>
          <a:noFill/>
          <a:ln/>
        </p:spPr>
        <p:txBody>
          <a:bodyPr wrap="none" lIns="0" tIns="0" rIns="0" bIns="0" rtlCol="0" anchor="ctr"/>
          <a:lstStyle/>
          <a:p>
            <a:pPr marL="0" indent="0" algn="l">
              <a:buNone/>
            </a:pPr>
            <a:r>
              <a:rPr lang="en-US" sz="1200" b="1" dirty="0">
                <a:solidFill>
                  <a:srgbClr val="FFFFFF"/>
                </a:solidFill>
                <a:latin typeface="Manrope" pitchFamily="34" charset="0"/>
                <a:ea typeface="Manrope" pitchFamily="34" charset="-122"/>
                <a:cs typeface="Manrope" pitchFamily="34" charset="-120"/>
              </a:rPr>
              <a:t>Nombre de livraisons</a:t>
            </a:r>
            <a:endParaRPr lang="en-US" sz="1200" dirty="0"/>
          </a:p>
        </p:txBody>
      </p:sp>
      <p:sp>
        <p:nvSpPr>
          <p:cNvPr id="46" name="Shape 44"/>
          <p:cNvSpPr/>
          <p:nvPr/>
        </p:nvSpPr>
        <p:spPr>
          <a:xfrm>
            <a:off x="9791395" y="4733849"/>
            <a:ext cx="7334402" cy="523951"/>
          </a:xfrm>
          <a:prstGeom prst="roundRect">
            <a:avLst>
              <a:gd name="adj" fmla="val 18150"/>
            </a:avLst>
          </a:prstGeom>
          <a:solidFill>
            <a:srgbClr val="374151"/>
          </a:solidFill>
          <a:ln w="12700">
            <a:solidFill>
              <a:srgbClr val="FFFFFF">
                <a:alpha val="0"/>
              </a:srgbClr>
            </a:solidFill>
            <a:prstDash val="solid"/>
          </a:ln>
        </p:spPr>
        <p:txBody>
          <a:bodyPr/>
          <a:lstStyle/>
          <a:p>
            <a:endParaRPr lang="fr-CI"/>
          </a:p>
        </p:txBody>
      </p:sp>
      <p:sp>
        <p:nvSpPr>
          <p:cNvPr id="47" name="Text 45"/>
          <p:cNvSpPr txBox="1"/>
          <p:nvPr/>
        </p:nvSpPr>
        <p:spPr>
          <a:xfrm>
            <a:off x="9963302" y="4895698"/>
            <a:ext cx="191110" cy="200254"/>
          </a:xfrm>
          <a:prstGeom prst="rect">
            <a:avLst/>
          </a:prstGeom>
          <a:noFill/>
          <a:ln/>
        </p:spPr>
        <p:txBody>
          <a:bodyPr wrap="none" lIns="0" tIns="0" rIns="0" bIns="0" rtlCol="0" anchor="ctr"/>
          <a:lstStyle/>
          <a:p>
            <a:pPr marL="0" indent="0" algn="l">
              <a:buNone/>
            </a:pPr>
            <a:r>
              <a:rPr lang="en-US" sz="1200" b="1" dirty="0">
                <a:solidFill>
                  <a:srgbClr val="A78BFA"/>
                </a:solidFill>
                <a:latin typeface="JetBrains Mono" pitchFamily="34" charset="0"/>
                <a:ea typeface="JetBrains Mono" pitchFamily="34" charset="-122"/>
                <a:cs typeface="JetBrains Mono" pitchFamily="34" charset="-120"/>
              </a:rPr>
              <a:t>02</a:t>
            </a:r>
            <a:endParaRPr lang="en-US" sz="1200" dirty="0"/>
          </a:p>
        </p:txBody>
      </p:sp>
      <p:sp>
        <p:nvSpPr>
          <p:cNvPr id="48" name="Text 46"/>
          <p:cNvSpPr txBox="1"/>
          <p:nvPr/>
        </p:nvSpPr>
        <p:spPr>
          <a:xfrm>
            <a:off x="10279685" y="4886554"/>
            <a:ext cx="1811426" cy="219456"/>
          </a:xfrm>
          <a:prstGeom prst="rect">
            <a:avLst/>
          </a:prstGeom>
          <a:noFill/>
          <a:ln/>
        </p:spPr>
        <p:txBody>
          <a:bodyPr wrap="none" lIns="0" tIns="0" rIns="0" bIns="0" rtlCol="0" anchor="ctr"/>
          <a:lstStyle/>
          <a:p>
            <a:pPr marL="0" indent="0" algn="l">
              <a:buNone/>
            </a:pPr>
            <a:r>
              <a:rPr lang="en-US" sz="1200" b="1" dirty="0">
                <a:solidFill>
                  <a:srgbClr val="FFFFFF"/>
                </a:solidFill>
                <a:latin typeface="Manrope" pitchFamily="34" charset="0"/>
                <a:ea typeface="Manrope" pitchFamily="34" charset="-122"/>
                <a:cs typeface="Manrope" pitchFamily="34" charset="-120"/>
              </a:rPr>
              <a:t>Montants encaissés</a:t>
            </a:r>
            <a:endParaRPr lang="en-US" sz="1200" dirty="0"/>
          </a:p>
        </p:txBody>
      </p:sp>
      <p:sp>
        <p:nvSpPr>
          <p:cNvPr id="49" name="Shape 47"/>
          <p:cNvSpPr/>
          <p:nvPr/>
        </p:nvSpPr>
        <p:spPr>
          <a:xfrm>
            <a:off x="9791395" y="5391302"/>
            <a:ext cx="7334402" cy="523951"/>
          </a:xfrm>
          <a:prstGeom prst="roundRect">
            <a:avLst>
              <a:gd name="adj" fmla="val 18150"/>
            </a:avLst>
          </a:prstGeom>
          <a:solidFill>
            <a:srgbClr val="374151"/>
          </a:solidFill>
          <a:ln w="12700">
            <a:solidFill>
              <a:srgbClr val="FFFFFF">
                <a:alpha val="0"/>
              </a:srgbClr>
            </a:solidFill>
            <a:prstDash val="solid"/>
          </a:ln>
        </p:spPr>
        <p:txBody>
          <a:bodyPr/>
          <a:lstStyle/>
          <a:p>
            <a:endParaRPr lang="fr-CI"/>
          </a:p>
        </p:txBody>
      </p:sp>
      <p:sp>
        <p:nvSpPr>
          <p:cNvPr id="50" name="Text 48"/>
          <p:cNvSpPr txBox="1"/>
          <p:nvPr/>
        </p:nvSpPr>
        <p:spPr>
          <a:xfrm>
            <a:off x="9963302" y="5553151"/>
            <a:ext cx="191110" cy="200254"/>
          </a:xfrm>
          <a:prstGeom prst="rect">
            <a:avLst/>
          </a:prstGeom>
          <a:noFill/>
          <a:ln/>
        </p:spPr>
        <p:txBody>
          <a:bodyPr wrap="none" lIns="0" tIns="0" rIns="0" bIns="0" rtlCol="0" anchor="ctr"/>
          <a:lstStyle/>
          <a:p>
            <a:pPr marL="0" indent="0" algn="l">
              <a:buNone/>
            </a:pPr>
            <a:r>
              <a:rPr lang="en-US" sz="1200" b="1" dirty="0">
                <a:solidFill>
                  <a:srgbClr val="A78BFA"/>
                </a:solidFill>
                <a:latin typeface="JetBrains Mono" pitchFamily="34" charset="0"/>
                <a:ea typeface="JetBrains Mono" pitchFamily="34" charset="-122"/>
                <a:cs typeface="JetBrains Mono" pitchFamily="34" charset="-120"/>
              </a:rPr>
              <a:t>03</a:t>
            </a:r>
            <a:endParaRPr lang="en-US" sz="1200" dirty="0"/>
          </a:p>
        </p:txBody>
      </p:sp>
      <p:sp>
        <p:nvSpPr>
          <p:cNvPr id="51" name="Text 49"/>
          <p:cNvSpPr txBox="1"/>
          <p:nvPr/>
        </p:nvSpPr>
        <p:spPr>
          <a:xfrm>
            <a:off x="10279685" y="5544007"/>
            <a:ext cx="1110996" cy="219456"/>
          </a:xfrm>
          <a:prstGeom prst="rect">
            <a:avLst/>
          </a:prstGeom>
          <a:noFill/>
          <a:ln/>
        </p:spPr>
        <p:txBody>
          <a:bodyPr wrap="none" lIns="0" tIns="0" rIns="0" bIns="0" rtlCol="0" anchor="ctr"/>
          <a:lstStyle/>
          <a:p>
            <a:pPr marL="0" indent="0" algn="l">
              <a:buNone/>
            </a:pPr>
            <a:r>
              <a:rPr lang="en-US" sz="1200" b="1" dirty="0">
                <a:solidFill>
                  <a:srgbClr val="FFFFFF"/>
                </a:solidFill>
                <a:latin typeface="Manrope" pitchFamily="34" charset="0"/>
                <a:ea typeface="Manrope" pitchFamily="34" charset="-122"/>
                <a:cs typeface="Manrope" pitchFamily="34" charset="-120"/>
              </a:rPr>
              <a:t>Commissions</a:t>
            </a:r>
            <a:endParaRPr lang="en-US" sz="1200" dirty="0"/>
          </a:p>
        </p:txBody>
      </p:sp>
      <p:sp>
        <p:nvSpPr>
          <p:cNvPr id="52" name="Shape 50"/>
          <p:cNvSpPr/>
          <p:nvPr/>
        </p:nvSpPr>
        <p:spPr>
          <a:xfrm>
            <a:off x="9791395" y="6048756"/>
            <a:ext cx="7334402" cy="523951"/>
          </a:xfrm>
          <a:prstGeom prst="roundRect">
            <a:avLst>
              <a:gd name="adj" fmla="val 18150"/>
            </a:avLst>
          </a:prstGeom>
          <a:solidFill>
            <a:srgbClr val="4C1D95"/>
          </a:solidFill>
          <a:ln w="12700">
            <a:solidFill>
              <a:srgbClr val="FFFFFF">
                <a:alpha val="0"/>
              </a:srgbClr>
            </a:solidFill>
            <a:prstDash val="solid"/>
          </a:ln>
        </p:spPr>
        <p:txBody>
          <a:bodyPr/>
          <a:lstStyle/>
          <a:p>
            <a:endParaRPr lang="fr-CI"/>
          </a:p>
        </p:txBody>
      </p:sp>
      <p:sp>
        <p:nvSpPr>
          <p:cNvPr id="53" name="Text 51"/>
          <p:cNvSpPr txBox="1"/>
          <p:nvPr/>
        </p:nvSpPr>
        <p:spPr>
          <a:xfrm>
            <a:off x="9963302" y="6210605"/>
            <a:ext cx="191110" cy="200254"/>
          </a:xfrm>
          <a:prstGeom prst="rect">
            <a:avLst/>
          </a:prstGeom>
          <a:noFill/>
          <a:ln/>
        </p:spPr>
        <p:txBody>
          <a:bodyPr wrap="none" lIns="0" tIns="0" rIns="0" bIns="0" rtlCol="0" anchor="ctr"/>
          <a:lstStyle/>
          <a:p>
            <a:pPr marL="0" indent="0" algn="l">
              <a:buNone/>
            </a:pPr>
            <a:r>
              <a:rPr lang="en-US" sz="1200" b="1" dirty="0">
                <a:solidFill>
                  <a:srgbClr val="C4B5FD"/>
                </a:solidFill>
                <a:latin typeface="JetBrains Mono" pitchFamily="34" charset="0"/>
                <a:ea typeface="JetBrains Mono" pitchFamily="34" charset="-122"/>
                <a:cs typeface="JetBrains Mono" pitchFamily="34" charset="-120"/>
              </a:rPr>
              <a:t>04</a:t>
            </a:r>
            <a:endParaRPr lang="en-US" sz="1200" dirty="0"/>
          </a:p>
        </p:txBody>
      </p:sp>
      <p:sp>
        <p:nvSpPr>
          <p:cNvPr id="54" name="Text 52"/>
          <p:cNvSpPr txBox="1"/>
          <p:nvPr/>
        </p:nvSpPr>
        <p:spPr>
          <a:xfrm>
            <a:off x="10279685" y="6200546"/>
            <a:ext cx="1144829" cy="219456"/>
          </a:xfrm>
          <a:prstGeom prst="rect">
            <a:avLst/>
          </a:prstGeom>
          <a:noFill/>
          <a:ln/>
        </p:spPr>
        <p:txBody>
          <a:bodyPr wrap="none" lIns="0" tIns="0" rIns="0" bIns="0" rtlCol="0" anchor="ctr"/>
          <a:lstStyle/>
          <a:p>
            <a:pPr marL="0" indent="0" algn="l">
              <a:buNone/>
            </a:pPr>
            <a:r>
              <a:rPr lang="en-US" sz="1200" b="1" dirty="0">
                <a:solidFill>
                  <a:srgbClr val="FFFFFF"/>
                </a:solidFill>
                <a:latin typeface="Manrope" pitchFamily="34" charset="0"/>
                <a:ea typeface="Manrope" pitchFamily="34" charset="-122"/>
                <a:cs typeface="Manrope" pitchFamily="34" charset="-120"/>
              </a:rPr>
              <a:t>Solde wallet</a:t>
            </a:r>
            <a:endParaRPr lang="en-US" sz="1200" dirty="0"/>
          </a:p>
        </p:txBody>
      </p:sp>
      <p:sp>
        <p:nvSpPr>
          <p:cNvPr id="55" name="Shape 53"/>
          <p:cNvSpPr/>
          <p:nvPr/>
        </p:nvSpPr>
        <p:spPr>
          <a:xfrm>
            <a:off x="9791395" y="6705295"/>
            <a:ext cx="7334402" cy="523951"/>
          </a:xfrm>
          <a:prstGeom prst="roundRect">
            <a:avLst>
              <a:gd name="adj" fmla="val 18150"/>
            </a:avLst>
          </a:prstGeom>
          <a:solidFill>
            <a:srgbClr val="374151"/>
          </a:solidFill>
          <a:ln w="12700">
            <a:solidFill>
              <a:srgbClr val="FFFFFF">
                <a:alpha val="0"/>
              </a:srgbClr>
            </a:solidFill>
            <a:prstDash val="solid"/>
          </a:ln>
        </p:spPr>
        <p:txBody>
          <a:bodyPr/>
          <a:lstStyle/>
          <a:p>
            <a:endParaRPr lang="fr-CI"/>
          </a:p>
        </p:txBody>
      </p:sp>
      <p:sp>
        <p:nvSpPr>
          <p:cNvPr id="56" name="Text 54"/>
          <p:cNvSpPr txBox="1"/>
          <p:nvPr/>
        </p:nvSpPr>
        <p:spPr>
          <a:xfrm>
            <a:off x="9963302" y="6867144"/>
            <a:ext cx="191110" cy="200254"/>
          </a:xfrm>
          <a:prstGeom prst="rect">
            <a:avLst/>
          </a:prstGeom>
          <a:noFill/>
          <a:ln/>
        </p:spPr>
        <p:txBody>
          <a:bodyPr wrap="none" lIns="0" tIns="0" rIns="0" bIns="0" rtlCol="0" anchor="ctr"/>
          <a:lstStyle/>
          <a:p>
            <a:pPr marL="0" indent="0" algn="l">
              <a:buNone/>
            </a:pPr>
            <a:r>
              <a:rPr lang="en-US" sz="1200" b="1" dirty="0">
                <a:solidFill>
                  <a:srgbClr val="A78BFA"/>
                </a:solidFill>
                <a:latin typeface="JetBrains Mono" pitchFamily="34" charset="0"/>
                <a:ea typeface="JetBrains Mono" pitchFamily="34" charset="-122"/>
                <a:cs typeface="JetBrains Mono" pitchFamily="34" charset="-120"/>
              </a:rPr>
              <a:t>05</a:t>
            </a:r>
            <a:endParaRPr lang="en-US" sz="1200" dirty="0"/>
          </a:p>
        </p:txBody>
      </p:sp>
      <p:sp>
        <p:nvSpPr>
          <p:cNvPr id="57" name="Text 55"/>
          <p:cNvSpPr txBox="1"/>
          <p:nvPr/>
        </p:nvSpPr>
        <p:spPr>
          <a:xfrm>
            <a:off x="10279685" y="6858000"/>
            <a:ext cx="1995221" cy="219456"/>
          </a:xfrm>
          <a:prstGeom prst="rect">
            <a:avLst/>
          </a:prstGeom>
          <a:noFill/>
          <a:ln/>
        </p:spPr>
        <p:txBody>
          <a:bodyPr wrap="none" lIns="0" tIns="0" rIns="0" bIns="0" rtlCol="0" anchor="ctr"/>
          <a:lstStyle/>
          <a:p>
            <a:pPr marL="0" indent="0" algn="l">
              <a:buNone/>
            </a:pPr>
            <a:r>
              <a:rPr lang="en-US" sz="1200" b="1" dirty="0">
                <a:solidFill>
                  <a:srgbClr val="FFFFFF"/>
                </a:solidFill>
                <a:latin typeface="Manrope" pitchFamily="34" charset="0"/>
                <a:ea typeface="Manrope" pitchFamily="34" charset="-122"/>
                <a:cs typeface="Manrope" pitchFamily="34" charset="-120"/>
              </a:rPr>
              <a:t>Statuts des livraisons</a:t>
            </a:r>
            <a:endParaRPr lang="en-US" sz="1200" dirty="0"/>
          </a:p>
        </p:txBody>
      </p:sp>
      <p:sp>
        <p:nvSpPr>
          <p:cNvPr id="58" name="Shape 56"/>
          <p:cNvSpPr/>
          <p:nvPr/>
        </p:nvSpPr>
        <p:spPr>
          <a:xfrm>
            <a:off x="9791395" y="7362749"/>
            <a:ext cx="7334402" cy="523951"/>
          </a:xfrm>
          <a:prstGeom prst="roundRect">
            <a:avLst>
              <a:gd name="adj" fmla="val 18150"/>
            </a:avLst>
          </a:prstGeom>
          <a:solidFill>
            <a:srgbClr val="374151"/>
          </a:solidFill>
          <a:ln w="12700">
            <a:solidFill>
              <a:srgbClr val="FFFFFF">
                <a:alpha val="0"/>
              </a:srgbClr>
            </a:solidFill>
            <a:prstDash val="solid"/>
          </a:ln>
        </p:spPr>
        <p:txBody>
          <a:bodyPr/>
          <a:lstStyle/>
          <a:p>
            <a:endParaRPr lang="fr-CI"/>
          </a:p>
        </p:txBody>
      </p:sp>
      <p:sp>
        <p:nvSpPr>
          <p:cNvPr id="59" name="Text 57"/>
          <p:cNvSpPr txBox="1"/>
          <p:nvPr/>
        </p:nvSpPr>
        <p:spPr>
          <a:xfrm>
            <a:off x="9963302" y="7524598"/>
            <a:ext cx="191110" cy="200254"/>
          </a:xfrm>
          <a:prstGeom prst="rect">
            <a:avLst/>
          </a:prstGeom>
          <a:noFill/>
          <a:ln/>
        </p:spPr>
        <p:txBody>
          <a:bodyPr wrap="none" lIns="0" tIns="0" rIns="0" bIns="0" rtlCol="0" anchor="ctr"/>
          <a:lstStyle/>
          <a:p>
            <a:pPr marL="0" indent="0" algn="l">
              <a:buNone/>
            </a:pPr>
            <a:r>
              <a:rPr lang="en-US" sz="1200" b="1" dirty="0">
                <a:solidFill>
                  <a:srgbClr val="A78BFA"/>
                </a:solidFill>
                <a:latin typeface="JetBrains Mono" pitchFamily="34" charset="0"/>
                <a:ea typeface="JetBrains Mono" pitchFamily="34" charset="-122"/>
                <a:cs typeface="JetBrains Mono" pitchFamily="34" charset="-120"/>
              </a:rPr>
              <a:t>06</a:t>
            </a:r>
            <a:endParaRPr lang="en-US" sz="1200" dirty="0"/>
          </a:p>
        </p:txBody>
      </p:sp>
      <p:sp>
        <p:nvSpPr>
          <p:cNvPr id="60" name="Text 58"/>
          <p:cNvSpPr txBox="1"/>
          <p:nvPr/>
        </p:nvSpPr>
        <p:spPr>
          <a:xfrm>
            <a:off x="10279685" y="7515454"/>
            <a:ext cx="963778" cy="219456"/>
          </a:xfrm>
          <a:prstGeom prst="rect">
            <a:avLst/>
          </a:prstGeom>
          <a:noFill/>
          <a:ln/>
        </p:spPr>
        <p:txBody>
          <a:bodyPr wrap="none" lIns="0" tIns="0" rIns="0" bIns="0" rtlCol="0" anchor="ctr"/>
          <a:lstStyle/>
          <a:p>
            <a:pPr marL="0" indent="0" algn="l">
              <a:buNone/>
            </a:pPr>
            <a:r>
              <a:rPr lang="en-US" sz="1200" b="1" dirty="0">
                <a:solidFill>
                  <a:srgbClr val="FFFFFF"/>
                </a:solidFill>
                <a:latin typeface="Manrope" pitchFamily="34" charset="0"/>
                <a:ea typeface="Manrope" pitchFamily="34" charset="-122"/>
                <a:cs typeface="Manrope" pitchFamily="34" charset="-120"/>
              </a:rPr>
              <a:t>Historique</a:t>
            </a:r>
            <a:endParaRPr lang="en-US" sz="1200" dirty="0"/>
          </a:p>
        </p:txBody>
      </p:sp>
      <p:sp>
        <p:nvSpPr>
          <p:cNvPr id="61" name="Shape 59"/>
          <p:cNvSpPr/>
          <p:nvPr/>
        </p:nvSpPr>
        <p:spPr>
          <a:xfrm>
            <a:off x="9791395" y="8020202"/>
            <a:ext cx="7334402" cy="523951"/>
          </a:xfrm>
          <a:prstGeom prst="roundRect">
            <a:avLst>
              <a:gd name="adj" fmla="val 18150"/>
            </a:avLst>
          </a:prstGeom>
          <a:solidFill>
            <a:srgbClr val="374151"/>
          </a:solidFill>
          <a:ln w="12700">
            <a:solidFill>
              <a:srgbClr val="FFFFFF">
                <a:alpha val="0"/>
              </a:srgbClr>
            </a:solidFill>
            <a:prstDash val="solid"/>
          </a:ln>
        </p:spPr>
        <p:txBody>
          <a:bodyPr/>
          <a:lstStyle/>
          <a:p>
            <a:endParaRPr lang="fr-CI"/>
          </a:p>
        </p:txBody>
      </p:sp>
      <p:sp>
        <p:nvSpPr>
          <p:cNvPr id="62" name="Text 60"/>
          <p:cNvSpPr txBox="1"/>
          <p:nvPr/>
        </p:nvSpPr>
        <p:spPr>
          <a:xfrm>
            <a:off x="9963302" y="8182051"/>
            <a:ext cx="191110" cy="200254"/>
          </a:xfrm>
          <a:prstGeom prst="rect">
            <a:avLst/>
          </a:prstGeom>
          <a:noFill/>
          <a:ln/>
        </p:spPr>
        <p:txBody>
          <a:bodyPr wrap="none" lIns="0" tIns="0" rIns="0" bIns="0" rtlCol="0" anchor="ctr"/>
          <a:lstStyle/>
          <a:p>
            <a:pPr marL="0" indent="0" algn="l">
              <a:buNone/>
            </a:pPr>
            <a:r>
              <a:rPr lang="en-US" sz="1200" b="1" dirty="0">
                <a:solidFill>
                  <a:srgbClr val="A78BFA"/>
                </a:solidFill>
                <a:latin typeface="JetBrains Mono" pitchFamily="34" charset="0"/>
                <a:ea typeface="JetBrains Mono" pitchFamily="34" charset="-122"/>
                <a:cs typeface="JetBrains Mono" pitchFamily="34" charset="-120"/>
              </a:rPr>
              <a:t>07</a:t>
            </a:r>
            <a:endParaRPr lang="en-US" sz="1200" dirty="0"/>
          </a:p>
        </p:txBody>
      </p:sp>
      <p:sp>
        <p:nvSpPr>
          <p:cNvPr id="63" name="Text 61"/>
          <p:cNvSpPr txBox="1"/>
          <p:nvPr/>
        </p:nvSpPr>
        <p:spPr>
          <a:xfrm>
            <a:off x="10279685" y="8172907"/>
            <a:ext cx="1208837" cy="219456"/>
          </a:xfrm>
          <a:prstGeom prst="rect">
            <a:avLst/>
          </a:prstGeom>
          <a:noFill/>
          <a:ln/>
        </p:spPr>
        <p:txBody>
          <a:bodyPr wrap="none" lIns="0" tIns="0" rIns="0" bIns="0" rtlCol="0" anchor="ctr"/>
          <a:lstStyle/>
          <a:p>
            <a:pPr marL="0" indent="0" algn="l">
              <a:buNone/>
            </a:pPr>
            <a:r>
              <a:rPr lang="en-US" sz="1200" b="1" dirty="0">
                <a:solidFill>
                  <a:srgbClr val="FFFFFF"/>
                </a:solidFill>
                <a:latin typeface="Manrope" pitchFamily="34" charset="0"/>
                <a:ea typeface="Manrope" pitchFamily="34" charset="-122"/>
                <a:cs typeface="Manrope" pitchFamily="34" charset="-120"/>
              </a:rPr>
              <a:t>Réclamations</a:t>
            </a:r>
            <a:endParaRPr lang="en-US" sz="1200" dirty="0"/>
          </a:p>
        </p:txBody>
      </p:sp>
      <p:sp>
        <p:nvSpPr>
          <p:cNvPr id="64" name="Shape 62"/>
          <p:cNvSpPr/>
          <p:nvPr/>
        </p:nvSpPr>
        <p:spPr>
          <a:xfrm>
            <a:off x="9791395" y="8810244"/>
            <a:ext cx="676656" cy="286207"/>
          </a:xfrm>
          <a:prstGeom prst="roundRect">
            <a:avLst>
              <a:gd name="adj" fmla="val 49840"/>
            </a:avLst>
          </a:prstGeom>
          <a:solidFill>
            <a:srgbClr val="A78BFA"/>
          </a:solidFill>
          <a:ln w="12700">
            <a:solidFill>
              <a:srgbClr val="FFFFFF">
                <a:alpha val="0"/>
              </a:srgbClr>
            </a:solidFill>
            <a:prstDash val="solid"/>
          </a:ln>
        </p:spPr>
        <p:txBody>
          <a:bodyPr/>
          <a:lstStyle/>
          <a:p>
            <a:endParaRPr lang="fr-CI"/>
          </a:p>
        </p:txBody>
      </p:sp>
      <p:sp>
        <p:nvSpPr>
          <p:cNvPr id="65" name="Text 63"/>
          <p:cNvSpPr/>
          <p:nvPr/>
        </p:nvSpPr>
        <p:spPr>
          <a:xfrm>
            <a:off x="9791395" y="8810244"/>
            <a:ext cx="676656"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1F2937"/>
                </a:solidFill>
                <a:latin typeface="Manrope" pitchFamily="34" charset="0"/>
                <a:ea typeface="Manrope" pitchFamily="34" charset="-122"/>
                <a:cs typeface="Manrope" pitchFamily="34" charset="-120"/>
              </a:rPr>
              <a:t>UC-L01</a:t>
            </a:r>
            <a:endParaRPr lang="en-US" sz="900" dirty="0"/>
          </a:p>
        </p:txBody>
      </p:sp>
      <p:sp>
        <p:nvSpPr>
          <p:cNvPr id="66" name="Shape 64"/>
          <p:cNvSpPr/>
          <p:nvPr/>
        </p:nvSpPr>
        <p:spPr>
          <a:xfrm>
            <a:off x="10558577" y="8810244"/>
            <a:ext cx="694944" cy="286207"/>
          </a:xfrm>
          <a:prstGeom prst="roundRect">
            <a:avLst>
              <a:gd name="adj" fmla="val 49840"/>
            </a:avLst>
          </a:prstGeom>
          <a:solidFill>
            <a:srgbClr val="A78BFA"/>
          </a:solidFill>
          <a:ln w="12700">
            <a:solidFill>
              <a:srgbClr val="FFFFFF">
                <a:alpha val="0"/>
              </a:srgbClr>
            </a:solidFill>
            <a:prstDash val="solid"/>
          </a:ln>
        </p:spPr>
        <p:txBody>
          <a:bodyPr/>
          <a:lstStyle/>
          <a:p>
            <a:endParaRPr lang="fr-CI"/>
          </a:p>
        </p:txBody>
      </p:sp>
      <p:sp>
        <p:nvSpPr>
          <p:cNvPr id="67" name="Text 65"/>
          <p:cNvSpPr/>
          <p:nvPr/>
        </p:nvSpPr>
        <p:spPr>
          <a:xfrm>
            <a:off x="10558577" y="8810244"/>
            <a:ext cx="695858"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1F2937"/>
                </a:solidFill>
                <a:latin typeface="Manrope" pitchFamily="34" charset="0"/>
                <a:ea typeface="Manrope" pitchFamily="34" charset="-122"/>
                <a:cs typeface="Manrope" pitchFamily="34" charset="-120"/>
              </a:rPr>
              <a:t>UC-L02</a:t>
            </a:r>
            <a:endParaRPr lang="en-US" sz="900" dirty="0"/>
          </a:p>
        </p:txBody>
      </p:sp>
      <p:sp>
        <p:nvSpPr>
          <p:cNvPr id="68" name="Shape 66"/>
          <p:cNvSpPr/>
          <p:nvPr/>
        </p:nvSpPr>
        <p:spPr>
          <a:xfrm>
            <a:off x="11344961" y="8810244"/>
            <a:ext cx="694944" cy="286207"/>
          </a:xfrm>
          <a:prstGeom prst="roundRect">
            <a:avLst>
              <a:gd name="adj" fmla="val 49840"/>
            </a:avLst>
          </a:prstGeom>
          <a:solidFill>
            <a:srgbClr val="A78BFA"/>
          </a:solidFill>
          <a:ln w="12700">
            <a:solidFill>
              <a:srgbClr val="FFFFFF">
                <a:alpha val="0"/>
              </a:srgbClr>
            </a:solidFill>
            <a:prstDash val="solid"/>
          </a:ln>
        </p:spPr>
        <p:txBody>
          <a:bodyPr/>
          <a:lstStyle/>
          <a:p>
            <a:endParaRPr lang="fr-CI"/>
          </a:p>
        </p:txBody>
      </p:sp>
      <p:sp>
        <p:nvSpPr>
          <p:cNvPr id="69" name="Text 67"/>
          <p:cNvSpPr/>
          <p:nvPr/>
        </p:nvSpPr>
        <p:spPr>
          <a:xfrm>
            <a:off x="11344961" y="8810244"/>
            <a:ext cx="695858"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1F2937"/>
                </a:solidFill>
                <a:latin typeface="Manrope" pitchFamily="34" charset="0"/>
                <a:ea typeface="Manrope" pitchFamily="34" charset="-122"/>
                <a:cs typeface="Manrope" pitchFamily="34" charset="-120"/>
              </a:rPr>
              <a:t>UC-L03</a:t>
            </a:r>
            <a:endParaRPr lang="en-US" sz="900" dirty="0"/>
          </a:p>
        </p:txBody>
      </p:sp>
      <p:sp>
        <p:nvSpPr>
          <p:cNvPr id="70" name="Shape 68"/>
          <p:cNvSpPr/>
          <p:nvPr/>
        </p:nvSpPr>
        <p:spPr>
          <a:xfrm>
            <a:off x="0" y="9791395"/>
            <a:ext cx="18288000" cy="495605"/>
          </a:xfrm>
          <a:prstGeom prst="rect">
            <a:avLst/>
          </a:prstGeom>
          <a:solidFill>
            <a:srgbClr val="FFFFFF"/>
          </a:solidFill>
          <a:ln/>
        </p:spPr>
        <p:txBody>
          <a:bodyPr/>
          <a:lstStyle/>
          <a:p>
            <a:endParaRPr lang="fr-CI"/>
          </a:p>
        </p:txBody>
      </p:sp>
      <p:sp>
        <p:nvSpPr>
          <p:cNvPr id="71" name="Shape 69"/>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72" name="Text 70"/>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73" name="Text 71"/>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19 / 59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5393010" y="256946"/>
            <a:ext cx="2691994"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§9 &amp; §10 Partenaire / Franchise</a:t>
            </a:r>
            <a:endParaRPr lang="en-US" sz="900" dirty="0"/>
          </a:p>
        </p:txBody>
      </p:sp>
      <p:sp>
        <p:nvSpPr>
          <p:cNvPr id="10" name="Text 8"/>
          <p:cNvSpPr txBox="1"/>
          <p:nvPr/>
        </p:nvSpPr>
        <p:spPr>
          <a:xfrm>
            <a:off x="914400" y="1205179"/>
            <a:ext cx="3397910"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9. &amp; 10. Partenaire · Franchise</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8479110"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Deux profils superviseurs — flotte directe versus zone géographique.</a:t>
            </a:r>
            <a:endParaRPr lang="en-US" sz="3900" dirty="0"/>
          </a:p>
        </p:txBody>
      </p:sp>
      <p:sp>
        <p:nvSpPr>
          <p:cNvPr id="13" name="Shape 11"/>
          <p:cNvSpPr/>
          <p:nvPr/>
        </p:nvSpPr>
        <p:spPr>
          <a:xfrm>
            <a:off x="914400" y="2762402"/>
            <a:ext cx="8191195" cy="6762902"/>
          </a:xfrm>
          <a:prstGeom prst="roundRect">
            <a:avLst>
              <a:gd name="adj" fmla="val 1974"/>
            </a:avLst>
          </a:prstGeom>
          <a:solidFill>
            <a:srgbClr val="F5F3FF"/>
          </a:solidFill>
          <a:ln w="12700">
            <a:solidFill>
              <a:srgbClr val="DDD6FE"/>
            </a:solidFill>
            <a:prstDash val="solid"/>
          </a:ln>
        </p:spPr>
        <p:txBody>
          <a:bodyPr/>
          <a:lstStyle/>
          <a:p>
            <a:endParaRPr lang="fr-CI"/>
          </a:p>
        </p:txBody>
      </p:sp>
      <p:sp>
        <p:nvSpPr>
          <p:cNvPr id="14" name="Shape 12"/>
          <p:cNvSpPr/>
          <p:nvPr/>
        </p:nvSpPr>
        <p:spPr>
          <a:xfrm>
            <a:off x="1218895" y="3010205"/>
            <a:ext cx="418795" cy="418795"/>
          </a:xfrm>
          <a:prstGeom prst="roundRect">
            <a:avLst>
              <a:gd name="adj" fmla="val 22707"/>
            </a:avLst>
          </a:prstGeom>
          <a:solidFill>
            <a:srgbClr val="6D28D9"/>
          </a:solidFill>
          <a:ln w="12700">
            <a:solidFill>
              <a:srgbClr val="FFFFFF">
                <a:alpha val="0"/>
              </a:srgbClr>
            </a:solidFill>
            <a:prstDash val="solid"/>
          </a:ln>
        </p:spPr>
        <p:txBody>
          <a:bodyPr/>
          <a:lstStyle/>
          <a:p>
            <a:endParaRPr lang="fr-CI"/>
          </a:p>
        </p:txBody>
      </p:sp>
      <p:sp>
        <p:nvSpPr>
          <p:cNvPr id="15" name="Text 13"/>
          <p:cNvSpPr txBox="1"/>
          <p:nvPr/>
        </p:nvSpPr>
        <p:spPr>
          <a:xfrm>
            <a:off x="1218895" y="3010205"/>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300" b="1" dirty="0">
                <a:solidFill>
                  <a:srgbClr val="FFFFFF"/>
                </a:solidFill>
                <a:latin typeface="JetBrains Mono" pitchFamily="34" charset="0"/>
                <a:ea typeface="JetBrains Mono" pitchFamily="34" charset="-122"/>
                <a:cs typeface="JetBrains Mono" pitchFamily="34" charset="-120"/>
              </a:rPr>
              <a:t>9</a:t>
            </a:r>
            <a:endParaRPr lang="en-US" sz="1300" dirty="0"/>
          </a:p>
        </p:txBody>
      </p:sp>
      <p:sp>
        <p:nvSpPr>
          <p:cNvPr id="16" name="Text 14"/>
          <p:cNvSpPr txBox="1"/>
          <p:nvPr/>
        </p:nvSpPr>
        <p:spPr>
          <a:xfrm>
            <a:off x="1772107" y="3076956"/>
            <a:ext cx="2142439" cy="286207"/>
          </a:xfrm>
          <a:prstGeom prst="rect">
            <a:avLst/>
          </a:prstGeom>
          <a:noFill/>
          <a:ln/>
        </p:spPr>
        <p:txBody>
          <a:bodyPr wrap="none" lIns="0" tIns="0" rIns="0" bIns="0" rtlCol="0" anchor="ctr"/>
          <a:lstStyle/>
          <a:p>
            <a:pPr marL="0" indent="0" algn="l">
              <a:buNone/>
            </a:pPr>
            <a:r>
              <a:rPr lang="en-US" sz="1800" b="1" dirty="0">
                <a:solidFill>
                  <a:srgbClr val="1F2937"/>
                </a:solidFill>
                <a:latin typeface="Manrope" pitchFamily="34" charset="0"/>
                <a:ea typeface="Manrope" pitchFamily="34" charset="-122"/>
                <a:cs typeface="Manrope" pitchFamily="34" charset="-120"/>
              </a:rPr>
              <a:t>Profil Partenaire</a:t>
            </a:r>
            <a:endParaRPr lang="en-US" sz="1800" dirty="0"/>
          </a:p>
        </p:txBody>
      </p:sp>
      <p:sp>
        <p:nvSpPr>
          <p:cNvPr id="17" name="Text 15"/>
          <p:cNvSpPr txBox="1"/>
          <p:nvPr/>
        </p:nvSpPr>
        <p:spPr>
          <a:xfrm>
            <a:off x="1218895" y="3562502"/>
            <a:ext cx="7620610" cy="534010"/>
          </a:xfrm>
          <a:prstGeom prst="rect">
            <a:avLst/>
          </a:prstGeom>
          <a:noFill/>
          <a:ln/>
        </p:spPr>
        <p:txBody>
          <a:bodyPr wrap="square" lIns="0" tIns="0" rIns="0" bIns="0" rtlCol="0" anchor="ctr"/>
          <a:lstStyle/>
          <a:p>
            <a:pPr marL="0" indent="0" algn="l">
              <a:buNone/>
            </a:pPr>
            <a:r>
              <a:rPr lang="en-US" sz="1300" dirty="0">
                <a:solidFill>
                  <a:srgbClr val="4B5563"/>
                </a:solidFill>
                <a:latin typeface="Manrope" pitchFamily="34" charset="0"/>
                <a:ea typeface="Manrope" pitchFamily="34" charset="-122"/>
                <a:cs typeface="Manrope" pitchFamily="34" charset="-120"/>
              </a:rPr>
              <a:t>Propriétaire de flotte, entreprise, coopérative — il rattache chauffeurs et véhicules à la plateforme.</a:t>
            </a:r>
            <a:endParaRPr lang="en-US" sz="1300" dirty="0"/>
          </a:p>
        </p:txBody>
      </p:sp>
      <p:sp>
        <p:nvSpPr>
          <p:cNvPr id="18" name="Text 16"/>
          <p:cNvSpPr txBox="1"/>
          <p:nvPr/>
        </p:nvSpPr>
        <p:spPr>
          <a:xfrm>
            <a:off x="1218895" y="4284878"/>
            <a:ext cx="7620610" cy="152705"/>
          </a:xfrm>
          <a:prstGeom prst="rect">
            <a:avLst/>
          </a:prstGeom>
          <a:noFill/>
          <a:ln/>
        </p:spPr>
        <p:txBody>
          <a:bodyPr wrap="none" lIns="0" tIns="0" rIns="0" bIns="0" rtlCol="0" anchor="ctr"/>
          <a:lstStyle/>
          <a:p>
            <a:pPr marL="0" indent="0" algn="l">
              <a:buNone/>
            </a:pPr>
            <a:r>
              <a:rPr lang="en-US" sz="900" b="1" kern="0" spc="90" dirty="0">
                <a:solidFill>
                  <a:srgbClr val="6D28D9"/>
                </a:solidFill>
                <a:latin typeface="JetBrains Mono" pitchFamily="34" charset="0"/>
                <a:ea typeface="JetBrains Mono" pitchFamily="34" charset="-122"/>
                <a:cs typeface="JetBrains Mono" pitchFamily="34" charset="-120"/>
              </a:rPr>
              <a:t>Fonctionnalités à tester</a:t>
            </a:r>
            <a:endParaRPr lang="en-US" sz="900" dirty="0"/>
          </a:p>
        </p:txBody>
      </p:sp>
      <p:sp>
        <p:nvSpPr>
          <p:cNvPr id="19" name="Text 17"/>
          <p:cNvSpPr txBox="1"/>
          <p:nvPr/>
        </p:nvSpPr>
        <p:spPr>
          <a:xfrm>
            <a:off x="1218895" y="4531766"/>
            <a:ext cx="762061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Création de compte partenaire</a:t>
            </a:r>
            <a:endParaRPr lang="en-US" sz="1200" dirty="0"/>
          </a:p>
        </p:txBody>
      </p:sp>
      <p:sp>
        <p:nvSpPr>
          <p:cNvPr id="20" name="Shape 18"/>
          <p:cNvSpPr/>
          <p:nvPr/>
        </p:nvSpPr>
        <p:spPr>
          <a:xfrm>
            <a:off x="1218895" y="4627778"/>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21" name="Text 19"/>
          <p:cNvSpPr txBox="1"/>
          <p:nvPr/>
        </p:nvSpPr>
        <p:spPr>
          <a:xfrm>
            <a:off x="1218895" y="4861865"/>
            <a:ext cx="762061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Validation par l'administration centrale</a:t>
            </a:r>
            <a:endParaRPr lang="en-US" sz="1200" dirty="0"/>
          </a:p>
        </p:txBody>
      </p:sp>
      <p:sp>
        <p:nvSpPr>
          <p:cNvPr id="22" name="Shape 20"/>
          <p:cNvSpPr/>
          <p:nvPr/>
        </p:nvSpPr>
        <p:spPr>
          <a:xfrm>
            <a:off x="1218895" y="4957877"/>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23" name="Text 21"/>
          <p:cNvSpPr txBox="1"/>
          <p:nvPr/>
        </p:nvSpPr>
        <p:spPr>
          <a:xfrm>
            <a:off x="1218895" y="5191963"/>
            <a:ext cx="762061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Ajout / rattachement de chauffeurs &amp; véhicules</a:t>
            </a:r>
            <a:endParaRPr lang="en-US" sz="1200" dirty="0"/>
          </a:p>
        </p:txBody>
      </p:sp>
      <p:sp>
        <p:nvSpPr>
          <p:cNvPr id="24" name="Shape 22"/>
          <p:cNvSpPr/>
          <p:nvPr/>
        </p:nvSpPr>
        <p:spPr>
          <a:xfrm>
            <a:off x="1218895" y="5287975"/>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25" name="Text 23"/>
          <p:cNvSpPr txBox="1"/>
          <p:nvPr/>
        </p:nvSpPr>
        <p:spPr>
          <a:xfrm>
            <a:off x="1218895" y="5522062"/>
            <a:ext cx="762061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Suivi des chauffeurs actifs &amp; véhicules actifs</a:t>
            </a:r>
            <a:endParaRPr lang="en-US" sz="1200" dirty="0"/>
          </a:p>
        </p:txBody>
      </p:sp>
      <p:sp>
        <p:nvSpPr>
          <p:cNvPr id="26" name="Shape 24"/>
          <p:cNvSpPr/>
          <p:nvPr/>
        </p:nvSpPr>
        <p:spPr>
          <a:xfrm>
            <a:off x="1218895" y="5618074"/>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27" name="Text 25"/>
          <p:cNvSpPr txBox="1"/>
          <p:nvPr/>
        </p:nvSpPr>
        <p:spPr>
          <a:xfrm>
            <a:off x="1218895" y="5852160"/>
            <a:ext cx="762061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Suivi des courses, livraisons, revenus, commissions</a:t>
            </a:r>
            <a:endParaRPr lang="en-US" sz="1200" dirty="0"/>
          </a:p>
        </p:txBody>
      </p:sp>
      <p:sp>
        <p:nvSpPr>
          <p:cNvPr id="28" name="Shape 26"/>
          <p:cNvSpPr/>
          <p:nvPr/>
        </p:nvSpPr>
        <p:spPr>
          <a:xfrm>
            <a:off x="1218895" y="5948172"/>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29" name="Text 27"/>
          <p:cNvSpPr txBox="1"/>
          <p:nvPr/>
        </p:nvSpPr>
        <p:spPr>
          <a:xfrm>
            <a:off x="1218895" y="6182258"/>
            <a:ext cx="7620610" cy="238658"/>
          </a:xfrm>
          <a:prstGeom prst="rect">
            <a:avLst/>
          </a:prstGeom>
          <a:noFill/>
          <a:ln/>
        </p:spPr>
        <p:txBody>
          <a:bodyPr wrap="none" lIns="0" tIns="0" rIns="0" bIns="0" rtlCol="0" anchor="ctr"/>
          <a:lstStyle/>
          <a:p>
            <a:pPr marL="0" indent="0" algn="l">
              <a:buNone/>
            </a:pPr>
            <a:r>
              <a:rPr lang="en-US" sz="1200" b="1" dirty="0">
                <a:solidFill>
                  <a:srgbClr val="6D28D9"/>
                </a:solidFill>
                <a:latin typeface="Manrope" pitchFamily="34" charset="0"/>
                <a:ea typeface="Manrope" pitchFamily="34" charset="-122"/>
                <a:cs typeface="Manrope" pitchFamily="34" charset="-120"/>
              </a:rPr>
              <a:t>Recharge wallet d'un chauffeur de sa flotte</a:t>
            </a:r>
            <a:endParaRPr lang="en-US" sz="1200" dirty="0"/>
          </a:p>
        </p:txBody>
      </p:sp>
      <p:sp>
        <p:nvSpPr>
          <p:cNvPr id="30" name="Shape 28"/>
          <p:cNvSpPr/>
          <p:nvPr/>
        </p:nvSpPr>
        <p:spPr>
          <a:xfrm>
            <a:off x="1218895" y="6278270"/>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31" name="Text 29"/>
          <p:cNvSpPr txBox="1"/>
          <p:nvPr/>
        </p:nvSpPr>
        <p:spPr>
          <a:xfrm>
            <a:off x="1218895" y="6512357"/>
            <a:ext cx="762061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Export des rapports &amp; performance par période</a:t>
            </a:r>
            <a:endParaRPr lang="en-US" sz="1200" dirty="0"/>
          </a:p>
        </p:txBody>
      </p:sp>
      <p:sp>
        <p:nvSpPr>
          <p:cNvPr id="32" name="Shape 30"/>
          <p:cNvSpPr/>
          <p:nvPr/>
        </p:nvSpPr>
        <p:spPr>
          <a:xfrm>
            <a:off x="1218895" y="6608369"/>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33" name="Text 31"/>
          <p:cNvSpPr txBox="1"/>
          <p:nvPr/>
        </p:nvSpPr>
        <p:spPr>
          <a:xfrm>
            <a:off x="1218895" y="6938467"/>
            <a:ext cx="7620610" cy="152705"/>
          </a:xfrm>
          <a:prstGeom prst="rect">
            <a:avLst/>
          </a:prstGeom>
          <a:noFill/>
          <a:ln/>
        </p:spPr>
        <p:txBody>
          <a:bodyPr wrap="none" lIns="0" tIns="0" rIns="0" bIns="0" rtlCol="0" anchor="ctr"/>
          <a:lstStyle/>
          <a:p>
            <a:pPr marL="0" indent="0" algn="l">
              <a:buNone/>
            </a:pPr>
            <a:r>
              <a:rPr lang="en-US" sz="900" b="1" kern="0" spc="90" dirty="0">
                <a:solidFill>
                  <a:srgbClr val="6D28D9"/>
                </a:solidFill>
                <a:latin typeface="JetBrains Mono" pitchFamily="34" charset="0"/>
                <a:ea typeface="JetBrains Mono" pitchFamily="34" charset="-122"/>
                <a:cs typeface="JetBrains Mono" pitchFamily="34" charset="-120"/>
              </a:rPr>
              <a:t>Reporting attendu</a:t>
            </a:r>
            <a:endParaRPr lang="en-US" sz="900" dirty="0"/>
          </a:p>
        </p:txBody>
      </p:sp>
      <p:sp>
        <p:nvSpPr>
          <p:cNvPr id="34" name="Text 32"/>
          <p:cNvSpPr txBox="1"/>
          <p:nvPr/>
        </p:nvSpPr>
        <p:spPr>
          <a:xfrm>
            <a:off x="1218895" y="7185355"/>
            <a:ext cx="762061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Nb chauffeurs / véhicules rattachés</a:t>
            </a:r>
            <a:endParaRPr lang="en-US" sz="1200" dirty="0"/>
          </a:p>
        </p:txBody>
      </p:sp>
      <p:sp>
        <p:nvSpPr>
          <p:cNvPr id="35" name="Shape 33"/>
          <p:cNvSpPr/>
          <p:nvPr/>
        </p:nvSpPr>
        <p:spPr>
          <a:xfrm>
            <a:off x="1218895" y="7281367"/>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36" name="Text 34"/>
          <p:cNvSpPr txBox="1"/>
          <p:nvPr/>
        </p:nvSpPr>
        <p:spPr>
          <a:xfrm>
            <a:off x="1218895" y="7515454"/>
            <a:ext cx="762061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Nb de courses par chauffeur</a:t>
            </a:r>
            <a:endParaRPr lang="en-US" sz="1200" dirty="0"/>
          </a:p>
        </p:txBody>
      </p:sp>
      <p:sp>
        <p:nvSpPr>
          <p:cNvPr id="37" name="Shape 35"/>
          <p:cNvSpPr/>
          <p:nvPr/>
        </p:nvSpPr>
        <p:spPr>
          <a:xfrm>
            <a:off x="1218895" y="7611466"/>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38" name="Text 36"/>
          <p:cNvSpPr txBox="1"/>
          <p:nvPr/>
        </p:nvSpPr>
        <p:spPr>
          <a:xfrm>
            <a:off x="1218895" y="7845552"/>
            <a:ext cx="762061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Montant total d'activité &amp; commissions dues/prélevées</a:t>
            </a:r>
            <a:endParaRPr lang="en-US" sz="1200" dirty="0"/>
          </a:p>
        </p:txBody>
      </p:sp>
      <p:sp>
        <p:nvSpPr>
          <p:cNvPr id="39" name="Shape 37"/>
          <p:cNvSpPr/>
          <p:nvPr/>
        </p:nvSpPr>
        <p:spPr>
          <a:xfrm>
            <a:off x="1218895" y="7941564"/>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40" name="Text 38"/>
          <p:cNvSpPr txBox="1"/>
          <p:nvPr/>
        </p:nvSpPr>
        <p:spPr>
          <a:xfrm>
            <a:off x="1218895" y="8175650"/>
            <a:ext cx="762061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Performance par période · activité par service</a:t>
            </a:r>
            <a:endParaRPr lang="en-US" sz="1200" dirty="0"/>
          </a:p>
        </p:txBody>
      </p:sp>
      <p:sp>
        <p:nvSpPr>
          <p:cNvPr id="41" name="Shape 39"/>
          <p:cNvSpPr/>
          <p:nvPr/>
        </p:nvSpPr>
        <p:spPr>
          <a:xfrm>
            <a:off x="1218895" y="8271662"/>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42" name="Text 40"/>
          <p:cNvSpPr txBox="1"/>
          <p:nvPr/>
        </p:nvSpPr>
        <p:spPr>
          <a:xfrm>
            <a:off x="1218895" y="8505749"/>
            <a:ext cx="762061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Statuts chauffeurs / véhicules · indicateurs de conformité</a:t>
            </a:r>
            <a:endParaRPr lang="en-US" sz="1200" dirty="0"/>
          </a:p>
        </p:txBody>
      </p:sp>
      <p:sp>
        <p:nvSpPr>
          <p:cNvPr id="43" name="Shape 41"/>
          <p:cNvSpPr/>
          <p:nvPr/>
        </p:nvSpPr>
        <p:spPr>
          <a:xfrm>
            <a:off x="1218895" y="8601761"/>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44" name="Shape 42"/>
          <p:cNvSpPr/>
          <p:nvPr/>
        </p:nvSpPr>
        <p:spPr>
          <a:xfrm>
            <a:off x="1218895" y="8912657"/>
            <a:ext cx="685800"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45" name="Text 43"/>
          <p:cNvSpPr/>
          <p:nvPr/>
        </p:nvSpPr>
        <p:spPr>
          <a:xfrm>
            <a:off x="1218895" y="8912657"/>
            <a:ext cx="685800"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UC-P01</a:t>
            </a:r>
            <a:endParaRPr lang="en-US" sz="900" dirty="0"/>
          </a:p>
        </p:txBody>
      </p:sp>
      <p:sp>
        <p:nvSpPr>
          <p:cNvPr id="46" name="Shape 44"/>
          <p:cNvSpPr/>
          <p:nvPr/>
        </p:nvSpPr>
        <p:spPr>
          <a:xfrm>
            <a:off x="1902866" y="8912657"/>
            <a:ext cx="705002"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47" name="Text 45"/>
          <p:cNvSpPr/>
          <p:nvPr/>
        </p:nvSpPr>
        <p:spPr>
          <a:xfrm>
            <a:off x="1902866" y="8912657"/>
            <a:ext cx="705002"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UC-P02</a:t>
            </a:r>
            <a:endParaRPr lang="en-US" sz="900" dirty="0"/>
          </a:p>
        </p:txBody>
      </p:sp>
      <p:sp>
        <p:nvSpPr>
          <p:cNvPr id="48" name="Shape 46"/>
          <p:cNvSpPr/>
          <p:nvPr/>
        </p:nvSpPr>
        <p:spPr>
          <a:xfrm>
            <a:off x="9219895" y="2762402"/>
            <a:ext cx="8191195" cy="6762902"/>
          </a:xfrm>
          <a:prstGeom prst="roundRect">
            <a:avLst>
              <a:gd name="adj" fmla="val 1974"/>
            </a:avLst>
          </a:prstGeom>
          <a:solidFill>
            <a:srgbClr val="1F2937"/>
          </a:solidFill>
          <a:ln w="12700">
            <a:solidFill>
              <a:srgbClr val="FFFFFF">
                <a:alpha val="0"/>
              </a:srgbClr>
            </a:solidFill>
            <a:prstDash val="solid"/>
          </a:ln>
        </p:spPr>
        <p:txBody>
          <a:bodyPr/>
          <a:lstStyle/>
          <a:p>
            <a:endParaRPr lang="fr-CI"/>
          </a:p>
        </p:txBody>
      </p:sp>
      <p:sp>
        <p:nvSpPr>
          <p:cNvPr id="49" name="Shape 47"/>
          <p:cNvSpPr/>
          <p:nvPr/>
        </p:nvSpPr>
        <p:spPr>
          <a:xfrm>
            <a:off x="9525305" y="3185770"/>
            <a:ext cx="418795" cy="418795"/>
          </a:xfrm>
          <a:prstGeom prst="roundRect">
            <a:avLst>
              <a:gd name="adj" fmla="val 22707"/>
            </a:avLst>
          </a:prstGeom>
          <a:solidFill>
            <a:srgbClr val="A78BFA"/>
          </a:solidFill>
          <a:ln w="12700">
            <a:solidFill>
              <a:srgbClr val="FFFFFF">
                <a:alpha val="0"/>
              </a:srgbClr>
            </a:solidFill>
            <a:prstDash val="solid"/>
          </a:ln>
        </p:spPr>
        <p:txBody>
          <a:bodyPr/>
          <a:lstStyle/>
          <a:p>
            <a:endParaRPr lang="fr-CI"/>
          </a:p>
        </p:txBody>
      </p:sp>
      <p:sp>
        <p:nvSpPr>
          <p:cNvPr id="50" name="Text 48"/>
          <p:cNvSpPr txBox="1"/>
          <p:nvPr/>
        </p:nvSpPr>
        <p:spPr>
          <a:xfrm>
            <a:off x="9525305" y="3185770"/>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300" b="1" dirty="0">
                <a:solidFill>
                  <a:srgbClr val="1F2937"/>
                </a:solidFill>
                <a:latin typeface="JetBrains Mono" pitchFamily="34" charset="0"/>
                <a:ea typeface="JetBrains Mono" pitchFamily="34" charset="-122"/>
                <a:cs typeface="JetBrains Mono" pitchFamily="34" charset="-120"/>
              </a:rPr>
              <a:t>10</a:t>
            </a:r>
            <a:endParaRPr lang="en-US" sz="1300" dirty="0"/>
          </a:p>
        </p:txBody>
      </p:sp>
      <p:sp>
        <p:nvSpPr>
          <p:cNvPr id="51" name="Text 49"/>
          <p:cNvSpPr txBox="1"/>
          <p:nvPr/>
        </p:nvSpPr>
        <p:spPr>
          <a:xfrm>
            <a:off x="10077602" y="3238805"/>
            <a:ext cx="2051914" cy="314554"/>
          </a:xfrm>
          <a:prstGeom prst="rect">
            <a:avLst/>
          </a:prstGeom>
          <a:noFill/>
          <a:ln/>
        </p:spPr>
        <p:txBody>
          <a:bodyPr wrap="none" lIns="0" tIns="0" rIns="0" bIns="0" rtlCol="0" anchor="ctr"/>
          <a:lstStyle/>
          <a:p>
            <a:pPr marL="0" indent="0" algn="l">
              <a:buNone/>
            </a:pPr>
            <a:r>
              <a:rPr lang="en-US" sz="1800" b="1" dirty="0">
                <a:solidFill>
                  <a:srgbClr val="FFFFFF"/>
                </a:solidFill>
                <a:latin typeface="Manrope" pitchFamily="34" charset="0"/>
                <a:ea typeface="Manrope" pitchFamily="34" charset="-122"/>
                <a:cs typeface="Manrope" pitchFamily="34" charset="-120"/>
              </a:rPr>
              <a:t>Profil Franchise</a:t>
            </a:r>
            <a:endParaRPr lang="en-US" sz="1800" dirty="0"/>
          </a:p>
        </p:txBody>
      </p:sp>
      <p:sp>
        <p:nvSpPr>
          <p:cNvPr id="52" name="Text 50"/>
          <p:cNvSpPr txBox="1"/>
          <p:nvPr/>
        </p:nvSpPr>
        <p:spPr>
          <a:xfrm>
            <a:off x="9525305" y="3914546"/>
            <a:ext cx="8306410" cy="267005"/>
          </a:xfrm>
          <a:prstGeom prst="rect">
            <a:avLst/>
          </a:prstGeom>
          <a:noFill/>
          <a:ln/>
        </p:spPr>
        <p:txBody>
          <a:bodyPr wrap="none" lIns="0" tIns="0" rIns="0" bIns="0" rtlCol="0" anchor="ctr"/>
          <a:lstStyle/>
          <a:p>
            <a:pPr marL="0" indent="0" algn="l">
              <a:buNone/>
            </a:pPr>
            <a:r>
              <a:rPr lang="en-US" sz="1300" dirty="0">
                <a:solidFill>
                  <a:srgbClr val="C4B5FD"/>
                </a:solidFill>
                <a:latin typeface="Manrope" pitchFamily="34" charset="0"/>
                <a:ea typeface="Manrope" pitchFamily="34" charset="-122"/>
                <a:cs typeface="Manrope" pitchFamily="34" charset="-120"/>
              </a:rPr>
              <a:t>Entité de gestion locale, régionale ou nationale. Supervise </a:t>
            </a:r>
            <a:r>
              <a:rPr lang="en-US" sz="1300" b="1" dirty="0">
                <a:solidFill>
                  <a:srgbClr val="FFFFFF"/>
                </a:solidFill>
                <a:latin typeface="Manrope" pitchFamily="34" charset="0"/>
                <a:ea typeface="Manrope" pitchFamily="34" charset="-122"/>
                <a:cs typeface="Manrope" pitchFamily="34" charset="-120"/>
              </a:rPr>
              <a:t>tous les partenaires</a:t>
            </a:r>
            <a:r>
              <a:rPr lang="en-US" sz="1300" dirty="0">
                <a:solidFill>
                  <a:srgbClr val="C4B5FD"/>
                </a:solidFill>
                <a:latin typeface="Manrope" pitchFamily="34" charset="0"/>
                <a:ea typeface="Manrope" pitchFamily="34" charset="-122"/>
                <a:cs typeface="Manrope" pitchFamily="34" charset="-120"/>
              </a:rPr>
              <a:t> de sa zone.</a:t>
            </a:r>
            <a:endParaRPr lang="en-US" sz="1300" dirty="0"/>
          </a:p>
        </p:txBody>
      </p:sp>
      <p:sp>
        <p:nvSpPr>
          <p:cNvPr id="53" name="Text 51"/>
          <p:cNvSpPr txBox="1"/>
          <p:nvPr/>
        </p:nvSpPr>
        <p:spPr>
          <a:xfrm>
            <a:off x="9525305" y="4370832"/>
            <a:ext cx="7620610" cy="152705"/>
          </a:xfrm>
          <a:prstGeom prst="rect">
            <a:avLst/>
          </a:prstGeom>
          <a:noFill/>
          <a:ln/>
        </p:spPr>
        <p:txBody>
          <a:bodyPr wrap="none" lIns="0" tIns="0" rIns="0" bIns="0" rtlCol="0" anchor="ctr"/>
          <a:lstStyle/>
          <a:p>
            <a:pPr marL="0" indent="0" algn="l">
              <a:buNone/>
            </a:pPr>
            <a:r>
              <a:rPr lang="en-US" sz="900" b="1" kern="0" spc="90" dirty="0">
                <a:solidFill>
                  <a:srgbClr val="A78BFA"/>
                </a:solidFill>
                <a:latin typeface="JetBrains Mono" pitchFamily="34" charset="0"/>
                <a:ea typeface="JetBrains Mono" pitchFamily="34" charset="-122"/>
                <a:cs typeface="JetBrains Mono" pitchFamily="34" charset="-120"/>
              </a:rPr>
              <a:t>Fonctionnalités à tester</a:t>
            </a:r>
            <a:endParaRPr lang="en-US" sz="900" dirty="0"/>
          </a:p>
        </p:txBody>
      </p:sp>
      <p:sp>
        <p:nvSpPr>
          <p:cNvPr id="54" name="Text 52"/>
          <p:cNvSpPr txBox="1"/>
          <p:nvPr/>
        </p:nvSpPr>
        <p:spPr>
          <a:xfrm>
            <a:off x="9734702" y="4618634"/>
            <a:ext cx="7411212" cy="210312"/>
          </a:xfrm>
          <a:prstGeom prst="rect">
            <a:avLst/>
          </a:prstGeom>
          <a:noFill/>
          <a:ln/>
        </p:spPr>
        <p:txBody>
          <a:bodyPr wrap="none" lIns="0" tIns="0" rIns="0" bIns="0" rtlCol="0" anchor="ctr"/>
          <a:lstStyle/>
          <a:p>
            <a:pPr marL="0" indent="0" algn="l">
              <a:buNone/>
            </a:pPr>
            <a:r>
              <a:rPr lang="en-US" sz="1200" dirty="0">
                <a:solidFill>
                  <a:srgbClr val="E5E7EB"/>
                </a:solidFill>
                <a:latin typeface="Manrope" pitchFamily="34" charset="0"/>
                <a:ea typeface="Manrope" pitchFamily="34" charset="-122"/>
                <a:cs typeface="Manrope" pitchFamily="34" charset="-120"/>
              </a:rPr>
              <a:t>Gestion d'une zone &amp; paramétrage</a:t>
            </a:r>
            <a:endParaRPr lang="en-US" sz="1200" dirty="0"/>
          </a:p>
        </p:txBody>
      </p:sp>
      <p:sp>
        <p:nvSpPr>
          <p:cNvPr id="55" name="Shape 53"/>
          <p:cNvSpPr/>
          <p:nvPr/>
        </p:nvSpPr>
        <p:spPr>
          <a:xfrm>
            <a:off x="9525305" y="4694530"/>
            <a:ext cx="75895" cy="75895"/>
          </a:xfrm>
          <a:prstGeom prst="roundRect">
            <a:avLst>
              <a:gd name="adj" fmla="val 25301"/>
            </a:avLst>
          </a:prstGeom>
          <a:solidFill>
            <a:srgbClr val="A78BFA"/>
          </a:solidFill>
          <a:ln w="12700">
            <a:solidFill>
              <a:srgbClr val="FFFFFF">
                <a:alpha val="0"/>
              </a:srgbClr>
            </a:solidFill>
            <a:prstDash val="solid"/>
          </a:ln>
        </p:spPr>
        <p:txBody>
          <a:bodyPr/>
          <a:lstStyle/>
          <a:p>
            <a:endParaRPr lang="fr-CI"/>
          </a:p>
        </p:txBody>
      </p:sp>
      <p:sp>
        <p:nvSpPr>
          <p:cNvPr id="56" name="Text 54"/>
          <p:cNvSpPr txBox="1"/>
          <p:nvPr/>
        </p:nvSpPr>
        <p:spPr>
          <a:xfrm>
            <a:off x="9734702" y="4904842"/>
            <a:ext cx="7411212" cy="210312"/>
          </a:xfrm>
          <a:prstGeom prst="rect">
            <a:avLst/>
          </a:prstGeom>
          <a:noFill/>
          <a:ln/>
        </p:spPr>
        <p:txBody>
          <a:bodyPr wrap="none" lIns="0" tIns="0" rIns="0" bIns="0" rtlCol="0" anchor="ctr"/>
          <a:lstStyle/>
          <a:p>
            <a:pPr marL="0" indent="0" algn="l">
              <a:buNone/>
            </a:pPr>
            <a:r>
              <a:rPr lang="en-US" sz="1200" dirty="0">
                <a:solidFill>
                  <a:srgbClr val="E5E7EB"/>
                </a:solidFill>
                <a:latin typeface="Manrope" pitchFamily="34" charset="0"/>
                <a:ea typeface="Manrope" pitchFamily="34" charset="-122"/>
                <a:cs typeface="Manrope" pitchFamily="34" charset="-120"/>
              </a:rPr>
              <a:t>Suivi partenaires, chauffeurs, livreurs, clients</a:t>
            </a:r>
            <a:endParaRPr lang="en-US" sz="1200" dirty="0"/>
          </a:p>
        </p:txBody>
      </p:sp>
      <p:sp>
        <p:nvSpPr>
          <p:cNvPr id="57" name="Shape 55"/>
          <p:cNvSpPr/>
          <p:nvPr/>
        </p:nvSpPr>
        <p:spPr>
          <a:xfrm>
            <a:off x="9525305" y="4980737"/>
            <a:ext cx="75895" cy="75895"/>
          </a:xfrm>
          <a:prstGeom prst="roundRect">
            <a:avLst>
              <a:gd name="adj" fmla="val 25301"/>
            </a:avLst>
          </a:prstGeom>
          <a:solidFill>
            <a:srgbClr val="A78BFA"/>
          </a:solidFill>
          <a:ln w="12700">
            <a:solidFill>
              <a:srgbClr val="FFFFFF">
                <a:alpha val="0"/>
              </a:srgbClr>
            </a:solidFill>
            <a:prstDash val="solid"/>
          </a:ln>
        </p:spPr>
        <p:txBody>
          <a:bodyPr/>
          <a:lstStyle/>
          <a:p>
            <a:endParaRPr lang="fr-CI"/>
          </a:p>
        </p:txBody>
      </p:sp>
      <p:sp>
        <p:nvSpPr>
          <p:cNvPr id="58" name="Text 56"/>
          <p:cNvSpPr txBox="1"/>
          <p:nvPr/>
        </p:nvSpPr>
        <p:spPr>
          <a:xfrm>
            <a:off x="9734702" y="5190134"/>
            <a:ext cx="7411212" cy="210312"/>
          </a:xfrm>
          <a:prstGeom prst="rect">
            <a:avLst/>
          </a:prstGeom>
          <a:noFill/>
          <a:ln/>
        </p:spPr>
        <p:txBody>
          <a:bodyPr wrap="none" lIns="0" tIns="0" rIns="0" bIns="0" rtlCol="0" anchor="ctr"/>
          <a:lstStyle/>
          <a:p>
            <a:pPr marL="0" indent="0" algn="l">
              <a:buNone/>
            </a:pPr>
            <a:r>
              <a:rPr lang="en-US" sz="1200" dirty="0">
                <a:solidFill>
                  <a:srgbClr val="E5E7EB"/>
                </a:solidFill>
                <a:latin typeface="Manrope" pitchFamily="34" charset="0"/>
                <a:ea typeface="Manrope" pitchFamily="34" charset="-122"/>
                <a:cs typeface="Manrope" pitchFamily="34" charset="-120"/>
              </a:rPr>
              <a:t>Suivi des services actifs · revenus · commissions</a:t>
            </a:r>
            <a:endParaRPr lang="en-US" sz="1200" dirty="0"/>
          </a:p>
        </p:txBody>
      </p:sp>
      <p:sp>
        <p:nvSpPr>
          <p:cNvPr id="59" name="Shape 57"/>
          <p:cNvSpPr/>
          <p:nvPr/>
        </p:nvSpPr>
        <p:spPr>
          <a:xfrm>
            <a:off x="9525305" y="5266030"/>
            <a:ext cx="75895" cy="75895"/>
          </a:xfrm>
          <a:prstGeom prst="roundRect">
            <a:avLst>
              <a:gd name="adj" fmla="val 25301"/>
            </a:avLst>
          </a:prstGeom>
          <a:solidFill>
            <a:srgbClr val="A78BFA"/>
          </a:solidFill>
          <a:ln w="12700">
            <a:solidFill>
              <a:srgbClr val="FFFFFF">
                <a:alpha val="0"/>
              </a:srgbClr>
            </a:solidFill>
            <a:prstDash val="solid"/>
          </a:ln>
        </p:spPr>
        <p:txBody>
          <a:bodyPr/>
          <a:lstStyle/>
          <a:p>
            <a:endParaRPr lang="fr-CI"/>
          </a:p>
        </p:txBody>
      </p:sp>
      <p:sp>
        <p:nvSpPr>
          <p:cNvPr id="60" name="Text 58"/>
          <p:cNvSpPr txBox="1"/>
          <p:nvPr/>
        </p:nvSpPr>
        <p:spPr>
          <a:xfrm>
            <a:off x="9734702" y="5476342"/>
            <a:ext cx="7411212" cy="210312"/>
          </a:xfrm>
          <a:prstGeom prst="rect">
            <a:avLst/>
          </a:prstGeom>
          <a:noFill/>
          <a:ln/>
        </p:spPr>
        <p:txBody>
          <a:bodyPr wrap="none" lIns="0" tIns="0" rIns="0" bIns="0" rtlCol="0" anchor="ctr"/>
          <a:lstStyle/>
          <a:p>
            <a:pPr marL="0" indent="0" algn="l">
              <a:buNone/>
            </a:pPr>
            <a:r>
              <a:rPr lang="en-US" sz="1200" dirty="0">
                <a:solidFill>
                  <a:srgbClr val="E5E7EB"/>
                </a:solidFill>
                <a:latin typeface="Manrope" pitchFamily="34" charset="0"/>
                <a:ea typeface="Manrope" pitchFamily="34" charset="-122"/>
                <a:cs typeface="Manrope" pitchFamily="34" charset="-120"/>
              </a:rPr>
              <a:t>Reporting opérationnel &amp; financier par zone</a:t>
            </a:r>
            <a:endParaRPr lang="en-US" sz="1200" dirty="0"/>
          </a:p>
        </p:txBody>
      </p:sp>
      <p:sp>
        <p:nvSpPr>
          <p:cNvPr id="61" name="Shape 59"/>
          <p:cNvSpPr/>
          <p:nvPr/>
        </p:nvSpPr>
        <p:spPr>
          <a:xfrm>
            <a:off x="9525305" y="5552237"/>
            <a:ext cx="75895" cy="75895"/>
          </a:xfrm>
          <a:prstGeom prst="roundRect">
            <a:avLst>
              <a:gd name="adj" fmla="val 25301"/>
            </a:avLst>
          </a:prstGeom>
          <a:solidFill>
            <a:srgbClr val="A78BFA"/>
          </a:solidFill>
          <a:ln w="12700">
            <a:solidFill>
              <a:srgbClr val="FFFFFF">
                <a:alpha val="0"/>
              </a:srgbClr>
            </a:solidFill>
            <a:prstDash val="solid"/>
          </a:ln>
        </p:spPr>
        <p:txBody>
          <a:bodyPr/>
          <a:lstStyle/>
          <a:p>
            <a:endParaRPr lang="fr-CI"/>
          </a:p>
        </p:txBody>
      </p:sp>
      <p:sp>
        <p:nvSpPr>
          <p:cNvPr id="62" name="Text 60"/>
          <p:cNvSpPr txBox="1"/>
          <p:nvPr/>
        </p:nvSpPr>
        <p:spPr>
          <a:xfrm>
            <a:off x="9734702" y="5761634"/>
            <a:ext cx="7411212" cy="210312"/>
          </a:xfrm>
          <a:prstGeom prst="rect">
            <a:avLst/>
          </a:prstGeom>
          <a:noFill/>
          <a:ln/>
        </p:spPr>
        <p:txBody>
          <a:bodyPr wrap="none" lIns="0" tIns="0" rIns="0" bIns="0" rtlCol="0" anchor="ctr"/>
          <a:lstStyle/>
          <a:p>
            <a:pPr marL="0" indent="0" algn="l">
              <a:buNone/>
            </a:pPr>
            <a:r>
              <a:rPr lang="en-US" sz="1200" b="1" dirty="0">
                <a:solidFill>
                  <a:srgbClr val="FFFFFF"/>
                </a:solidFill>
                <a:latin typeface="Manrope" pitchFamily="34" charset="0"/>
                <a:ea typeface="Manrope" pitchFamily="34" charset="-122"/>
                <a:cs typeface="Manrope" pitchFamily="34" charset="-120"/>
              </a:rPr>
              <a:t>Recharge wallets chauffeurs / partenaires de sa zone</a:t>
            </a:r>
            <a:endParaRPr lang="en-US" sz="1200" dirty="0"/>
          </a:p>
        </p:txBody>
      </p:sp>
      <p:sp>
        <p:nvSpPr>
          <p:cNvPr id="63" name="Shape 61"/>
          <p:cNvSpPr/>
          <p:nvPr/>
        </p:nvSpPr>
        <p:spPr>
          <a:xfrm>
            <a:off x="9525305" y="5837530"/>
            <a:ext cx="75895" cy="75895"/>
          </a:xfrm>
          <a:prstGeom prst="roundRect">
            <a:avLst>
              <a:gd name="adj" fmla="val 25301"/>
            </a:avLst>
          </a:prstGeom>
          <a:solidFill>
            <a:srgbClr val="A78BFA"/>
          </a:solidFill>
          <a:ln w="12700">
            <a:solidFill>
              <a:srgbClr val="FFFFFF">
                <a:alpha val="0"/>
              </a:srgbClr>
            </a:solidFill>
            <a:prstDash val="solid"/>
          </a:ln>
        </p:spPr>
        <p:txBody>
          <a:bodyPr/>
          <a:lstStyle/>
          <a:p>
            <a:endParaRPr lang="fr-CI"/>
          </a:p>
        </p:txBody>
      </p:sp>
      <p:sp>
        <p:nvSpPr>
          <p:cNvPr id="64" name="Text 62"/>
          <p:cNvSpPr txBox="1"/>
          <p:nvPr/>
        </p:nvSpPr>
        <p:spPr>
          <a:xfrm>
            <a:off x="9734702" y="6047842"/>
            <a:ext cx="7411212" cy="210312"/>
          </a:xfrm>
          <a:prstGeom prst="rect">
            <a:avLst/>
          </a:prstGeom>
          <a:noFill/>
          <a:ln/>
        </p:spPr>
        <p:txBody>
          <a:bodyPr wrap="none" lIns="0" tIns="0" rIns="0" bIns="0" rtlCol="0" anchor="ctr"/>
          <a:lstStyle/>
          <a:p>
            <a:pPr marL="0" indent="0" algn="l">
              <a:buNone/>
            </a:pPr>
            <a:r>
              <a:rPr lang="en-US" sz="1200" dirty="0">
                <a:solidFill>
                  <a:srgbClr val="E5E7EB"/>
                </a:solidFill>
                <a:latin typeface="Manrope" pitchFamily="34" charset="0"/>
                <a:ea typeface="Manrope" pitchFamily="34" charset="-122"/>
                <a:cs typeface="Manrope" pitchFamily="34" charset="-120"/>
              </a:rPr>
              <a:t>Gestion des incidents &amp; escalade vers central</a:t>
            </a:r>
            <a:endParaRPr lang="en-US" sz="1200" dirty="0"/>
          </a:p>
        </p:txBody>
      </p:sp>
      <p:sp>
        <p:nvSpPr>
          <p:cNvPr id="65" name="Shape 63"/>
          <p:cNvSpPr/>
          <p:nvPr/>
        </p:nvSpPr>
        <p:spPr>
          <a:xfrm>
            <a:off x="9525305" y="6123737"/>
            <a:ext cx="75895" cy="75895"/>
          </a:xfrm>
          <a:prstGeom prst="roundRect">
            <a:avLst>
              <a:gd name="adj" fmla="val 25301"/>
            </a:avLst>
          </a:prstGeom>
          <a:solidFill>
            <a:srgbClr val="A78BFA"/>
          </a:solidFill>
          <a:ln w="12700">
            <a:solidFill>
              <a:srgbClr val="FFFFFF">
                <a:alpha val="0"/>
              </a:srgbClr>
            </a:solidFill>
            <a:prstDash val="solid"/>
          </a:ln>
        </p:spPr>
        <p:txBody>
          <a:bodyPr/>
          <a:lstStyle/>
          <a:p>
            <a:endParaRPr lang="fr-CI"/>
          </a:p>
        </p:txBody>
      </p:sp>
      <p:sp>
        <p:nvSpPr>
          <p:cNvPr id="66" name="Text 64"/>
          <p:cNvSpPr txBox="1"/>
          <p:nvPr/>
        </p:nvSpPr>
        <p:spPr>
          <a:xfrm>
            <a:off x="9525305" y="6447434"/>
            <a:ext cx="7620610" cy="152705"/>
          </a:xfrm>
          <a:prstGeom prst="rect">
            <a:avLst/>
          </a:prstGeom>
          <a:noFill/>
          <a:ln/>
        </p:spPr>
        <p:txBody>
          <a:bodyPr wrap="none" lIns="0" tIns="0" rIns="0" bIns="0" rtlCol="0" anchor="ctr"/>
          <a:lstStyle/>
          <a:p>
            <a:pPr marL="0" indent="0" algn="l">
              <a:buNone/>
            </a:pPr>
            <a:r>
              <a:rPr lang="en-US" sz="900" b="1" kern="0" spc="90" dirty="0">
                <a:solidFill>
                  <a:srgbClr val="A78BFA"/>
                </a:solidFill>
                <a:latin typeface="JetBrains Mono" pitchFamily="34" charset="0"/>
                <a:ea typeface="JetBrains Mono" pitchFamily="34" charset="-122"/>
                <a:cs typeface="JetBrains Mono" pitchFamily="34" charset="-120"/>
              </a:rPr>
              <a:t>Reporting attendu (14 indicateurs)</a:t>
            </a:r>
            <a:endParaRPr lang="en-US" sz="900" dirty="0"/>
          </a:p>
        </p:txBody>
      </p:sp>
      <p:sp>
        <p:nvSpPr>
          <p:cNvPr id="67" name="Text 65"/>
          <p:cNvSpPr txBox="1"/>
          <p:nvPr/>
        </p:nvSpPr>
        <p:spPr>
          <a:xfrm>
            <a:off x="9525305" y="6695237"/>
            <a:ext cx="7620610" cy="428854"/>
          </a:xfrm>
          <a:prstGeom prst="rect">
            <a:avLst/>
          </a:prstGeom>
          <a:noFill/>
          <a:ln/>
        </p:spPr>
        <p:txBody>
          <a:bodyPr wrap="square" lIns="0" tIns="0" rIns="0" bIns="0" rtlCol="0" anchor="ctr"/>
          <a:lstStyle/>
          <a:p>
            <a:pPr marL="0" indent="0" algn="l">
              <a:buNone/>
            </a:pPr>
            <a:r>
              <a:rPr lang="en-US" sz="1000" dirty="0">
                <a:solidFill>
                  <a:srgbClr val="C4B5FD"/>
                </a:solidFill>
                <a:latin typeface="Manrope" pitchFamily="34" charset="0"/>
                <a:ea typeface="Manrope" pitchFamily="34" charset="-122"/>
                <a:cs typeface="Manrope" pitchFamily="34" charset="-120"/>
              </a:rPr>
              <a:t>Activité globale zone · Nb partenaires, chauffeurs, livreurs, clients actifs · Courses, livraisons, fret, locations · Chiffre d'activité · Commissions · Taux d'annulation · Incidents · Réclamations</a:t>
            </a:r>
            <a:endParaRPr lang="en-US" sz="1000" dirty="0"/>
          </a:p>
        </p:txBody>
      </p:sp>
      <p:sp>
        <p:nvSpPr>
          <p:cNvPr id="68" name="Shape 66"/>
          <p:cNvSpPr/>
          <p:nvPr/>
        </p:nvSpPr>
        <p:spPr>
          <a:xfrm>
            <a:off x="9525305" y="7293254"/>
            <a:ext cx="761695" cy="286207"/>
          </a:xfrm>
          <a:prstGeom prst="roundRect">
            <a:avLst>
              <a:gd name="adj" fmla="val 49840"/>
            </a:avLst>
          </a:prstGeom>
          <a:solidFill>
            <a:srgbClr val="A78BFA"/>
          </a:solidFill>
          <a:ln w="12700">
            <a:solidFill>
              <a:srgbClr val="FFFFFF">
                <a:alpha val="0"/>
              </a:srgbClr>
            </a:solidFill>
            <a:prstDash val="solid"/>
          </a:ln>
        </p:spPr>
        <p:txBody>
          <a:bodyPr/>
          <a:lstStyle/>
          <a:p>
            <a:endParaRPr lang="fr-CI"/>
          </a:p>
        </p:txBody>
      </p:sp>
      <p:sp>
        <p:nvSpPr>
          <p:cNvPr id="69" name="Text 67"/>
          <p:cNvSpPr/>
          <p:nvPr/>
        </p:nvSpPr>
        <p:spPr>
          <a:xfrm>
            <a:off x="9525305" y="7293254"/>
            <a:ext cx="762610"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1F2937"/>
                </a:solidFill>
                <a:latin typeface="Manrope" pitchFamily="34" charset="0"/>
                <a:ea typeface="Manrope" pitchFamily="34" charset="-122"/>
                <a:cs typeface="Manrope" pitchFamily="34" charset="-120"/>
              </a:rPr>
              <a:t>UC-FR01</a:t>
            </a:r>
            <a:endParaRPr lang="en-US" sz="900" dirty="0"/>
          </a:p>
        </p:txBody>
      </p:sp>
      <p:sp>
        <p:nvSpPr>
          <p:cNvPr id="70" name="Shape 68"/>
          <p:cNvSpPr/>
          <p:nvPr/>
        </p:nvSpPr>
        <p:spPr>
          <a:xfrm>
            <a:off x="0" y="9791395"/>
            <a:ext cx="18288000" cy="495605"/>
          </a:xfrm>
          <a:prstGeom prst="rect">
            <a:avLst/>
          </a:prstGeom>
          <a:solidFill>
            <a:srgbClr val="FFFFFF"/>
          </a:solidFill>
          <a:ln/>
        </p:spPr>
        <p:txBody>
          <a:bodyPr/>
          <a:lstStyle/>
          <a:p>
            <a:endParaRPr lang="fr-CI"/>
          </a:p>
        </p:txBody>
      </p:sp>
      <p:sp>
        <p:nvSpPr>
          <p:cNvPr id="71" name="Shape 69"/>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72" name="Text 70"/>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73" name="Text 71"/>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20 / 59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6341242" y="256946"/>
            <a:ext cx="1697126"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§11 Profil Central</a:t>
            </a:r>
            <a:endParaRPr lang="en-US" sz="900" dirty="0"/>
          </a:p>
        </p:txBody>
      </p:sp>
      <p:sp>
        <p:nvSpPr>
          <p:cNvPr id="10" name="Text 8"/>
          <p:cNvSpPr txBox="1"/>
          <p:nvPr/>
        </p:nvSpPr>
        <p:spPr>
          <a:xfrm>
            <a:off x="914400" y="1205179"/>
            <a:ext cx="2856586"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11. Profil Central · Siège</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8479110"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Le Central — vue consolidée &amp; 22 indicateurs de reporting global.</a:t>
            </a:r>
            <a:endParaRPr lang="en-US" sz="3900" dirty="0"/>
          </a:p>
        </p:txBody>
      </p:sp>
      <p:sp>
        <p:nvSpPr>
          <p:cNvPr id="13" name="Shape 11"/>
          <p:cNvSpPr/>
          <p:nvPr/>
        </p:nvSpPr>
        <p:spPr>
          <a:xfrm>
            <a:off x="914400" y="2762402"/>
            <a:ext cx="5333695" cy="1524305"/>
          </a:xfrm>
          <a:prstGeom prst="roundRect">
            <a:avLst>
              <a:gd name="adj" fmla="val 8758"/>
            </a:avLst>
          </a:prstGeom>
          <a:solidFill>
            <a:srgbClr val="1F2937"/>
          </a:solidFill>
          <a:ln w="12700">
            <a:solidFill>
              <a:srgbClr val="FFFFFF">
                <a:alpha val="0"/>
              </a:srgbClr>
            </a:solidFill>
            <a:prstDash val="solid"/>
          </a:ln>
        </p:spPr>
        <p:txBody>
          <a:bodyPr/>
          <a:lstStyle/>
          <a:p>
            <a:endParaRPr lang="fr-CI"/>
          </a:p>
        </p:txBody>
      </p:sp>
      <p:sp>
        <p:nvSpPr>
          <p:cNvPr id="14" name="Text 12"/>
          <p:cNvSpPr txBox="1"/>
          <p:nvPr/>
        </p:nvSpPr>
        <p:spPr>
          <a:xfrm>
            <a:off x="1181405" y="3010205"/>
            <a:ext cx="4763110" cy="152705"/>
          </a:xfrm>
          <a:prstGeom prst="rect">
            <a:avLst/>
          </a:prstGeom>
          <a:noFill/>
          <a:ln/>
        </p:spPr>
        <p:txBody>
          <a:bodyPr wrap="none" lIns="0" tIns="0" rIns="0" bIns="0" rtlCol="0" anchor="ctr"/>
          <a:lstStyle/>
          <a:p>
            <a:pPr marL="0" indent="0" algn="l">
              <a:buNone/>
            </a:pPr>
            <a:r>
              <a:rPr lang="en-US" sz="900" b="1" kern="0" spc="126" dirty="0">
                <a:solidFill>
                  <a:srgbClr val="A78BFA"/>
                </a:solidFill>
                <a:latin typeface="JetBrains Mono" pitchFamily="34" charset="0"/>
                <a:ea typeface="JetBrains Mono" pitchFamily="34" charset="-122"/>
                <a:cs typeface="JetBrains Mono" pitchFamily="34" charset="-120"/>
              </a:rPr>
              <a:t>Périmètre</a:t>
            </a:r>
            <a:endParaRPr lang="en-US" sz="900" dirty="0"/>
          </a:p>
        </p:txBody>
      </p:sp>
      <p:sp>
        <p:nvSpPr>
          <p:cNvPr id="15" name="Text 13"/>
          <p:cNvSpPr txBox="1"/>
          <p:nvPr/>
        </p:nvSpPr>
        <p:spPr>
          <a:xfrm>
            <a:off x="1181405" y="3219602"/>
            <a:ext cx="4763110" cy="685800"/>
          </a:xfrm>
          <a:prstGeom prst="rect">
            <a:avLst/>
          </a:prstGeom>
          <a:noFill/>
          <a:ln/>
        </p:spPr>
        <p:txBody>
          <a:bodyPr wrap="none" lIns="0" tIns="0" rIns="0" bIns="0" rtlCol="0" anchor="ctr"/>
          <a:lstStyle/>
          <a:p>
            <a:pPr marL="0" indent="0" algn="l">
              <a:buNone/>
            </a:pPr>
            <a:r>
              <a:rPr lang="en-US" sz="5400" b="1" kern="0" spc="-108" dirty="0">
                <a:solidFill>
                  <a:srgbClr val="FFFFFF"/>
                </a:solidFill>
                <a:latin typeface="Manrope" pitchFamily="34" charset="0"/>
                <a:ea typeface="Manrope" pitchFamily="34" charset="-122"/>
                <a:cs typeface="Manrope" pitchFamily="34" charset="-120"/>
              </a:rPr>
              <a:t>7</a:t>
            </a:r>
            <a:r>
              <a:rPr lang="en-US" sz="2700" b="1" kern="0" spc="-108" dirty="0">
                <a:solidFill>
                  <a:srgbClr val="A78BFA"/>
                </a:solidFill>
                <a:latin typeface="Manrope" pitchFamily="34" charset="0"/>
                <a:ea typeface="Manrope" pitchFamily="34" charset="-122"/>
                <a:cs typeface="Manrope" pitchFamily="34" charset="-120"/>
              </a:rPr>
              <a:t> profils</a:t>
            </a:r>
            <a:endParaRPr lang="en-US" sz="5400" dirty="0"/>
          </a:p>
        </p:txBody>
      </p:sp>
      <p:sp>
        <p:nvSpPr>
          <p:cNvPr id="16" name="Text 14"/>
          <p:cNvSpPr txBox="1"/>
          <p:nvPr/>
        </p:nvSpPr>
        <p:spPr>
          <a:xfrm>
            <a:off x="1181405" y="3962095"/>
            <a:ext cx="4763110" cy="362102"/>
          </a:xfrm>
          <a:prstGeom prst="rect">
            <a:avLst/>
          </a:prstGeom>
          <a:noFill/>
          <a:ln/>
        </p:spPr>
        <p:txBody>
          <a:bodyPr wrap="square" lIns="0" tIns="0" rIns="0" bIns="0" rtlCol="0" anchor="ctr"/>
          <a:lstStyle/>
          <a:p>
            <a:pPr marL="0" indent="0" algn="l">
              <a:buNone/>
            </a:pPr>
            <a:r>
              <a:rPr lang="en-US" sz="1000" dirty="0">
                <a:solidFill>
                  <a:srgbClr val="C4B5FD"/>
                </a:solidFill>
                <a:latin typeface="Manrope" pitchFamily="34" charset="0"/>
                <a:ea typeface="Manrope" pitchFamily="34" charset="-122"/>
                <a:cs typeface="Manrope" pitchFamily="34" charset="-120"/>
              </a:rPr>
              <a:t>+ comptes techniques (super-admin, exploitation, finance, support, conformité, reporting, direction)</a:t>
            </a:r>
            <a:endParaRPr lang="en-US" sz="1000" dirty="0"/>
          </a:p>
        </p:txBody>
      </p:sp>
      <p:sp>
        <p:nvSpPr>
          <p:cNvPr id="17" name="Shape 15"/>
          <p:cNvSpPr/>
          <p:nvPr/>
        </p:nvSpPr>
        <p:spPr>
          <a:xfrm>
            <a:off x="6476695" y="2762402"/>
            <a:ext cx="5333695" cy="1524305"/>
          </a:xfrm>
          <a:prstGeom prst="roundRect">
            <a:avLst>
              <a:gd name="adj" fmla="val 8758"/>
            </a:avLst>
          </a:prstGeom>
          <a:solidFill>
            <a:srgbClr val="F5F3FF"/>
          </a:solidFill>
          <a:ln w="12700">
            <a:solidFill>
              <a:srgbClr val="DDD6FE"/>
            </a:solidFill>
            <a:prstDash val="solid"/>
          </a:ln>
        </p:spPr>
        <p:txBody>
          <a:bodyPr/>
          <a:lstStyle/>
          <a:p>
            <a:endParaRPr lang="fr-CI"/>
          </a:p>
        </p:txBody>
      </p:sp>
      <p:sp>
        <p:nvSpPr>
          <p:cNvPr id="18" name="Text 16"/>
          <p:cNvSpPr txBox="1"/>
          <p:nvPr/>
        </p:nvSpPr>
        <p:spPr>
          <a:xfrm>
            <a:off x="6743700" y="3010205"/>
            <a:ext cx="4763110" cy="152705"/>
          </a:xfrm>
          <a:prstGeom prst="rect">
            <a:avLst/>
          </a:prstGeom>
          <a:noFill/>
          <a:ln/>
        </p:spPr>
        <p:txBody>
          <a:bodyPr wrap="none" lIns="0" tIns="0" rIns="0" bIns="0" rtlCol="0" anchor="ctr"/>
          <a:lstStyle/>
          <a:p>
            <a:pPr marL="0" indent="0" algn="l">
              <a:buNone/>
            </a:pPr>
            <a:r>
              <a:rPr lang="en-US" sz="900" b="1" kern="0" spc="126" dirty="0">
                <a:solidFill>
                  <a:srgbClr val="6D28D9"/>
                </a:solidFill>
                <a:latin typeface="JetBrains Mono" pitchFamily="34" charset="0"/>
                <a:ea typeface="JetBrains Mono" pitchFamily="34" charset="-122"/>
                <a:cs typeface="JetBrains Mono" pitchFamily="34" charset="-120"/>
              </a:rPr>
              <a:t>Fonctionnalités à tester</a:t>
            </a:r>
            <a:endParaRPr lang="en-US" sz="900" dirty="0"/>
          </a:p>
        </p:txBody>
      </p:sp>
      <p:sp>
        <p:nvSpPr>
          <p:cNvPr id="19" name="Text 17"/>
          <p:cNvSpPr txBox="1"/>
          <p:nvPr/>
        </p:nvSpPr>
        <p:spPr>
          <a:xfrm>
            <a:off x="6743700" y="3219602"/>
            <a:ext cx="4977994" cy="685800"/>
          </a:xfrm>
          <a:prstGeom prst="rect">
            <a:avLst/>
          </a:prstGeom>
          <a:noFill/>
          <a:ln/>
        </p:spPr>
        <p:txBody>
          <a:bodyPr wrap="none" lIns="0" tIns="0" rIns="0" bIns="0" rtlCol="0" anchor="ctr"/>
          <a:lstStyle/>
          <a:p>
            <a:pPr marL="0" indent="0" algn="l">
              <a:buNone/>
            </a:pPr>
            <a:r>
              <a:rPr lang="en-US" sz="5400" b="1" kern="0" spc="-108" dirty="0">
                <a:solidFill>
                  <a:srgbClr val="6D28D9"/>
                </a:solidFill>
                <a:latin typeface="Manrope" pitchFamily="34" charset="0"/>
                <a:ea typeface="Manrope" pitchFamily="34" charset="-122"/>
                <a:cs typeface="Manrope" pitchFamily="34" charset="-120"/>
              </a:rPr>
              <a:t>19</a:t>
            </a:r>
            <a:r>
              <a:rPr lang="en-US" sz="2700" b="1" kern="0" spc="-108" dirty="0">
                <a:solidFill>
                  <a:srgbClr val="1F2937"/>
                </a:solidFill>
                <a:latin typeface="Manrope" pitchFamily="34" charset="0"/>
                <a:ea typeface="Manrope" pitchFamily="34" charset="-122"/>
                <a:cs typeface="Manrope" pitchFamily="34" charset="-120"/>
              </a:rPr>
              <a:t> fonctions</a:t>
            </a:r>
            <a:endParaRPr lang="en-US" sz="5400" dirty="0"/>
          </a:p>
        </p:txBody>
      </p:sp>
      <p:sp>
        <p:nvSpPr>
          <p:cNvPr id="20" name="Text 18"/>
          <p:cNvSpPr txBox="1"/>
          <p:nvPr/>
        </p:nvSpPr>
        <p:spPr>
          <a:xfrm>
            <a:off x="6743700" y="3962095"/>
            <a:ext cx="4987138" cy="181051"/>
          </a:xfrm>
          <a:prstGeom prst="rect">
            <a:avLst/>
          </a:prstGeom>
          <a:noFill/>
          <a:ln/>
        </p:spPr>
        <p:txBody>
          <a:bodyPr wrap="none" lIns="0" tIns="0" rIns="0" bIns="0" rtlCol="0" anchor="ctr"/>
          <a:lstStyle/>
          <a:p>
            <a:pPr marL="0" indent="0" algn="l">
              <a:buNone/>
            </a:pPr>
            <a:r>
              <a:rPr lang="en-US" sz="1000" dirty="0">
                <a:solidFill>
                  <a:srgbClr val="4B5563"/>
                </a:solidFill>
                <a:latin typeface="Manrope" pitchFamily="34" charset="0"/>
                <a:ea typeface="Manrope" pitchFamily="34" charset="-122"/>
                <a:cs typeface="Manrope" pitchFamily="34" charset="-120"/>
              </a:rPr>
              <a:t>Admin, supervision, paramétrage, finance, audit (voir slide 15)</a:t>
            </a:r>
            <a:endParaRPr lang="en-US" sz="1000" dirty="0"/>
          </a:p>
        </p:txBody>
      </p:sp>
      <p:sp>
        <p:nvSpPr>
          <p:cNvPr id="21" name="Shape 19"/>
          <p:cNvSpPr/>
          <p:nvPr/>
        </p:nvSpPr>
        <p:spPr>
          <a:xfrm>
            <a:off x="12039905" y="2762402"/>
            <a:ext cx="5372100" cy="1524305"/>
          </a:xfrm>
          <a:prstGeom prst="roundRect">
            <a:avLst>
              <a:gd name="adj" fmla="val 8758"/>
            </a:avLst>
          </a:prstGeom>
          <a:solidFill>
            <a:srgbClr val="F5F3FF"/>
          </a:solidFill>
          <a:ln w="12700">
            <a:solidFill>
              <a:srgbClr val="DDD6FE"/>
            </a:solidFill>
            <a:prstDash val="solid"/>
          </a:ln>
        </p:spPr>
        <p:txBody>
          <a:bodyPr/>
          <a:lstStyle/>
          <a:p>
            <a:endParaRPr lang="fr-CI"/>
          </a:p>
        </p:txBody>
      </p:sp>
      <p:sp>
        <p:nvSpPr>
          <p:cNvPr id="22" name="Text 20"/>
          <p:cNvSpPr txBox="1"/>
          <p:nvPr/>
        </p:nvSpPr>
        <p:spPr>
          <a:xfrm>
            <a:off x="12305995" y="3010205"/>
            <a:ext cx="4800600" cy="152705"/>
          </a:xfrm>
          <a:prstGeom prst="rect">
            <a:avLst/>
          </a:prstGeom>
          <a:noFill/>
          <a:ln/>
        </p:spPr>
        <p:txBody>
          <a:bodyPr wrap="none" lIns="0" tIns="0" rIns="0" bIns="0" rtlCol="0" anchor="ctr"/>
          <a:lstStyle/>
          <a:p>
            <a:pPr marL="0" indent="0" algn="l">
              <a:buNone/>
            </a:pPr>
            <a:r>
              <a:rPr lang="en-US" sz="900" b="1" kern="0" spc="126" dirty="0">
                <a:solidFill>
                  <a:srgbClr val="6D28D9"/>
                </a:solidFill>
                <a:latin typeface="JetBrains Mono" pitchFamily="34" charset="0"/>
                <a:ea typeface="JetBrains Mono" pitchFamily="34" charset="-122"/>
                <a:cs typeface="JetBrains Mono" pitchFamily="34" charset="-120"/>
              </a:rPr>
              <a:t>Reporting consolidé</a:t>
            </a:r>
            <a:endParaRPr lang="en-US" sz="900" dirty="0"/>
          </a:p>
        </p:txBody>
      </p:sp>
      <p:sp>
        <p:nvSpPr>
          <p:cNvPr id="23" name="Text 21"/>
          <p:cNvSpPr txBox="1"/>
          <p:nvPr/>
        </p:nvSpPr>
        <p:spPr>
          <a:xfrm>
            <a:off x="12305995" y="3219602"/>
            <a:ext cx="5773522" cy="685800"/>
          </a:xfrm>
          <a:prstGeom prst="rect">
            <a:avLst/>
          </a:prstGeom>
          <a:noFill/>
          <a:ln/>
        </p:spPr>
        <p:txBody>
          <a:bodyPr wrap="none" lIns="0" tIns="0" rIns="0" bIns="0" rtlCol="0" anchor="ctr"/>
          <a:lstStyle/>
          <a:p>
            <a:pPr marL="0" indent="0" algn="l">
              <a:buNone/>
            </a:pPr>
            <a:r>
              <a:rPr lang="en-US" sz="5400" b="1" kern="0" spc="-108" dirty="0">
                <a:solidFill>
                  <a:srgbClr val="6D28D9"/>
                </a:solidFill>
                <a:latin typeface="Manrope" pitchFamily="34" charset="0"/>
                <a:ea typeface="Manrope" pitchFamily="34" charset="-122"/>
                <a:cs typeface="Manrope" pitchFamily="34" charset="-120"/>
              </a:rPr>
              <a:t>22</a:t>
            </a:r>
            <a:r>
              <a:rPr lang="en-US" sz="2700" b="1" kern="0" spc="-108" dirty="0">
                <a:solidFill>
                  <a:srgbClr val="1F2937"/>
                </a:solidFill>
                <a:latin typeface="Manrope" pitchFamily="34" charset="0"/>
                <a:ea typeface="Manrope" pitchFamily="34" charset="-122"/>
                <a:cs typeface="Manrope" pitchFamily="34" charset="-120"/>
              </a:rPr>
              <a:t> indicateurs</a:t>
            </a:r>
            <a:endParaRPr lang="en-US" sz="5400" dirty="0"/>
          </a:p>
        </p:txBody>
      </p:sp>
      <p:sp>
        <p:nvSpPr>
          <p:cNvPr id="24" name="Text 22"/>
          <p:cNvSpPr txBox="1"/>
          <p:nvPr/>
        </p:nvSpPr>
        <p:spPr>
          <a:xfrm>
            <a:off x="12305995" y="3962095"/>
            <a:ext cx="4800600" cy="181051"/>
          </a:xfrm>
          <a:prstGeom prst="rect">
            <a:avLst/>
          </a:prstGeom>
          <a:noFill/>
          <a:ln/>
        </p:spPr>
        <p:txBody>
          <a:bodyPr wrap="none" lIns="0" tIns="0" rIns="0" bIns="0" rtlCol="0" anchor="ctr"/>
          <a:lstStyle/>
          <a:p>
            <a:pPr marL="0" indent="0" algn="l">
              <a:buNone/>
            </a:pPr>
            <a:r>
              <a:rPr lang="en-US" sz="1000" dirty="0">
                <a:solidFill>
                  <a:srgbClr val="4B5563"/>
                </a:solidFill>
                <a:latin typeface="Manrope" pitchFamily="34" charset="0"/>
                <a:ea typeface="Manrope" pitchFamily="34" charset="-122"/>
                <a:cs typeface="Manrope" pitchFamily="34" charset="-120"/>
              </a:rPr>
              <a:t>Activité, finance, opérationnel, qualité</a:t>
            </a:r>
            <a:endParaRPr lang="en-US" sz="1000" dirty="0"/>
          </a:p>
        </p:txBody>
      </p:sp>
      <p:sp>
        <p:nvSpPr>
          <p:cNvPr id="25" name="Text 23"/>
          <p:cNvSpPr txBox="1"/>
          <p:nvPr/>
        </p:nvSpPr>
        <p:spPr>
          <a:xfrm>
            <a:off x="914400" y="4572000"/>
            <a:ext cx="16497605" cy="152705"/>
          </a:xfrm>
          <a:prstGeom prst="rect">
            <a:avLst/>
          </a:prstGeom>
          <a:noFill/>
          <a:ln/>
        </p:spPr>
        <p:txBody>
          <a:bodyPr wrap="none" lIns="0" tIns="0" rIns="0" bIns="0" rtlCol="0" anchor="ctr"/>
          <a:lstStyle/>
          <a:p>
            <a:pPr marL="0" indent="0" algn="l">
              <a:buNone/>
            </a:pPr>
            <a:r>
              <a:rPr lang="en-US" sz="900" b="1" kern="0" spc="108" dirty="0">
                <a:solidFill>
                  <a:srgbClr val="6D28D9"/>
                </a:solidFill>
                <a:latin typeface="JetBrains Mono" pitchFamily="34" charset="0"/>
                <a:ea typeface="JetBrains Mono" pitchFamily="34" charset="-122"/>
                <a:cs typeface="JetBrains Mono" pitchFamily="34" charset="-120"/>
              </a:rPr>
              <a:t>11.2 · 22 rapports consolidés à disposition du central</a:t>
            </a:r>
            <a:endParaRPr lang="en-US" sz="900" dirty="0"/>
          </a:p>
        </p:txBody>
      </p:sp>
      <p:sp>
        <p:nvSpPr>
          <p:cNvPr id="26" name="Shape 24"/>
          <p:cNvSpPr/>
          <p:nvPr/>
        </p:nvSpPr>
        <p:spPr>
          <a:xfrm>
            <a:off x="914400" y="4953305"/>
            <a:ext cx="4028846" cy="552298"/>
          </a:xfrm>
          <a:prstGeom prst="roundRect">
            <a:avLst>
              <a:gd name="adj" fmla="val 24172"/>
            </a:avLst>
          </a:prstGeom>
          <a:solidFill>
            <a:srgbClr val="FFFFFF"/>
          </a:solidFill>
          <a:ln w="12700">
            <a:solidFill>
              <a:srgbClr val="D1D5DB"/>
            </a:solidFill>
            <a:prstDash val="solid"/>
          </a:ln>
        </p:spPr>
        <p:txBody>
          <a:bodyPr/>
          <a:lstStyle/>
          <a:p>
            <a:endParaRPr lang="fr-CI"/>
          </a:p>
        </p:txBody>
      </p:sp>
      <p:sp>
        <p:nvSpPr>
          <p:cNvPr id="27" name="Text 25"/>
          <p:cNvSpPr txBox="1"/>
          <p:nvPr/>
        </p:nvSpPr>
        <p:spPr>
          <a:xfrm>
            <a:off x="1057046" y="5076749"/>
            <a:ext cx="3743554"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01</a:t>
            </a:r>
            <a:endParaRPr lang="en-US" sz="800" dirty="0"/>
          </a:p>
        </p:txBody>
      </p:sp>
      <p:sp>
        <p:nvSpPr>
          <p:cNvPr id="28" name="Text 26"/>
          <p:cNvSpPr txBox="1"/>
          <p:nvPr/>
        </p:nvSpPr>
        <p:spPr>
          <a:xfrm>
            <a:off x="1057046" y="5201107"/>
            <a:ext cx="3743554"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Activité totale plateforme</a:t>
            </a:r>
            <a:endParaRPr lang="en-US" sz="1000" dirty="0"/>
          </a:p>
        </p:txBody>
      </p:sp>
      <p:sp>
        <p:nvSpPr>
          <p:cNvPr id="29" name="Shape 27"/>
          <p:cNvSpPr/>
          <p:nvPr/>
        </p:nvSpPr>
        <p:spPr>
          <a:xfrm>
            <a:off x="5072177" y="4953305"/>
            <a:ext cx="4028846" cy="552298"/>
          </a:xfrm>
          <a:prstGeom prst="roundRect">
            <a:avLst>
              <a:gd name="adj" fmla="val 24172"/>
            </a:avLst>
          </a:prstGeom>
          <a:solidFill>
            <a:srgbClr val="FFFFFF"/>
          </a:solidFill>
          <a:ln w="12700">
            <a:solidFill>
              <a:srgbClr val="D1D5DB"/>
            </a:solidFill>
            <a:prstDash val="solid"/>
          </a:ln>
        </p:spPr>
        <p:txBody>
          <a:bodyPr/>
          <a:lstStyle/>
          <a:p>
            <a:endParaRPr lang="fr-CI"/>
          </a:p>
        </p:txBody>
      </p:sp>
      <p:sp>
        <p:nvSpPr>
          <p:cNvPr id="30" name="Text 28"/>
          <p:cNvSpPr txBox="1"/>
          <p:nvPr/>
        </p:nvSpPr>
        <p:spPr>
          <a:xfrm>
            <a:off x="5214823" y="5076749"/>
            <a:ext cx="3743554"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02</a:t>
            </a:r>
            <a:endParaRPr lang="en-US" sz="800" dirty="0"/>
          </a:p>
        </p:txBody>
      </p:sp>
      <p:sp>
        <p:nvSpPr>
          <p:cNvPr id="31" name="Text 29"/>
          <p:cNvSpPr txBox="1"/>
          <p:nvPr/>
        </p:nvSpPr>
        <p:spPr>
          <a:xfrm>
            <a:off x="5214823" y="5201107"/>
            <a:ext cx="3743554"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Activité par service</a:t>
            </a:r>
            <a:endParaRPr lang="en-US" sz="1000" dirty="0"/>
          </a:p>
        </p:txBody>
      </p:sp>
      <p:sp>
        <p:nvSpPr>
          <p:cNvPr id="32" name="Shape 30"/>
          <p:cNvSpPr/>
          <p:nvPr/>
        </p:nvSpPr>
        <p:spPr>
          <a:xfrm>
            <a:off x="9229954" y="4953305"/>
            <a:ext cx="4028846" cy="552298"/>
          </a:xfrm>
          <a:prstGeom prst="roundRect">
            <a:avLst>
              <a:gd name="adj" fmla="val 24172"/>
            </a:avLst>
          </a:prstGeom>
          <a:solidFill>
            <a:srgbClr val="FFFFFF"/>
          </a:solidFill>
          <a:ln w="12700">
            <a:solidFill>
              <a:srgbClr val="D1D5DB"/>
            </a:solidFill>
            <a:prstDash val="solid"/>
          </a:ln>
        </p:spPr>
        <p:txBody>
          <a:bodyPr/>
          <a:lstStyle/>
          <a:p>
            <a:endParaRPr lang="fr-CI"/>
          </a:p>
        </p:txBody>
      </p:sp>
      <p:sp>
        <p:nvSpPr>
          <p:cNvPr id="33" name="Text 31"/>
          <p:cNvSpPr txBox="1"/>
          <p:nvPr/>
        </p:nvSpPr>
        <p:spPr>
          <a:xfrm>
            <a:off x="9372600" y="5076749"/>
            <a:ext cx="3743554"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03</a:t>
            </a:r>
            <a:endParaRPr lang="en-US" sz="800" dirty="0"/>
          </a:p>
        </p:txBody>
      </p:sp>
      <p:sp>
        <p:nvSpPr>
          <p:cNvPr id="34" name="Text 32"/>
          <p:cNvSpPr txBox="1"/>
          <p:nvPr/>
        </p:nvSpPr>
        <p:spPr>
          <a:xfrm>
            <a:off x="9372600" y="5201107"/>
            <a:ext cx="3743554"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Activité par zone</a:t>
            </a:r>
            <a:endParaRPr lang="en-US" sz="1000" dirty="0"/>
          </a:p>
        </p:txBody>
      </p:sp>
      <p:sp>
        <p:nvSpPr>
          <p:cNvPr id="35" name="Shape 33"/>
          <p:cNvSpPr/>
          <p:nvPr/>
        </p:nvSpPr>
        <p:spPr>
          <a:xfrm>
            <a:off x="13387730" y="4953305"/>
            <a:ext cx="4028846" cy="552298"/>
          </a:xfrm>
          <a:prstGeom prst="roundRect">
            <a:avLst>
              <a:gd name="adj" fmla="val 24172"/>
            </a:avLst>
          </a:prstGeom>
          <a:solidFill>
            <a:srgbClr val="FFFFFF"/>
          </a:solidFill>
          <a:ln w="12700">
            <a:solidFill>
              <a:srgbClr val="D1D5DB"/>
            </a:solidFill>
            <a:prstDash val="solid"/>
          </a:ln>
        </p:spPr>
        <p:txBody>
          <a:bodyPr/>
          <a:lstStyle/>
          <a:p>
            <a:endParaRPr lang="fr-CI"/>
          </a:p>
        </p:txBody>
      </p:sp>
      <p:sp>
        <p:nvSpPr>
          <p:cNvPr id="36" name="Text 34"/>
          <p:cNvSpPr txBox="1"/>
          <p:nvPr/>
        </p:nvSpPr>
        <p:spPr>
          <a:xfrm>
            <a:off x="13530377" y="5076749"/>
            <a:ext cx="3743554"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04</a:t>
            </a:r>
            <a:endParaRPr lang="en-US" sz="800" dirty="0"/>
          </a:p>
        </p:txBody>
      </p:sp>
      <p:sp>
        <p:nvSpPr>
          <p:cNvPr id="37" name="Text 35"/>
          <p:cNvSpPr txBox="1"/>
          <p:nvPr/>
        </p:nvSpPr>
        <p:spPr>
          <a:xfrm>
            <a:off x="13530377" y="5201107"/>
            <a:ext cx="3743554"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Activité par franchise</a:t>
            </a:r>
            <a:endParaRPr lang="en-US" sz="1000" dirty="0"/>
          </a:p>
        </p:txBody>
      </p:sp>
      <p:sp>
        <p:nvSpPr>
          <p:cNvPr id="38" name="Shape 36"/>
          <p:cNvSpPr/>
          <p:nvPr/>
        </p:nvSpPr>
        <p:spPr>
          <a:xfrm>
            <a:off x="914400" y="5600700"/>
            <a:ext cx="4028846" cy="552298"/>
          </a:xfrm>
          <a:prstGeom prst="roundRect">
            <a:avLst>
              <a:gd name="adj" fmla="val 24172"/>
            </a:avLst>
          </a:prstGeom>
          <a:solidFill>
            <a:srgbClr val="FFFFFF"/>
          </a:solidFill>
          <a:ln w="12700">
            <a:solidFill>
              <a:srgbClr val="D1D5DB"/>
            </a:solidFill>
            <a:prstDash val="solid"/>
          </a:ln>
        </p:spPr>
        <p:txBody>
          <a:bodyPr/>
          <a:lstStyle/>
          <a:p>
            <a:endParaRPr lang="fr-CI"/>
          </a:p>
        </p:txBody>
      </p:sp>
      <p:sp>
        <p:nvSpPr>
          <p:cNvPr id="39" name="Text 37"/>
          <p:cNvSpPr txBox="1"/>
          <p:nvPr/>
        </p:nvSpPr>
        <p:spPr>
          <a:xfrm>
            <a:off x="1057046" y="5724144"/>
            <a:ext cx="3743554"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05</a:t>
            </a:r>
            <a:endParaRPr lang="en-US" sz="800" dirty="0"/>
          </a:p>
        </p:txBody>
      </p:sp>
      <p:sp>
        <p:nvSpPr>
          <p:cNvPr id="40" name="Text 38"/>
          <p:cNvSpPr txBox="1"/>
          <p:nvPr/>
        </p:nvSpPr>
        <p:spPr>
          <a:xfrm>
            <a:off x="1057046" y="5848502"/>
            <a:ext cx="3743554"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Activité par partenaire</a:t>
            </a:r>
            <a:endParaRPr lang="en-US" sz="1000" dirty="0"/>
          </a:p>
        </p:txBody>
      </p:sp>
      <p:sp>
        <p:nvSpPr>
          <p:cNvPr id="41" name="Shape 39"/>
          <p:cNvSpPr/>
          <p:nvPr/>
        </p:nvSpPr>
        <p:spPr>
          <a:xfrm>
            <a:off x="5072177" y="5600700"/>
            <a:ext cx="4028846" cy="552298"/>
          </a:xfrm>
          <a:prstGeom prst="roundRect">
            <a:avLst>
              <a:gd name="adj" fmla="val 24172"/>
            </a:avLst>
          </a:prstGeom>
          <a:solidFill>
            <a:srgbClr val="FFFFFF"/>
          </a:solidFill>
          <a:ln w="12700">
            <a:solidFill>
              <a:srgbClr val="D1D5DB"/>
            </a:solidFill>
            <a:prstDash val="solid"/>
          </a:ln>
        </p:spPr>
        <p:txBody>
          <a:bodyPr/>
          <a:lstStyle/>
          <a:p>
            <a:endParaRPr lang="fr-CI"/>
          </a:p>
        </p:txBody>
      </p:sp>
      <p:sp>
        <p:nvSpPr>
          <p:cNvPr id="42" name="Text 40"/>
          <p:cNvSpPr txBox="1"/>
          <p:nvPr/>
        </p:nvSpPr>
        <p:spPr>
          <a:xfrm>
            <a:off x="5214823" y="5724144"/>
            <a:ext cx="3743554"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06</a:t>
            </a:r>
            <a:endParaRPr lang="en-US" sz="800" dirty="0"/>
          </a:p>
        </p:txBody>
      </p:sp>
      <p:sp>
        <p:nvSpPr>
          <p:cNvPr id="43" name="Text 41"/>
          <p:cNvSpPr txBox="1"/>
          <p:nvPr/>
        </p:nvSpPr>
        <p:spPr>
          <a:xfrm>
            <a:off x="5214823" y="5848502"/>
            <a:ext cx="3743554"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Activité par chauffeur</a:t>
            </a:r>
            <a:endParaRPr lang="en-US" sz="1000" dirty="0"/>
          </a:p>
        </p:txBody>
      </p:sp>
      <p:sp>
        <p:nvSpPr>
          <p:cNvPr id="44" name="Shape 42"/>
          <p:cNvSpPr/>
          <p:nvPr/>
        </p:nvSpPr>
        <p:spPr>
          <a:xfrm>
            <a:off x="9229954" y="5600700"/>
            <a:ext cx="4028846" cy="552298"/>
          </a:xfrm>
          <a:prstGeom prst="roundRect">
            <a:avLst>
              <a:gd name="adj" fmla="val 24172"/>
            </a:avLst>
          </a:prstGeom>
          <a:solidFill>
            <a:srgbClr val="FFFFFF"/>
          </a:solidFill>
          <a:ln w="12700">
            <a:solidFill>
              <a:srgbClr val="D1D5DB"/>
            </a:solidFill>
            <a:prstDash val="solid"/>
          </a:ln>
        </p:spPr>
        <p:txBody>
          <a:bodyPr/>
          <a:lstStyle/>
          <a:p>
            <a:endParaRPr lang="fr-CI"/>
          </a:p>
        </p:txBody>
      </p:sp>
      <p:sp>
        <p:nvSpPr>
          <p:cNvPr id="45" name="Text 43"/>
          <p:cNvSpPr txBox="1"/>
          <p:nvPr/>
        </p:nvSpPr>
        <p:spPr>
          <a:xfrm>
            <a:off x="9372600" y="5724144"/>
            <a:ext cx="3743554"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07</a:t>
            </a:r>
            <a:endParaRPr lang="en-US" sz="800" dirty="0"/>
          </a:p>
        </p:txBody>
      </p:sp>
      <p:sp>
        <p:nvSpPr>
          <p:cNvPr id="46" name="Text 44"/>
          <p:cNvSpPr txBox="1"/>
          <p:nvPr/>
        </p:nvSpPr>
        <p:spPr>
          <a:xfrm>
            <a:off x="9372600" y="5848502"/>
            <a:ext cx="3743554"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Activité par livreur</a:t>
            </a:r>
            <a:endParaRPr lang="en-US" sz="1000" dirty="0"/>
          </a:p>
        </p:txBody>
      </p:sp>
      <p:sp>
        <p:nvSpPr>
          <p:cNvPr id="47" name="Shape 45"/>
          <p:cNvSpPr/>
          <p:nvPr/>
        </p:nvSpPr>
        <p:spPr>
          <a:xfrm>
            <a:off x="13387730" y="5600700"/>
            <a:ext cx="4028846" cy="552298"/>
          </a:xfrm>
          <a:prstGeom prst="roundRect">
            <a:avLst>
              <a:gd name="adj" fmla="val 24172"/>
            </a:avLst>
          </a:prstGeom>
          <a:solidFill>
            <a:srgbClr val="FFFFFF"/>
          </a:solidFill>
          <a:ln w="12700">
            <a:solidFill>
              <a:srgbClr val="D1D5DB"/>
            </a:solidFill>
            <a:prstDash val="solid"/>
          </a:ln>
        </p:spPr>
        <p:txBody>
          <a:bodyPr/>
          <a:lstStyle/>
          <a:p>
            <a:endParaRPr lang="fr-CI"/>
          </a:p>
        </p:txBody>
      </p:sp>
      <p:sp>
        <p:nvSpPr>
          <p:cNvPr id="48" name="Text 46"/>
          <p:cNvSpPr txBox="1"/>
          <p:nvPr/>
        </p:nvSpPr>
        <p:spPr>
          <a:xfrm>
            <a:off x="13530377" y="5724144"/>
            <a:ext cx="3743554"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08</a:t>
            </a:r>
            <a:endParaRPr lang="en-US" sz="800" dirty="0"/>
          </a:p>
        </p:txBody>
      </p:sp>
      <p:sp>
        <p:nvSpPr>
          <p:cNvPr id="49" name="Text 47"/>
          <p:cNvSpPr txBox="1"/>
          <p:nvPr/>
        </p:nvSpPr>
        <p:spPr>
          <a:xfrm>
            <a:off x="13530377" y="5848502"/>
            <a:ext cx="3743554"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Recettes brutes</a:t>
            </a:r>
            <a:endParaRPr lang="en-US" sz="1000" dirty="0"/>
          </a:p>
        </p:txBody>
      </p:sp>
      <p:sp>
        <p:nvSpPr>
          <p:cNvPr id="50" name="Shape 48"/>
          <p:cNvSpPr/>
          <p:nvPr/>
        </p:nvSpPr>
        <p:spPr>
          <a:xfrm>
            <a:off x="914400" y="6248095"/>
            <a:ext cx="4028846" cy="552298"/>
          </a:xfrm>
          <a:prstGeom prst="roundRect">
            <a:avLst>
              <a:gd name="adj" fmla="val 24172"/>
            </a:avLst>
          </a:prstGeom>
          <a:solidFill>
            <a:srgbClr val="F5F3FF"/>
          </a:solidFill>
          <a:ln w="12700">
            <a:solidFill>
              <a:srgbClr val="DDD6FE"/>
            </a:solidFill>
            <a:prstDash val="solid"/>
          </a:ln>
        </p:spPr>
        <p:txBody>
          <a:bodyPr/>
          <a:lstStyle/>
          <a:p>
            <a:endParaRPr lang="fr-CI"/>
          </a:p>
        </p:txBody>
      </p:sp>
      <p:sp>
        <p:nvSpPr>
          <p:cNvPr id="51" name="Text 49"/>
          <p:cNvSpPr txBox="1"/>
          <p:nvPr/>
        </p:nvSpPr>
        <p:spPr>
          <a:xfrm>
            <a:off x="1057046" y="6372454"/>
            <a:ext cx="3743554"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09</a:t>
            </a:r>
            <a:endParaRPr lang="en-US" sz="800" dirty="0"/>
          </a:p>
        </p:txBody>
      </p:sp>
      <p:sp>
        <p:nvSpPr>
          <p:cNvPr id="52" name="Text 50"/>
          <p:cNvSpPr txBox="1"/>
          <p:nvPr/>
        </p:nvSpPr>
        <p:spPr>
          <a:xfrm>
            <a:off x="1057046" y="6495898"/>
            <a:ext cx="3743554"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Commissions plateforme</a:t>
            </a:r>
            <a:endParaRPr lang="en-US" sz="1000" dirty="0"/>
          </a:p>
        </p:txBody>
      </p:sp>
      <p:sp>
        <p:nvSpPr>
          <p:cNvPr id="53" name="Shape 51"/>
          <p:cNvSpPr/>
          <p:nvPr/>
        </p:nvSpPr>
        <p:spPr>
          <a:xfrm>
            <a:off x="5072177" y="6248095"/>
            <a:ext cx="4028846" cy="552298"/>
          </a:xfrm>
          <a:prstGeom prst="roundRect">
            <a:avLst>
              <a:gd name="adj" fmla="val 24172"/>
            </a:avLst>
          </a:prstGeom>
          <a:solidFill>
            <a:srgbClr val="F5F3FF"/>
          </a:solidFill>
          <a:ln w="12700">
            <a:solidFill>
              <a:srgbClr val="DDD6FE"/>
            </a:solidFill>
            <a:prstDash val="solid"/>
          </a:ln>
        </p:spPr>
        <p:txBody>
          <a:bodyPr/>
          <a:lstStyle/>
          <a:p>
            <a:endParaRPr lang="fr-CI"/>
          </a:p>
        </p:txBody>
      </p:sp>
      <p:sp>
        <p:nvSpPr>
          <p:cNvPr id="54" name="Text 52"/>
          <p:cNvSpPr txBox="1"/>
          <p:nvPr/>
        </p:nvSpPr>
        <p:spPr>
          <a:xfrm>
            <a:off x="5214823" y="6372454"/>
            <a:ext cx="3743554"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10</a:t>
            </a:r>
            <a:endParaRPr lang="en-US" sz="800" dirty="0"/>
          </a:p>
        </p:txBody>
      </p:sp>
      <p:sp>
        <p:nvSpPr>
          <p:cNvPr id="55" name="Text 53"/>
          <p:cNvSpPr txBox="1"/>
          <p:nvPr/>
        </p:nvSpPr>
        <p:spPr>
          <a:xfrm>
            <a:off x="5214823" y="6495898"/>
            <a:ext cx="3743554"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Commissions partenaires</a:t>
            </a:r>
            <a:endParaRPr lang="en-US" sz="1000" dirty="0"/>
          </a:p>
        </p:txBody>
      </p:sp>
      <p:sp>
        <p:nvSpPr>
          <p:cNvPr id="56" name="Shape 54"/>
          <p:cNvSpPr/>
          <p:nvPr/>
        </p:nvSpPr>
        <p:spPr>
          <a:xfrm>
            <a:off x="9229954" y="6248095"/>
            <a:ext cx="4028846" cy="552298"/>
          </a:xfrm>
          <a:prstGeom prst="roundRect">
            <a:avLst>
              <a:gd name="adj" fmla="val 24172"/>
            </a:avLst>
          </a:prstGeom>
          <a:solidFill>
            <a:srgbClr val="F5F3FF"/>
          </a:solidFill>
          <a:ln w="12700">
            <a:solidFill>
              <a:srgbClr val="DDD6FE"/>
            </a:solidFill>
            <a:prstDash val="solid"/>
          </a:ln>
        </p:spPr>
        <p:txBody>
          <a:bodyPr/>
          <a:lstStyle/>
          <a:p>
            <a:endParaRPr lang="fr-CI"/>
          </a:p>
        </p:txBody>
      </p:sp>
      <p:sp>
        <p:nvSpPr>
          <p:cNvPr id="57" name="Text 55"/>
          <p:cNvSpPr txBox="1"/>
          <p:nvPr/>
        </p:nvSpPr>
        <p:spPr>
          <a:xfrm>
            <a:off x="9372600" y="6372454"/>
            <a:ext cx="3743554"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11</a:t>
            </a:r>
            <a:endParaRPr lang="en-US" sz="800" dirty="0"/>
          </a:p>
        </p:txBody>
      </p:sp>
      <p:sp>
        <p:nvSpPr>
          <p:cNvPr id="58" name="Text 56"/>
          <p:cNvSpPr txBox="1"/>
          <p:nvPr/>
        </p:nvSpPr>
        <p:spPr>
          <a:xfrm>
            <a:off x="9372600" y="6495898"/>
            <a:ext cx="3743554"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Commissions franchises</a:t>
            </a:r>
            <a:endParaRPr lang="en-US" sz="1000" dirty="0"/>
          </a:p>
        </p:txBody>
      </p:sp>
      <p:sp>
        <p:nvSpPr>
          <p:cNvPr id="59" name="Shape 57"/>
          <p:cNvSpPr/>
          <p:nvPr/>
        </p:nvSpPr>
        <p:spPr>
          <a:xfrm>
            <a:off x="13387730" y="6248095"/>
            <a:ext cx="4028846" cy="552298"/>
          </a:xfrm>
          <a:prstGeom prst="roundRect">
            <a:avLst>
              <a:gd name="adj" fmla="val 24172"/>
            </a:avLst>
          </a:prstGeom>
          <a:solidFill>
            <a:srgbClr val="F5F3FF"/>
          </a:solidFill>
          <a:ln w="12700">
            <a:solidFill>
              <a:srgbClr val="DDD6FE"/>
            </a:solidFill>
            <a:prstDash val="solid"/>
          </a:ln>
        </p:spPr>
        <p:txBody>
          <a:bodyPr/>
          <a:lstStyle/>
          <a:p>
            <a:endParaRPr lang="fr-CI"/>
          </a:p>
        </p:txBody>
      </p:sp>
      <p:sp>
        <p:nvSpPr>
          <p:cNvPr id="60" name="Text 58"/>
          <p:cNvSpPr txBox="1"/>
          <p:nvPr/>
        </p:nvSpPr>
        <p:spPr>
          <a:xfrm>
            <a:off x="13530377" y="6372454"/>
            <a:ext cx="3743554"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12</a:t>
            </a:r>
            <a:endParaRPr lang="en-US" sz="800" dirty="0"/>
          </a:p>
        </p:txBody>
      </p:sp>
      <p:sp>
        <p:nvSpPr>
          <p:cNvPr id="61" name="Text 59"/>
          <p:cNvSpPr txBox="1"/>
          <p:nvPr/>
        </p:nvSpPr>
        <p:spPr>
          <a:xfrm>
            <a:off x="13530377" y="6495898"/>
            <a:ext cx="3743554"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Wallets &amp; soldes</a:t>
            </a:r>
            <a:endParaRPr lang="en-US" sz="1000" dirty="0"/>
          </a:p>
        </p:txBody>
      </p:sp>
      <p:sp>
        <p:nvSpPr>
          <p:cNvPr id="62" name="Shape 60"/>
          <p:cNvSpPr/>
          <p:nvPr/>
        </p:nvSpPr>
        <p:spPr>
          <a:xfrm>
            <a:off x="914400" y="6896405"/>
            <a:ext cx="4028846" cy="552298"/>
          </a:xfrm>
          <a:prstGeom prst="roundRect">
            <a:avLst>
              <a:gd name="adj" fmla="val 24172"/>
            </a:avLst>
          </a:prstGeom>
          <a:solidFill>
            <a:srgbClr val="F5F3FF"/>
          </a:solidFill>
          <a:ln w="12700">
            <a:solidFill>
              <a:srgbClr val="DDD6FE"/>
            </a:solidFill>
            <a:prstDash val="solid"/>
          </a:ln>
        </p:spPr>
        <p:txBody>
          <a:bodyPr/>
          <a:lstStyle/>
          <a:p>
            <a:endParaRPr lang="fr-CI"/>
          </a:p>
        </p:txBody>
      </p:sp>
      <p:sp>
        <p:nvSpPr>
          <p:cNvPr id="63" name="Text 61"/>
          <p:cNvSpPr txBox="1"/>
          <p:nvPr/>
        </p:nvSpPr>
        <p:spPr>
          <a:xfrm>
            <a:off x="1057046" y="7019849"/>
            <a:ext cx="3743554"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13</a:t>
            </a:r>
            <a:endParaRPr lang="en-US" sz="800" dirty="0"/>
          </a:p>
        </p:txBody>
      </p:sp>
      <p:sp>
        <p:nvSpPr>
          <p:cNvPr id="64" name="Text 62"/>
          <p:cNvSpPr txBox="1"/>
          <p:nvPr/>
        </p:nvSpPr>
        <p:spPr>
          <a:xfrm>
            <a:off x="1057046" y="7144207"/>
            <a:ext cx="3743554"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Recharges wallet</a:t>
            </a:r>
            <a:endParaRPr lang="en-US" sz="1000" dirty="0"/>
          </a:p>
        </p:txBody>
      </p:sp>
      <p:sp>
        <p:nvSpPr>
          <p:cNvPr id="65" name="Shape 63"/>
          <p:cNvSpPr/>
          <p:nvPr/>
        </p:nvSpPr>
        <p:spPr>
          <a:xfrm>
            <a:off x="5072177" y="6896405"/>
            <a:ext cx="4028846" cy="552298"/>
          </a:xfrm>
          <a:prstGeom prst="roundRect">
            <a:avLst>
              <a:gd name="adj" fmla="val 24172"/>
            </a:avLst>
          </a:prstGeom>
          <a:solidFill>
            <a:srgbClr val="F5F3FF"/>
          </a:solidFill>
          <a:ln w="12700">
            <a:solidFill>
              <a:srgbClr val="DDD6FE"/>
            </a:solidFill>
            <a:prstDash val="solid"/>
          </a:ln>
        </p:spPr>
        <p:txBody>
          <a:bodyPr/>
          <a:lstStyle/>
          <a:p>
            <a:endParaRPr lang="fr-CI"/>
          </a:p>
        </p:txBody>
      </p:sp>
      <p:sp>
        <p:nvSpPr>
          <p:cNvPr id="66" name="Text 64"/>
          <p:cNvSpPr txBox="1"/>
          <p:nvPr/>
        </p:nvSpPr>
        <p:spPr>
          <a:xfrm>
            <a:off x="5214823" y="7019849"/>
            <a:ext cx="3743554"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14</a:t>
            </a:r>
            <a:endParaRPr lang="en-US" sz="800" dirty="0"/>
          </a:p>
        </p:txBody>
      </p:sp>
      <p:sp>
        <p:nvSpPr>
          <p:cNvPr id="67" name="Text 65"/>
          <p:cNvSpPr txBox="1"/>
          <p:nvPr/>
        </p:nvSpPr>
        <p:spPr>
          <a:xfrm>
            <a:off x="5214823" y="7144207"/>
            <a:ext cx="3743554"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Débits</a:t>
            </a:r>
            <a:endParaRPr lang="en-US" sz="1000" dirty="0"/>
          </a:p>
        </p:txBody>
      </p:sp>
      <p:sp>
        <p:nvSpPr>
          <p:cNvPr id="68" name="Shape 66"/>
          <p:cNvSpPr/>
          <p:nvPr/>
        </p:nvSpPr>
        <p:spPr>
          <a:xfrm>
            <a:off x="9229954" y="6896405"/>
            <a:ext cx="4028846" cy="552298"/>
          </a:xfrm>
          <a:prstGeom prst="roundRect">
            <a:avLst>
              <a:gd name="adj" fmla="val 24172"/>
            </a:avLst>
          </a:prstGeom>
          <a:solidFill>
            <a:srgbClr val="F5F3FF"/>
          </a:solidFill>
          <a:ln w="12700">
            <a:solidFill>
              <a:srgbClr val="DDD6FE"/>
            </a:solidFill>
            <a:prstDash val="solid"/>
          </a:ln>
        </p:spPr>
        <p:txBody>
          <a:bodyPr/>
          <a:lstStyle/>
          <a:p>
            <a:endParaRPr lang="fr-CI"/>
          </a:p>
        </p:txBody>
      </p:sp>
      <p:sp>
        <p:nvSpPr>
          <p:cNvPr id="69" name="Text 67"/>
          <p:cNvSpPr txBox="1"/>
          <p:nvPr/>
        </p:nvSpPr>
        <p:spPr>
          <a:xfrm>
            <a:off x="9372600" y="7019849"/>
            <a:ext cx="3743554"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15</a:t>
            </a:r>
            <a:endParaRPr lang="en-US" sz="800" dirty="0"/>
          </a:p>
        </p:txBody>
      </p:sp>
      <p:sp>
        <p:nvSpPr>
          <p:cNvPr id="70" name="Text 68"/>
          <p:cNvSpPr txBox="1"/>
          <p:nvPr/>
        </p:nvSpPr>
        <p:spPr>
          <a:xfrm>
            <a:off x="9372600" y="7144207"/>
            <a:ext cx="3743554"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Transactions</a:t>
            </a:r>
            <a:endParaRPr lang="en-US" sz="1000" dirty="0"/>
          </a:p>
        </p:txBody>
      </p:sp>
      <p:sp>
        <p:nvSpPr>
          <p:cNvPr id="71" name="Shape 69"/>
          <p:cNvSpPr/>
          <p:nvPr/>
        </p:nvSpPr>
        <p:spPr>
          <a:xfrm>
            <a:off x="13387730" y="6896405"/>
            <a:ext cx="4028846" cy="552298"/>
          </a:xfrm>
          <a:prstGeom prst="roundRect">
            <a:avLst>
              <a:gd name="adj" fmla="val 24172"/>
            </a:avLst>
          </a:prstGeom>
          <a:solidFill>
            <a:srgbClr val="FFFFFF"/>
          </a:solidFill>
          <a:ln w="12700">
            <a:solidFill>
              <a:srgbClr val="D1D5DB"/>
            </a:solidFill>
            <a:prstDash val="solid"/>
          </a:ln>
        </p:spPr>
        <p:txBody>
          <a:bodyPr/>
          <a:lstStyle/>
          <a:p>
            <a:endParaRPr lang="fr-CI"/>
          </a:p>
        </p:txBody>
      </p:sp>
      <p:sp>
        <p:nvSpPr>
          <p:cNvPr id="72" name="Text 70"/>
          <p:cNvSpPr txBox="1"/>
          <p:nvPr/>
        </p:nvSpPr>
        <p:spPr>
          <a:xfrm>
            <a:off x="13530377" y="7019849"/>
            <a:ext cx="3743554"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16</a:t>
            </a:r>
            <a:endParaRPr lang="en-US" sz="800" dirty="0"/>
          </a:p>
        </p:txBody>
      </p:sp>
      <p:sp>
        <p:nvSpPr>
          <p:cNvPr id="73" name="Text 71"/>
          <p:cNvSpPr txBox="1"/>
          <p:nvPr/>
        </p:nvSpPr>
        <p:spPr>
          <a:xfrm>
            <a:off x="13530377" y="7144207"/>
            <a:ext cx="3743554"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Incidents</a:t>
            </a:r>
            <a:endParaRPr lang="en-US" sz="1000" dirty="0"/>
          </a:p>
        </p:txBody>
      </p:sp>
      <p:sp>
        <p:nvSpPr>
          <p:cNvPr id="74" name="Shape 72"/>
          <p:cNvSpPr/>
          <p:nvPr/>
        </p:nvSpPr>
        <p:spPr>
          <a:xfrm>
            <a:off x="914400" y="7543800"/>
            <a:ext cx="4028846" cy="552298"/>
          </a:xfrm>
          <a:prstGeom prst="roundRect">
            <a:avLst>
              <a:gd name="adj" fmla="val 24172"/>
            </a:avLst>
          </a:prstGeom>
          <a:solidFill>
            <a:srgbClr val="FFFFFF"/>
          </a:solidFill>
          <a:ln w="12700">
            <a:solidFill>
              <a:srgbClr val="D1D5DB"/>
            </a:solidFill>
            <a:prstDash val="solid"/>
          </a:ln>
        </p:spPr>
        <p:txBody>
          <a:bodyPr/>
          <a:lstStyle/>
          <a:p>
            <a:endParaRPr lang="fr-CI"/>
          </a:p>
        </p:txBody>
      </p:sp>
      <p:sp>
        <p:nvSpPr>
          <p:cNvPr id="75" name="Text 73"/>
          <p:cNvSpPr txBox="1"/>
          <p:nvPr/>
        </p:nvSpPr>
        <p:spPr>
          <a:xfrm>
            <a:off x="1057046" y="7667244"/>
            <a:ext cx="3743554"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17</a:t>
            </a:r>
            <a:endParaRPr lang="en-US" sz="800" dirty="0"/>
          </a:p>
        </p:txBody>
      </p:sp>
      <p:sp>
        <p:nvSpPr>
          <p:cNvPr id="76" name="Text 74"/>
          <p:cNvSpPr txBox="1"/>
          <p:nvPr/>
        </p:nvSpPr>
        <p:spPr>
          <a:xfrm>
            <a:off x="1057046" y="7791602"/>
            <a:ext cx="3743554"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Réclamations</a:t>
            </a:r>
            <a:endParaRPr lang="en-US" sz="1000" dirty="0"/>
          </a:p>
        </p:txBody>
      </p:sp>
      <p:sp>
        <p:nvSpPr>
          <p:cNvPr id="77" name="Shape 75"/>
          <p:cNvSpPr/>
          <p:nvPr/>
        </p:nvSpPr>
        <p:spPr>
          <a:xfrm>
            <a:off x="5072177" y="7543800"/>
            <a:ext cx="4028846" cy="552298"/>
          </a:xfrm>
          <a:prstGeom prst="roundRect">
            <a:avLst>
              <a:gd name="adj" fmla="val 24172"/>
            </a:avLst>
          </a:prstGeom>
          <a:solidFill>
            <a:srgbClr val="FFFFFF"/>
          </a:solidFill>
          <a:ln w="12700">
            <a:solidFill>
              <a:srgbClr val="D1D5DB"/>
            </a:solidFill>
            <a:prstDash val="solid"/>
          </a:ln>
        </p:spPr>
        <p:txBody>
          <a:bodyPr/>
          <a:lstStyle/>
          <a:p>
            <a:endParaRPr lang="fr-CI"/>
          </a:p>
        </p:txBody>
      </p:sp>
      <p:sp>
        <p:nvSpPr>
          <p:cNvPr id="78" name="Text 76"/>
          <p:cNvSpPr txBox="1"/>
          <p:nvPr/>
        </p:nvSpPr>
        <p:spPr>
          <a:xfrm>
            <a:off x="5214823" y="7667244"/>
            <a:ext cx="3743554"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18</a:t>
            </a:r>
            <a:endParaRPr lang="en-US" sz="800" dirty="0"/>
          </a:p>
        </p:txBody>
      </p:sp>
      <p:sp>
        <p:nvSpPr>
          <p:cNvPr id="79" name="Text 77"/>
          <p:cNvSpPr txBox="1"/>
          <p:nvPr/>
        </p:nvSpPr>
        <p:spPr>
          <a:xfrm>
            <a:off x="5214823" y="7791602"/>
            <a:ext cx="3743554"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Taux d'annulation</a:t>
            </a:r>
            <a:endParaRPr lang="en-US" sz="1000" dirty="0"/>
          </a:p>
        </p:txBody>
      </p:sp>
      <p:sp>
        <p:nvSpPr>
          <p:cNvPr id="80" name="Shape 78"/>
          <p:cNvSpPr/>
          <p:nvPr/>
        </p:nvSpPr>
        <p:spPr>
          <a:xfrm>
            <a:off x="9229954" y="7543800"/>
            <a:ext cx="4028846" cy="552298"/>
          </a:xfrm>
          <a:prstGeom prst="roundRect">
            <a:avLst>
              <a:gd name="adj" fmla="val 24172"/>
            </a:avLst>
          </a:prstGeom>
          <a:solidFill>
            <a:srgbClr val="FFFFFF"/>
          </a:solidFill>
          <a:ln w="12700">
            <a:solidFill>
              <a:srgbClr val="D1D5DB"/>
            </a:solidFill>
            <a:prstDash val="solid"/>
          </a:ln>
        </p:spPr>
        <p:txBody>
          <a:bodyPr/>
          <a:lstStyle/>
          <a:p>
            <a:endParaRPr lang="fr-CI"/>
          </a:p>
        </p:txBody>
      </p:sp>
      <p:sp>
        <p:nvSpPr>
          <p:cNvPr id="81" name="Text 79"/>
          <p:cNvSpPr txBox="1"/>
          <p:nvPr/>
        </p:nvSpPr>
        <p:spPr>
          <a:xfrm>
            <a:off x="9372600" y="7667244"/>
            <a:ext cx="3743554"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19</a:t>
            </a:r>
            <a:endParaRPr lang="en-US" sz="800" dirty="0"/>
          </a:p>
        </p:txBody>
      </p:sp>
      <p:sp>
        <p:nvSpPr>
          <p:cNvPr id="82" name="Text 80"/>
          <p:cNvSpPr txBox="1"/>
          <p:nvPr/>
        </p:nvSpPr>
        <p:spPr>
          <a:xfrm>
            <a:off x="9372600" y="7791602"/>
            <a:ext cx="3743554"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Taux d'acceptation</a:t>
            </a:r>
            <a:endParaRPr lang="en-US" sz="1000" dirty="0"/>
          </a:p>
        </p:txBody>
      </p:sp>
      <p:sp>
        <p:nvSpPr>
          <p:cNvPr id="83" name="Shape 81"/>
          <p:cNvSpPr/>
          <p:nvPr/>
        </p:nvSpPr>
        <p:spPr>
          <a:xfrm>
            <a:off x="13387730" y="7543800"/>
            <a:ext cx="4028846" cy="552298"/>
          </a:xfrm>
          <a:prstGeom prst="roundRect">
            <a:avLst>
              <a:gd name="adj" fmla="val 24172"/>
            </a:avLst>
          </a:prstGeom>
          <a:solidFill>
            <a:srgbClr val="FFFFFF"/>
          </a:solidFill>
          <a:ln w="12700">
            <a:solidFill>
              <a:srgbClr val="D1D5DB"/>
            </a:solidFill>
            <a:prstDash val="solid"/>
          </a:ln>
        </p:spPr>
        <p:txBody>
          <a:bodyPr/>
          <a:lstStyle/>
          <a:p>
            <a:endParaRPr lang="fr-CI"/>
          </a:p>
        </p:txBody>
      </p:sp>
      <p:sp>
        <p:nvSpPr>
          <p:cNvPr id="84" name="Text 82"/>
          <p:cNvSpPr txBox="1"/>
          <p:nvPr/>
        </p:nvSpPr>
        <p:spPr>
          <a:xfrm>
            <a:off x="13530377" y="7667244"/>
            <a:ext cx="3743554"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20</a:t>
            </a:r>
            <a:endParaRPr lang="en-US" sz="800" dirty="0"/>
          </a:p>
        </p:txBody>
      </p:sp>
      <p:sp>
        <p:nvSpPr>
          <p:cNvPr id="85" name="Text 83"/>
          <p:cNvSpPr txBox="1"/>
          <p:nvPr/>
        </p:nvSpPr>
        <p:spPr>
          <a:xfrm>
            <a:off x="13530377" y="7791602"/>
            <a:ext cx="3743554"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Taux finalisation</a:t>
            </a:r>
            <a:endParaRPr lang="en-US" sz="1000" dirty="0"/>
          </a:p>
        </p:txBody>
      </p:sp>
      <p:sp>
        <p:nvSpPr>
          <p:cNvPr id="86" name="Shape 84"/>
          <p:cNvSpPr/>
          <p:nvPr/>
        </p:nvSpPr>
        <p:spPr>
          <a:xfrm>
            <a:off x="914400" y="8191195"/>
            <a:ext cx="4028846" cy="552298"/>
          </a:xfrm>
          <a:prstGeom prst="roundRect">
            <a:avLst>
              <a:gd name="adj" fmla="val 24172"/>
            </a:avLst>
          </a:prstGeom>
          <a:solidFill>
            <a:srgbClr val="FFFFFF"/>
          </a:solidFill>
          <a:ln w="12700">
            <a:solidFill>
              <a:srgbClr val="D1D5DB"/>
            </a:solidFill>
            <a:prstDash val="solid"/>
          </a:ln>
        </p:spPr>
        <p:txBody>
          <a:bodyPr/>
          <a:lstStyle/>
          <a:p>
            <a:endParaRPr lang="fr-CI"/>
          </a:p>
        </p:txBody>
      </p:sp>
      <p:sp>
        <p:nvSpPr>
          <p:cNvPr id="87" name="Text 85"/>
          <p:cNvSpPr txBox="1"/>
          <p:nvPr/>
        </p:nvSpPr>
        <p:spPr>
          <a:xfrm>
            <a:off x="1057046" y="8315554"/>
            <a:ext cx="3743554"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21</a:t>
            </a:r>
            <a:endParaRPr lang="en-US" sz="800" dirty="0"/>
          </a:p>
        </p:txBody>
      </p:sp>
      <p:sp>
        <p:nvSpPr>
          <p:cNvPr id="88" name="Text 86"/>
          <p:cNvSpPr txBox="1"/>
          <p:nvPr/>
        </p:nvSpPr>
        <p:spPr>
          <a:xfrm>
            <a:off x="1057046" y="8438998"/>
            <a:ext cx="3743554"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Audit &amp; logs</a:t>
            </a:r>
            <a:endParaRPr lang="en-US" sz="1000" dirty="0"/>
          </a:p>
        </p:txBody>
      </p:sp>
      <p:sp>
        <p:nvSpPr>
          <p:cNvPr id="89" name="Shape 87"/>
          <p:cNvSpPr/>
          <p:nvPr/>
        </p:nvSpPr>
        <p:spPr>
          <a:xfrm>
            <a:off x="5072177" y="8191195"/>
            <a:ext cx="4028846" cy="552298"/>
          </a:xfrm>
          <a:prstGeom prst="roundRect">
            <a:avLst>
              <a:gd name="adj" fmla="val 24172"/>
            </a:avLst>
          </a:prstGeom>
          <a:solidFill>
            <a:srgbClr val="FFFFFF"/>
          </a:solidFill>
          <a:ln w="12700">
            <a:solidFill>
              <a:srgbClr val="D1D5DB"/>
            </a:solidFill>
            <a:prstDash val="solid"/>
          </a:ln>
        </p:spPr>
        <p:txBody>
          <a:bodyPr/>
          <a:lstStyle/>
          <a:p>
            <a:endParaRPr lang="fr-CI"/>
          </a:p>
        </p:txBody>
      </p:sp>
      <p:sp>
        <p:nvSpPr>
          <p:cNvPr id="90" name="Text 88"/>
          <p:cNvSpPr txBox="1"/>
          <p:nvPr/>
        </p:nvSpPr>
        <p:spPr>
          <a:xfrm>
            <a:off x="5214823" y="8315554"/>
            <a:ext cx="3743554"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22</a:t>
            </a:r>
            <a:endParaRPr lang="en-US" sz="800" dirty="0"/>
          </a:p>
        </p:txBody>
      </p:sp>
      <p:sp>
        <p:nvSpPr>
          <p:cNvPr id="91" name="Text 89"/>
          <p:cNvSpPr txBox="1"/>
          <p:nvPr/>
        </p:nvSpPr>
        <p:spPr>
          <a:xfrm>
            <a:off x="5214823" y="8438998"/>
            <a:ext cx="3743554"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Conformité globale</a:t>
            </a:r>
            <a:endParaRPr lang="en-US" sz="1000" dirty="0"/>
          </a:p>
        </p:txBody>
      </p:sp>
      <p:sp>
        <p:nvSpPr>
          <p:cNvPr id="92" name="Shape 90"/>
          <p:cNvSpPr/>
          <p:nvPr/>
        </p:nvSpPr>
        <p:spPr>
          <a:xfrm>
            <a:off x="9229954" y="8191195"/>
            <a:ext cx="8182051" cy="552298"/>
          </a:xfrm>
          <a:prstGeom prst="roundRect">
            <a:avLst>
              <a:gd name="adj" fmla="val 17219"/>
            </a:avLst>
          </a:prstGeom>
          <a:solidFill>
            <a:srgbClr val="1F2937"/>
          </a:solidFill>
          <a:ln w="12700">
            <a:solidFill>
              <a:srgbClr val="FFFFFF">
                <a:alpha val="0"/>
              </a:srgbClr>
            </a:solidFill>
            <a:prstDash val="solid"/>
          </a:ln>
        </p:spPr>
        <p:txBody>
          <a:bodyPr/>
          <a:lstStyle/>
          <a:p>
            <a:endParaRPr lang="fr-CI"/>
          </a:p>
        </p:txBody>
      </p:sp>
      <p:sp>
        <p:nvSpPr>
          <p:cNvPr id="93" name="Text 91"/>
          <p:cNvSpPr txBox="1"/>
          <p:nvPr/>
        </p:nvSpPr>
        <p:spPr>
          <a:xfrm>
            <a:off x="9363456" y="8406079"/>
            <a:ext cx="96012" cy="124358"/>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a:t>
            </a:r>
            <a:endParaRPr lang="en-US" sz="800" dirty="0"/>
          </a:p>
        </p:txBody>
      </p:sp>
      <p:sp>
        <p:nvSpPr>
          <p:cNvPr id="94" name="Text 92"/>
          <p:cNvSpPr txBox="1"/>
          <p:nvPr/>
        </p:nvSpPr>
        <p:spPr>
          <a:xfrm>
            <a:off x="9592056" y="8376818"/>
            <a:ext cx="4080053" cy="181051"/>
          </a:xfrm>
          <a:prstGeom prst="rect">
            <a:avLst/>
          </a:prstGeom>
          <a:noFill/>
          <a:ln/>
        </p:spPr>
        <p:txBody>
          <a:bodyPr wrap="none" lIns="0" tIns="0" rIns="0" bIns="0" rtlCol="0" anchor="ctr"/>
          <a:lstStyle/>
          <a:p>
            <a:pPr marL="0" indent="0" algn="l">
              <a:buNone/>
            </a:pPr>
            <a:r>
              <a:rPr lang="en-US" sz="1000" b="1" dirty="0">
                <a:solidFill>
                  <a:srgbClr val="FFFFFF"/>
                </a:solidFill>
                <a:latin typeface="Manrope" pitchFamily="34" charset="0"/>
                <a:ea typeface="Manrope" pitchFamily="34" charset="-122"/>
                <a:cs typeface="Manrope" pitchFamily="34" charset="-120"/>
              </a:rPr>
              <a:t>Exports comptables &amp; financiers — formats CSV / Excel</a:t>
            </a:r>
            <a:endParaRPr lang="en-US" sz="1000" dirty="0"/>
          </a:p>
        </p:txBody>
      </p:sp>
      <p:sp>
        <p:nvSpPr>
          <p:cNvPr id="95" name="Shape 93"/>
          <p:cNvSpPr/>
          <p:nvPr/>
        </p:nvSpPr>
        <p:spPr>
          <a:xfrm>
            <a:off x="0" y="9791395"/>
            <a:ext cx="18288000" cy="495605"/>
          </a:xfrm>
          <a:prstGeom prst="rect">
            <a:avLst/>
          </a:prstGeom>
          <a:solidFill>
            <a:srgbClr val="FFFFFF"/>
          </a:solidFill>
          <a:ln/>
        </p:spPr>
        <p:txBody>
          <a:bodyPr/>
          <a:lstStyle/>
          <a:p>
            <a:endParaRPr lang="fr-CI"/>
          </a:p>
        </p:txBody>
      </p:sp>
      <p:sp>
        <p:nvSpPr>
          <p:cNvPr id="96" name="Shape 94"/>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97" name="Text 95"/>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98" name="Text 96"/>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21 / 59</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5051024" y="256946"/>
            <a:ext cx="3127248"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Partie IV — §12 &amp; §13 Infrastructure</a:t>
            </a:r>
            <a:endParaRPr lang="en-US" sz="900" dirty="0"/>
          </a:p>
        </p:txBody>
      </p:sp>
      <p:sp>
        <p:nvSpPr>
          <p:cNvPr id="10" name="Text 8"/>
          <p:cNvSpPr txBox="1"/>
          <p:nvPr/>
        </p:nvSpPr>
        <p:spPr>
          <a:xfrm>
            <a:off x="914400" y="1205179"/>
            <a:ext cx="4251046"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12. &amp; 13.1 · Architecture préproduction</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8479110"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La préproduction — un miroir contrôlé de la future production.</a:t>
            </a:r>
            <a:endParaRPr lang="en-US" sz="3900" dirty="0"/>
          </a:p>
        </p:txBody>
      </p:sp>
      <p:sp>
        <p:nvSpPr>
          <p:cNvPr id="13" name="Text 11"/>
          <p:cNvSpPr txBox="1"/>
          <p:nvPr/>
        </p:nvSpPr>
        <p:spPr>
          <a:xfrm>
            <a:off x="914400" y="2457907"/>
            <a:ext cx="16193110" cy="257861"/>
          </a:xfrm>
          <a:prstGeom prst="rect">
            <a:avLst/>
          </a:prstGeom>
          <a:noFill/>
          <a:ln/>
        </p:spPr>
        <p:txBody>
          <a:bodyPr wrap="none" lIns="0" tIns="0" rIns="0" bIns="0" rtlCol="0" anchor="ctr"/>
          <a:lstStyle/>
          <a:p>
            <a:pPr marL="0" indent="0" algn="l">
              <a:buNone/>
            </a:pPr>
            <a:r>
              <a:rPr lang="en-US" sz="1300" dirty="0">
                <a:solidFill>
                  <a:srgbClr val="4B5563"/>
                </a:solidFill>
                <a:latin typeface="Manrope" pitchFamily="34" charset="0"/>
                <a:ea typeface="Manrope" pitchFamily="34" charset="-122"/>
                <a:cs typeface="Manrope" pitchFamily="34" charset="-120"/>
              </a:rPr>
              <a:t>Recette obligatoire en environnement isolé, identique fonctionnellement à la production, sans impact sur les utilisateurs réels.</a:t>
            </a:r>
            <a:endParaRPr lang="en-US" sz="1300" dirty="0"/>
          </a:p>
        </p:txBody>
      </p:sp>
      <p:pic>
        <p:nvPicPr>
          <p:cNvPr id="14" name="Image 0" descr="gen-dedup-8f192c8e0896c236ea8ef8cec25380a4.jpg"/>
          <p:cNvPicPr>
            <a:picLocks noChangeAspect="1"/>
          </p:cNvPicPr>
          <p:nvPr/>
        </p:nvPicPr>
        <p:blipFill>
          <a:blip r:embed="rId3"/>
          <a:srcRect t="-4949" b="-4949"/>
          <a:stretch/>
        </p:blipFill>
        <p:spPr>
          <a:xfrm>
            <a:off x="914400" y="2952598"/>
            <a:ext cx="10477195" cy="6476695"/>
          </a:xfrm>
          <a:prstGeom prst="rect">
            <a:avLst/>
          </a:prstGeom>
        </p:spPr>
      </p:pic>
      <p:sp>
        <p:nvSpPr>
          <p:cNvPr id="15" name="Text 12"/>
          <p:cNvSpPr txBox="1"/>
          <p:nvPr/>
        </p:nvSpPr>
        <p:spPr>
          <a:xfrm>
            <a:off x="694944" y="9525305"/>
            <a:ext cx="10916107" cy="219456"/>
          </a:xfrm>
          <a:prstGeom prst="rect">
            <a:avLst/>
          </a:prstGeom>
          <a:noFill/>
          <a:ln/>
        </p:spPr>
        <p:txBody>
          <a:bodyPr wrap="none" lIns="0" tIns="0" rIns="0" bIns="0" rtlCol="0" anchor="ctr"/>
          <a:lstStyle/>
          <a:p>
            <a:pPr marL="0" indent="0" algn="ctr">
              <a:buNone/>
            </a:pPr>
            <a:r>
              <a:rPr lang="en-US" sz="1100" i="1" dirty="0">
                <a:solidFill>
                  <a:srgbClr val="6B7280"/>
                </a:solidFill>
                <a:latin typeface="Manrope" pitchFamily="34" charset="0"/>
                <a:ea typeface="Manrope" pitchFamily="34" charset="-122"/>
                <a:cs typeface="Manrope" pitchFamily="34" charset="-120"/>
              </a:rPr>
              <a:t>Fig. 22.1 — Schéma d'architecture préproduction (applications mobiles, back-office web, API, BDD, stockage, services externes)</a:t>
            </a:r>
            <a:endParaRPr lang="en-US" sz="1100" dirty="0"/>
          </a:p>
        </p:txBody>
      </p:sp>
      <p:sp>
        <p:nvSpPr>
          <p:cNvPr id="16" name="Shape 13"/>
          <p:cNvSpPr/>
          <p:nvPr/>
        </p:nvSpPr>
        <p:spPr>
          <a:xfrm>
            <a:off x="11697005" y="2952598"/>
            <a:ext cx="5715000" cy="6476695"/>
          </a:xfrm>
          <a:prstGeom prst="roundRect">
            <a:avLst>
              <a:gd name="adj" fmla="val 2336"/>
            </a:avLst>
          </a:prstGeom>
          <a:solidFill>
            <a:srgbClr val="FAFAFC"/>
          </a:solidFill>
          <a:ln w="12700">
            <a:solidFill>
              <a:srgbClr val="E5E7EB"/>
            </a:solidFill>
            <a:prstDash val="solid"/>
          </a:ln>
        </p:spPr>
        <p:txBody>
          <a:bodyPr/>
          <a:lstStyle/>
          <a:p>
            <a:endParaRPr lang="fr-CI"/>
          </a:p>
        </p:txBody>
      </p:sp>
      <p:sp>
        <p:nvSpPr>
          <p:cNvPr id="17" name="Text 14"/>
          <p:cNvSpPr txBox="1"/>
          <p:nvPr/>
        </p:nvSpPr>
        <p:spPr>
          <a:xfrm>
            <a:off x="12001500" y="3200400"/>
            <a:ext cx="5143500" cy="238658"/>
          </a:xfrm>
          <a:prstGeom prst="rect">
            <a:avLst/>
          </a:prstGeom>
          <a:noFill/>
          <a:ln/>
        </p:spPr>
        <p:txBody>
          <a:bodyPr wrap="none" lIns="0" tIns="0" rIns="0" bIns="0" rtlCol="0" anchor="ctr"/>
          <a:lstStyle/>
          <a:p>
            <a:pPr marL="0" indent="0" algn="l">
              <a:buNone/>
            </a:pPr>
            <a:r>
              <a:rPr lang="en-US" sz="1500" b="1" dirty="0">
                <a:solidFill>
                  <a:srgbClr val="1F2937"/>
                </a:solidFill>
                <a:latin typeface="Manrope" pitchFamily="34" charset="0"/>
                <a:ea typeface="Manrope" pitchFamily="34" charset="-122"/>
                <a:cs typeface="Manrope" pitchFamily="34" charset="-120"/>
              </a:rPr>
              <a:t>9 composants serveurs requis</a:t>
            </a:r>
            <a:endParaRPr lang="en-US" sz="1500" dirty="0"/>
          </a:p>
        </p:txBody>
      </p:sp>
      <p:sp>
        <p:nvSpPr>
          <p:cNvPr id="18" name="Text 15"/>
          <p:cNvSpPr txBox="1"/>
          <p:nvPr/>
        </p:nvSpPr>
        <p:spPr>
          <a:xfrm>
            <a:off x="12001500" y="3610051"/>
            <a:ext cx="514350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Serveur applicatif dédié</a:t>
            </a:r>
            <a:endParaRPr lang="en-US" sz="1200" dirty="0"/>
          </a:p>
        </p:txBody>
      </p:sp>
      <p:sp>
        <p:nvSpPr>
          <p:cNvPr id="19" name="Shape 16"/>
          <p:cNvSpPr/>
          <p:nvPr/>
        </p:nvSpPr>
        <p:spPr>
          <a:xfrm>
            <a:off x="12001500" y="3705149"/>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20" name="Text 17"/>
          <p:cNvSpPr txBox="1"/>
          <p:nvPr/>
        </p:nvSpPr>
        <p:spPr>
          <a:xfrm>
            <a:off x="12001500" y="3940150"/>
            <a:ext cx="514350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Serveur ou service BDD dédié</a:t>
            </a:r>
            <a:endParaRPr lang="en-US" sz="1200" dirty="0"/>
          </a:p>
        </p:txBody>
      </p:sp>
      <p:sp>
        <p:nvSpPr>
          <p:cNvPr id="21" name="Shape 18"/>
          <p:cNvSpPr/>
          <p:nvPr/>
        </p:nvSpPr>
        <p:spPr>
          <a:xfrm>
            <a:off x="12001500" y="4035247"/>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22" name="Text 19"/>
          <p:cNvSpPr txBox="1"/>
          <p:nvPr/>
        </p:nvSpPr>
        <p:spPr>
          <a:xfrm>
            <a:off x="12001500" y="4270248"/>
            <a:ext cx="514350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Espace de stockage documents &amp; images</a:t>
            </a:r>
            <a:endParaRPr lang="en-US" sz="1200" dirty="0"/>
          </a:p>
        </p:txBody>
      </p:sp>
      <p:sp>
        <p:nvSpPr>
          <p:cNvPr id="23" name="Shape 20"/>
          <p:cNvSpPr/>
          <p:nvPr/>
        </p:nvSpPr>
        <p:spPr>
          <a:xfrm>
            <a:off x="12001500" y="4365346"/>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24" name="Text 21"/>
          <p:cNvSpPr txBox="1"/>
          <p:nvPr/>
        </p:nvSpPr>
        <p:spPr>
          <a:xfrm>
            <a:off x="12001500" y="4600346"/>
            <a:ext cx="514350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Certificat SSL actif</a:t>
            </a:r>
            <a:endParaRPr lang="en-US" sz="1200" dirty="0"/>
          </a:p>
        </p:txBody>
      </p:sp>
      <p:sp>
        <p:nvSpPr>
          <p:cNvPr id="25" name="Shape 22"/>
          <p:cNvSpPr/>
          <p:nvPr/>
        </p:nvSpPr>
        <p:spPr>
          <a:xfrm>
            <a:off x="12001500" y="4695444"/>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26" name="Text 23"/>
          <p:cNvSpPr txBox="1"/>
          <p:nvPr/>
        </p:nvSpPr>
        <p:spPr>
          <a:xfrm>
            <a:off x="12001500" y="4930445"/>
            <a:ext cx="514350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Nom de domaine ou sous-domaine de test</a:t>
            </a:r>
            <a:endParaRPr lang="en-US" sz="1200" dirty="0"/>
          </a:p>
        </p:txBody>
      </p:sp>
      <p:sp>
        <p:nvSpPr>
          <p:cNvPr id="27" name="Shape 24"/>
          <p:cNvSpPr/>
          <p:nvPr/>
        </p:nvSpPr>
        <p:spPr>
          <a:xfrm>
            <a:off x="12001500" y="5025542"/>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28" name="Text 25"/>
          <p:cNvSpPr txBox="1"/>
          <p:nvPr/>
        </p:nvSpPr>
        <p:spPr>
          <a:xfrm>
            <a:off x="12001500" y="5260543"/>
            <a:ext cx="514350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Configuration réseau sécurisée</a:t>
            </a:r>
            <a:endParaRPr lang="en-US" sz="1200" dirty="0"/>
          </a:p>
        </p:txBody>
      </p:sp>
      <p:sp>
        <p:nvSpPr>
          <p:cNvPr id="29" name="Shape 26"/>
          <p:cNvSpPr/>
          <p:nvPr/>
        </p:nvSpPr>
        <p:spPr>
          <a:xfrm>
            <a:off x="12001500" y="5355641"/>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30" name="Text 27"/>
          <p:cNvSpPr txBox="1"/>
          <p:nvPr/>
        </p:nvSpPr>
        <p:spPr>
          <a:xfrm>
            <a:off x="12001500" y="5590642"/>
            <a:ext cx="514350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Accès limité aux équipes autorisées</a:t>
            </a:r>
            <a:endParaRPr lang="en-US" sz="1200" dirty="0"/>
          </a:p>
        </p:txBody>
      </p:sp>
      <p:sp>
        <p:nvSpPr>
          <p:cNvPr id="31" name="Shape 28"/>
          <p:cNvSpPr/>
          <p:nvPr/>
        </p:nvSpPr>
        <p:spPr>
          <a:xfrm>
            <a:off x="12001500" y="5685739"/>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32" name="Text 29"/>
          <p:cNvSpPr txBox="1"/>
          <p:nvPr/>
        </p:nvSpPr>
        <p:spPr>
          <a:xfrm>
            <a:off x="12001500" y="5920740"/>
            <a:ext cx="514350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Sauvegardes automatiques</a:t>
            </a:r>
            <a:endParaRPr lang="en-US" sz="1200" dirty="0"/>
          </a:p>
        </p:txBody>
      </p:sp>
      <p:sp>
        <p:nvSpPr>
          <p:cNvPr id="33" name="Shape 30"/>
          <p:cNvSpPr/>
          <p:nvPr/>
        </p:nvSpPr>
        <p:spPr>
          <a:xfrm>
            <a:off x="12001500" y="6015838"/>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34" name="Text 31"/>
          <p:cNvSpPr txBox="1"/>
          <p:nvPr/>
        </p:nvSpPr>
        <p:spPr>
          <a:xfrm>
            <a:off x="12001500" y="6250838"/>
            <a:ext cx="514350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Capacité de restauration testée</a:t>
            </a:r>
            <a:endParaRPr lang="en-US" sz="1200" dirty="0"/>
          </a:p>
        </p:txBody>
      </p:sp>
      <p:sp>
        <p:nvSpPr>
          <p:cNvPr id="35" name="Shape 32"/>
          <p:cNvSpPr/>
          <p:nvPr/>
        </p:nvSpPr>
        <p:spPr>
          <a:xfrm>
            <a:off x="12001500" y="6345936"/>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36" name="Shape 33"/>
          <p:cNvSpPr/>
          <p:nvPr/>
        </p:nvSpPr>
        <p:spPr>
          <a:xfrm>
            <a:off x="12001500" y="6714439"/>
            <a:ext cx="5143500" cy="875995"/>
          </a:xfrm>
          <a:prstGeom prst="roundRect">
            <a:avLst>
              <a:gd name="adj" fmla="val 10856"/>
            </a:avLst>
          </a:prstGeom>
          <a:solidFill>
            <a:srgbClr val="1F2937"/>
          </a:solidFill>
          <a:ln w="12700">
            <a:solidFill>
              <a:srgbClr val="FFFFFF">
                <a:alpha val="0"/>
              </a:srgbClr>
            </a:solidFill>
            <a:prstDash val="solid"/>
          </a:ln>
        </p:spPr>
        <p:txBody>
          <a:bodyPr/>
          <a:lstStyle/>
          <a:p>
            <a:endParaRPr lang="fr-CI"/>
          </a:p>
        </p:txBody>
      </p:sp>
      <p:sp>
        <p:nvSpPr>
          <p:cNvPr id="37" name="Text 34"/>
          <p:cNvSpPr txBox="1"/>
          <p:nvPr/>
        </p:nvSpPr>
        <p:spPr>
          <a:xfrm>
            <a:off x="12135002" y="6847942"/>
            <a:ext cx="4877410" cy="133502"/>
          </a:xfrm>
          <a:prstGeom prst="rect">
            <a:avLst/>
          </a:prstGeom>
          <a:noFill/>
          <a:ln/>
        </p:spPr>
        <p:txBody>
          <a:bodyPr wrap="none" lIns="0" tIns="0" rIns="0" bIns="0" rtlCol="0" anchor="ctr"/>
          <a:lstStyle/>
          <a:p>
            <a:pPr marL="0" indent="0" algn="l">
              <a:buNone/>
            </a:pPr>
            <a:r>
              <a:rPr lang="en-US" sz="800" b="1" kern="0" spc="99" dirty="0">
                <a:solidFill>
                  <a:srgbClr val="A78BFA"/>
                </a:solidFill>
                <a:latin typeface="JetBrains Mono" pitchFamily="34" charset="0"/>
                <a:ea typeface="JetBrains Mono" pitchFamily="34" charset="-122"/>
                <a:cs typeface="JetBrains Mono" pitchFamily="34" charset="-120"/>
              </a:rPr>
              <a:t>Principe directeur</a:t>
            </a:r>
            <a:endParaRPr lang="en-US" sz="800" dirty="0"/>
          </a:p>
        </p:txBody>
      </p:sp>
      <p:sp>
        <p:nvSpPr>
          <p:cNvPr id="38" name="Text 35"/>
          <p:cNvSpPr txBox="1"/>
          <p:nvPr/>
        </p:nvSpPr>
        <p:spPr>
          <a:xfrm>
            <a:off x="12135002" y="7057339"/>
            <a:ext cx="4877410" cy="400507"/>
          </a:xfrm>
          <a:prstGeom prst="rect">
            <a:avLst/>
          </a:prstGeom>
          <a:noFill/>
          <a:ln/>
        </p:spPr>
        <p:txBody>
          <a:bodyPr wrap="square" lIns="0" tIns="0" rIns="0" bIns="0" rtlCol="0" anchor="ctr"/>
          <a:lstStyle/>
          <a:p>
            <a:pPr marL="0" indent="0" algn="l">
              <a:buNone/>
            </a:pPr>
            <a:r>
              <a:rPr lang="en-US" sz="1000" dirty="0">
                <a:solidFill>
                  <a:srgbClr val="FFFFFF"/>
                </a:solidFill>
                <a:latin typeface="Manrope" pitchFamily="34" charset="0"/>
                <a:ea typeface="Manrope" pitchFamily="34" charset="-122"/>
                <a:cs typeface="Manrope" pitchFamily="34" charset="-120"/>
              </a:rPr>
              <a:t>Les données sont des données de test ou anonymisées. Aucune donnée de production réelle ne circule en préprod sans contrôle.</a:t>
            </a:r>
            <a:endParaRPr lang="en-US" sz="1000" dirty="0"/>
          </a:p>
        </p:txBody>
      </p:sp>
      <p:sp>
        <p:nvSpPr>
          <p:cNvPr id="39" name="Shape 36"/>
          <p:cNvSpPr/>
          <p:nvPr/>
        </p:nvSpPr>
        <p:spPr>
          <a:xfrm>
            <a:off x="12001500" y="7780630"/>
            <a:ext cx="1218895" cy="286207"/>
          </a:xfrm>
          <a:prstGeom prst="roundRect">
            <a:avLst>
              <a:gd name="adj" fmla="val 49840"/>
            </a:avLst>
          </a:prstGeom>
          <a:solidFill>
            <a:srgbClr val="D1FAE5"/>
          </a:solidFill>
          <a:ln w="12700">
            <a:solidFill>
              <a:srgbClr val="FFFFFF">
                <a:alpha val="0"/>
              </a:srgbClr>
            </a:solidFill>
            <a:prstDash val="solid"/>
          </a:ln>
        </p:spPr>
        <p:txBody>
          <a:bodyPr/>
          <a:lstStyle/>
          <a:p>
            <a:endParaRPr lang="fr-CI"/>
          </a:p>
        </p:txBody>
      </p:sp>
      <p:sp>
        <p:nvSpPr>
          <p:cNvPr id="40" name="Text 37"/>
          <p:cNvSpPr/>
          <p:nvPr/>
        </p:nvSpPr>
        <p:spPr>
          <a:xfrm>
            <a:off x="12001500" y="7780630"/>
            <a:ext cx="1219810"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065F46"/>
                </a:solidFill>
                <a:latin typeface="Manrope" pitchFamily="34" charset="0"/>
                <a:ea typeface="Manrope" pitchFamily="34" charset="-122"/>
                <a:cs typeface="Manrope" pitchFamily="34" charset="-120"/>
              </a:rPr>
              <a:t>Isolation réseau</a:t>
            </a:r>
            <a:endParaRPr lang="en-US" sz="900" dirty="0"/>
          </a:p>
        </p:txBody>
      </p:sp>
      <p:sp>
        <p:nvSpPr>
          <p:cNvPr id="41" name="Shape 38"/>
          <p:cNvSpPr/>
          <p:nvPr/>
        </p:nvSpPr>
        <p:spPr>
          <a:xfrm>
            <a:off x="13292633" y="7780630"/>
            <a:ext cx="1343254"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42" name="Text 39"/>
          <p:cNvSpPr/>
          <p:nvPr/>
        </p:nvSpPr>
        <p:spPr>
          <a:xfrm>
            <a:off x="13292633" y="7780630"/>
            <a:ext cx="1343254"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Sauvegardes auto</a:t>
            </a:r>
            <a:endParaRPr lang="en-US" sz="900" dirty="0"/>
          </a:p>
        </p:txBody>
      </p:sp>
      <p:sp>
        <p:nvSpPr>
          <p:cNvPr id="43" name="Shape 40"/>
          <p:cNvSpPr/>
          <p:nvPr/>
        </p:nvSpPr>
        <p:spPr>
          <a:xfrm>
            <a:off x="14705381" y="7780630"/>
            <a:ext cx="1466698"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44" name="Text 41"/>
          <p:cNvSpPr/>
          <p:nvPr/>
        </p:nvSpPr>
        <p:spPr>
          <a:xfrm>
            <a:off x="14705381" y="7780630"/>
            <a:ext cx="1467612"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Restauration testée</a:t>
            </a:r>
            <a:endParaRPr lang="en-US" sz="900" dirty="0"/>
          </a:p>
        </p:txBody>
      </p:sp>
      <p:sp>
        <p:nvSpPr>
          <p:cNvPr id="45" name="Shape 42"/>
          <p:cNvSpPr/>
          <p:nvPr/>
        </p:nvSpPr>
        <p:spPr>
          <a:xfrm>
            <a:off x="0" y="9791395"/>
            <a:ext cx="18288000" cy="495605"/>
          </a:xfrm>
          <a:prstGeom prst="rect">
            <a:avLst/>
          </a:prstGeom>
          <a:solidFill>
            <a:srgbClr val="FFFFFF"/>
          </a:solidFill>
          <a:ln/>
        </p:spPr>
        <p:txBody>
          <a:bodyPr/>
          <a:lstStyle/>
          <a:p>
            <a:endParaRPr lang="fr-CI"/>
          </a:p>
        </p:txBody>
      </p:sp>
      <p:sp>
        <p:nvSpPr>
          <p:cNvPr id="46" name="Shape 43"/>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47" name="Text 44"/>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48" name="Text 45"/>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22 / 59</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5420442" y="256946"/>
            <a:ext cx="2522830"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§13.2 Base de données préprod</a:t>
            </a:r>
            <a:endParaRPr lang="en-US" sz="900" dirty="0"/>
          </a:p>
        </p:txBody>
      </p:sp>
      <p:sp>
        <p:nvSpPr>
          <p:cNvPr id="10" name="Text 8"/>
          <p:cNvSpPr txBox="1"/>
          <p:nvPr/>
        </p:nvSpPr>
        <p:spPr>
          <a:xfrm>
            <a:off x="914400" y="1205179"/>
            <a:ext cx="3877056"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13.2 · Base de données préproduction</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8479110"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17 tables — structure identique ou proche de la future production.</a:t>
            </a:r>
            <a:endParaRPr lang="en-US" sz="3900" dirty="0"/>
          </a:p>
        </p:txBody>
      </p:sp>
      <p:pic>
        <p:nvPicPr>
          <p:cNvPr id="13" name="Image 0" descr="gen-dedup-ba798a8a386bdd2e2dd70de5930417c2.jpg"/>
          <p:cNvPicPr>
            <a:picLocks noChangeAspect="1"/>
          </p:cNvPicPr>
          <p:nvPr/>
        </p:nvPicPr>
        <p:blipFill>
          <a:blip r:embed="rId3"/>
          <a:srcRect t="-2732" b="-2732"/>
          <a:stretch/>
        </p:blipFill>
        <p:spPr>
          <a:xfrm>
            <a:off x="914400" y="2762402"/>
            <a:ext cx="11239805" cy="6667805"/>
          </a:xfrm>
          <a:prstGeom prst="rect">
            <a:avLst/>
          </a:prstGeom>
        </p:spPr>
      </p:pic>
      <p:sp>
        <p:nvSpPr>
          <p:cNvPr id="14" name="Text 11"/>
          <p:cNvSpPr txBox="1"/>
          <p:nvPr/>
        </p:nvSpPr>
        <p:spPr>
          <a:xfrm>
            <a:off x="914400" y="9525305"/>
            <a:ext cx="11239805" cy="219456"/>
          </a:xfrm>
          <a:prstGeom prst="rect">
            <a:avLst/>
          </a:prstGeom>
          <a:noFill/>
          <a:ln/>
        </p:spPr>
        <p:txBody>
          <a:bodyPr wrap="none" lIns="0" tIns="0" rIns="0" bIns="0" rtlCol="0" anchor="ctr"/>
          <a:lstStyle/>
          <a:p>
            <a:pPr marL="0" indent="0" algn="ctr">
              <a:buNone/>
            </a:pPr>
            <a:r>
              <a:rPr lang="en-US" sz="1100" i="1" dirty="0">
                <a:solidFill>
                  <a:srgbClr val="6B7280"/>
                </a:solidFill>
                <a:latin typeface="Manrope" pitchFamily="34" charset="0"/>
                <a:ea typeface="Manrope" pitchFamily="34" charset="-122"/>
                <a:cs typeface="Manrope" pitchFamily="34" charset="-120"/>
              </a:rPr>
              <a:t>Fig. 23.1 — Cartographie des 17 tables relationnelles de la base préproduction</a:t>
            </a:r>
            <a:endParaRPr lang="en-US" sz="1100" dirty="0"/>
          </a:p>
        </p:txBody>
      </p:sp>
      <p:sp>
        <p:nvSpPr>
          <p:cNvPr id="15" name="Shape 12"/>
          <p:cNvSpPr/>
          <p:nvPr/>
        </p:nvSpPr>
        <p:spPr>
          <a:xfrm>
            <a:off x="12458700" y="2762402"/>
            <a:ext cx="4953305" cy="6667805"/>
          </a:xfrm>
          <a:prstGeom prst="roundRect">
            <a:avLst>
              <a:gd name="adj" fmla="val 2695"/>
            </a:avLst>
          </a:prstGeom>
          <a:solidFill>
            <a:srgbClr val="FAFAFC"/>
          </a:solidFill>
          <a:ln w="12700">
            <a:solidFill>
              <a:srgbClr val="E5E7EB"/>
            </a:solidFill>
            <a:prstDash val="solid"/>
          </a:ln>
        </p:spPr>
        <p:txBody>
          <a:bodyPr/>
          <a:lstStyle/>
          <a:p>
            <a:endParaRPr lang="fr-CI"/>
          </a:p>
        </p:txBody>
      </p:sp>
      <p:sp>
        <p:nvSpPr>
          <p:cNvPr id="16" name="Text 13"/>
          <p:cNvSpPr txBox="1"/>
          <p:nvPr/>
        </p:nvSpPr>
        <p:spPr>
          <a:xfrm>
            <a:off x="12725705" y="3010205"/>
            <a:ext cx="4476902" cy="238658"/>
          </a:xfrm>
          <a:prstGeom prst="rect">
            <a:avLst/>
          </a:prstGeom>
          <a:noFill/>
          <a:ln/>
        </p:spPr>
        <p:txBody>
          <a:bodyPr wrap="none" lIns="0" tIns="0" rIns="0" bIns="0" rtlCol="0" anchor="ctr"/>
          <a:lstStyle/>
          <a:p>
            <a:pPr marL="0" indent="0" algn="l">
              <a:buNone/>
            </a:pPr>
            <a:r>
              <a:rPr lang="en-US" sz="1500" b="1" dirty="0">
                <a:solidFill>
                  <a:srgbClr val="1F2937"/>
                </a:solidFill>
                <a:latin typeface="Manrope" pitchFamily="34" charset="0"/>
                <a:ea typeface="Manrope" pitchFamily="34" charset="-122"/>
                <a:cs typeface="Manrope" pitchFamily="34" charset="-120"/>
              </a:rPr>
              <a:t>17 tables à préparer</a:t>
            </a:r>
            <a:endParaRPr lang="en-US" sz="1500" dirty="0"/>
          </a:p>
        </p:txBody>
      </p:sp>
      <p:sp>
        <p:nvSpPr>
          <p:cNvPr id="17" name="Text 14"/>
          <p:cNvSpPr txBox="1"/>
          <p:nvPr/>
        </p:nvSpPr>
        <p:spPr>
          <a:xfrm>
            <a:off x="12725705" y="3419856"/>
            <a:ext cx="2171700"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01</a:t>
            </a:r>
            <a:r>
              <a:rPr lang="en-US" sz="1000" dirty="0">
                <a:solidFill>
                  <a:srgbClr val="1F2937"/>
                </a:solidFill>
                <a:latin typeface="Manrope" pitchFamily="34" charset="0"/>
                <a:ea typeface="Manrope" pitchFamily="34" charset="-122"/>
                <a:cs typeface="Manrope" pitchFamily="34" charset="-120"/>
              </a:rPr>
              <a:t> Clients</a:t>
            </a:r>
            <a:endParaRPr lang="en-US" sz="1000" dirty="0"/>
          </a:p>
        </p:txBody>
      </p:sp>
      <p:sp>
        <p:nvSpPr>
          <p:cNvPr id="18" name="Text 15"/>
          <p:cNvSpPr txBox="1"/>
          <p:nvPr/>
        </p:nvSpPr>
        <p:spPr>
          <a:xfrm>
            <a:off x="15030907" y="3419856"/>
            <a:ext cx="2171700"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02</a:t>
            </a:r>
            <a:r>
              <a:rPr lang="en-US" sz="1000" dirty="0">
                <a:solidFill>
                  <a:srgbClr val="1F2937"/>
                </a:solidFill>
                <a:latin typeface="Manrope" pitchFamily="34" charset="0"/>
                <a:ea typeface="Manrope" pitchFamily="34" charset="-122"/>
                <a:cs typeface="Manrope" pitchFamily="34" charset="-120"/>
              </a:rPr>
              <a:t> Chauffeurs</a:t>
            </a:r>
            <a:endParaRPr lang="en-US" sz="1000" dirty="0"/>
          </a:p>
        </p:txBody>
      </p:sp>
      <p:sp>
        <p:nvSpPr>
          <p:cNvPr id="19" name="Text 16"/>
          <p:cNvSpPr txBox="1"/>
          <p:nvPr/>
        </p:nvSpPr>
        <p:spPr>
          <a:xfrm>
            <a:off x="12725705" y="3676802"/>
            <a:ext cx="2171700"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03</a:t>
            </a:r>
            <a:r>
              <a:rPr lang="en-US" sz="1000" dirty="0">
                <a:solidFill>
                  <a:srgbClr val="1F2937"/>
                </a:solidFill>
                <a:latin typeface="Manrope" pitchFamily="34" charset="0"/>
                <a:ea typeface="Manrope" pitchFamily="34" charset="-122"/>
                <a:cs typeface="Manrope" pitchFamily="34" charset="-120"/>
              </a:rPr>
              <a:t> Livreurs</a:t>
            </a:r>
            <a:endParaRPr lang="en-US" sz="1000" dirty="0"/>
          </a:p>
        </p:txBody>
      </p:sp>
      <p:sp>
        <p:nvSpPr>
          <p:cNvPr id="20" name="Text 17"/>
          <p:cNvSpPr txBox="1"/>
          <p:nvPr/>
        </p:nvSpPr>
        <p:spPr>
          <a:xfrm>
            <a:off x="15030907" y="3676802"/>
            <a:ext cx="2171700"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04</a:t>
            </a:r>
            <a:r>
              <a:rPr lang="en-US" sz="1000" dirty="0">
                <a:solidFill>
                  <a:srgbClr val="1F2937"/>
                </a:solidFill>
                <a:latin typeface="Manrope" pitchFamily="34" charset="0"/>
                <a:ea typeface="Manrope" pitchFamily="34" charset="-122"/>
                <a:cs typeface="Manrope" pitchFamily="34" charset="-120"/>
              </a:rPr>
              <a:t> Partenaires</a:t>
            </a:r>
            <a:endParaRPr lang="en-US" sz="1000" dirty="0"/>
          </a:p>
        </p:txBody>
      </p:sp>
      <p:sp>
        <p:nvSpPr>
          <p:cNvPr id="21" name="Text 18"/>
          <p:cNvSpPr txBox="1"/>
          <p:nvPr/>
        </p:nvSpPr>
        <p:spPr>
          <a:xfrm>
            <a:off x="12725705" y="3933749"/>
            <a:ext cx="2171700"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05</a:t>
            </a:r>
            <a:r>
              <a:rPr lang="en-US" sz="1000" dirty="0">
                <a:solidFill>
                  <a:srgbClr val="1F2937"/>
                </a:solidFill>
                <a:latin typeface="Manrope" pitchFamily="34" charset="0"/>
                <a:ea typeface="Manrope" pitchFamily="34" charset="-122"/>
                <a:cs typeface="Manrope" pitchFamily="34" charset="-120"/>
              </a:rPr>
              <a:t> Franchises</a:t>
            </a:r>
            <a:endParaRPr lang="en-US" sz="1000" dirty="0"/>
          </a:p>
        </p:txBody>
      </p:sp>
      <p:sp>
        <p:nvSpPr>
          <p:cNvPr id="22" name="Text 19"/>
          <p:cNvSpPr txBox="1"/>
          <p:nvPr/>
        </p:nvSpPr>
        <p:spPr>
          <a:xfrm>
            <a:off x="15030907" y="3933749"/>
            <a:ext cx="2171700"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06</a:t>
            </a:r>
            <a:r>
              <a:rPr lang="en-US" sz="1000" dirty="0">
                <a:solidFill>
                  <a:srgbClr val="1F2937"/>
                </a:solidFill>
                <a:latin typeface="Manrope" pitchFamily="34" charset="0"/>
                <a:ea typeface="Manrope" pitchFamily="34" charset="-122"/>
                <a:cs typeface="Manrope" pitchFamily="34" charset="-120"/>
              </a:rPr>
              <a:t> Véhicules</a:t>
            </a:r>
            <a:endParaRPr lang="en-US" sz="1000" dirty="0"/>
          </a:p>
        </p:txBody>
      </p:sp>
      <p:sp>
        <p:nvSpPr>
          <p:cNvPr id="23" name="Text 20"/>
          <p:cNvSpPr txBox="1"/>
          <p:nvPr/>
        </p:nvSpPr>
        <p:spPr>
          <a:xfrm>
            <a:off x="12725705" y="4190695"/>
            <a:ext cx="2171700"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07</a:t>
            </a:r>
            <a:r>
              <a:rPr lang="en-US" sz="1000" dirty="0">
                <a:solidFill>
                  <a:srgbClr val="1F2937"/>
                </a:solidFill>
                <a:latin typeface="Manrope" pitchFamily="34" charset="0"/>
                <a:ea typeface="Manrope" pitchFamily="34" charset="-122"/>
                <a:cs typeface="Manrope" pitchFamily="34" charset="-120"/>
              </a:rPr>
              <a:t> Courses</a:t>
            </a:r>
            <a:endParaRPr lang="en-US" sz="1000" dirty="0"/>
          </a:p>
        </p:txBody>
      </p:sp>
      <p:sp>
        <p:nvSpPr>
          <p:cNvPr id="24" name="Text 21"/>
          <p:cNvSpPr txBox="1"/>
          <p:nvPr/>
        </p:nvSpPr>
        <p:spPr>
          <a:xfrm>
            <a:off x="15030907" y="4190695"/>
            <a:ext cx="2171700"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08</a:t>
            </a:r>
            <a:r>
              <a:rPr lang="en-US" sz="1000" dirty="0">
                <a:solidFill>
                  <a:srgbClr val="1F2937"/>
                </a:solidFill>
                <a:latin typeface="Manrope" pitchFamily="34" charset="0"/>
                <a:ea typeface="Manrope" pitchFamily="34" charset="-122"/>
                <a:cs typeface="Manrope" pitchFamily="34" charset="-120"/>
              </a:rPr>
              <a:t> Livraisons</a:t>
            </a:r>
            <a:endParaRPr lang="en-US" sz="1000" dirty="0"/>
          </a:p>
        </p:txBody>
      </p:sp>
      <p:sp>
        <p:nvSpPr>
          <p:cNvPr id="25" name="Text 22"/>
          <p:cNvSpPr txBox="1"/>
          <p:nvPr/>
        </p:nvSpPr>
        <p:spPr>
          <a:xfrm>
            <a:off x="12725705" y="4448556"/>
            <a:ext cx="2171700"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09</a:t>
            </a:r>
            <a:r>
              <a:rPr lang="en-US" sz="1000" dirty="0">
                <a:solidFill>
                  <a:srgbClr val="1F2937"/>
                </a:solidFill>
                <a:latin typeface="Manrope" pitchFamily="34" charset="0"/>
                <a:ea typeface="Manrope" pitchFamily="34" charset="-122"/>
                <a:cs typeface="Manrope" pitchFamily="34" charset="-120"/>
              </a:rPr>
              <a:t> Fret</a:t>
            </a:r>
            <a:endParaRPr lang="en-US" sz="1000" dirty="0"/>
          </a:p>
        </p:txBody>
      </p:sp>
      <p:sp>
        <p:nvSpPr>
          <p:cNvPr id="26" name="Text 23"/>
          <p:cNvSpPr txBox="1"/>
          <p:nvPr/>
        </p:nvSpPr>
        <p:spPr>
          <a:xfrm>
            <a:off x="15030907" y="4448556"/>
            <a:ext cx="2171700"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10</a:t>
            </a:r>
            <a:r>
              <a:rPr lang="en-US" sz="1000" dirty="0">
                <a:solidFill>
                  <a:srgbClr val="1F2937"/>
                </a:solidFill>
                <a:latin typeface="Manrope" pitchFamily="34" charset="0"/>
                <a:ea typeface="Manrope" pitchFamily="34" charset="-122"/>
                <a:cs typeface="Manrope" pitchFamily="34" charset="-120"/>
              </a:rPr>
              <a:t> Location</a:t>
            </a:r>
            <a:endParaRPr lang="en-US" sz="1000" dirty="0"/>
          </a:p>
        </p:txBody>
      </p:sp>
      <p:sp>
        <p:nvSpPr>
          <p:cNvPr id="27" name="Shape 24"/>
          <p:cNvSpPr/>
          <p:nvPr/>
        </p:nvSpPr>
        <p:spPr>
          <a:xfrm>
            <a:off x="12725705" y="4705502"/>
            <a:ext cx="2171700" cy="219456"/>
          </a:xfrm>
          <a:prstGeom prst="roundRect">
            <a:avLst>
              <a:gd name="adj" fmla="val 17500"/>
            </a:avLst>
          </a:prstGeom>
          <a:solidFill>
            <a:srgbClr val="F5F3FF"/>
          </a:solidFill>
          <a:ln w="12700">
            <a:solidFill>
              <a:srgbClr val="FFFFFF">
                <a:alpha val="0"/>
              </a:srgbClr>
            </a:solidFill>
            <a:prstDash val="solid"/>
          </a:ln>
        </p:spPr>
        <p:txBody>
          <a:bodyPr/>
          <a:lstStyle/>
          <a:p>
            <a:endParaRPr lang="fr-CI"/>
          </a:p>
        </p:txBody>
      </p:sp>
      <p:sp>
        <p:nvSpPr>
          <p:cNvPr id="28" name="Text 25"/>
          <p:cNvSpPr txBox="1"/>
          <p:nvPr/>
        </p:nvSpPr>
        <p:spPr>
          <a:xfrm>
            <a:off x="12782398" y="4724705"/>
            <a:ext cx="162763"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11</a:t>
            </a:r>
            <a:endParaRPr lang="en-US" sz="1000" dirty="0"/>
          </a:p>
        </p:txBody>
      </p:sp>
      <p:sp>
        <p:nvSpPr>
          <p:cNvPr id="29" name="Text 26"/>
          <p:cNvSpPr txBox="1"/>
          <p:nvPr/>
        </p:nvSpPr>
        <p:spPr>
          <a:xfrm>
            <a:off x="13019227" y="4724705"/>
            <a:ext cx="559613"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Wallet</a:t>
            </a:r>
            <a:endParaRPr lang="en-US" sz="1000" dirty="0"/>
          </a:p>
        </p:txBody>
      </p:sp>
      <p:sp>
        <p:nvSpPr>
          <p:cNvPr id="30" name="Shape 27"/>
          <p:cNvSpPr/>
          <p:nvPr/>
        </p:nvSpPr>
        <p:spPr>
          <a:xfrm>
            <a:off x="15030907" y="4705502"/>
            <a:ext cx="2171700" cy="219456"/>
          </a:xfrm>
          <a:prstGeom prst="roundRect">
            <a:avLst>
              <a:gd name="adj" fmla="val 17500"/>
            </a:avLst>
          </a:prstGeom>
          <a:solidFill>
            <a:srgbClr val="F5F3FF"/>
          </a:solidFill>
          <a:ln w="12700">
            <a:solidFill>
              <a:srgbClr val="FFFFFF">
                <a:alpha val="0"/>
              </a:srgbClr>
            </a:solidFill>
            <a:prstDash val="solid"/>
          </a:ln>
        </p:spPr>
        <p:txBody>
          <a:bodyPr/>
          <a:lstStyle/>
          <a:p>
            <a:endParaRPr lang="fr-CI"/>
          </a:p>
        </p:txBody>
      </p:sp>
      <p:sp>
        <p:nvSpPr>
          <p:cNvPr id="31" name="Text 28"/>
          <p:cNvSpPr txBox="1"/>
          <p:nvPr/>
        </p:nvSpPr>
        <p:spPr>
          <a:xfrm>
            <a:off x="15087600" y="4724705"/>
            <a:ext cx="162763"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12</a:t>
            </a:r>
            <a:endParaRPr lang="en-US" sz="1000" dirty="0"/>
          </a:p>
        </p:txBody>
      </p:sp>
      <p:sp>
        <p:nvSpPr>
          <p:cNvPr id="32" name="Text 29"/>
          <p:cNvSpPr txBox="1"/>
          <p:nvPr/>
        </p:nvSpPr>
        <p:spPr>
          <a:xfrm>
            <a:off x="15323515" y="4724705"/>
            <a:ext cx="1042416"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Commissions</a:t>
            </a:r>
            <a:endParaRPr lang="en-US" sz="1000" dirty="0"/>
          </a:p>
        </p:txBody>
      </p:sp>
      <p:sp>
        <p:nvSpPr>
          <p:cNvPr id="33" name="Shape 30"/>
          <p:cNvSpPr/>
          <p:nvPr/>
        </p:nvSpPr>
        <p:spPr>
          <a:xfrm>
            <a:off x="12725705" y="5000854"/>
            <a:ext cx="2171700" cy="219456"/>
          </a:xfrm>
          <a:prstGeom prst="roundRect">
            <a:avLst>
              <a:gd name="adj" fmla="val 17500"/>
            </a:avLst>
          </a:prstGeom>
          <a:solidFill>
            <a:srgbClr val="F5F3FF"/>
          </a:solidFill>
          <a:ln w="12700">
            <a:solidFill>
              <a:srgbClr val="FFFFFF">
                <a:alpha val="0"/>
              </a:srgbClr>
            </a:solidFill>
            <a:prstDash val="solid"/>
          </a:ln>
        </p:spPr>
        <p:txBody>
          <a:bodyPr/>
          <a:lstStyle/>
          <a:p>
            <a:endParaRPr lang="fr-CI"/>
          </a:p>
        </p:txBody>
      </p:sp>
      <p:sp>
        <p:nvSpPr>
          <p:cNvPr id="34" name="Text 31"/>
          <p:cNvSpPr txBox="1"/>
          <p:nvPr/>
        </p:nvSpPr>
        <p:spPr>
          <a:xfrm>
            <a:off x="12782398" y="5020056"/>
            <a:ext cx="162763"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13</a:t>
            </a:r>
            <a:endParaRPr lang="en-US" sz="1000" dirty="0"/>
          </a:p>
        </p:txBody>
      </p:sp>
      <p:sp>
        <p:nvSpPr>
          <p:cNvPr id="35" name="Text 32"/>
          <p:cNvSpPr txBox="1"/>
          <p:nvPr/>
        </p:nvSpPr>
        <p:spPr>
          <a:xfrm>
            <a:off x="13019227" y="5020056"/>
            <a:ext cx="1120140"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Transactions</a:t>
            </a:r>
            <a:endParaRPr lang="en-US" sz="1000" dirty="0"/>
          </a:p>
        </p:txBody>
      </p:sp>
      <p:sp>
        <p:nvSpPr>
          <p:cNvPr id="36" name="Text 33"/>
          <p:cNvSpPr txBox="1"/>
          <p:nvPr/>
        </p:nvSpPr>
        <p:spPr>
          <a:xfrm>
            <a:off x="15030907" y="5000854"/>
            <a:ext cx="2171700" cy="219456"/>
          </a:xfrm>
          <a:prstGeom prst="rect">
            <a:avLst/>
          </a:prstGeom>
          <a:noFill/>
          <a:ln/>
        </p:spPr>
        <p:txBody>
          <a:bodyPr wrap="squar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14</a:t>
            </a:r>
            <a:r>
              <a:rPr lang="en-US" sz="1000" dirty="0">
                <a:solidFill>
                  <a:srgbClr val="1F2937"/>
                </a:solidFill>
                <a:latin typeface="Manrope" pitchFamily="34" charset="0"/>
                <a:ea typeface="Manrope" pitchFamily="34" charset="-122"/>
                <a:cs typeface="Manrope" pitchFamily="34" charset="-120"/>
              </a:rPr>
              <a:t> Réclamations</a:t>
            </a:r>
            <a:endParaRPr lang="en-US" sz="1000" dirty="0"/>
          </a:p>
        </p:txBody>
      </p:sp>
      <p:sp>
        <p:nvSpPr>
          <p:cNvPr id="37" name="Text 34"/>
          <p:cNvSpPr txBox="1"/>
          <p:nvPr/>
        </p:nvSpPr>
        <p:spPr>
          <a:xfrm>
            <a:off x="12725705" y="5296205"/>
            <a:ext cx="2171700"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15</a:t>
            </a:r>
            <a:r>
              <a:rPr lang="en-US" sz="1000" dirty="0">
                <a:solidFill>
                  <a:srgbClr val="1F2937"/>
                </a:solidFill>
                <a:latin typeface="Manrope" pitchFamily="34" charset="0"/>
                <a:ea typeface="Manrope" pitchFamily="34" charset="-122"/>
                <a:cs typeface="Manrope" pitchFamily="34" charset="-120"/>
              </a:rPr>
              <a:t> Notifications</a:t>
            </a:r>
            <a:endParaRPr lang="en-US" sz="1000" dirty="0"/>
          </a:p>
        </p:txBody>
      </p:sp>
      <p:sp>
        <p:nvSpPr>
          <p:cNvPr id="38" name="Text 35"/>
          <p:cNvSpPr txBox="1"/>
          <p:nvPr/>
        </p:nvSpPr>
        <p:spPr>
          <a:xfrm>
            <a:off x="15030907" y="5296205"/>
            <a:ext cx="2171700"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16</a:t>
            </a:r>
            <a:r>
              <a:rPr lang="en-US" sz="1000" dirty="0">
                <a:solidFill>
                  <a:srgbClr val="1F2937"/>
                </a:solidFill>
                <a:latin typeface="Manrope" pitchFamily="34" charset="0"/>
                <a:ea typeface="Manrope" pitchFamily="34" charset="-122"/>
                <a:cs typeface="Manrope" pitchFamily="34" charset="-120"/>
              </a:rPr>
              <a:t> Logs</a:t>
            </a:r>
            <a:endParaRPr lang="en-US" sz="1000" dirty="0"/>
          </a:p>
        </p:txBody>
      </p:sp>
      <p:sp>
        <p:nvSpPr>
          <p:cNvPr id="39" name="Text 36"/>
          <p:cNvSpPr txBox="1"/>
          <p:nvPr/>
        </p:nvSpPr>
        <p:spPr>
          <a:xfrm>
            <a:off x="12725705" y="5553151"/>
            <a:ext cx="4476902" cy="181051"/>
          </a:xfrm>
          <a:prstGeom prst="rect">
            <a:avLst/>
          </a:prstGeom>
          <a:noFill/>
          <a:ln/>
        </p:spPr>
        <p:txBody>
          <a:bodyPr wrap="none" lIns="0" tIns="0" rIns="0" bIns="0" rtlCol="0" anchor="ctr"/>
          <a:lstStyle/>
          <a:p>
            <a:pPr marL="0" indent="0" algn="l">
              <a:buNone/>
            </a:pPr>
            <a:r>
              <a:rPr lang="en-US" sz="1000" b="1" dirty="0">
                <a:solidFill>
                  <a:srgbClr val="6D28D9"/>
                </a:solidFill>
                <a:latin typeface="JetBrains Mono" pitchFamily="34" charset="0"/>
                <a:ea typeface="JetBrains Mono" pitchFamily="34" charset="-122"/>
                <a:cs typeface="JetBrains Mono" pitchFamily="34" charset="-120"/>
              </a:rPr>
              <a:t>17</a:t>
            </a:r>
            <a:r>
              <a:rPr lang="en-US" sz="1000" dirty="0">
                <a:solidFill>
                  <a:srgbClr val="1F2937"/>
                </a:solidFill>
                <a:latin typeface="Manrope" pitchFamily="34" charset="0"/>
                <a:ea typeface="Manrope" pitchFamily="34" charset="-122"/>
                <a:cs typeface="Manrope" pitchFamily="34" charset="-120"/>
              </a:rPr>
              <a:t> Documents</a:t>
            </a:r>
            <a:endParaRPr lang="en-US" sz="1000" dirty="0"/>
          </a:p>
        </p:txBody>
      </p:sp>
      <p:sp>
        <p:nvSpPr>
          <p:cNvPr id="40" name="Shape 37"/>
          <p:cNvSpPr/>
          <p:nvPr/>
        </p:nvSpPr>
        <p:spPr>
          <a:xfrm>
            <a:off x="12725705" y="5962802"/>
            <a:ext cx="4476902" cy="1295705"/>
          </a:xfrm>
          <a:prstGeom prst="roundRect">
            <a:avLst>
              <a:gd name="adj" fmla="val 7339"/>
            </a:avLst>
          </a:prstGeom>
          <a:solidFill>
            <a:srgbClr val="FFFFFF"/>
          </a:solidFill>
          <a:ln/>
        </p:spPr>
        <p:txBody>
          <a:bodyPr/>
          <a:lstStyle/>
          <a:p>
            <a:endParaRPr lang="fr-CI"/>
          </a:p>
        </p:txBody>
      </p:sp>
      <p:sp>
        <p:nvSpPr>
          <p:cNvPr id="41" name="Shape 38"/>
          <p:cNvSpPr/>
          <p:nvPr/>
        </p:nvSpPr>
        <p:spPr>
          <a:xfrm>
            <a:off x="12725705" y="5962802"/>
            <a:ext cx="38405" cy="1295705"/>
          </a:xfrm>
          <a:prstGeom prst="roundRect">
            <a:avLst>
              <a:gd name="adj" fmla="val 247618"/>
            </a:avLst>
          </a:prstGeom>
          <a:solidFill>
            <a:srgbClr val="6D28D9"/>
          </a:solidFill>
          <a:ln w="12700">
            <a:solidFill>
              <a:srgbClr val="6D28D9">
                <a:alpha val="0"/>
              </a:srgbClr>
            </a:solidFill>
            <a:prstDash val="solid"/>
          </a:ln>
        </p:spPr>
        <p:txBody>
          <a:bodyPr/>
          <a:lstStyle/>
          <a:p>
            <a:endParaRPr lang="fr-CI"/>
          </a:p>
        </p:txBody>
      </p:sp>
      <p:sp>
        <p:nvSpPr>
          <p:cNvPr id="42" name="Text 39"/>
          <p:cNvSpPr txBox="1"/>
          <p:nvPr/>
        </p:nvSpPr>
        <p:spPr>
          <a:xfrm>
            <a:off x="12896698" y="6096305"/>
            <a:ext cx="4172407" cy="133502"/>
          </a:xfrm>
          <a:prstGeom prst="rect">
            <a:avLst/>
          </a:prstGeom>
          <a:noFill/>
          <a:ln/>
        </p:spPr>
        <p:txBody>
          <a:bodyPr wrap="none" lIns="0" tIns="0" rIns="0" bIns="0" rtlCol="0" anchor="ctr"/>
          <a:lstStyle/>
          <a:p>
            <a:pPr marL="0" indent="0" algn="l">
              <a:buNone/>
            </a:pPr>
            <a:r>
              <a:rPr lang="en-US" sz="800" b="1" kern="0" spc="99" dirty="0">
                <a:solidFill>
                  <a:srgbClr val="6D28D9"/>
                </a:solidFill>
                <a:latin typeface="JetBrains Mono" pitchFamily="34" charset="0"/>
                <a:ea typeface="JetBrains Mono" pitchFamily="34" charset="-122"/>
                <a:cs typeface="JetBrains Mono" pitchFamily="34" charset="-120"/>
              </a:rPr>
              <a:t>Données peuplant la base</a:t>
            </a:r>
            <a:endParaRPr lang="en-US" sz="800" dirty="0"/>
          </a:p>
        </p:txBody>
      </p:sp>
      <p:sp>
        <p:nvSpPr>
          <p:cNvPr id="43" name="Text 40"/>
          <p:cNvSpPr txBox="1"/>
          <p:nvPr/>
        </p:nvSpPr>
        <p:spPr>
          <a:xfrm>
            <a:off x="12896698" y="6324905"/>
            <a:ext cx="41724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Données de test contrôlées</a:t>
            </a:r>
            <a:endParaRPr lang="en-US" sz="900" dirty="0"/>
          </a:p>
        </p:txBody>
      </p:sp>
      <p:sp>
        <p:nvSpPr>
          <p:cNvPr id="44" name="Text 41"/>
          <p:cNvSpPr txBox="1"/>
          <p:nvPr/>
        </p:nvSpPr>
        <p:spPr>
          <a:xfrm>
            <a:off x="12896698" y="6522415"/>
            <a:ext cx="41724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Copie anonymisée d'échantillons production</a:t>
            </a:r>
            <a:endParaRPr lang="en-US" sz="900" dirty="0"/>
          </a:p>
        </p:txBody>
      </p:sp>
      <p:sp>
        <p:nvSpPr>
          <p:cNvPr id="45" name="Text 42"/>
          <p:cNvSpPr txBox="1"/>
          <p:nvPr/>
        </p:nvSpPr>
        <p:spPr>
          <a:xfrm>
            <a:off x="12896698" y="6720840"/>
            <a:ext cx="41724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Comptes pilotes pour tous les profils</a:t>
            </a:r>
            <a:endParaRPr lang="en-US" sz="900" dirty="0"/>
          </a:p>
        </p:txBody>
      </p:sp>
      <p:sp>
        <p:nvSpPr>
          <p:cNvPr id="46" name="Text 43"/>
          <p:cNvSpPr txBox="1"/>
          <p:nvPr/>
        </p:nvSpPr>
        <p:spPr>
          <a:xfrm>
            <a:off x="12896698" y="6919265"/>
            <a:ext cx="41724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Soldes et historiques initiaux</a:t>
            </a:r>
            <a:endParaRPr lang="en-US" sz="900" dirty="0"/>
          </a:p>
        </p:txBody>
      </p:sp>
      <p:sp>
        <p:nvSpPr>
          <p:cNvPr id="47" name="Shape 44"/>
          <p:cNvSpPr/>
          <p:nvPr/>
        </p:nvSpPr>
        <p:spPr>
          <a:xfrm>
            <a:off x="0" y="9791395"/>
            <a:ext cx="18288000" cy="495605"/>
          </a:xfrm>
          <a:prstGeom prst="rect">
            <a:avLst/>
          </a:prstGeom>
          <a:solidFill>
            <a:srgbClr val="FFFFFF"/>
          </a:solidFill>
          <a:ln/>
        </p:spPr>
        <p:txBody>
          <a:bodyPr/>
          <a:lstStyle/>
          <a:p>
            <a:endParaRPr lang="fr-CI"/>
          </a:p>
        </p:txBody>
      </p:sp>
      <p:sp>
        <p:nvSpPr>
          <p:cNvPr id="48" name="Shape 45"/>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49" name="Text 46"/>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50" name="Text 47"/>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23 / 59</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5836494" y="256946"/>
            <a:ext cx="2199132"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§13.3 &amp; §13.4 Applications</a:t>
            </a:r>
            <a:endParaRPr lang="en-US" sz="900" dirty="0"/>
          </a:p>
        </p:txBody>
      </p:sp>
      <p:sp>
        <p:nvSpPr>
          <p:cNvPr id="10" name="Text 8"/>
          <p:cNvSpPr txBox="1"/>
          <p:nvPr/>
        </p:nvSpPr>
        <p:spPr>
          <a:xfrm>
            <a:off x="914400" y="1205179"/>
            <a:ext cx="5211166"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13.3 &amp; 13.4 · Applications mobiles &amp; back-office</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6193110" cy="1095451"/>
          </a:xfrm>
          <a:prstGeom prst="rect">
            <a:avLst/>
          </a:prstGeom>
          <a:noFill/>
          <a:ln/>
        </p:spPr>
        <p:txBody>
          <a:bodyPr wrap="squar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2 applications mobiles + 8 interfaces web disponibles en préproduction.</a:t>
            </a:r>
            <a:endParaRPr lang="en-US" sz="3900" dirty="0"/>
          </a:p>
        </p:txBody>
      </p:sp>
      <p:sp>
        <p:nvSpPr>
          <p:cNvPr id="13" name="Shape 11"/>
          <p:cNvSpPr/>
          <p:nvPr/>
        </p:nvSpPr>
        <p:spPr>
          <a:xfrm>
            <a:off x="914400" y="2762402"/>
            <a:ext cx="8191195" cy="6762902"/>
          </a:xfrm>
          <a:prstGeom prst="roundRect">
            <a:avLst>
              <a:gd name="adj" fmla="val 1974"/>
            </a:avLst>
          </a:prstGeom>
          <a:solidFill>
            <a:srgbClr val="F5F3FF"/>
          </a:solidFill>
          <a:ln w="12700">
            <a:solidFill>
              <a:srgbClr val="DDD6FE"/>
            </a:solidFill>
            <a:prstDash val="solid"/>
          </a:ln>
        </p:spPr>
        <p:txBody>
          <a:bodyPr/>
          <a:lstStyle/>
          <a:p>
            <a:endParaRPr lang="fr-CI"/>
          </a:p>
        </p:txBody>
      </p:sp>
      <p:sp>
        <p:nvSpPr>
          <p:cNvPr id="14" name="Shape 12"/>
          <p:cNvSpPr/>
          <p:nvPr/>
        </p:nvSpPr>
        <p:spPr>
          <a:xfrm>
            <a:off x="1218895" y="3010205"/>
            <a:ext cx="418795" cy="418795"/>
          </a:xfrm>
          <a:prstGeom prst="roundRect">
            <a:avLst>
              <a:gd name="adj" fmla="val 22707"/>
            </a:avLst>
          </a:prstGeom>
          <a:solidFill>
            <a:srgbClr val="6D28D9"/>
          </a:solidFill>
          <a:ln w="12700">
            <a:solidFill>
              <a:srgbClr val="FFFFFF">
                <a:alpha val="0"/>
              </a:srgbClr>
            </a:solidFill>
            <a:prstDash val="solid"/>
          </a:ln>
        </p:spPr>
        <p:txBody>
          <a:bodyPr/>
          <a:lstStyle/>
          <a:p>
            <a:endParaRPr lang="fr-CI"/>
          </a:p>
        </p:txBody>
      </p:sp>
      <p:sp>
        <p:nvSpPr>
          <p:cNvPr id="15" name="Text 13"/>
          <p:cNvSpPr txBox="1"/>
          <p:nvPr/>
        </p:nvSpPr>
        <p:spPr>
          <a:xfrm>
            <a:off x="1218895" y="3010205"/>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300" b="1" dirty="0">
                <a:solidFill>
                  <a:srgbClr val="FFFFFF"/>
                </a:solidFill>
                <a:latin typeface="JetBrains Mono" pitchFamily="34" charset="0"/>
                <a:ea typeface="JetBrains Mono" pitchFamily="34" charset="-122"/>
                <a:cs typeface="JetBrains Mono" pitchFamily="34" charset="-120"/>
              </a:rPr>
              <a:t>13.3</a:t>
            </a:r>
            <a:endParaRPr lang="en-US" sz="1300" dirty="0"/>
          </a:p>
        </p:txBody>
      </p:sp>
      <p:sp>
        <p:nvSpPr>
          <p:cNvPr id="16" name="Text 14"/>
          <p:cNvSpPr txBox="1"/>
          <p:nvPr/>
        </p:nvSpPr>
        <p:spPr>
          <a:xfrm>
            <a:off x="1772107" y="3076956"/>
            <a:ext cx="4657954" cy="286207"/>
          </a:xfrm>
          <a:prstGeom prst="rect">
            <a:avLst/>
          </a:prstGeom>
          <a:noFill/>
          <a:ln/>
        </p:spPr>
        <p:txBody>
          <a:bodyPr wrap="none" lIns="0" tIns="0" rIns="0" bIns="0" rtlCol="0" anchor="ctr"/>
          <a:lstStyle/>
          <a:p>
            <a:pPr marL="0" indent="0" algn="l">
              <a:buNone/>
            </a:pPr>
            <a:r>
              <a:rPr lang="en-US" sz="1800" b="1" dirty="0">
                <a:solidFill>
                  <a:srgbClr val="1F2937"/>
                </a:solidFill>
                <a:latin typeface="Manrope" pitchFamily="34" charset="0"/>
                <a:ea typeface="Manrope" pitchFamily="34" charset="-122"/>
                <a:cs typeface="Manrope" pitchFamily="34" charset="-120"/>
              </a:rPr>
              <a:t>Applications mobiles préproduction</a:t>
            </a:r>
            <a:endParaRPr lang="en-US" sz="1800" dirty="0"/>
          </a:p>
        </p:txBody>
      </p:sp>
      <p:sp>
        <p:nvSpPr>
          <p:cNvPr id="17" name="Shape 15"/>
          <p:cNvSpPr/>
          <p:nvPr/>
        </p:nvSpPr>
        <p:spPr>
          <a:xfrm>
            <a:off x="1218895" y="3657600"/>
            <a:ext cx="3733495" cy="1733702"/>
          </a:xfrm>
          <a:prstGeom prst="roundRect">
            <a:avLst>
              <a:gd name="adj" fmla="val 6593"/>
            </a:avLst>
          </a:prstGeom>
          <a:solidFill>
            <a:srgbClr val="FFFFFF"/>
          </a:solidFill>
          <a:ln w="12700">
            <a:solidFill>
              <a:srgbClr val="DDD6FE"/>
            </a:solidFill>
            <a:prstDash val="solid"/>
          </a:ln>
        </p:spPr>
        <p:txBody>
          <a:bodyPr/>
          <a:lstStyle/>
          <a:p>
            <a:endParaRPr lang="fr-CI"/>
          </a:p>
        </p:txBody>
      </p:sp>
      <p:sp>
        <p:nvSpPr>
          <p:cNvPr id="18" name="Shape 16"/>
          <p:cNvSpPr/>
          <p:nvPr/>
        </p:nvSpPr>
        <p:spPr>
          <a:xfrm>
            <a:off x="1419149" y="3857854"/>
            <a:ext cx="457200" cy="761695"/>
          </a:xfrm>
          <a:prstGeom prst="roundRect">
            <a:avLst>
              <a:gd name="adj" fmla="val 16600"/>
            </a:avLst>
          </a:prstGeom>
          <a:solidFill>
            <a:srgbClr val="1F2937"/>
          </a:solidFill>
          <a:ln w="12700">
            <a:solidFill>
              <a:srgbClr val="FFFFFF">
                <a:alpha val="0"/>
              </a:srgbClr>
            </a:solidFill>
            <a:prstDash val="solid"/>
          </a:ln>
        </p:spPr>
        <p:txBody>
          <a:bodyPr/>
          <a:lstStyle/>
          <a:p>
            <a:endParaRPr lang="fr-CI"/>
          </a:p>
        </p:txBody>
      </p:sp>
      <p:sp>
        <p:nvSpPr>
          <p:cNvPr id="19" name="Shape 17"/>
          <p:cNvSpPr/>
          <p:nvPr/>
        </p:nvSpPr>
        <p:spPr>
          <a:xfrm>
            <a:off x="1495044" y="3933749"/>
            <a:ext cx="304495" cy="514807"/>
          </a:xfrm>
          <a:prstGeom prst="roundRect">
            <a:avLst>
              <a:gd name="adj" fmla="val 9309"/>
            </a:avLst>
          </a:prstGeom>
          <a:solidFill>
            <a:srgbClr val="6D28D9"/>
          </a:solidFill>
          <a:ln w="12700">
            <a:solidFill>
              <a:srgbClr val="FFFFFF">
                <a:alpha val="0"/>
              </a:srgbClr>
            </a:solidFill>
            <a:prstDash val="solid"/>
          </a:ln>
        </p:spPr>
        <p:txBody>
          <a:bodyPr/>
          <a:lstStyle/>
          <a:p>
            <a:endParaRPr lang="fr-CI"/>
          </a:p>
        </p:txBody>
      </p:sp>
      <p:pic>
        <p:nvPicPr>
          <p:cNvPr id="20" name="Image 0" descr="gen-dedup-d2e977d2848aef0a47cf11ea68352e32.png"/>
          <p:cNvPicPr>
            <a:picLocks noChangeAspect="1"/>
          </p:cNvPicPr>
          <p:nvPr/>
        </p:nvPicPr>
        <p:blipFill>
          <a:blip r:embed="rId3"/>
          <a:srcRect t="-343" b="-343"/>
          <a:stretch/>
        </p:blipFill>
        <p:spPr>
          <a:xfrm>
            <a:off x="1580998" y="4562856"/>
            <a:ext cx="133502" cy="19202"/>
          </a:xfrm>
          <a:prstGeom prst="rect">
            <a:avLst/>
          </a:prstGeom>
        </p:spPr>
      </p:pic>
      <p:sp>
        <p:nvSpPr>
          <p:cNvPr id="21" name="Text 18"/>
          <p:cNvSpPr txBox="1"/>
          <p:nvPr/>
        </p:nvSpPr>
        <p:spPr>
          <a:xfrm>
            <a:off x="1419149" y="4753051"/>
            <a:ext cx="3333902"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App Client</a:t>
            </a:r>
            <a:endParaRPr lang="en-US" sz="1300" dirty="0"/>
          </a:p>
        </p:txBody>
      </p:sp>
      <p:sp>
        <p:nvSpPr>
          <p:cNvPr id="22" name="Text 19"/>
          <p:cNvSpPr txBox="1"/>
          <p:nvPr/>
        </p:nvSpPr>
        <p:spPr>
          <a:xfrm>
            <a:off x="1419149" y="5020056"/>
            <a:ext cx="3948379"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Multiservices : transport, livraison, fret, location</a:t>
            </a:r>
            <a:endParaRPr lang="en-US" sz="900" dirty="0"/>
          </a:p>
        </p:txBody>
      </p:sp>
      <p:sp>
        <p:nvSpPr>
          <p:cNvPr id="23" name="Shape 20"/>
          <p:cNvSpPr/>
          <p:nvPr/>
        </p:nvSpPr>
        <p:spPr>
          <a:xfrm>
            <a:off x="5105095" y="3657600"/>
            <a:ext cx="3733495" cy="1733702"/>
          </a:xfrm>
          <a:prstGeom prst="roundRect">
            <a:avLst>
              <a:gd name="adj" fmla="val 6593"/>
            </a:avLst>
          </a:prstGeom>
          <a:solidFill>
            <a:srgbClr val="FFFFFF"/>
          </a:solidFill>
          <a:ln w="12700">
            <a:solidFill>
              <a:srgbClr val="DDD6FE"/>
            </a:solidFill>
            <a:prstDash val="solid"/>
          </a:ln>
        </p:spPr>
        <p:txBody>
          <a:bodyPr/>
          <a:lstStyle/>
          <a:p>
            <a:endParaRPr lang="fr-CI"/>
          </a:p>
        </p:txBody>
      </p:sp>
      <p:sp>
        <p:nvSpPr>
          <p:cNvPr id="24" name="Shape 21"/>
          <p:cNvSpPr/>
          <p:nvPr/>
        </p:nvSpPr>
        <p:spPr>
          <a:xfrm>
            <a:off x="5305349" y="3857854"/>
            <a:ext cx="457200" cy="761695"/>
          </a:xfrm>
          <a:prstGeom prst="roundRect">
            <a:avLst>
              <a:gd name="adj" fmla="val 16600"/>
            </a:avLst>
          </a:prstGeom>
          <a:solidFill>
            <a:srgbClr val="1F2937"/>
          </a:solidFill>
          <a:ln w="12700">
            <a:solidFill>
              <a:srgbClr val="FFFFFF">
                <a:alpha val="0"/>
              </a:srgbClr>
            </a:solidFill>
            <a:prstDash val="solid"/>
          </a:ln>
        </p:spPr>
        <p:txBody>
          <a:bodyPr/>
          <a:lstStyle/>
          <a:p>
            <a:endParaRPr lang="fr-CI"/>
          </a:p>
        </p:txBody>
      </p:sp>
      <p:sp>
        <p:nvSpPr>
          <p:cNvPr id="25" name="Shape 22"/>
          <p:cNvSpPr/>
          <p:nvPr/>
        </p:nvSpPr>
        <p:spPr>
          <a:xfrm>
            <a:off x="5381244" y="3933749"/>
            <a:ext cx="304495" cy="514807"/>
          </a:xfrm>
          <a:prstGeom prst="roundRect">
            <a:avLst>
              <a:gd name="adj" fmla="val 9309"/>
            </a:avLst>
          </a:prstGeom>
          <a:solidFill>
            <a:srgbClr val="A78BFA"/>
          </a:solidFill>
          <a:ln w="12700">
            <a:solidFill>
              <a:srgbClr val="FFFFFF">
                <a:alpha val="0"/>
              </a:srgbClr>
            </a:solidFill>
            <a:prstDash val="solid"/>
          </a:ln>
        </p:spPr>
        <p:txBody>
          <a:bodyPr/>
          <a:lstStyle/>
          <a:p>
            <a:endParaRPr lang="fr-CI"/>
          </a:p>
        </p:txBody>
      </p:sp>
      <p:pic>
        <p:nvPicPr>
          <p:cNvPr id="26" name="Image 1" descr="gen-dedup-f4eda0d4d9cacb281b0a67491201bf05.png"/>
          <p:cNvPicPr>
            <a:picLocks noChangeAspect="1"/>
          </p:cNvPicPr>
          <p:nvPr/>
        </p:nvPicPr>
        <p:blipFill>
          <a:blip r:embed="rId4"/>
          <a:srcRect t="-343" b="-343"/>
          <a:stretch/>
        </p:blipFill>
        <p:spPr>
          <a:xfrm>
            <a:off x="5467198" y="4562856"/>
            <a:ext cx="133502" cy="19202"/>
          </a:xfrm>
          <a:prstGeom prst="rect">
            <a:avLst/>
          </a:prstGeom>
        </p:spPr>
      </p:pic>
      <p:sp>
        <p:nvSpPr>
          <p:cNvPr id="27" name="Text 23"/>
          <p:cNvSpPr txBox="1"/>
          <p:nvPr/>
        </p:nvSpPr>
        <p:spPr>
          <a:xfrm>
            <a:off x="5305349" y="4753051"/>
            <a:ext cx="3333902"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App Chauffeur / Livreur</a:t>
            </a:r>
            <a:endParaRPr lang="en-US" sz="1300" dirty="0"/>
          </a:p>
        </p:txBody>
      </p:sp>
      <p:sp>
        <p:nvSpPr>
          <p:cNvPr id="28" name="Text 24"/>
          <p:cNvSpPr txBox="1"/>
          <p:nvPr/>
        </p:nvSpPr>
        <p:spPr>
          <a:xfrm>
            <a:off x="5305349" y="5020056"/>
            <a:ext cx="3333902"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Mission, wallet, recharge, historique</a:t>
            </a:r>
            <a:endParaRPr lang="en-US" sz="900" dirty="0"/>
          </a:p>
        </p:txBody>
      </p:sp>
      <p:sp>
        <p:nvSpPr>
          <p:cNvPr id="29" name="Text 25"/>
          <p:cNvSpPr txBox="1"/>
          <p:nvPr/>
        </p:nvSpPr>
        <p:spPr>
          <a:xfrm>
            <a:off x="1218895" y="5676595"/>
            <a:ext cx="7620610" cy="152705"/>
          </a:xfrm>
          <a:prstGeom prst="rect">
            <a:avLst/>
          </a:prstGeom>
          <a:noFill/>
          <a:ln/>
        </p:spPr>
        <p:txBody>
          <a:bodyPr wrap="none" lIns="0" tIns="0" rIns="0" bIns="0" rtlCol="0" anchor="ctr"/>
          <a:lstStyle/>
          <a:p>
            <a:pPr marL="0" indent="0" algn="l">
              <a:buNone/>
            </a:pPr>
            <a:r>
              <a:rPr lang="en-US" sz="900" b="1" kern="0" spc="90" dirty="0">
                <a:solidFill>
                  <a:srgbClr val="6D28D9"/>
                </a:solidFill>
                <a:latin typeface="JetBrains Mono" pitchFamily="34" charset="0"/>
                <a:ea typeface="JetBrains Mono" pitchFamily="34" charset="-122"/>
                <a:cs typeface="JetBrains Mono" pitchFamily="34" charset="-120"/>
              </a:rPr>
              <a:t>Disponibilité requise</a:t>
            </a:r>
            <a:endParaRPr lang="en-US" sz="900" dirty="0"/>
          </a:p>
        </p:txBody>
      </p:sp>
      <p:sp>
        <p:nvSpPr>
          <p:cNvPr id="30" name="Text 26"/>
          <p:cNvSpPr txBox="1"/>
          <p:nvPr/>
        </p:nvSpPr>
        <p:spPr>
          <a:xfrm>
            <a:off x="1218895" y="5943600"/>
            <a:ext cx="762061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Version Android installable</a:t>
            </a:r>
            <a:endParaRPr lang="en-US" sz="1200" dirty="0"/>
          </a:p>
        </p:txBody>
      </p:sp>
      <p:sp>
        <p:nvSpPr>
          <p:cNvPr id="31" name="Shape 27"/>
          <p:cNvSpPr/>
          <p:nvPr/>
        </p:nvSpPr>
        <p:spPr>
          <a:xfrm>
            <a:off x="1218895" y="6038698"/>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32" name="Text 28"/>
          <p:cNvSpPr txBox="1"/>
          <p:nvPr/>
        </p:nvSpPr>
        <p:spPr>
          <a:xfrm>
            <a:off x="1218895" y="6273698"/>
            <a:ext cx="762061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Fichier APK ou lien de test</a:t>
            </a:r>
            <a:endParaRPr lang="en-US" sz="1200" dirty="0"/>
          </a:p>
        </p:txBody>
      </p:sp>
      <p:sp>
        <p:nvSpPr>
          <p:cNvPr id="33" name="Shape 29"/>
          <p:cNvSpPr/>
          <p:nvPr/>
        </p:nvSpPr>
        <p:spPr>
          <a:xfrm>
            <a:off x="1218895" y="6368796"/>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34" name="Text 30"/>
          <p:cNvSpPr txBox="1"/>
          <p:nvPr/>
        </p:nvSpPr>
        <p:spPr>
          <a:xfrm>
            <a:off x="1218895" y="6603797"/>
            <a:ext cx="762061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Numéro de version clairement identifié</a:t>
            </a:r>
            <a:endParaRPr lang="en-US" sz="1200" dirty="0"/>
          </a:p>
        </p:txBody>
      </p:sp>
      <p:sp>
        <p:nvSpPr>
          <p:cNvPr id="35" name="Shape 31"/>
          <p:cNvSpPr/>
          <p:nvPr/>
        </p:nvSpPr>
        <p:spPr>
          <a:xfrm>
            <a:off x="1218895" y="6698894"/>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36" name="Text 32"/>
          <p:cNvSpPr txBox="1"/>
          <p:nvPr/>
        </p:nvSpPr>
        <p:spPr>
          <a:xfrm>
            <a:off x="1218895" y="6933895"/>
            <a:ext cx="762061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Journal des changements par version</a:t>
            </a:r>
            <a:endParaRPr lang="en-US" sz="1200" dirty="0"/>
          </a:p>
        </p:txBody>
      </p:sp>
      <p:sp>
        <p:nvSpPr>
          <p:cNvPr id="37" name="Shape 33"/>
          <p:cNvSpPr/>
          <p:nvPr/>
        </p:nvSpPr>
        <p:spPr>
          <a:xfrm>
            <a:off x="1218895" y="7028993"/>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38" name="Text 34"/>
          <p:cNvSpPr txBox="1"/>
          <p:nvPr/>
        </p:nvSpPr>
        <p:spPr>
          <a:xfrm>
            <a:off x="1218895" y="7263994"/>
            <a:ext cx="762061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Procédure d'installation / mise à jour / désinstallation</a:t>
            </a:r>
            <a:endParaRPr lang="en-US" sz="1200" dirty="0"/>
          </a:p>
        </p:txBody>
      </p:sp>
      <p:sp>
        <p:nvSpPr>
          <p:cNvPr id="39" name="Shape 35"/>
          <p:cNvSpPr/>
          <p:nvPr/>
        </p:nvSpPr>
        <p:spPr>
          <a:xfrm>
            <a:off x="1218895" y="7359091"/>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40" name="Shape 36"/>
          <p:cNvSpPr/>
          <p:nvPr/>
        </p:nvSpPr>
        <p:spPr>
          <a:xfrm>
            <a:off x="9219895" y="2762402"/>
            <a:ext cx="8191195" cy="6762902"/>
          </a:xfrm>
          <a:prstGeom prst="roundRect">
            <a:avLst>
              <a:gd name="adj" fmla="val 1974"/>
            </a:avLst>
          </a:prstGeom>
          <a:solidFill>
            <a:srgbClr val="1F2937"/>
          </a:solidFill>
          <a:ln w="12700">
            <a:solidFill>
              <a:srgbClr val="FFFFFF">
                <a:alpha val="0"/>
              </a:srgbClr>
            </a:solidFill>
            <a:prstDash val="solid"/>
          </a:ln>
        </p:spPr>
        <p:txBody>
          <a:bodyPr/>
          <a:lstStyle/>
          <a:p>
            <a:endParaRPr lang="fr-CI"/>
          </a:p>
        </p:txBody>
      </p:sp>
      <p:sp>
        <p:nvSpPr>
          <p:cNvPr id="41" name="Shape 37"/>
          <p:cNvSpPr/>
          <p:nvPr/>
        </p:nvSpPr>
        <p:spPr>
          <a:xfrm>
            <a:off x="9525305" y="3185770"/>
            <a:ext cx="418795" cy="418795"/>
          </a:xfrm>
          <a:prstGeom prst="roundRect">
            <a:avLst>
              <a:gd name="adj" fmla="val 22707"/>
            </a:avLst>
          </a:prstGeom>
          <a:solidFill>
            <a:srgbClr val="A78BFA"/>
          </a:solidFill>
          <a:ln w="12700">
            <a:solidFill>
              <a:srgbClr val="FFFFFF">
                <a:alpha val="0"/>
              </a:srgbClr>
            </a:solidFill>
            <a:prstDash val="solid"/>
          </a:ln>
        </p:spPr>
        <p:txBody>
          <a:bodyPr/>
          <a:lstStyle/>
          <a:p>
            <a:endParaRPr lang="fr-CI"/>
          </a:p>
        </p:txBody>
      </p:sp>
      <p:sp>
        <p:nvSpPr>
          <p:cNvPr id="42" name="Text 38"/>
          <p:cNvSpPr txBox="1"/>
          <p:nvPr/>
        </p:nvSpPr>
        <p:spPr>
          <a:xfrm>
            <a:off x="9525305" y="3185770"/>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300" b="1" dirty="0">
                <a:solidFill>
                  <a:srgbClr val="1F2937"/>
                </a:solidFill>
                <a:latin typeface="JetBrains Mono" pitchFamily="34" charset="0"/>
                <a:ea typeface="JetBrains Mono" pitchFamily="34" charset="-122"/>
                <a:cs typeface="JetBrains Mono" pitchFamily="34" charset="-120"/>
              </a:rPr>
              <a:t>13.4</a:t>
            </a:r>
            <a:endParaRPr lang="en-US" sz="1300" dirty="0"/>
          </a:p>
        </p:txBody>
      </p:sp>
      <p:sp>
        <p:nvSpPr>
          <p:cNvPr id="43" name="Text 39"/>
          <p:cNvSpPr txBox="1"/>
          <p:nvPr/>
        </p:nvSpPr>
        <p:spPr>
          <a:xfrm>
            <a:off x="10077602" y="3238805"/>
            <a:ext cx="3937406" cy="314554"/>
          </a:xfrm>
          <a:prstGeom prst="rect">
            <a:avLst/>
          </a:prstGeom>
          <a:noFill/>
          <a:ln/>
        </p:spPr>
        <p:txBody>
          <a:bodyPr wrap="none" lIns="0" tIns="0" rIns="0" bIns="0" rtlCol="0" anchor="ctr"/>
          <a:lstStyle/>
          <a:p>
            <a:pPr marL="0" indent="0" algn="l">
              <a:buNone/>
            </a:pPr>
            <a:r>
              <a:rPr lang="en-US" sz="1800" b="1" dirty="0">
                <a:solidFill>
                  <a:srgbClr val="FFFFFF"/>
                </a:solidFill>
                <a:latin typeface="Manrope" pitchFamily="34" charset="0"/>
                <a:ea typeface="Manrope" pitchFamily="34" charset="-122"/>
                <a:cs typeface="Manrope" pitchFamily="34" charset="-120"/>
              </a:rPr>
              <a:t>8 interfaces back-office &amp; web</a:t>
            </a:r>
            <a:endParaRPr lang="en-US" sz="1800" dirty="0"/>
          </a:p>
        </p:txBody>
      </p:sp>
      <p:sp>
        <p:nvSpPr>
          <p:cNvPr id="44" name="Shape 40"/>
          <p:cNvSpPr/>
          <p:nvPr/>
        </p:nvSpPr>
        <p:spPr>
          <a:xfrm>
            <a:off x="9525305" y="4009644"/>
            <a:ext cx="3752698" cy="638251"/>
          </a:xfrm>
          <a:prstGeom prst="roundRect">
            <a:avLst>
              <a:gd name="adj" fmla="val 14900"/>
            </a:avLst>
          </a:prstGeom>
          <a:solidFill>
            <a:srgbClr val="374151"/>
          </a:solidFill>
          <a:ln w="12700">
            <a:solidFill>
              <a:srgbClr val="FFFFFF">
                <a:alpha val="0"/>
              </a:srgbClr>
            </a:solidFill>
            <a:prstDash val="solid"/>
          </a:ln>
        </p:spPr>
        <p:txBody>
          <a:bodyPr/>
          <a:lstStyle/>
          <a:p>
            <a:endParaRPr lang="fr-CI"/>
          </a:p>
        </p:txBody>
      </p:sp>
      <p:sp>
        <p:nvSpPr>
          <p:cNvPr id="45" name="Text 41"/>
          <p:cNvSpPr txBox="1"/>
          <p:nvPr/>
        </p:nvSpPr>
        <p:spPr>
          <a:xfrm>
            <a:off x="9658807" y="4143146"/>
            <a:ext cx="3486607"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01</a:t>
            </a:r>
            <a:endParaRPr lang="en-US" sz="800" dirty="0"/>
          </a:p>
        </p:txBody>
      </p:sp>
      <p:sp>
        <p:nvSpPr>
          <p:cNvPr id="46" name="Text 42"/>
          <p:cNvSpPr txBox="1"/>
          <p:nvPr/>
        </p:nvSpPr>
        <p:spPr>
          <a:xfrm>
            <a:off x="9658807" y="4315054"/>
            <a:ext cx="3486607" cy="200254"/>
          </a:xfrm>
          <a:prstGeom prst="rect">
            <a:avLst/>
          </a:prstGeom>
          <a:noFill/>
          <a:ln/>
        </p:spPr>
        <p:txBody>
          <a:bodyPr wrap="none" lIns="0" tIns="0" rIns="0" bIns="0" rtlCol="0" anchor="ctr"/>
          <a:lstStyle/>
          <a:p>
            <a:pPr marL="0" indent="0" algn="l">
              <a:buNone/>
            </a:pPr>
            <a:r>
              <a:rPr lang="en-US" sz="1100" b="1" dirty="0">
                <a:solidFill>
                  <a:srgbClr val="FFFFFF"/>
                </a:solidFill>
                <a:latin typeface="Manrope" pitchFamily="34" charset="0"/>
                <a:ea typeface="Manrope" pitchFamily="34" charset="-122"/>
                <a:cs typeface="Manrope" pitchFamily="34" charset="-120"/>
              </a:rPr>
              <a:t>Administrateur central</a:t>
            </a:r>
            <a:endParaRPr lang="en-US" sz="1100" dirty="0"/>
          </a:p>
        </p:txBody>
      </p:sp>
      <p:sp>
        <p:nvSpPr>
          <p:cNvPr id="47" name="Shape 43"/>
          <p:cNvSpPr/>
          <p:nvPr/>
        </p:nvSpPr>
        <p:spPr>
          <a:xfrm>
            <a:off x="13392302" y="4009644"/>
            <a:ext cx="3752698" cy="638251"/>
          </a:xfrm>
          <a:prstGeom prst="roundRect">
            <a:avLst>
              <a:gd name="adj" fmla="val 14900"/>
            </a:avLst>
          </a:prstGeom>
          <a:solidFill>
            <a:srgbClr val="374151"/>
          </a:solidFill>
          <a:ln w="12700">
            <a:solidFill>
              <a:srgbClr val="FFFFFF">
                <a:alpha val="0"/>
              </a:srgbClr>
            </a:solidFill>
            <a:prstDash val="solid"/>
          </a:ln>
        </p:spPr>
        <p:txBody>
          <a:bodyPr/>
          <a:lstStyle/>
          <a:p>
            <a:endParaRPr lang="fr-CI"/>
          </a:p>
        </p:txBody>
      </p:sp>
      <p:sp>
        <p:nvSpPr>
          <p:cNvPr id="48" name="Text 44"/>
          <p:cNvSpPr txBox="1"/>
          <p:nvPr/>
        </p:nvSpPr>
        <p:spPr>
          <a:xfrm>
            <a:off x="13525805" y="4143146"/>
            <a:ext cx="3486607"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02</a:t>
            </a:r>
            <a:endParaRPr lang="en-US" sz="800" dirty="0"/>
          </a:p>
        </p:txBody>
      </p:sp>
      <p:sp>
        <p:nvSpPr>
          <p:cNvPr id="49" name="Text 45"/>
          <p:cNvSpPr txBox="1"/>
          <p:nvPr/>
        </p:nvSpPr>
        <p:spPr>
          <a:xfrm>
            <a:off x="13525805" y="4315054"/>
            <a:ext cx="3486607" cy="200254"/>
          </a:xfrm>
          <a:prstGeom prst="rect">
            <a:avLst/>
          </a:prstGeom>
          <a:noFill/>
          <a:ln/>
        </p:spPr>
        <p:txBody>
          <a:bodyPr wrap="none" lIns="0" tIns="0" rIns="0" bIns="0" rtlCol="0" anchor="ctr"/>
          <a:lstStyle/>
          <a:p>
            <a:pPr marL="0" indent="0" algn="l">
              <a:buNone/>
            </a:pPr>
            <a:r>
              <a:rPr lang="en-US" sz="1100" b="1" dirty="0">
                <a:solidFill>
                  <a:srgbClr val="FFFFFF"/>
                </a:solidFill>
                <a:latin typeface="Manrope" pitchFamily="34" charset="0"/>
                <a:ea typeface="Manrope" pitchFamily="34" charset="-122"/>
                <a:cs typeface="Manrope" pitchFamily="34" charset="-120"/>
              </a:rPr>
              <a:t>Support</a:t>
            </a:r>
            <a:endParaRPr lang="en-US" sz="1100" dirty="0"/>
          </a:p>
        </p:txBody>
      </p:sp>
      <p:sp>
        <p:nvSpPr>
          <p:cNvPr id="50" name="Shape 46"/>
          <p:cNvSpPr/>
          <p:nvPr/>
        </p:nvSpPr>
        <p:spPr>
          <a:xfrm>
            <a:off x="9525305" y="4762195"/>
            <a:ext cx="3752698" cy="638251"/>
          </a:xfrm>
          <a:prstGeom prst="roundRect">
            <a:avLst>
              <a:gd name="adj" fmla="val 14900"/>
            </a:avLst>
          </a:prstGeom>
          <a:solidFill>
            <a:srgbClr val="374151"/>
          </a:solidFill>
          <a:ln w="12700">
            <a:solidFill>
              <a:srgbClr val="FFFFFF">
                <a:alpha val="0"/>
              </a:srgbClr>
            </a:solidFill>
            <a:prstDash val="solid"/>
          </a:ln>
        </p:spPr>
        <p:txBody>
          <a:bodyPr/>
          <a:lstStyle/>
          <a:p>
            <a:endParaRPr lang="fr-CI"/>
          </a:p>
        </p:txBody>
      </p:sp>
      <p:sp>
        <p:nvSpPr>
          <p:cNvPr id="51" name="Text 47"/>
          <p:cNvSpPr txBox="1"/>
          <p:nvPr/>
        </p:nvSpPr>
        <p:spPr>
          <a:xfrm>
            <a:off x="9658807" y="4895698"/>
            <a:ext cx="3486607"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03</a:t>
            </a:r>
            <a:endParaRPr lang="en-US" sz="800" dirty="0"/>
          </a:p>
        </p:txBody>
      </p:sp>
      <p:sp>
        <p:nvSpPr>
          <p:cNvPr id="52" name="Text 48"/>
          <p:cNvSpPr txBox="1"/>
          <p:nvPr/>
        </p:nvSpPr>
        <p:spPr>
          <a:xfrm>
            <a:off x="9658807" y="5067605"/>
            <a:ext cx="3486607" cy="200254"/>
          </a:xfrm>
          <a:prstGeom prst="rect">
            <a:avLst/>
          </a:prstGeom>
          <a:noFill/>
          <a:ln/>
        </p:spPr>
        <p:txBody>
          <a:bodyPr wrap="none" lIns="0" tIns="0" rIns="0" bIns="0" rtlCol="0" anchor="ctr"/>
          <a:lstStyle/>
          <a:p>
            <a:pPr marL="0" indent="0" algn="l">
              <a:buNone/>
            </a:pPr>
            <a:r>
              <a:rPr lang="en-US" sz="1100" b="1" dirty="0">
                <a:solidFill>
                  <a:srgbClr val="FFFFFF"/>
                </a:solidFill>
                <a:latin typeface="Manrope" pitchFamily="34" charset="0"/>
                <a:ea typeface="Manrope" pitchFamily="34" charset="-122"/>
                <a:cs typeface="Manrope" pitchFamily="34" charset="-120"/>
              </a:rPr>
              <a:t>Finance</a:t>
            </a:r>
            <a:endParaRPr lang="en-US" sz="1100" dirty="0"/>
          </a:p>
        </p:txBody>
      </p:sp>
      <p:sp>
        <p:nvSpPr>
          <p:cNvPr id="53" name="Shape 49"/>
          <p:cNvSpPr/>
          <p:nvPr/>
        </p:nvSpPr>
        <p:spPr>
          <a:xfrm>
            <a:off x="13392302" y="4762195"/>
            <a:ext cx="3752698" cy="638251"/>
          </a:xfrm>
          <a:prstGeom prst="roundRect">
            <a:avLst>
              <a:gd name="adj" fmla="val 14900"/>
            </a:avLst>
          </a:prstGeom>
          <a:solidFill>
            <a:srgbClr val="374151"/>
          </a:solidFill>
          <a:ln w="12700">
            <a:solidFill>
              <a:srgbClr val="FFFFFF">
                <a:alpha val="0"/>
              </a:srgbClr>
            </a:solidFill>
            <a:prstDash val="solid"/>
          </a:ln>
        </p:spPr>
        <p:txBody>
          <a:bodyPr/>
          <a:lstStyle/>
          <a:p>
            <a:endParaRPr lang="fr-CI"/>
          </a:p>
        </p:txBody>
      </p:sp>
      <p:sp>
        <p:nvSpPr>
          <p:cNvPr id="54" name="Text 50"/>
          <p:cNvSpPr txBox="1"/>
          <p:nvPr/>
        </p:nvSpPr>
        <p:spPr>
          <a:xfrm>
            <a:off x="13525805" y="4895698"/>
            <a:ext cx="3486607"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04</a:t>
            </a:r>
            <a:endParaRPr lang="en-US" sz="800" dirty="0"/>
          </a:p>
        </p:txBody>
      </p:sp>
      <p:sp>
        <p:nvSpPr>
          <p:cNvPr id="55" name="Text 51"/>
          <p:cNvSpPr txBox="1"/>
          <p:nvPr/>
        </p:nvSpPr>
        <p:spPr>
          <a:xfrm>
            <a:off x="13525805" y="5067605"/>
            <a:ext cx="3486607" cy="200254"/>
          </a:xfrm>
          <a:prstGeom prst="rect">
            <a:avLst/>
          </a:prstGeom>
          <a:noFill/>
          <a:ln/>
        </p:spPr>
        <p:txBody>
          <a:bodyPr wrap="none" lIns="0" tIns="0" rIns="0" bIns="0" rtlCol="0" anchor="ctr"/>
          <a:lstStyle/>
          <a:p>
            <a:pPr marL="0" indent="0" algn="l">
              <a:buNone/>
            </a:pPr>
            <a:r>
              <a:rPr lang="en-US" sz="1100" b="1" dirty="0">
                <a:solidFill>
                  <a:srgbClr val="FFFFFF"/>
                </a:solidFill>
                <a:latin typeface="Manrope" pitchFamily="34" charset="0"/>
                <a:ea typeface="Manrope" pitchFamily="34" charset="-122"/>
                <a:cs typeface="Manrope" pitchFamily="34" charset="-120"/>
              </a:rPr>
              <a:t>Partenaire</a:t>
            </a:r>
            <a:endParaRPr lang="en-US" sz="1100" dirty="0"/>
          </a:p>
        </p:txBody>
      </p:sp>
      <p:sp>
        <p:nvSpPr>
          <p:cNvPr id="56" name="Shape 52"/>
          <p:cNvSpPr/>
          <p:nvPr/>
        </p:nvSpPr>
        <p:spPr>
          <a:xfrm>
            <a:off x="9525305" y="5514746"/>
            <a:ext cx="3752698" cy="638251"/>
          </a:xfrm>
          <a:prstGeom prst="roundRect">
            <a:avLst>
              <a:gd name="adj" fmla="val 14900"/>
            </a:avLst>
          </a:prstGeom>
          <a:solidFill>
            <a:srgbClr val="374151"/>
          </a:solidFill>
          <a:ln w="12700">
            <a:solidFill>
              <a:srgbClr val="FFFFFF">
                <a:alpha val="0"/>
              </a:srgbClr>
            </a:solidFill>
            <a:prstDash val="solid"/>
          </a:ln>
        </p:spPr>
        <p:txBody>
          <a:bodyPr/>
          <a:lstStyle/>
          <a:p>
            <a:endParaRPr lang="fr-CI"/>
          </a:p>
        </p:txBody>
      </p:sp>
      <p:sp>
        <p:nvSpPr>
          <p:cNvPr id="57" name="Text 53"/>
          <p:cNvSpPr txBox="1"/>
          <p:nvPr/>
        </p:nvSpPr>
        <p:spPr>
          <a:xfrm>
            <a:off x="9658807" y="5648249"/>
            <a:ext cx="3486607"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05</a:t>
            </a:r>
            <a:endParaRPr lang="en-US" sz="800" dirty="0"/>
          </a:p>
        </p:txBody>
      </p:sp>
      <p:sp>
        <p:nvSpPr>
          <p:cNvPr id="58" name="Text 54"/>
          <p:cNvSpPr txBox="1"/>
          <p:nvPr/>
        </p:nvSpPr>
        <p:spPr>
          <a:xfrm>
            <a:off x="9658807" y="5820156"/>
            <a:ext cx="3486607" cy="200254"/>
          </a:xfrm>
          <a:prstGeom prst="rect">
            <a:avLst/>
          </a:prstGeom>
          <a:noFill/>
          <a:ln/>
        </p:spPr>
        <p:txBody>
          <a:bodyPr wrap="none" lIns="0" tIns="0" rIns="0" bIns="0" rtlCol="0" anchor="ctr"/>
          <a:lstStyle/>
          <a:p>
            <a:pPr marL="0" indent="0" algn="l">
              <a:buNone/>
            </a:pPr>
            <a:r>
              <a:rPr lang="en-US" sz="1100" b="1" dirty="0">
                <a:solidFill>
                  <a:srgbClr val="FFFFFF"/>
                </a:solidFill>
                <a:latin typeface="Manrope" pitchFamily="34" charset="0"/>
                <a:ea typeface="Manrope" pitchFamily="34" charset="-122"/>
                <a:cs typeface="Manrope" pitchFamily="34" charset="-120"/>
              </a:rPr>
              <a:t>Franchise</a:t>
            </a:r>
            <a:endParaRPr lang="en-US" sz="1100" dirty="0"/>
          </a:p>
        </p:txBody>
      </p:sp>
      <p:sp>
        <p:nvSpPr>
          <p:cNvPr id="59" name="Shape 55"/>
          <p:cNvSpPr/>
          <p:nvPr/>
        </p:nvSpPr>
        <p:spPr>
          <a:xfrm>
            <a:off x="13392302" y="5514746"/>
            <a:ext cx="3752698" cy="638251"/>
          </a:xfrm>
          <a:prstGeom prst="roundRect">
            <a:avLst>
              <a:gd name="adj" fmla="val 14900"/>
            </a:avLst>
          </a:prstGeom>
          <a:solidFill>
            <a:srgbClr val="374151"/>
          </a:solidFill>
          <a:ln w="12700">
            <a:solidFill>
              <a:srgbClr val="FFFFFF">
                <a:alpha val="0"/>
              </a:srgbClr>
            </a:solidFill>
            <a:prstDash val="solid"/>
          </a:ln>
        </p:spPr>
        <p:txBody>
          <a:bodyPr/>
          <a:lstStyle/>
          <a:p>
            <a:endParaRPr lang="fr-CI"/>
          </a:p>
        </p:txBody>
      </p:sp>
      <p:sp>
        <p:nvSpPr>
          <p:cNvPr id="60" name="Text 56"/>
          <p:cNvSpPr txBox="1"/>
          <p:nvPr/>
        </p:nvSpPr>
        <p:spPr>
          <a:xfrm>
            <a:off x="13525805" y="5648249"/>
            <a:ext cx="3486607"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06</a:t>
            </a:r>
            <a:endParaRPr lang="en-US" sz="800" dirty="0"/>
          </a:p>
        </p:txBody>
      </p:sp>
      <p:sp>
        <p:nvSpPr>
          <p:cNvPr id="61" name="Text 57"/>
          <p:cNvSpPr txBox="1"/>
          <p:nvPr/>
        </p:nvSpPr>
        <p:spPr>
          <a:xfrm>
            <a:off x="13525805" y="5820156"/>
            <a:ext cx="3486607" cy="200254"/>
          </a:xfrm>
          <a:prstGeom prst="rect">
            <a:avLst/>
          </a:prstGeom>
          <a:noFill/>
          <a:ln/>
        </p:spPr>
        <p:txBody>
          <a:bodyPr wrap="none" lIns="0" tIns="0" rIns="0" bIns="0" rtlCol="0" anchor="ctr"/>
          <a:lstStyle/>
          <a:p>
            <a:pPr marL="0" indent="0" algn="l">
              <a:buNone/>
            </a:pPr>
            <a:r>
              <a:rPr lang="en-US" sz="1100" b="1" dirty="0">
                <a:solidFill>
                  <a:srgbClr val="FFFFFF"/>
                </a:solidFill>
                <a:latin typeface="Manrope" pitchFamily="34" charset="0"/>
                <a:ea typeface="Manrope" pitchFamily="34" charset="-122"/>
                <a:cs typeface="Manrope" pitchFamily="34" charset="-120"/>
              </a:rPr>
              <a:t>Reporting</a:t>
            </a:r>
            <a:endParaRPr lang="en-US" sz="1100" dirty="0"/>
          </a:p>
        </p:txBody>
      </p:sp>
      <p:sp>
        <p:nvSpPr>
          <p:cNvPr id="62" name="Shape 58"/>
          <p:cNvSpPr/>
          <p:nvPr/>
        </p:nvSpPr>
        <p:spPr>
          <a:xfrm>
            <a:off x="9525305" y="6267298"/>
            <a:ext cx="3752698" cy="638251"/>
          </a:xfrm>
          <a:prstGeom prst="roundRect">
            <a:avLst>
              <a:gd name="adj" fmla="val 14900"/>
            </a:avLst>
          </a:prstGeom>
          <a:solidFill>
            <a:srgbClr val="374151"/>
          </a:solidFill>
          <a:ln w="12700">
            <a:solidFill>
              <a:srgbClr val="FFFFFF">
                <a:alpha val="0"/>
              </a:srgbClr>
            </a:solidFill>
            <a:prstDash val="solid"/>
          </a:ln>
        </p:spPr>
        <p:txBody>
          <a:bodyPr/>
          <a:lstStyle/>
          <a:p>
            <a:endParaRPr lang="fr-CI"/>
          </a:p>
        </p:txBody>
      </p:sp>
      <p:sp>
        <p:nvSpPr>
          <p:cNvPr id="63" name="Text 59"/>
          <p:cNvSpPr txBox="1"/>
          <p:nvPr/>
        </p:nvSpPr>
        <p:spPr>
          <a:xfrm>
            <a:off x="9658807" y="6400800"/>
            <a:ext cx="3486607"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07</a:t>
            </a:r>
            <a:endParaRPr lang="en-US" sz="800" dirty="0"/>
          </a:p>
        </p:txBody>
      </p:sp>
      <p:sp>
        <p:nvSpPr>
          <p:cNvPr id="64" name="Text 60"/>
          <p:cNvSpPr txBox="1"/>
          <p:nvPr/>
        </p:nvSpPr>
        <p:spPr>
          <a:xfrm>
            <a:off x="9658807" y="6572707"/>
            <a:ext cx="3486607" cy="200254"/>
          </a:xfrm>
          <a:prstGeom prst="rect">
            <a:avLst/>
          </a:prstGeom>
          <a:noFill/>
          <a:ln/>
        </p:spPr>
        <p:txBody>
          <a:bodyPr wrap="none" lIns="0" tIns="0" rIns="0" bIns="0" rtlCol="0" anchor="ctr"/>
          <a:lstStyle/>
          <a:p>
            <a:pPr marL="0" indent="0" algn="l">
              <a:buNone/>
            </a:pPr>
            <a:r>
              <a:rPr lang="en-US" sz="1100" b="1" dirty="0">
                <a:solidFill>
                  <a:srgbClr val="FFFFFF"/>
                </a:solidFill>
                <a:latin typeface="Manrope" pitchFamily="34" charset="0"/>
                <a:ea typeface="Manrope" pitchFamily="34" charset="-122"/>
                <a:cs typeface="Manrope" pitchFamily="34" charset="-120"/>
              </a:rPr>
              <a:t>Paramétrage</a:t>
            </a:r>
            <a:endParaRPr lang="en-US" sz="1100" dirty="0"/>
          </a:p>
        </p:txBody>
      </p:sp>
      <p:sp>
        <p:nvSpPr>
          <p:cNvPr id="65" name="Shape 61"/>
          <p:cNvSpPr/>
          <p:nvPr/>
        </p:nvSpPr>
        <p:spPr>
          <a:xfrm>
            <a:off x="13392302" y="6267298"/>
            <a:ext cx="3752698" cy="638251"/>
          </a:xfrm>
          <a:prstGeom prst="roundRect">
            <a:avLst>
              <a:gd name="adj" fmla="val 14900"/>
            </a:avLst>
          </a:prstGeom>
          <a:solidFill>
            <a:srgbClr val="374151"/>
          </a:solidFill>
          <a:ln w="12700">
            <a:solidFill>
              <a:srgbClr val="FFFFFF">
                <a:alpha val="0"/>
              </a:srgbClr>
            </a:solidFill>
            <a:prstDash val="solid"/>
          </a:ln>
        </p:spPr>
        <p:txBody>
          <a:bodyPr/>
          <a:lstStyle/>
          <a:p>
            <a:endParaRPr lang="fr-CI"/>
          </a:p>
        </p:txBody>
      </p:sp>
      <p:sp>
        <p:nvSpPr>
          <p:cNvPr id="66" name="Text 62"/>
          <p:cNvSpPr txBox="1"/>
          <p:nvPr/>
        </p:nvSpPr>
        <p:spPr>
          <a:xfrm>
            <a:off x="13525805" y="6400800"/>
            <a:ext cx="3486607"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08</a:t>
            </a:r>
            <a:endParaRPr lang="en-US" sz="800" dirty="0"/>
          </a:p>
        </p:txBody>
      </p:sp>
      <p:sp>
        <p:nvSpPr>
          <p:cNvPr id="67" name="Text 63"/>
          <p:cNvSpPr txBox="1"/>
          <p:nvPr/>
        </p:nvSpPr>
        <p:spPr>
          <a:xfrm>
            <a:off x="13525805" y="6572707"/>
            <a:ext cx="3486607" cy="200254"/>
          </a:xfrm>
          <a:prstGeom prst="rect">
            <a:avLst/>
          </a:prstGeom>
          <a:noFill/>
          <a:ln/>
        </p:spPr>
        <p:txBody>
          <a:bodyPr wrap="none" lIns="0" tIns="0" rIns="0" bIns="0" rtlCol="0" anchor="ctr"/>
          <a:lstStyle/>
          <a:p>
            <a:pPr marL="0" indent="0" algn="l">
              <a:buNone/>
            </a:pPr>
            <a:r>
              <a:rPr lang="en-US" sz="1100" b="1" dirty="0">
                <a:solidFill>
                  <a:srgbClr val="FFFFFF"/>
                </a:solidFill>
                <a:latin typeface="Manrope" pitchFamily="34" charset="0"/>
                <a:ea typeface="Manrope" pitchFamily="34" charset="-122"/>
                <a:cs typeface="Manrope" pitchFamily="34" charset="-120"/>
              </a:rPr>
              <a:t>Suivi anomalies</a:t>
            </a:r>
            <a:endParaRPr lang="en-US" sz="1100" dirty="0"/>
          </a:p>
        </p:txBody>
      </p:sp>
      <p:sp>
        <p:nvSpPr>
          <p:cNvPr id="68" name="Shape 64"/>
          <p:cNvSpPr/>
          <p:nvPr/>
        </p:nvSpPr>
        <p:spPr>
          <a:xfrm>
            <a:off x="9525305" y="7191756"/>
            <a:ext cx="7619695" cy="1399946"/>
          </a:xfrm>
          <a:prstGeom prst="roundRect">
            <a:avLst>
              <a:gd name="adj" fmla="val 6793"/>
            </a:avLst>
          </a:prstGeom>
          <a:solidFill>
            <a:srgbClr val="4C1D95"/>
          </a:solidFill>
          <a:ln w="12700">
            <a:solidFill>
              <a:srgbClr val="FFFFFF">
                <a:alpha val="0"/>
              </a:srgbClr>
            </a:solidFill>
            <a:prstDash val="solid"/>
          </a:ln>
        </p:spPr>
        <p:txBody>
          <a:bodyPr/>
          <a:lstStyle/>
          <a:p>
            <a:endParaRPr lang="fr-CI"/>
          </a:p>
        </p:txBody>
      </p:sp>
      <p:sp>
        <p:nvSpPr>
          <p:cNvPr id="69" name="Text 65"/>
          <p:cNvSpPr txBox="1"/>
          <p:nvPr/>
        </p:nvSpPr>
        <p:spPr>
          <a:xfrm>
            <a:off x="9696298" y="7362749"/>
            <a:ext cx="7277710" cy="133502"/>
          </a:xfrm>
          <a:prstGeom prst="rect">
            <a:avLst/>
          </a:prstGeom>
          <a:noFill/>
          <a:ln/>
        </p:spPr>
        <p:txBody>
          <a:bodyPr wrap="none" lIns="0" tIns="0" rIns="0" bIns="0" rtlCol="0" anchor="ctr"/>
          <a:lstStyle/>
          <a:p>
            <a:pPr marL="0" indent="0" algn="l">
              <a:buNone/>
            </a:pPr>
            <a:r>
              <a:rPr lang="en-US" sz="800" b="1" kern="0" spc="99" dirty="0">
                <a:solidFill>
                  <a:srgbClr val="C4B5FD"/>
                </a:solidFill>
                <a:latin typeface="JetBrains Mono" pitchFamily="34" charset="0"/>
                <a:ea typeface="JetBrains Mono" pitchFamily="34" charset="-122"/>
                <a:cs typeface="JetBrains Mono" pitchFamily="34" charset="-120"/>
              </a:rPr>
              <a:t>Sécurité &amp; accès — §13.6</a:t>
            </a:r>
            <a:endParaRPr lang="en-US" sz="800" dirty="0"/>
          </a:p>
        </p:txBody>
      </p:sp>
      <p:sp>
        <p:nvSpPr>
          <p:cNvPr id="70" name="Text 66"/>
          <p:cNvSpPr txBox="1"/>
          <p:nvPr/>
        </p:nvSpPr>
        <p:spPr>
          <a:xfrm>
            <a:off x="9696298" y="7591349"/>
            <a:ext cx="7277710" cy="210312"/>
          </a:xfrm>
          <a:prstGeom prst="rect">
            <a:avLst/>
          </a:prstGeom>
          <a:noFill/>
          <a:ln/>
        </p:spPr>
        <p:txBody>
          <a:bodyPr wrap="none" lIns="0" tIns="0" rIns="0" bIns="0" rtlCol="0" anchor="ctr"/>
          <a:lstStyle/>
          <a:p>
            <a:pPr marL="0" indent="0" algn="l">
              <a:buNone/>
            </a:pPr>
            <a:r>
              <a:rPr lang="en-US" sz="1000" dirty="0">
                <a:solidFill>
                  <a:srgbClr val="E5E7EB"/>
                </a:solidFill>
                <a:latin typeface="Manrope" pitchFamily="34" charset="0"/>
                <a:ea typeface="Manrope" pitchFamily="34" charset="-122"/>
                <a:cs typeface="Manrope" pitchFamily="34" charset="-120"/>
              </a:rPr>
              <a:t>· Accès administrateur sécurisé · Gestion des rôles</a:t>
            </a:r>
            <a:endParaRPr lang="en-US" sz="1000" dirty="0"/>
          </a:p>
        </p:txBody>
      </p:sp>
      <p:sp>
        <p:nvSpPr>
          <p:cNvPr id="71" name="Text 67"/>
          <p:cNvSpPr txBox="1"/>
          <p:nvPr/>
        </p:nvSpPr>
        <p:spPr>
          <a:xfrm>
            <a:off x="9696298" y="7798003"/>
            <a:ext cx="7277710" cy="210312"/>
          </a:xfrm>
          <a:prstGeom prst="rect">
            <a:avLst/>
          </a:prstGeom>
          <a:noFill/>
          <a:ln/>
        </p:spPr>
        <p:txBody>
          <a:bodyPr wrap="none" lIns="0" tIns="0" rIns="0" bIns="0" rtlCol="0" anchor="ctr"/>
          <a:lstStyle/>
          <a:p>
            <a:pPr marL="0" indent="0" algn="l">
              <a:buNone/>
            </a:pPr>
            <a:r>
              <a:rPr lang="en-US" sz="1000" dirty="0">
                <a:solidFill>
                  <a:srgbClr val="E5E7EB"/>
                </a:solidFill>
                <a:latin typeface="Manrope" pitchFamily="34" charset="0"/>
                <a:ea typeface="Manrope" pitchFamily="34" charset="-122"/>
                <a:cs typeface="Manrope" pitchFamily="34" charset="-120"/>
              </a:rPr>
              <a:t>· OTP / mots de passe fonctionnels · Limitation accès techniques</a:t>
            </a:r>
            <a:endParaRPr lang="en-US" sz="1000" dirty="0"/>
          </a:p>
        </p:txBody>
      </p:sp>
      <p:sp>
        <p:nvSpPr>
          <p:cNvPr id="72" name="Text 68"/>
          <p:cNvSpPr txBox="1"/>
          <p:nvPr/>
        </p:nvSpPr>
        <p:spPr>
          <a:xfrm>
            <a:off x="9696298" y="8004658"/>
            <a:ext cx="7277710" cy="210312"/>
          </a:xfrm>
          <a:prstGeom prst="rect">
            <a:avLst/>
          </a:prstGeom>
          <a:noFill/>
          <a:ln/>
        </p:spPr>
        <p:txBody>
          <a:bodyPr wrap="none" lIns="0" tIns="0" rIns="0" bIns="0" rtlCol="0" anchor="ctr"/>
          <a:lstStyle/>
          <a:p>
            <a:pPr marL="0" indent="0" algn="l">
              <a:buNone/>
            </a:pPr>
            <a:r>
              <a:rPr lang="en-US" sz="1000" dirty="0">
                <a:solidFill>
                  <a:srgbClr val="E5E7EB"/>
                </a:solidFill>
                <a:latin typeface="Manrope" pitchFamily="34" charset="0"/>
                <a:ea typeface="Manrope" pitchFamily="34" charset="-122"/>
                <a:cs typeface="Manrope" pitchFamily="34" charset="-120"/>
              </a:rPr>
              <a:t>· Journalisation connexions &amp; actions sensibles</a:t>
            </a:r>
            <a:endParaRPr lang="en-US" sz="1000" dirty="0"/>
          </a:p>
        </p:txBody>
      </p:sp>
      <p:sp>
        <p:nvSpPr>
          <p:cNvPr id="73" name="Text 69"/>
          <p:cNvSpPr txBox="1"/>
          <p:nvPr/>
        </p:nvSpPr>
        <p:spPr>
          <a:xfrm>
            <a:off x="9696298" y="8211312"/>
            <a:ext cx="7277710" cy="210312"/>
          </a:xfrm>
          <a:prstGeom prst="rect">
            <a:avLst/>
          </a:prstGeom>
          <a:noFill/>
          <a:ln/>
        </p:spPr>
        <p:txBody>
          <a:bodyPr wrap="none" lIns="0" tIns="0" rIns="0" bIns="0" rtlCol="0" anchor="ctr"/>
          <a:lstStyle/>
          <a:p>
            <a:pPr marL="0" indent="0" algn="l">
              <a:buNone/>
            </a:pPr>
            <a:r>
              <a:rPr lang="en-US" sz="1000" dirty="0">
                <a:solidFill>
                  <a:srgbClr val="E5E7EB"/>
                </a:solidFill>
                <a:latin typeface="Manrope" pitchFamily="34" charset="0"/>
                <a:ea typeface="Manrope" pitchFamily="34" charset="-122"/>
                <a:cs typeface="Manrope" pitchFamily="34" charset="-120"/>
              </a:rPr>
              <a:t>· Protection documents · Sauvegarde &amp; restauration</a:t>
            </a:r>
            <a:endParaRPr lang="en-US" sz="1000" dirty="0"/>
          </a:p>
        </p:txBody>
      </p:sp>
      <p:sp>
        <p:nvSpPr>
          <p:cNvPr id="74" name="Shape 70"/>
          <p:cNvSpPr/>
          <p:nvPr/>
        </p:nvSpPr>
        <p:spPr>
          <a:xfrm>
            <a:off x="0" y="9791395"/>
            <a:ext cx="18288000" cy="495605"/>
          </a:xfrm>
          <a:prstGeom prst="rect">
            <a:avLst/>
          </a:prstGeom>
          <a:solidFill>
            <a:srgbClr val="FFFFFF"/>
          </a:solidFill>
          <a:ln/>
        </p:spPr>
        <p:txBody>
          <a:bodyPr/>
          <a:lstStyle/>
          <a:p>
            <a:endParaRPr lang="fr-CI"/>
          </a:p>
        </p:txBody>
      </p:sp>
      <p:sp>
        <p:nvSpPr>
          <p:cNvPr id="75" name="Shape 71"/>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76" name="Text 72"/>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77" name="Text 73"/>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24 / 59</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5927019" y="256946"/>
            <a:ext cx="1997050"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§13.5 Services externes</a:t>
            </a:r>
            <a:endParaRPr lang="en-US" sz="900" dirty="0"/>
          </a:p>
        </p:txBody>
      </p:sp>
      <p:sp>
        <p:nvSpPr>
          <p:cNvPr id="10" name="Text 8"/>
          <p:cNvSpPr txBox="1"/>
          <p:nvPr/>
        </p:nvSpPr>
        <p:spPr>
          <a:xfrm>
            <a:off x="914400" y="1205179"/>
            <a:ext cx="3829507"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13.5 · Services externes à connecter</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7878349"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12 services externes à configurer en mode test ou contrôlé.</a:t>
            </a:r>
            <a:endParaRPr lang="en-US" sz="3900" dirty="0"/>
          </a:p>
        </p:txBody>
      </p:sp>
      <p:sp>
        <p:nvSpPr>
          <p:cNvPr id="13" name="Text 11"/>
          <p:cNvSpPr txBox="1"/>
          <p:nvPr/>
        </p:nvSpPr>
        <p:spPr>
          <a:xfrm>
            <a:off x="914400" y="2457907"/>
            <a:ext cx="16193110" cy="257861"/>
          </a:xfrm>
          <a:prstGeom prst="rect">
            <a:avLst/>
          </a:prstGeom>
          <a:noFill/>
          <a:ln/>
        </p:spPr>
        <p:txBody>
          <a:bodyPr wrap="none" lIns="0" tIns="0" rIns="0" bIns="0" rtlCol="0" anchor="ctr"/>
          <a:lstStyle/>
          <a:p>
            <a:pPr marL="0" indent="0" algn="l">
              <a:buNone/>
            </a:pPr>
            <a:r>
              <a:rPr lang="en-US" sz="1300" dirty="0">
                <a:solidFill>
                  <a:srgbClr val="4B5563"/>
                </a:solidFill>
                <a:latin typeface="Manrope" pitchFamily="34" charset="0"/>
                <a:ea typeface="Manrope" pitchFamily="34" charset="-122"/>
                <a:cs typeface="Manrope" pitchFamily="34" charset="-120"/>
              </a:rPr>
              <a:t>Chaque service est connecté avec des clés de test, des numéros simulés ou des passerelles sandbox. Aucune transaction réelle ni envoi production.</a:t>
            </a:r>
            <a:endParaRPr lang="en-US" sz="1300" dirty="0"/>
          </a:p>
        </p:txBody>
      </p:sp>
      <p:sp>
        <p:nvSpPr>
          <p:cNvPr id="14" name="Shape 12"/>
          <p:cNvSpPr/>
          <p:nvPr/>
        </p:nvSpPr>
        <p:spPr>
          <a:xfrm>
            <a:off x="914400" y="3143707"/>
            <a:ext cx="4009644" cy="1676095"/>
          </a:xfrm>
          <a:prstGeom prst="roundRect">
            <a:avLst>
              <a:gd name="adj" fmla="val 7965"/>
            </a:avLst>
          </a:prstGeom>
          <a:solidFill>
            <a:srgbClr val="F5F4FB"/>
          </a:solidFill>
          <a:ln w="12700">
            <a:solidFill>
              <a:srgbClr val="E5E7EB"/>
            </a:solidFill>
            <a:prstDash val="solid"/>
          </a:ln>
        </p:spPr>
        <p:txBody>
          <a:bodyPr/>
          <a:lstStyle/>
          <a:p>
            <a:endParaRPr lang="fr-CI"/>
          </a:p>
        </p:txBody>
      </p:sp>
      <p:sp>
        <p:nvSpPr>
          <p:cNvPr id="15" name="Shape 13"/>
          <p:cNvSpPr/>
          <p:nvPr/>
        </p:nvSpPr>
        <p:spPr>
          <a:xfrm>
            <a:off x="1133856" y="3362249"/>
            <a:ext cx="418795" cy="418795"/>
          </a:xfrm>
          <a:prstGeom prst="roundRect">
            <a:avLst>
              <a:gd name="adj" fmla="val 22707"/>
            </a:avLst>
          </a:prstGeom>
          <a:solidFill>
            <a:srgbClr val="6D28D9"/>
          </a:solidFill>
          <a:ln w="12700">
            <a:solidFill>
              <a:srgbClr val="FFFFFF">
                <a:alpha val="0"/>
              </a:srgbClr>
            </a:solidFill>
            <a:prstDash val="solid"/>
          </a:ln>
        </p:spPr>
        <p:txBody>
          <a:bodyPr/>
          <a:lstStyle/>
          <a:p>
            <a:endParaRPr lang="fr-CI"/>
          </a:p>
        </p:txBody>
      </p:sp>
      <p:sp>
        <p:nvSpPr>
          <p:cNvPr id="16" name="Text 14"/>
          <p:cNvSpPr txBox="1"/>
          <p:nvPr/>
        </p:nvSpPr>
        <p:spPr>
          <a:xfrm>
            <a:off x="1268273" y="3491179"/>
            <a:ext cx="152705" cy="162763"/>
          </a:xfrm>
          <a:prstGeom prst="rect">
            <a:avLst/>
          </a:prstGeom>
          <a:noFill/>
          <a:ln/>
        </p:spPr>
        <p:txBody>
          <a:bodyPr wrap="none" lIns="0" tIns="0" rIns="0" bIns="0" rtlCol="0" anchor="ctr"/>
          <a:lstStyle/>
          <a:p>
            <a:pPr marL="0" indent="0" algn="l">
              <a:buNone/>
            </a:pPr>
            <a:r>
              <a:rPr lang="en-US" sz="900" b="1" dirty="0">
                <a:solidFill>
                  <a:srgbClr val="FFFFFF"/>
                </a:solidFill>
                <a:latin typeface="JetBrains Mono" pitchFamily="34" charset="0"/>
                <a:ea typeface="JetBrains Mono" pitchFamily="34" charset="-122"/>
                <a:cs typeface="JetBrains Mono" pitchFamily="34" charset="-120"/>
              </a:rPr>
              <a:t>01</a:t>
            </a:r>
            <a:endParaRPr lang="en-US" sz="900" dirty="0"/>
          </a:p>
        </p:txBody>
      </p:sp>
      <p:sp>
        <p:nvSpPr>
          <p:cNvPr id="17" name="Text 15"/>
          <p:cNvSpPr txBox="1"/>
          <p:nvPr/>
        </p:nvSpPr>
        <p:spPr>
          <a:xfrm>
            <a:off x="1133856" y="3914546"/>
            <a:ext cx="3572561"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SMS OTP</a:t>
            </a:r>
            <a:endParaRPr lang="en-US" sz="1300" dirty="0"/>
          </a:p>
        </p:txBody>
      </p:sp>
      <p:sp>
        <p:nvSpPr>
          <p:cNvPr id="18" name="Text 16"/>
          <p:cNvSpPr txBox="1"/>
          <p:nvPr/>
        </p:nvSpPr>
        <p:spPr>
          <a:xfrm>
            <a:off x="1133856" y="4200754"/>
            <a:ext cx="3572561" cy="400507"/>
          </a:xfrm>
          <a:prstGeom prst="rect">
            <a:avLst/>
          </a:prstGeom>
          <a:noFill/>
          <a:ln/>
        </p:spPr>
        <p:txBody>
          <a:bodyPr wrap="square" lIns="0" tIns="0" rIns="0" bIns="0" rtlCol="0" anchor="ctr"/>
          <a:lstStyle/>
          <a:p>
            <a:pPr marL="0" indent="0" algn="l">
              <a:buNone/>
            </a:pPr>
            <a:r>
              <a:rPr lang="en-US" sz="1000" dirty="0">
                <a:solidFill>
                  <a:srgbClr val="6B7280"/>
                </a:solidFill>
                <a:latin typeface="Manrope" pitchFamily="34" charset="0"/>
                <a:ea typeface="Manrope" pitchFamily="34" charset="-122"/>
                <a:cs typeface="Manrope" pitchFamily="34" charset="-120"/>
              </a:rPr>
              <a:t>Authentification client &amp; chauffeur. Numéros test Orange, MTN, Moov, Wave.</a:t>
            </a:r>
            <a:endParaRPr lang="en-US" sz="1000" dirty="0"/>
          </a:p>
        </p:txBody>
      </p:sp>
      <p:sp>
        <p:nvSpPr>
          <p:cNvPr id="19" name="Shape 17"/>
          <p:cNvSpPr/>
          <p:nvPr/>
        </p:nvSpPr>
        <p:spPr>
          <a:xfrm>
            <a:off x="5076749" y="3143707"/>
            <a:ext cx="4009644" cy="1676095"/>
          </a:xfrm>
          <a:prstGeom prst="roundRect">
            <a:avLst>
              <a:gd name="adj" fmla="val 7965"/>
            </a:avLst>
          </a:prstGeom>
          <a:solidFill>
            <a:srgbClr val="F5F4FB"/>
          </a:solidFill>
          <a:ln w="12700">
            <a:solidFill>
              <a:srgbClr val="E5E7EB"/>
            </a:solidFill>
            <a:prstDash val="solid"/>
          </a:ln>
        </p:spPr>
        <p:txBody>
          <a:bodyPr/>
          <a:lstStyle/>
          <a:p>
            <a:endParaRPr lang="fr-CI"/>
          </a:p>
        </p:txBody>
      </p:sp>
      <p:sp>
        <p:nvSpPr>
          <p:cNvPr id="20" name="Shape 18"/>
          <p:cNvSpPr/>
          <p:nvPr/>
        </p:nvSpPr>
        <p:spPr>
          <a:xfrm>
            <a:off x="5296205" y="3362249"/>
            <a:ext cx="418795" cy="418795"/>
          </a:xfrm>
          <a:prstGeom prst="roundRect">
            <a:avLst>
              <a:gd name="adj" fmla="val 22707"/>
            </a:avLst>
          </a:prstGeom>
          <a:solidFill>
            <a:srgbClr val="6D28D9"/>
          </a:solidFill>
          <a:ln w="12700">
            <a:solidFill>
              <a:srgbClr val="FFFFFF">
                <a:alpha val="0"/>
              </a:srgbClr>
            </a:solidFill>
            <a:prstDash val="solid"/>
          </a:ln>
        </p:spPr>
        <p:txBody>
          <a:bodyPr/>
          <a:lstStyle/>
          <a:p>
            <a:endParaRPr lang="fr-CI"/>
          </a:p>
        </p:txBody>
      </p:sp>
      <p:sp>
        <p:nvSpPr>
          <p:cNvPr id="21" name="Text 19"/>
          <p:cNvSpPr txBox="1"/>
          <p:nvPr/>
        </p:nvSpPr>
        <p:spPr>
          <a:xfrm>
            <a:off x="5430622" y="3491179"/>
            <a:ext cx="152705" cy="162763"/>
          </a:xfrm>
          <a:prstGeom prst="rect">
            <a:avLst/>
          </a:prstGeom>
          <a:noFill/>
          <a:ln/>
        </p:spPr>
        <p:txBody>
          <a:bodyPr wrap="none" lIns="0" tIns="0" rIns="0" bIns="0" rtlCol="0" anchor="ctr"/>
          <a:lstStyle/>
          <a:p>
            <a:pPr marL="0" indent="0" algn="l">
              <a:buNone/>
            </a:pPr>
            <a:r>
              <a:rPr lang="en-US" sz="900" b="1" dirty="0">
                <a:solidFill>
                  <a:srgbClr val="FFFFFF"/>
                </a:solidFill>
                <a:latin typeface="JetBrains Mono" pitchFamily="34" charset="0"/>
                <a:ea typeface="JetBrains Mono" pitchFamily="34" charset="-122"/>
                <a:cs typeface="JetBrains Mono" pitchFamily="34" charset="-120"/>
              </a:rPr>
              <a:t>02</a:t>
            </a:r>
            <a:endParaRPr lang="en-US" sz="900" dirty="0"/>
          </a:p>
        </p:txBody>
      </p:sp>
      <p:sp>
        <p:nvSpPr>
          <p:cNvPr id="22" name="Text 20"/>
          <p:cNvSpPr txBox="1"/>
          <p:nvPr/>
        </p:nvSpPr>
        <p:spPr>
          <a:xfrm>
            <a:off x="5296205" y="3914546"/>
            <a:ext cx="3572561"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Notifications push</a:t>
            </a:r>
            <a:endParaRPr lang="en-US" sz="1300" dirty="0"/>
          </a:p>
        </p:txBody>
      </p:sp>
      <p:sp>
        <p:nvSpPr>
          <p:cNvPr id="23" name="Text 21"/>
          <p:cNvSpPr txBox="1"/>
          <p:nvPr/>
        </p:nvSpPr>
        <p:spPr>
          <a:xfrm>
            <a:off x="5296205" y="4200754"/>
            <a:ext cx="3572561" cy="400507"/>
          </a:xfrm>
          <a:prstGeom prst="rect">
            <a:avLst/>
          </a:prstGeom>
          <a:noFill/>
          <a:ln/>
        </p:spPr>
        <p:txBody>
          <a:bodyPr wrap="square" lIns="0" tIns="0" rIns="0" bIns="0" rtlCol="0" anchor="ctr"/>
          <a:lstStyle/>
          <a:p>
            <a:pPr marL="0" indent="0" algn="l">
              <a:buNone/>
            </a:pPr>
            <a:r>
              <a:rPr lang="en-US" sz="1000" dirty="0">
                <a:solidFill>
                  <a:srgbClr val="6B7280"/>
                </a:solidFill>
                <a:latin typeface="Manrope" pitchFamily="34" charset="0"/>
                <a:ea typeface="Manrope" pitchFamily="34" charset="-122"/>
                <a:cs typeface="Manrope" pitchFamily="34" charset="-120"/>
              </a:rPr>
              <a:t>Affectations, statuts, alertes. Test mobile en condition réelle.</a:t>
            </a:r>
            <a:endParaRPr lang="en-US" sz="1000" dirty="0"/>
          </a:p>
        </p:txBody>
      </p:sp>
      <p:sp>
        <p:nvSpPr>
          <p:cNvPr id="24" name="Shape 22"/>
          <p:cNvSpPr/>
          <p:nvPr/>
        </p:nvSpPr>
        <p:spPr>
          <a:xfrm>
            <a:off x="9239098" y="3143707"/>
            <a:ext cx="4009644" cy="1676095"/>
          </a:xfrm>
          <a:prstGeom prst="roundRect">
            <a:avLst>
              <a:gd name="adj" fmla="val 7965"/>
            </a:avLst>
          </a:prstGeom>
          <a:solidFill>
            <a:srgbClr val="F5F4FB"/>
          </a:solidFill>
          <a:ln w="12700">
            <a:solidFill>
              <a:srgbClr val="E5E7EB"/>
            </a:solidFill>
            <a:prstDash val="solid"/>
          </a:ln>
        </p:spPr>
        <p:txBody>
          <a:bodyPr/>
          <a:lstStyle/>
          <a:p>
            <a:endParaRPr lang="fr-CI"/>
          </a:p>
        </p:txBody>
      </p:sp>
      <p:sp>
        <p:nvSpPr>
          <p:cNvPr id="25" name="Shape 23"/>
          <p:cNvSpPr/>
          <p:nvPr/>
        </p:nvSpPr>
        <p:spPr>
          <a:xfrm>
            <a:off x="9458554" y="3362249"/>
            <a:ext cx="418795" cy="418795"/>
          </a:xfrm>
          <a:prstGeom prst="roundRect">
            <a:avLst>
              <a:gd name="adj" fmla="val 22707"/>
            </a:avLst>
          </a:prstGeom>
          <a:solidFill>
            <a:srgbClr val="6D28D9"/>
          </a:solidFill>
          <a:ln w="12700">
            <a:solidFill>
              <a:srgbClr val="FFFFFF">
                <a:alpha val="0"/>
              </a:srgbClr>
            </a:solidFill>
            <a:prstDash val="solid"/>
          </a:ln>
        </p:spPr>
        <p:txBody>
          <a:bodyPr/>
          <a:lstStyle/>
          <a:p>
            <a:endParaRPr lang="fr-CI"/>
          </a:p>
        </p:txBody>
      </p:sp>
      <p:sp>
        <p:nvSpPr>
          <p:cNvPr id="26" name="Text 24"/>
          <p:cNvSpPr txBox="1"/>
          <p:nvPr/>
        </p:nvSpPr>
        <p:spPr>
          <a:xfrm>
            <a:off x="9593885" y="3491179"/>
            <a:ext cx="152705" cy="162763"/>
          </a:xfrm>
          <a:prstGeom prst="rect">
            <a:avLst/>
          </a:prstGeom>
          <a:noFill/>
          <a:ln/>
        </p:spPr>
        <p:txBody>
          <a:bodyPr wrap="none" lIns="0" tIns="0" rIns="0" bIns="0" rtlCol="0" anchor="ctr"/>
          <a:lstStyle/>
          <a:p>
            <a:pPr marL="0" indent="0" algn="l">
              <a:buNone/>
            </a:pPr>
            <a:r>
              <a:rPr lang="en-US" sz="900" b="1" dirty="0">
                <a:solidFill>
                  <a:srgbClr val="FFFFFF"/>
                </a:solidFill>
                <a:latin typeface="JetBrains Mono" pitchFamily="34" charset="0"/>
                <a:ea typeface="JetBrains Mono" pitchFamily="34" charset="-122"/>
                <a:cs typeface="JetBrains Mono" pitchFamily="34" charset="-120"/>
              </a:rPr>
              <a:t>03</a:t>
            </a:r>
            <a:endParaRPr lang="en-US" sz="900" dirty="0"/>
          </a:p>
        </p:txBody>
      </p:sp>
      <p:sp>
        <p:nvSpPr>
          <p:cNvPr id="27" name="Text 25"/>
          <p:cNvSpPr txBox="1"/>
          <p:nvPr/>
        </p:nvSpPr>
        <p:spPr>
          <a:xfrm>
            <a:off x="9458554" y="3914546"/>
            <a:ext cx="3572561"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Email transactionnel</a:t>
            </a:r>
            <a:endParaRPr lang="en-US" sz="1300" dirty="0"/>
          </a:p>
        </p:txBody>
      </p:sp>
      <p:sp>
        <p:nvSpPr>
          <p:cNvPr id="28" name="Text 26"/>
          <p:cNvSpPr txBox="1"/>
          <p:nvPr/>
        </p:nvSpPr>
        <p:spPr>
          <a:xfrm>
            <a:off x="9458554" y="4200754"/>
            <a:ext cx="3794760" cy="200254"/>
          </a:xfrm>
          <a:prstGeom prst="rect">
            <a:avLst/>
          </a:prstGeom>
          <a:noFill/>
          <a:ln/>
        </p:spPr>
        <p:txBody>
          <a:bodyPr wrap="none" lIns="0" tIns="0" rIns="0" bIns="0" rtlCol="0" anchor="ctr"/>
          <a:lstStyle/>
          <a:p>
            <a:pPr marL="0" indent="0" algn="l">
              <a:buNone/>
            </a:pPr>
            <a:r>
              <a:rPr lang="en-US" sz="1000" dirty="0">
                <a:solidFill>
                  <a:srgbClr val="6B7280"/>
                </a:solidFill>
                <a:latin typeface="Manrope" pitchFamily="34" charset="0"/>
                <a:ea typeface="Manrope" pitchFamily="34" charset="-122"/>
                <a:cs typeface="Manrope" pitchFamily="34" charset="-120"/>
              </a:rPr>
              <a:t>Confirmations, factures, rapports périodiques.</a:t>
            </a:r>
            <a:endParaRPr lang="en-US" sz="1000" dirty="0"/>
          </a:p>
        </p:txBody>
      </p:sp>
      <p:sp>
        <p:nvSpPr>
          <p:cNvPr id="29" name="Shape 27"/>
          <p:cNvSpPr/>
          <p:nvPr/>
        </p:nvSpPr>
        <p:spPr>
          <a:xfrm>
            <a:off x="13401446" y="3143707"/>
            <a:ext cx="4009644" cy="1676095"/>
          </a:xfrm>
          <a:prstGeom prst="roundRect">
            <a:avLst>
              <a:gd name="adj" fmla="val 7965"/>
            </a:avLst>
          </a:prstGeom>
          <a:solidFill>
            <a:srgbClr val="F5F4FB"/>
          </a:solidFill>
          <a:ln w="12700">
            <a:solidFill>
              <a:srgbClr val="E5E7EB"/>
            </a:solidFill>
            <a:prstDash val="solid"/>
          </a:ln>
        </p:spPr>
        <p:txBody>
          <a:bodyPr/>
          <a:lstStyle/>
          <a:p>
            <a:endParaRPr lang="fr-CI"/>
          </a:p>
        </p:txBody>
      </p:sp>
      <p:sp>
        <p:nvSpPr>
          <p:cNvPr id="30" name="Shape 28"/>
          <p:cNvSpPr/>
          <p:nvPr/>
        </p:nvSpPr>
        <p:spPr>
          <a:xfrm>
            <a:off x="13620902" y="3362249"/>
            <a:ext cx="418795" cy="418795"/>
          </a:xfrm>
          <a:prstGeom prst="roundRect">
            <a:avLst>
              <a:gd name="adj" fmla="val 22707"/>
            </a:avLst>
          </a:prstGeom>
          <a:solidFill>
            <a:srgbClr val="6D28D9"/>
          </a:solidFill>
          <a:ln w="12700">
            <a:solidFill>
              <a:srgbClr val="FFFFFF">
                <a:alpha val="0"/>
              </a:srgbClr>
            </a:solidFill>
            <a:prstDash val="solid"/>
          </a:ln>
        </p:spPr>
        <p:txBody>
          <a:bodyPr/>
          <a:lstStyle/>
          <a:p>
            <a:endParaRPr lang="fr-CI"/>
          </a:p>
        </p:txBody>
      </p:sp>
      <p:sp>
        <p:nvSpPr>
          <p:cNvPr id="31" name="Text 29"/>
          <p:cNvSpPr txBox="1"/>
          <p:nvPr/>
        </p:nvSpPr>
        <p:spPr>
          <a:xfrm>
            <a:off x="13756234" y="3491179"/>
            <a:ext cx="152705" cy="162763"/>
          </a:xfrm>
          <a:prstGeom prst="rect">
            <a:avLst/>
          </a:prstGeom>
          <a:noFill/>
          <a:ln/>
        </p:spPr>
        <p:txBody>
          <a:bodyPr wrap="none" lIns="0" tIns="0" rIns="0" bIns="0" rtlCol="0" anchor="ctr"/>
          <a:lstStyle/>
          <a:p>
            <a:pPr marL="0" indent="0" algn="l">
              <a:buNone/>
            </a:pPr>
            <a:r>
              <a:rPr lang="en-US" sz="900" b="1" dirty="0">
                <a:solidFill>
                  <a:srgbClr val="FFFFFF"/>
                </a:solidFill>
                <a:latin typeface="JetBrains Mono" pitchFamily="34" charset="0"/>
                <a:ea typeface="JetBrains Mono" pitchFamily="34" charset="-122"/>
                <a:cs typeface="JetBrains Mono" pitchFamily="34" charset="-120"/>
              </a:rPr>
              <a:t>04</a:t>
            </a:r>
            <a:endParaRPr lang="en-US" sz="900" dirty="0"/>
          </a:p>
        </p:txBody>
      </p:sp>
      <p:sp>
        <p:nvSpPr>
          <p:cNvPr id="32" name="Text 30"/>
          <p:cNvSpPr txBox="1"/>
          <p:nvPr/>
        </p:nvSpPr>
        <p:spPr>
          <a:xfrm>
            <a:off x="13620902" y="3914546"/>
            <a:ext cx="3572561"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Cartographie</a:t>
            </a:r>
            <a:endParaRPr lang="en-US" sz="1300" dirty="0"/>
          </a:p>
        </p:txBody>
      </p:sp>
      <p:sp>
        <p:nvSpPr>
          <p:cNvPr id="33" name="Text 31"/>
          <p:cNvSpPr txBox="1"/>
          <p:nvPr/>
        </p:nvSpPr>
        <p:spPr>
          <a:xfrm>
            <a:off x="13620902" y="4200754"/>
            <a:ext cx="4222699" cy="200254"/>
          </a:xfrm>
          <a:prstGeom prst="rect">
            <a:avLst/>
          </a:prstGeom>
          <a:noFill/>
          <a:ln/>
        </p:spPr>
        <p:txBody>
          <a:bodyPr wrap="none" lIns="0" tIns="0" rIns="0" bIns="0" rtlCol="0" anchor="ctr"/>
          <a:lstStyle/>
          <a:p>
            <a:pPr marL="0" indent="0" algn="l">
              <a:buNone/>
            </a:pPr>
            <a:r>
              <a:rPr lang="en-US" sz="1000" dirty="0">
                <a:solidFill>
                  <a:srgbClr val="6B7280"/>
                </a:solidFill>
                <a:latin typeface="Manrope" pitchFamily="34" charset="0"/>
                <a:ea typeface="Manrope" pitchFamily="34" charset="-122"/>
                <a:cs typeface="Manrope" pitchFamily="34" charset="-120"/>
              </a:rPr>
              <a:t>Visualisation des itinéraires, calcul de distance &amp; ETA.</a:t>
            </a:r>
            <a:endParaRPr lang="en-US" sz="1000" dirty="0"/>
          </a:p>
        </p:txBody>
      </p:sp>
      <p:sp>
        <p:nvSpPr>
          <p:cNvPr id="34" name="Shape 32"/>
          <p:cNvSpPr/>
          <p:nvPr/>
        </p:nvSpPr>
        <p:spPr>
          <a:xfrm>
            <a:off x="914400" y="4972507"/>
            <a:ext cx="4009644" cy="1676095"/>
          </a:xfrm>
          <a:prstGeom prst="roundRect">
            <a:avLst>
              <a:gd name="adj" fmla="val 7965"/>
            </a:avLst>
          </a:prstGeom>
          <a:solidFill>
            <a:srgbClr val="F5F4FB"/>
          </a:solidFill>
          <a:ln w="12700">
            <a:solidFill>
              <a:srgbClr val="E5E7EB"/>
            </a:solidFill>
            <a:prstDash val="solid"/>
          </a:ln>
        </p:spPr>
        <p:txBody>
          <a:bodyPr/>
          <a:lstStyle/>
          <a:p>
            <a:endParaRPr lang="fr-CI"/>
          </a:p>
        </p:txBody>
      </p:sp>
      <p:sp>
        <p:nvSpPr>
          <p:cNvPr id="35" name="Shape 33"/>
          <p:cNvSpPr/>
          <p:nvPr/>
        </p:nvSpPr>
        <p:spPr>
          <a:xfrm>
            <a:off x="1133856" y="5191049"/>
            <a:ext cx="418795" cy="418795"/>
          </a:xfrm>
          <a:prstGeom prst="roundRect">
            <a:avLst>
              <a:gd name="adj" fmla="val 22707"/>
            </a:avLst>
          </a:prstGeom>
          <a:solidFill>
            <a:srgbClr val="6D28D9"/>
          </a:solidFill>
          <a:ln w="12700">
            <a:solidFill>
              <a:srgbClr val="FFFFFF">
                <a:alpha val="0"/>
              </a:srgbClr>
            </a:solidFill>
            <a:prstDash val="solid"/>
          </a:ln>
        </p:spPr>
        <p:txBody>
          <a:bodyPr/>
          <a:lstStyle/>
          <a:p>
            <a:endParaRPr lang="fr-CI"/>
          </a:p>
        </p:txBody>
      </p:sp>
      <p:sp>
        <p:nvSpPr>
          <p:cNvPr id="36" name="Text 34"/>
          <p:cNvSpPr txBox="1"/>
          <p:nvPr/>
        </p:nvSpPr>
        <p:spPr>
          <a:xfrm>
            <a:off x="1268273" y="5319979"/>
            <a:ext cx="152705" cy="162763"/>
          </a:xfrm>
          <a:prstGeom prst="rect">
            <a:avLst/>
          </a:prstGeom>
          <a:noFill/>
          <a:ln/>
        </p:spPr>
        <p:txBody>
          <a:bodyPr wrap="none" lIns="0" tIns="0" rIns="0" bIns="0" rtlCol="0" anchor="ctr"/>
          <a:lstStyle/>
          <a:p>
            <a:pPr marL="0" indent="0" algn="l">
              <a:buNone/>
            </a:pPr>
            <a:r>
              <a:rPr lang="en-US" sz="900" b="1" dirty="0">
                <a:solidFill>
                  <a:srgbClr val="FFFFFF"/>
                </a:solidFill>
                <a:latin typeface="JetBrains Mono" pitchFamily="34" charset="0"/>
                <a:ea typeface="JetBrains Mono" pitchFamily="34" charset="-122"/>
                <a:cs typeface="JetBrains Mono" pitchFamily="34" charset="-120"/>
              </a:rPr>
              <a:t>05</a:t>
            </a:r>
            <a:endParaRPr lang="en-US" sz="900" dirty="0"/>
          </a:p>
        </p:txBody>
      </p:sp>
      <p:sp>
        <p:nvSpPr>
          <p:cNvPr id="37" name="Text 35"/>
          <p:cNvSpPr txBox="1"/>
          <p:nvPr/>
        </p:nvSpPr>
        <p:spPr>
          <a:xfrm>
            <a:off x="1133856" y="5743346"/>
            <a:ext cx="3572561"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Géolocalisation</a:t>
            </a:r>
            <a:endParaRPr lang="en-US" sz="1300" dirty="0"/>
          </a:p>
        </p:txBody>
      </p:sp>
      <p:sp>
        <p:nvSpPr>
          <p:cNvPr id="38" name="Text 36"/>
          <p:cNvSpPr txBox="1"/>
          <p:nvPr/>
        </p:nvSpPr>
        <p:spPr>
          <a:xfrm>
            <a:off x="1133856" y="6029554"/>
            <a:ext cx="3572561" cy="400507"/>
          </a:xfrm>
          <a:prstGeom prst="rect">
            <a:avLst/>
          </a:prstGeom>
          <a:noFill/>
          <a:ln/>
        </p:spPr>
        <p:txBody>
          <a:bodyPr wrap="square" lIns="0" tIns="0" rIns="0" bIns="0" rtlCol="0" anchor="ctr"/>
          <a:lstStyle/>
          <a:p>
            <a:pPr marL="0" indent="0" algn="l">
              <a:buNone/>
            </a:pPr>
            <a:r>
              <a:rPr lang="en-US" sz="1000" dirty="0">
                <a:solidFill>
                  <a:srgbClr val="6B7280"/>
                </a:solidFill>
                <a:latin typeface="Manrope" pitchFamily="34" charset="0"/>
                <a:ea typeface="Manrope" pitchFamily="34" charset="-122"/>
                <a:cs typeface="Manrope" pitchFamily="34" charset="-120"/>
              </a:rPr>
              <a:t>Position client / chauffeur temps réel. Mode test &amp; GPS réel.</a:t>
            </a:r>
            <a:endParaRPr lang="en-US" sz="1000" dirty="0"/>
          </a:p>
        </p:txBody>
      </p:sp>
      <p:sp>
        <p:nvSpPr>
          <p:cNvPr id="39" name="Shape 37"/>
          <p:cNvSpPr/>
          <p:nvPr/>
        </p:nvSpPr>
        <p:spPr>
          <a:xfrm>
            <a:off x="5076749" y="4972507"/>
            <a:ext cx="4009644" cy="1676095"/>
          </a:xfrm>
          <a:prstGeom prst="roundRect">
            <a:avLst>
              <a:gd name="adj" fmla="val 7965"/>
            </a:avLst>
          </a:prstGeom>
          <a:solidFill>
            <a:srgbClr val="F5F3FF"/>
          </a:solidFill>
          <a:ln w="12700">
            <a:solidFill>
              <a:srgbClr val="DDD6FE"/>
            </a:solidFill>
            <a:prstDash val="solid"/>
          </a:ln>
        </p:spPr>
        <p:txBody>
          <a:bodyPr/>
          <a:lstStyle/>
          <a:p>
            <a:endParaRPr lang="fr-CI"/>
          </a:p>
        </p:txBody>
      </p:sp>
      <p:sp>
        <p:nvSpPr>
          <p:cNvPr id="40" name="Shape 38"/>
          <p:cNvSpPr/>
          <p:nvPr/>
        </p:nvSpPr>
        <p:spPr>
          <a:xfrm>
            <a:off x="5296205" y="5191049"/>
            <a:ext cx="418795" cy="418795"/>
          </a:xfrm>
          <a:prstGeom prst="roundRect">
            <a:avLst>
              <a:gd name="adj" fmla="val 22707"/>
            </a:avLst>
          </a:prstGeom>
          <a:solidFill>
            <a:srgbClr val="6D28D9"/>
          </a:solidFill>
          <a:ln w="12700">
            <a:solidFill>
              <a:srgbClr val="FFFFFF">
                <a:alpha val="0"/>
              </a:srgbClr>
            </a:solidFill>
            <a:prstDash val="solid"/>
          </a:ln>
        </p:spPr>
        <p:txBody>
          <a:bodyPr/>
          <a:lstStyle/>
          <a:p>
            <a:endParaRPr lang="fr-CI"/>
          </a:p>
        </p:txBody>
      </p:sp>
      <p:sp>
        <p:nvSpPr>
          <p:cNvPr id="41" name="Text 39"/>
          <p:cNvSpPr txBox="1"/>
          <p:nvPr/>
        </p:nvSpPr>
        <p:spPr>
          <a:xfrm>
            <a:off x="5430622" y="5319979"/>
            <a:ext cx="152705" cy="162763"/>
          </a:xfrm>
          <a:prstGeom prst="rect">
            <a:avLst/>
          </a:prstGeom>
          <a:noFill/>
          <a:ln/>
        </p:spPr>
        <p:txBody>
          <a:bodyPr wrap="none" lIns="0" tIns="0" rIns="0" bIns="0" rtlCol="0" anchor="ctr"/>
          <a:lstStyle/>
          <a:p>
            <a:pPr marL="0" indent="0" algn="l">
              <a:buNone/>
            </a:pPr>
            <a:r>
              <a:rPr lang="en-US" sz="900" b="1" dirty="0">
                <a:solidFill>
                  <a:srgbClr val="FFFFFF"/>
                </a:solidFill>
                <a:latin typeface="JetBrains Mono" pitchFamily="34" charset="0"/>
                <a:ea typeface="JetBrains Mono" pitchFamily="34" charset="-122"/>
                <a:cs typeface="JetBrains Mono" pitchFamily="34" charset="-120"/>
              </a:rPr>
              <a:t>06</a:t>
            </a:r>
            <a:endParaRPr lang="en-US" sz="900" dirty="0"/>
          </a:p>
        </p:txBody>
      </p:sp>
      <p:sp>
        <p:nvSpPr>
          <p:cNvPr id="42" name="Text 40"/>
          <p:cNvSpPr txBox="1"/>
          <p:nvPr/>
        </p:nvSpPr>
        <p:spPr>
          <a:xfrm>
            <a:off x="5296205" y="5743346"/>
            <a:ext cx="3572561"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Mobile Money</a:t>
            </a:r>
            <a:endParaRPr lang="en-US" sz="1300" dirty="0"/>
          </a:p>
        </p:txBody>
      </p:sp>
      <p:sp>
        <p:nvSpPr>
          <p:cNvPr id="43" name="Text 41"/>
          <p:cNvSpPr txBox="1"/>
          <p:nvPr/>
        </p:nvSpPr>
        <p:spPr>
          <a:xfrm>
            <a:off x="5296205" y="6029554"/>
            <a:ext cx="3572561" cy="400507"/>
          </a:xfrm>
          <a:prstGeom prst="rect">
            <a:avLst/>
          </a:prstGeom>
          <a:noFill/>
          <a:ln/>
        </p:spPr>
        <p:txBody>
          <a:bodyPr wrap="square" lIns="0" tIns="0" rIns="0" bIns="0" rtlCol="0" anchor="ctr"/>
          <a:lstStyle/>
          <a:p>
            <a:pPr marL="0" indent="0" algn="l">
              <a:buNone/>
            </a:pPr>
            <a:r>
              <a:rPr lang="en-US" sz="1000" dirty="0">
                <a:solidFill>
                  <a:srgbClr val="4B5563"/>
                </a:solidFill>
                <a:latin typeface="Manrope" pitchFamily="34" charset="0"/>
                <a:ea typeface="Manrope" pitchFamily="34" charset="-122"/>
                <a:cs typeface="Manrope" pitchFamily="34" charset="-120"/>
              </a:rPr>
              <a:t>Paiement client &amp; recharge wallet — Orange Money, MTN MoMo, Moov, Wave.</a:t>
            </a:r>
            <a:endParaRPr lang="en-US" sz="1000" dirty="0"/>
          </a:p>
        </p:txBody>
      </p:sp>
      <p:sp>
        <p:nvSpPr>
          <p:cNvPr id="44" name="Shape 42"/>
          <p:cNvSpPr/>
          <p:nvPr/>
        </p:nvSpPr>
        <p:spPr>
          <a:xfrm>
            <a:off x="9239098" y="4972507"/>
            <a:ext cx="4009644" cy="1676095"/>
          </a:xfrm>
          <a:prstGeom prst="roundRect">
            <a:avLst>
              <a:gd name="adj" fmla="val 7965"/>
            </a:avLst>
          </a:prstGeom>
          <a:solidFill>
            <a:srgbClr val="F5F3FF"/>
          </a:solidFill>
          <a:ln w="12700">
            <a:solidFill>
              <a:srgbClr val="DDD6FE"/>
            </a:solidFill>
            <a:prstDash val="solid"/>
          </a:ln>
        </p:spPr>
        <p:txBody>
          <a:bodyPr/>
          <a:lstStyle/>
          <a:p>
            <a:endParaRPr lang="fr-CI"/>
          </a:p>
        </p:txBody>
      </p:sp>
      <p:sp>
        <p:nvSpPr>
          <p:cNvPr id="45" name="Shape 43"/>
          <p:cNvSpPr/>
          <p:nvPr/>
        </p:nvSpPr>
        <p:spPr>
          <a:xfrm>
            <a:off x="9458554" y="5191049"/>
            <a:ext cx="418795" cy="418795"/>
          </a:xfrm>
          <a:prstGeom prst="roundRect">
            <a:avLst>
              <a:gd name="adj" fmla="val 22707"/>
            </a:avLst>
          </a:prstGeom>
          <a:solidFill>
            <a:srgbClr val="6D28D9"/>
          </a:solidFill>
          <a:ln w="12700">
            <a:solidFill>
              <a:srgbClr val="FFFFFF">
                <a:alpha val="0"/>
              </a:srgbClr>
            </a:solidFill>
            <a:prstDash val="solid"/>
          </a:ln>
        </p:spPr>
        <p:txBody>
          <a:bodyPr/>
          <a:lstStyle/>
          <a:p>
            <a:endParaRPr lang="fr-CI"/>
          </a:p>
        </p:txBody>
      </p:sp>
      <p:sp>
        <p:nvSpPr>
          <p:cNvPr id="46" name="Text 44"/>
          <p:cNvSpPr txBox="1"/>
          <p:nvPr/>
        </p:nvSpPr>
        <p:spPr>
          <a:xfrm>
            <a:off x="9593885" y="5319979"/>
            <a:ext cx="152705" cy="162763"/>
          </a:xfrm>
          <a:prstGeom prst="rect">
            <a:avLst/>
          </a:prstGeom>
          <a:noFill/>
          <a:ln/>
        </p:spPr>
        <p:txBody>
          <a:bodyPr wrap="none" lIns="0" tIns="0" rIns="0" bIns="0" rtlCol="0" anchor="ctr"/>
          <a:lstStyle/>
          <a:p>
            <a:pPr marL="0" indent="0" algn="l">
              <a:buNone/>
            </a:pPr>
            <a:r>
              <a:rPr lang="en-US" sz="900" b="1" dirty="0">
                <a:solidFill>
                  <a:srgbClr val="FFFFFF"/>
                </a:solidFill>
                <a:latin typeface="JetBrains Mono" pitchFamily="34" charset="0"/>
                <a:ea typeface="JetBrains Mono" pitchFamily="34" charset="-122"/>
                <a:cs typeface="JetBrains Mono" pitchFamily="34" charset="-120"/>
              </a:rPr>
              <a:t>07</a:t>
            </a:r>
            <a:endParaRPr lang="en-US" sz="900" dirty="0"/>
          </a:p>
        </p:txBody>
      </p:sp>
      <p:sp>
        <p:nvSpPr>
          <p:cNvPr id="47" name="Text 45"/>
          <p:cNvSpPr txBox="1"/>
          <p:nvPr/>
        </p:nvSpPr>
        <p:spPr>
          <a:xfrm>
            <a:off x="9458554" y="5743346"/>
            <a:ext cx="3572561"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Recharge wallet</a:t>
            </a:r>
            <a:endParaRPr lang="en-US" sz="1300" dirty="0"/>
          </a:p>
        </p:txBody>
      </p:sp>
      <p:sp>
        <p:nvSpPr>
          <p:cNvPr id="48" name="Text 46"/>
          <p:cNvSpPr txBox="1"/>
          <p:nvPr/>
        </p:nvSpPr>
        <p:spPr>
          <a:xfrm>
            <a:off x="9458554" y="6029554"/>
            <a:ext cx="3572561" cy="400507"/>
          </a:xfrm>
          <a:prstGeom prst="rect">
            <a:avLst/>
          </a:prstGeom>
          <a:noFill/>
          <a:ln/>
        </p:spPr>
        <p:txBody>
          <a:bodyPr wrap="square" lIns="0" tIns="0" rIns="0" bIns="0" rtlCol="0" anchor="ctr"/>
          <a:lstStyle/>
          <a:p>
            <a:pPr marL="0" indent="0" algn="l">
              <a:buNone/>
            </a:pPr>
            <a:r>
              <a:rPr lang="en-US" sz="1000" dirty="0">
                <a:solidFill>
                  <a:srgbClr val="4B5563"/>
                </a:solidFill>
                <a:latin typeface="Manrope" pitchFamily="34" charset="0"/>
                <a:ea typeface="Manrope" pitchFamily="34" charset="-122"/>
                <a:cs typeface="Manrope" pitchFamily="34" charset="-120"/>
              </a:rPr>
              <a:t>Service interne de gestion des recharges (4 voies : auto, partenaire, franchise, central).</a:t>
            </a:r>
            <a:endParaRPr lang="en-US" sz="1000" dirty="0"/>
          </a:p>
        </p:txBody>
      </p:sp>
      <p:sp>
        <p:nvSpPr>
          <p:cNvPr id="49" name="Shape 47"/>
          <p:cNvSpPr/>
          <p:nvPr/>
        </p:nvSpPr>
        <p:spPr>
          <a:xfrm>
            <a:off x="13401446" y="4972507"/>
            <a:ext cx="4009644" cy="1676095"/>
          </a:xfrm>
          <a:prstGeom prst="roundRect">
            <a:avLst>
              <a:gd name="adj" fmla="val 7965"/>
            </a:avLst>
          </a:prstGeom>
          <a:solidFill>
            <a:srgbClr val="F5F3FF"/>
          </a:solidFill>
          <a:ln w="12700">
            <a:solidFill>
              <a:srgbClr val="DDD6FE"/>
            </a:solidFill>
            <a:prstDash val="solid"/>
          </a:ln>
        </p:spPr>
        <p:txBody>
          <a:bodyPr/>
          <a:lstStyle/>
          <a:p>
            <a:endParaRPr lang="fr-CI"/>
          </a:p>
        </p:txBody>
      </p:sp>
      <p:sp>
        <p:nvSpPr>
          <p:cNvPr id="50" name="Shape 48"/>
          <p:cNvSpPr/>
          <p:nvPr/>
        </p:nvSpPr>
        <p:spPr>
          <a:xfrm>
            <a:off x="13620902" y="5191049"/>
            <a:ext cx="418795" cy="418795"/>
          </a:xfrm>
          <a:prstGeom prst="roundRect">
            <a:avLst>
              <a:gd name="adj" fmla="val 22707"/>
            </a:avLst>
          </a:prstGeom>
          <a:solidFill>
            <a:srgbClr val="6D28D9"/>
          </a:solidFill>
          <a:ln w="12700">
            <a:solidFill>
              <a:srgbClr val="FFFFFF">
                <a:alpha val="0"/>
              </a:srgbClr>
            </a:solidFill>
            <a:prstDash val="solid"/>
          </a:ln>
        </p:spPr>
        <p:txBody>
          <a:bodyPr/>
          <a:lstStyle/>
          <a:p>
            <a:endParaRPr lang="fr-CI"/>
          </a:p>
        </p:txBody>
      </p:sp>
      <p:sp>
        <p:nvSpPr>
          <p:cNvPr id="51" name="Text 49"/>
          <p:cNvSpPr txBox="1"/>
          <p:nvPr/>
        </p:nvSpPr>
        <p:spPr>
          <a:xfrm>
            <a:off x="13756234" y="5319979"/>
            <a:ext cx="152705" cy="162763"/>
          </a:xfrm>
          <a:prstGeom prst="rect">
            <a:avLst/>
          </a:prstGeom>
          <a:noFill/>
          <a:ln/>
        </p:spPr>
        <p:txBody>
          <a:bodyPr wrap="none" lIns="0" tIns="0" rIns="0" bIns="0" rtlCol="0" anchor="ctr"/>
          <a:lstStyle/>
          <a:p>
            <a:pPr marL="0" indent="0" algn="l">
              <a:buNone/>
            </a:pPr>
            <a:r>
              <a:rPr lang="en-US" sz="900" b="1" dirty="0">
                <a:solidFill>
                  <a:srgbClr val="FFFFFF"/>
                </a:solidFill>
                <a:latin typeface="JetBrains Mono" pitchFamily="34" charset="0"/>
                <a:ea typeface="JetBrains Mono" pitchFamily="34" charset="-122"/>
                <a:cs typeface="JetBrains Mono" pitchFamily="34" charset="-120"/>
              </a:rPr>
              <a:t>08</a:t>
            </a:r>
            <a:endParaRPr lang="en-US" sz="900" dirty="0"/>
          </a:p>
        </p:txBody>
      </p:sp>
      <p:sp>
        <p:nvSpPr>
          <p:cNvPr id="52" name="Text 50"/>
          <p:cNvSpPr txBox="1"/>
          <p:nvPr/>
        </p:nvSpPr>
        <p:spPr>
          <a:xfrm>
            <a:off x="13620902" y="5743346"/>
            <a:ext cx="3572561"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Passerelle paiement test</a:t>
            </a:r>
            <a:endParaRPr lang="en-US" sz="1300" dirty="0"/>
          </a:p>
        </p:txBody>
      </p:sp>
      <p:sp>
        <p:nvSpPr>
          <p:cNvPr id="53" name="Text 51"/>
          <p:cNvSpPr txBox="1"/>
          <p:nvPr/>
        </p:nvSpPr>
        <p:spPr>
          <a:xfrm>
            <a:off x="13620902" y="6029554"/>
            <a:ext cx="3572561" cy="400507"/>
          </a:xfrm>
          <a:prstGeom prst="rect">
            <a:avLst/>
          </a:prstGeom>
          <a:noFill/>
          <a:ln/>
        </p:spPr>
        <p:txBody>
          <a:bodyPr wrap="square" lIns="0" tIns="0" rIns="0" bIns="0" rtlCol="0" anchor="ctr"/>
          <a:lstStyle/>
          <a:p>
            <a:pPr marL="0" indent="0" algn="l">
              <a:buNone/>
            </a:pPr>
            <a:r>
              <a:rPr lang="en-US" sz="1000" dirty="0">
                <a:solidFill>
                  <a:srgbClr val="4B5563"/>
                </a:solidFill>
                <a:latin typeface="Manrope" pitchFamily="34" charset="0"/>
                <a:ea typeface="Manrope" pitchFamily="34" charset="-122"/>
                <a:cs typeface="Manrope" pitchFamily="34" charset="-120"/>
              </a:rPr>
              <a:t>Mode sandbox sans débit réel — simulation des cas nominaux et d'échec.</a:t>
            </a:r>
            <a:endParaRPr lang="en-US" sz="1000" dirty="0"/>
          </a:p>
        </p:txBody>
      </p:sp>
      <p:sp>
        <p:nvSpPr>
          <p:cNvPr id="54" name="Shape 52"/>
          <p:cNvSpPr/>
          <p:nvPr/>
        </p:nvSpPr>
        <p:spPr>
          <a:xfrm>
            <a:off x="914400" y="6801307"/>
            <a:ext cx="4009644" cy="1676095"/>
          </a:xfrm>
          <a:prstGeom prst="roundRect">
            <a:avLst>
              <a:gd name="adj" fmla="val 7965"/>
            </a:avLst>
          </a:prstGeom>
          <a:solidFill>
            <a:srgbClr val="F5F4FB"/>
          </a:solidFill>
          <a:ln w="12700">
            <a:solidFill>
              <a:srgbClr val="E5E7EB"/>
            </a:solidFill>
            <a:prstDash val="solid"/>
          </a:ln>
        </p:spPr>
        <p:txBody>
          <a:bodyPr/>
          <a:lstStyle/>
          <a:p>
            <a:endParaRPr lang="fr-CI"/>
          </a:p>
        </p:txBody>
      </p:sp>
      <p:sp>
        <p:nvSpPr>
          <p:cNvPr id="55" name="Shape 53"/>
          <p:cNvSpPr/>
          <p:nvPr/>
        </p:nvSpPr>
        <p:spPr>
          <a:xfrm>
            <a:off x="1133856" y="7019849"/>
            <a:ext cx="418795" cy="418795"/>
          </a:xfrm>
          <a:prstGeom prst="roundRect">
            <a:avLst>
              <a:gd name="adj" fmla="val 22707"/>
            </a:avLst>
          </a:prstGeom>
          <a:solidFill>
            <a:srgbClr val="1F2937"/>
          </a:solidFill>
          <a:ln w="12700">
            <a:solidFill>
              <a:srgbClr val="FFFFFF">
                <a:alpha val="0"/>
              </a:srgbClr>
            </a:solidFill>
            <a:prstDash val="solid"/>
          </a:ln>
        </p:spPr>
        <p:txBody>
          <a:bodyPr/>
          <a:lstStyle/>
          <a:p>
            <a:endParaRPr lang="fr-CI"/>
          </a:p>
        </p:txBody>
      </p:sp>
      <p:sp>
        <p:nvSpPr>
          <p:cNvPr id="56" name="Text 54"/>
          <p:cNvSpPr txBox="1"/>
          <p:nvPr/>
        </p:nvSpPr>
        <p:spPr>
          <a:xfrm>
            <a:off x="1268273" y="7148779"/>
            <a:ext cx="152705" cy="162763"/>
          </a:xfrm>
          <a:prstGeom prst="rect">
            <a:avLst/>
          </a:prstGeom>
          <a:noFill/>
          <a:ln/>
        </p:spPr>
        <p:txBody>
          <a:bodyPr wrap="none" lIns="0" tIns="0" rIns="0" bIns="0" rtlCol="0" anchor="ctr"/>
          <a:lstStyle/>
          <a:p>
            <a:pPr marL="0" indent="0" algn="l">
              <a:buNone/>
            </a:pPr>
            <a:r>
              <a:rPr lang="en-US" sz="900" b="1" dirty="0">
                <a:solidFill>
                  <a:srgbClr val="FFFFFF"/>
                </a:solidFill>
                <a:latin typeface="JetBrains Mono" pitchFamily="34" charset="0"/>
                <a:ea typeface="JetBrains Mono" pitchFamily="34" charset="-122"/>
                <a:cs typeface="JetBrains Mono" pitchFamily="34" charset="-120"/>
              </a:rPr>
              <a:t>09</a:t>
            </a:r>
            <a:endParaRPr lang="en-US" sz="900" dirty="0"/>
          </a:p>
        </p:txBody>
      </p:sp>
      <p:sp>
        <p:nvSpPr>
          <p:cNvPr id="57" name="Text 55"/>
          <p:cNvSpPr txBox="1"/>
          <p:nvPr/>
        </p:nvSpPr>
        <p:spPr>
          <a:xfrm>
            <a:off x="1133856" y="7572146"/>
            <a:ext cx="3572561"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Stockage documents</a:t>
            </a:r>
            <a:endParaRPr lang="en-US" sz="1300" dirty="0"/>
          </a:p>
        </p:txBody>
      </p:sp>
      <p:sp>
        <p:nvSpPr>
          <p:cNvPr id="58" name="Text 56"/>
          <p:cNvSpPr txBox="1"/>
          <p:nvPr/>
        </p:nvSpPr>
        <p:spPr>
          <a:xfrm>
            <a:off x="1133856" y="7858354"/>
            <a:ext cx="3572561" cy="400507"/>
          </a:xfrm>
          <a:prstGeom prst="rect">
            <a:avLst/>
          </a:prstGeom>
          <a:noFill/>
          <a:ln/>
        </p:spPr>
        <p:txBody>
          <a:bodyPr wrap="square" lIns="0" tIns="0" rIns="0" bIns="0" rtlCol="0" anchor="ctr"/>
          <a:lstStyle/>
          <a:p>
            <a:pPr marL="0" indent="0" algn="l">
              <a:buNone/>
            </a:pPr>
            <a:r>
              <a:rPr lang="en-US" sz="1000" dirty="0">
                <a:solidFill>
                  <a:srgbClr val="6B7280"/>
                </a:solidFill>
                <a:latin typeface="Manrope" pitchFamily="34" charset="0"/>
                <a:ea typeface="Manrope" pitchFamily="34" charset="-122"/>
                <a:cs typeface="Manrope" pitchFamily="34" charset="-120"/>
              </a:rPr>
              <a:t>Documents chauffeur, véhicule, partenaire — bucket dédié préprod.</a:t>
            </a:r>
            <a:endParaRPr lang="en-US" sz="1000" dirty="0"/>
          </a:p>
        </p:txBody>
      </p:sp>
      <p:sp>
        <p:nvSpPr>
          <p:cNvPr id="59" name="Shape 57"/>
          <p:cNvSpPr/>
          <p:nvPr/>
        </p:nvSpPr>
        <p:spPr>
          <a:xfrm>
            <a:off x="5076749" y="6801307"/>
            <a:ext cx="4009644" cy="1676095"/>
          </a:xfrm>
          <a:prstGeom prst="roundRect">
            <a:avLst>
              <a:gd name="adj" fmla="val 7965"/>
            </a:avLst>
          </a:prstGeom>
          <a:solidFill>
            <a:srgbClr val="F5F4FB"/>
          </a:solidFill>
          <a:ln w="12700">
            <a:solidFill>
              <a:srgbClr val="E5E7EB"/>
            </a:solidFill>
            <a:prstDash val="solid"/>
          </a:ln>
        </p:spPr>
        <p:txBody>
          <a:bodyPr/>
          <a:lstStyle/>
          <a:p>
            <a:endParaRPr lang="fr-CI"/>
          </a:p>
        </p:txBody>
      </p:sp>
      <p:sp>
        <p:nvSpPr>
          <p:cNvPr id="60" name="Shape 58"/>
          <p:cNvSpPr/>
          <p:nvPr/>
        </p:nvSpPr>
        <p:spPr>
          <a:xfrm>
            <a:off x="5296205" y="7019849"/>
            <a:ext cx="418795" cy="418795"/>
          </a:xfrm>
          <a:prstGeom prst="roundRect">
            <a:avLst>
              <a:gd name="adj" fmla="val 22707"/>
            </a:avLst>
          </a:prstGeom>
          <a:solidFill>
            <a:srgbClr val="1F2937"/>
          </a:solidFill>
          <a:ln w="12700">
            <a:solidFill>
              <a:srgbClr val="FFFFFF">
                <a:alpha val="0"/>
              </a:srgbClr>
            </a:solidFill>
            <a:prstDash val="solid"/>
          </a:ln>
        </p:spPr>
        <p:txBody>
          <a:bodyPr/>
          <a:lstStyle/>
          <a:p>
            <a:endParaRPr lang="fr-CI"/>
          </a:p>
        </p:txBody>
      </p:sp>
      <p:sp>
        <p:nvSpPr>
          <p:cNvPr id="61" name="Text 59"/>
          <p:cNvSpPr txBox="1"/>
          <p:nvPr/>
        </p:nvSpPr>
        <p:spPr>
          <a:xfrm>
            <a:off x="5430622" y="7148779"/>
            <a:ext cx="152705" cy="162763"/>
          </a:xfrm>
          <a:prstGeom prst="rect">
            <a:avLst/>
          </a:prstGeom>
          <a:noFill/>
          <a:ln/>
        </p:spPr>
        <p:txBody>
          <a:bodyPr wrap="none" lIns="0" tIns="0" rIns="0" bIns="0" rtlCol="0" anchor="ctr"/>
          <a:lstStyle/>
          <a:p>
            <a:pPr marL="0" indent="0" algn="l">
              <a:buNone/>
            </a:pPr>
            <a:r>
              <a:rPr lang="en-US" sz="900" b="1" dirty="0">
                <a:solidFill>
                  <a:srgbClr val="FFFFFF"/>
                </a:solidFill>
                <a:latin typeface="JetBrains Mono" pitchFamily="34" charset="0"/>
                <a:ea typeface="JetBrains Mono" pitchFamily="34" charset="-122"/>
                <a:cs typeface="JetBrains Mono" pitchFamily="34" charset="-120"/>
              </a:rPr>
              <a:t>10</a:t>
            </a:r>
            <a:endParaRPr lang="en-US" sz="900" dirty="0"/>
          </a:p>
        </p:txBody>
      </p:sp>
      <p:sp>
        <p:nvSpPr>
          <p:cNvPr id="62" name="Text 60"/>
          <p:cNvSpPr txBox="1"/>
          <p:nvPr/>
        </p:nvSpPr>
        <p:spPr>
          <a:xfrm>
            <a:off x="5296205" y="7572146"/>
            <a:ext cx="3572561"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Service de logs</a:t>
            </a:r>
            <a:endParaRPr lang="en-US" sz="1300" dirty="0"/>
          </a:p>
        </p:txBody>
      </p:sp>
      <p:sp>
        <p:nvSpPr>
          <p:cNvPr id="63" name="Text 61"/>
          <p:cNvSpPr txBox="1"/>
          <p:nvPr/>
        </p:nvSpPr>
        <p:spPr>
          <a:xfrm>
            <a:off x="5296205" y="7858354"/>
            <a:ext cx="4222699" cy="200254"/>
          </a:xfrm>
          <a:prstGeom prst="rect">
            <a:avLst/>
          </a:prstGeom>
          <a:noFill/>
          <a:ln/>
        </p:spPr>
        <p:txBody>
          <a:bodyPr wrap="none" lIns="0" tIns="0" rIns="0" bIns="0" rtlCol="0" anchor="ctr"/>
          <a:lstStyle/>
          <a:p>
            <a:pPr marL="0" indent="0" algn="l">
              <a:buNone/>
            </a:pPr>
            <a:r>
              <a:rPr lang="en-US" sz="1000" dirty="0">
                <a:solidFill>
                  <a:srgbClr val="6B7280"/>
                </a:solidFill>
                <a:latin typeface="Manrope" pitchFamily="34" charset="0"/>
                <a:ea typeface="Manrope" pitchFamily="34" charset="-122"/>
                <a:cs typeface="Manrope" pitchFamily="34" charset="-120"/>
              </a:rPr>
              <a:t>Centralisation des journaux serveurs &amp; APIs pour debug.</a:t>
            </a:r>
            <a:endParaRPr lang="en-US" sz="1000" dirty="0"/>
          </a:p>
        </p:txBody>
      </p:sp>
      <p:sp>
        <p:nvSpPr>
          <p:cNvPr id="64" name="Shape 62"/>
          <p:cNvSpPr/>
          <p:nvPr/>
        </p:nvSpPr>
        <p:spPr>
          <a:xfrm>
            <a:off x="9239098" y="6801307"/>
            <a:ext cx="4009644" cy="1676095"/>
          </a:xfrm>
          <a:prstGeom prst="roundRect">
            <a:avLst>
              <a:gd name="adj" fmla="val 7965"/>
            </a:avLst>
          </a:prstGeom>
          <a:solidFill>
            <a:srgbClr val="F5F4FB"/>
          </a:solidFill>
          <a:ln w="12700">
            <a:solidFill>
              <a:srgbClr val="E5E7EB"/>
            </a:solidFill>
            <a:prstDash val="solid"/>
          </a:ln>
        </p:spPr>
        <p:txBody>
          <a:bodyPr/>
          <a:lstStyle/>
          <a:p>
            <a:endParaRPr lang="fr-CI"/>
          </a:p>
        </p:txBody>
      </p:sp>
      <p:sp>
        <p:nvSpPr>
          <p:cNvPr id="65" name="Shape 63"/>
          <p:cNvSpPr/>
          <p:nvPr/>
        </p:nvSpPr>
        <p:spPr>
          <a:xfrm>
            <a:off x="9458554" y="7019849"/>
            <a:ext cx="418795" cy="418795"/>
          </a:xfrm>
          <a:prstGeom prst="roundRect">
            <a:avLst>
              <a:gd name="adj" fmla="val 22707"/>
            </a:avLst>
          </a:prstGeom>
          <a:solidFill>
            <a:srgbClr val="1F2937"/>
          </a:solidFill>
          <a:ln w="12700">
            <a:solidFill>
              <a:srgbClr val="FFFFFF">
                <a:alpha val="0"/>
              </a:srgbClr>
            </a:solidFill>
            <a:prstDash val="solid"/>
          </a:ln>
        </p:spPr>
        <p:txBody>
          <a:bodyPr/>
          <a:lstStyle/>
          <a:p>
            <a:endParaRPr lang="fr-CI"/>
          </a:p>
        </p:txBody>
      </p:sp>
      <p:sp>
        <p:nvSpPr>
          <p:cNvPr id="66" name="Text 64"/>
          <p:cNvSpPr txBox="1"/>
          <p:nvPr/>
        </p:nvSpPr>
        <p:spPr>
          <a:xfrm>
            <a:off x="9593885" y="7148779"/>
            <a:ext cx="152705" cy="162763"/>
          </a:xfrm>
          <a:prstGeom prst="rect">
            <a:avLst/>
          </a:prstGeom>
          <a:noFill/>
          <a:ln/>
        </p:spPr>
        <p:txBody>
          <a:bodyPr wrap="none" lIns="0" tIns="0" rIns="0" bIns="0" rtlCol="0" anchor="ctr"/>
          <a:lstStyle/>
          <a:p>
            <a:pPr marL="0" indent="0" algn="l">
              <a:buNone/>
            </a:pPr>
            <a:r>
              <a:rPr lang="en-US" sz="900" b="1" dirty="0">
                <a:solidFill>
                  <a:srgbClr val="FFFFFF"/>
                </a:solidFill>
                <a:latin typeface="JetBrains Mono" pitchFamily="34" charset="0"/>
                <a:ea typeface="JetBrains Mono" pitchFamily="34" charset="-122"/>
                <a:cs typeface="JetBrains Mono" pitchFamily="34" charset="-120"/>
              </a:rPr>
              <a:t>11</a:t>
            </a:r>
            <a:endParaRPr lang="en-US" sz="900" dirty="0"/>
          </a:p>
        </p:txBody>
      </p:sp>
      <p:sp>
        <p:nvSpPr>
          <p:cNvPr id="67" name="Text 65"/>
          <p:cNvSpPr txBox="1"/>
          <p:nvPr/>
        </p:nvSpPr>
        <p:spPr>
          <a:xfrm>
            <a:off x="9458554" y="7572146"/>
            <a:ext cx="3572561"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Monitoring serveur</a:t>
            </a:r>
            <a:endParaRPr lang="en-US" sz="1300" dirty="0"/>
          </a:p>
        </p:txBody>
      </p:sp>
      <p:sp>
        <p:nvSpPr>
          <p:cNvPr id="68" name="Text 66"/>
          <p:cNvSpPr txBox="1"/>
          <p:nvPr/>
        </p:nvSpPr>
        <p:spPr>
          <a:xfrm>
            <a:off x="9458554" y="7858354"/>
            <a:ext cx="4222699" cy="200254"/>
          </a:xfrm>
          <a:prstGeom prst="rect">
            <a:avLst/>
          </a:prstGeom>
          <a:noFill/>
          <a:ln/>
        </p:spPr>
        <p:txBody>
          <a:bodyPr wrap="none" lIns="0" tIns="0" rIns="0" bIns="0" rtlCol="0" anchor="ctr"/>
          <a:lstStyle/>
          <a:p>
            <a:pPr marL="0" indent="0" algn="l">
              <a:buNone/>
            </a:pPr>
            <a:r>
              <a:rPr lang="en-US" sz="1000" dirty="0">
                <a:solidFill>
                  <a:srgbClr val="6B7280"/>
                </a:solidFill>
                <a:latin typeface="Manrope" pitchFamily="34" charset="0"/>
                <a:ea typeface="Manrope" pitchFamily="34" charset="-122"/>
                <a:cs typeface="Manrope" pitchFamily="34" charset="-120"/>
              </a:rPr>
              <a:t>CPU, mémoire, temps de réponse, disponibilité applicative.</a:t>
            </a:r>
            <a:endParaRPr lang="en-US" sz="1000" dirty="0"/>
          </a:p>
        </p:txBody>
      </p:sp>
      <p:sp>
        <p:nvSpPr>
          <p:cNvPr id="69" name="Shape 67"/>
          <p:cNvSpPr/>
          <p:nvPr/>
        </p:nvSpPr>
        <p:spPr>
          <a:xfrm>
            <a:off x="13401446" y="6801307"/>
            <a:ext cx="4009644" cy="1676095"/>
          </a:xfrm>
          <a:prstGeom prst="roundRect">
            <a:avLst>
              <a:gd name="adj" fmla="val 7965"/>
            </a:avLst>
          </a:prstGeom>
          <a:solidFill>
            <a:srgbClr val="F5F4FB"/>
          </a:solidFill>
          <a:ln w="12700">
            <a:solidFill>
              <a:srgbClr val="E5E7EB"/>
            </a:solidFill>
            <a:prstDash val="solid"/>
          </a:ln>
        </p:spPr>
        <p:txBody>
          <a:bodyPr/>
          <a:lstStyle/>
          <a:p>
            <a:endParaRPr lang="fr-CI"/>
          </a:p>
        </p:txBody>
      </p:sp>
      <p:sp>
        <p:nvSpPr>
          <p:cNvPr id="70" name="Shape 68"/>
          <p:cNvSpPr/>
          <p:nvPr/>
        </p:nvSpPr>
        <p:spPr>
          <a:xfrm>
            <a:off x="13620902" y="7019849"/>
            <a:ext cx="418795" cy="418795"/>
          </a:xfrm>
          <a:prstGeom prst="roundRect">
            <a:avLst>
              <a:gd name="adj" fmla="val 22707"/>
            </a:avLst>
          </a:prstGeom>
          <a:solidFill>
            <a:srgbClr val="1F2937"/>
          </a:solidFill>
          <a:ln w="12700">
            <a:solidFill>
              <a:srgbClr val="FFFFFF">
                <a:alpha val="0"/>
              </a:srgbClr>
            </a:solidFill>
            <a:prstDash val="solid"/>
          </a:ln>
        </p:spPr>
        <p:txBody>
          <a:bodyPr/>
          <a:lstStyle/>
          <a:p>
            <a:endParaRPr lang="fr-CI"/>
          </a:p>
        </p:txBody>
      </p:sp>
      <p:sp>
        <p:nvSpPr>
          <p:cNvPr id="71" name="Text 69"/>
          <p:cNvSpPr txBox="1"/>
          <p:nvPr/>
        </p:nvSpPr>
        <p:spPr>
          <a:xfrm>
            <a:off x="13756234" y="7148779"/>
            <a:ext cx="152705" cy="162763"/>
          </a:xfrm>
          <a:prstGeom prst="rect">
            <a:avLst/>
          </a:prstGeom>
          <a:noFill/>
          <a:ln/>
        </p:spPr>
        <p:txBody>
          <a:bodyPr wrap="none" lIns="0" tIns="0" rIns="0" bIns="0" rtlCol="0" anchor="ctr"/>
          <a:lstStyle/>
          <a:p>
            <a:pPr marL="0" indent="0" algn="l">
              <a:buNone/>
            </a:pPr>
            <a:r>
              <a:rPr lang="en-US" sz="900" b="1" dirty="0">
                <a:solidFill>
                  <a:srgbClr val="FFFFFF"/>
                </a:solidFill>
                <a:latin typeface="JetBrains Mono" pitchFamily="34" charset="0"/>
                <a:ea typeface="JetBrains Mono" pitchFamily="34" charset="-122"/>
                <a:cs typeface="JetBrains Mono" pitchFamily="34" charset="-120"/>
              </a:rPr>
              <a:t>12</a:t>
            </a:r>
            <a:endParaRPr lang="en-US" sz="900" dirty="0"/>
          </a:p>
        </p:txBody>
      </p:sp>
      <p:sp>
        <p:nvSpPr>
          <p:cNvPr id="72" name="Text 70"/>
          <p:cNvSpPr txBox="1"/>
          <p:nvPr/>
        </p:nvSpPr>
        <p:spPr>
          <a:xfrm>
            <a:off x="13620902" y="7572146"/>
            <a:ext cx="3572561"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Outil d'alerte technique</a:t>
            </a:r>
            <a:endParaRPr lang="en-US" sz="1300" dirty="0"/>
          </a:p>
        </p:txBody>
      </p:sp>
      <p:sp>
        <p:nvSpPr>
          <p:cNvPr id="73" name="Text 71"/>
          <p:cNvSpPr txBox="1"/>
          <p:nvPr/>
        </p:nvSpPr>
        <p:spPr>
          <a:xfrm>
            <a:off x="13620902" y="7858354"/>
            <a:ext cx="3572561" cy="400507"/>
          </a:xfrm>
          <a:prstGeom prst="rect">
            <a:avLst/>
          </a:prstGeom>
          <a:noFill/>
          <a:ln/>
        </p:spPr>
        <p:txBody>
          <a:bodyPr wrap="square" lIns="0" tIns="0" rIns="0" bIns="0" rtlCol="0" anchor="ctr"/>
          <a:lstStyle/>
          <a:p>
            <a:pPr marL="0" indent="0" algn="l">
              <a:buNone/>
            </a:pPr>
            <a:r>
              <a:rPr lang="en-US" sz="1000" dirty="0">
                <a:solidFill>
                  <a:srgbClr val="6B7280"/>
                </a:solidFill>
                <a:latin typeface="Manrope" pitchFamily="34" charset="0"/>
                <a:ea typeface="Manrope" pitchFamily="34" charset="-122"/>
                <a:cs typeface="Manrope" pitchFamily="34" charset="-120"/>
              </a:rPr>
              <a:t>Remontée automatique des incidents critiques vers l'équipe d'astreinte.</a:t>
            </a:r>
            <a:endParaRPr lang="en-US" sz="1000" dirty="0"/>
          </a:p>
        </p:txBody>
      </p:sp>
      <p:sp>
        <p:nvSpPr>
          <p:cNvPr id="74" name="Shape 72"/>
          <p:cNvSpPr/>
          <p:nvPr/>
        </p:nvSpPr>
        <p:spPr>
          <a:xfrm>
            <a:off x="0" y="9791395"/>
            <a:ext cx="18288000" cy="495605"/>
          </a:xfrm>
          <a:prstGeom prst="rect">
            <a:avLst/>
          </a:prstGeom>
          <a:solidFill>
            <a:srgbClr val="FFFFFF"/>
          </a:solidFill>
          <a:ln/>
        </p:spPr>
        <p:txBody>
          <a:bodyPr/>
          <a:lstStyle/>
          <a:p>
            <a:endParaRPr lang="fr-CI"/>
          </a:p>
        </p:txBody>
      </p:sp>
      <p:sp>
        <p:nvSpPr>
          <p:cNvPr id="75" name="Shape 73"/>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76" name="Text 74"/>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77" name="Text 75"/>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25 / 59</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5263165" y="256946"/>
            <a:ext cx="2697480"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§14 Données de test nécessaires</a:t>
            </a:r>
            <a:endParaRPr lang="en-US" sz="900" dirty="0"/>
          </a:p>
        </p:txBody>
      </p:sp>
      <p:sp>
        <p:nvSpPr>
          <p:cNvPr id="10" name="Text 8"/>
          <p:cNvSpPr txBox="1"/>
          <p:nvPr/>
        </p:nvSpPr>
        <p:spPr>
          <a:xfrm>
            <a:off x="914400" y="1205179"/>
            <a:ext cx="3381451"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14. Données de test nécessaires</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8479110"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~90 comptes test couvrant tous les profils et opérateurs mobiles.</a:t>
            </a:r>
            <a:endParaRPr lang="en-US" sz="3900" dirty="0"/>
          </a:p>
        </p:txBody>
      </p:sp>
      <p:sp>
        <p:nvSpPr>
          <p:cNvPr id="13" name="Text 11"/>
          <p:cNvSpPr txBox="1"/>
          <p:nvPr/>
        </p:nvSpPr>
        <p:spPr>
          <a:xfrm>
            <a:off x="914400" y="2667305"/>
            <a:ext cx="5610758" cy="409651"/>
          </a:xfrm>
          <a:prstGeom prst="rect">
            <a:avLst/>
          </a:prstGeom>
          <a:solidFill>
            <a:srgbClr val="1F2937"/>
          </a:solidFill>
          <a:ln>
            <a:solidFill>
              <a:srgbClr val="FFFFFF">
                <a:alpha val="0"/>
              </a:srgbClr>
            </a:solidFill>
          </a:ln>
        </p:spPr>
        <p:txBody>
          <a:bodyPr wrap="none" lIns="152400" tIns="114300" rIns="152400" bIns="114300" rtlCol="0" anchor="ctr"/>
          <a:lstStyle/>
          <a:p>
            <a:pPr marL="0" indent="0" algn="l">
              <a:buNone/>
            </a:pPr>
            <a:r>
              <a:rPr lang="en-US" sz="1000" b="1" kern="0" spc="42" dirty="0">
                <a:solidFill>
                  <a:srgbClr val="FFFFFF"/>
                </a:solidFill>
                <a:latin typeface="Manrope" pitchFamily="34" charset="0"/>
                <a:ea typeface="Manrope" pitchFamily="34" charset="-122"/>
                <a:cs typeface="Manrope" pitchFamily="34" charset="-120"/>
              </a:rPr>
              <a:t>Catégorie de compte</a:t>
            </a:r>
            <a:endParaRPr lang="en-US" sz="1000" dirty="0"/>
          </a:p>
        </p:txBody>
      </p:sp>
      <p:sp>
        <p:nvSpPr>
          <p:cNvPr id="14" name="Text 12"/>
          <p:cNvSpPr txBox="1"/>
          <p:nvPr/>
        </p:nvSpPr>
        <p:spPr>
          <a:xfrm>
            <a:off x="6523330" y="2667305"/>
            <a:ext cx="2648102" cy="409651"/>
          </a:xfrm>
          <a:prstGeom prst="rect">
            <a:avLst/>
          </a:prstGeom>
          <a:solidFill>
            <a:srgbClr val="1F2937"/>
          </a:solidFill>
          <a:ln>
            <a:solidFill>
              <a:srgbClr val="FFFFFF">
                <a:alpha val="0"/>
              </a:srgbClr>
            </a:solidFill>
          </a:ln>
        </p:spPr>
        <p:txBody>
          <a:bodyPr wrap="none" lIns="152400" tIns="114300" rIns="152400" bIns="114300" rtlCol="0" anchor="ctr"/>
          <a:lstStyle/>
          <a:p>
            <a:pPr marL="0" indent="0" algn="l">
              <a:buNone/>
            </a:pPr>
            <a:r>
              <a:rPr lang="en-US" sz="1000" b="1" kern="0" spc="42" dirty="0">
                <a:solidFill>
                  <a:srgbClr val="FFFFFF"/>
                </a:solidFill>
                <a:latin typeface="Manrope" pitchFamily="34" charset="0"/>
                <a:ea typeface="Manrope" pitchFamily="34" charset="-122"/>
                <a:cs typeface="Manrope" pitchFamily="34" charset="-120"/>
              </a:rPr>
              <a:t>Nombre</a:t>
            </a:r>
            <a:endParaRPr lang="en-US" sz="1000" dirty="0"/>
          </a:p>
        </p:txBody>
      </p:sp>
      <p:sp>
        <p:nvSpPr>
          <p:cNvPr id="15" name="Text 13"/>
          <p:cNvSpPr txBox="1"/>
          <p:nvPr/>
        </p:nvSpPr>
        <p:spPr>
          <a:xfrm>
            <a:off x="9163202" y="2667305"/>
            <a:ext cx="8258861" cy="409651"/>
          </a:xfrm>
          <a:prstGeom prst="rect">
            <a:avLst/>
          </a:prstGeom>
          <a:solidFill>
            <a:srgbClr val="1F2937"/>
          </a:solidFill>
          <a:ln>
            <a:solidFill>
              <a:srgbClr val="FFFFFF">
                <a:alpha val="0"/>
              </a:srgbClr>
            </a:solidFill>
          </a:ln>
        </p:spPr>
        <p:txBody>
          <a:bodyPr wrap="none" lIns="152400" tIns="114300" rIns="152400" bIns="114300" rtlCol="0" anchor="ctr"/>
          <a:lstStyle/>
          <a:p>
            <a:pPr marL="0" indent="0" algn="l">
              <a:buNone/>
            </a:pPr>
            <a:r>
              <a:rPr lang="en-US" sz="1000" b="1" kern="0" spc="42" dirty="0">
                <a:solidFill>
                  <a:srgbClr val="FFFFFF"/>
                </a:solidFill>
                <a:latin typeface="Manrope" pitchFamily="34" charset="0"/>
                <a:ea typeface="Manrope" pitchFamily="34" charset="-122"/>
                <a:cs typeface="Manrope" pitchFamily="34" charset="-120"/>
              </a:rPr>
              <a:t>Détail / objectif</a:t>
            </a:r>
            <a:endParaRPr lang="en-US" sz="1000" dirty="0"/>
          </a:p>
        </p:txBody>
      </p:sp>
      <p:sp>
        <p:nvSpPr>
          <p:cNvPr id="16" name="Shape 14"/>
          <p:cNvSpPr/>
          <p:nvPr/>
        </p:nvSpPr>
        <p:spPr>
          <a:xfrm>
            <a:off x="914400" y="3591763"/>
            <a:ext cx="5609844" cy="9144"/>
          </a:xfrm>
          <a:prstGeom prst="rect">
            <a:avLst/>
          </a:prstGeom>
          <a:solidFill>
            <a:srgbClr val="E5E7EB"/>
          </a:solidFill>
          <a:ln w="12700">
            <a:solidFill>
              <a:srgbClr val="E5E7EB">
                <a:alpha val="0"/>
              </a:srgbClr>
            </a:solidFill>
            <a:prstDash val="solid"/>
          </a:ln>
        </p:spPr>
        <p:txBody>
          <a:bodyPr/>
          <a:lstStyle/>
          <a:p>
            <a:endParaRPr lang="fr-CI"/>
          </a:p>
        </p:txBody>
      </p:sp>
      <p:sp>
        <p:nvSpPr>
          <p:cNvPr id="17" name="Text 15"/>
          <p:cNvSpPr txBox="1"/>
          <p:nvPr/>
        </p:nvSpPr>
        <p:spPr>
          <a:xfrm>
            <a:off x="914400" y="3076956"/>
            <a:ext cx="5610758" cy="400507"/>
          </a:xfrm>
          <a:prstGeom prst="rect">
            <a:avLst/>
          </a:prstGeom>
          <a:solidFill>
            <a:srgbClr val="FFFFFF">
              <a:alpha val="0"/>
            </a:srgbClr>
          </a:solidFill>
          <a:ln>
            <a:solidFill>
              <a:srgbClr val="FFFFFF">
                <a:alpha val="0"/>
              </a:srgbClr>
            </a:solidFill>
          </a:ln>
        </p:spPr>
        <p:txBody>
          <a:bodyPr wrap="square" lIns="152400" tIns="114300" rIns="152400" bIns="0" rtlCol="0" anchor="ctr"/>
          <a:lstStyle/>
          <a:p>
            <a:pPr marL="0" indent="0" algn="l">
              <a:buNone/>
            </a:pPr>
            <a:r>
              <a:rPr lang="en-US" sz="1100" b="1" dirty="0">
                <a:solidFill>
                  <a:srgbClr val="4B5563"/>
                </a:solidFill>
                <a:latin typeface="Manrope" pitchFamily="34" charset="0"/>
                <a:ea typeface="Manrope" pitchFamily="34" charset="-122"/>
                <a:cs typeface="Manrope" pitchFamily="34" charset="-120"/>
              </a:rPr>
              <a:t>Clients internes</a:t>
            </a:r>
            <a:endParaRPr lang="en-US" sz="1100" dirty="0"/>
          </a:p>
        </p:txBody>
      </p:sp>
      <p:sp>
        <p:nvSpPr>
          <p:cNvPr id="18" name="Shape 16"/>
          <p:cNvSpPr/>
          <p:nvPr/>
        </p:nvSpPr>
        <p:spPr>
          <a:xfrm>
            <a:off x="6523330" y="3591763"/>
            <a:ext cx="2648102" cy="9144"/>
          </a:xfrm>
          <a:prstGeom prst="rect">
            <a:avLst/>
          </a:prstGeom>
          <a:solidFill>
            <a:srgbClr val="E5E7EB"/>
          </a:solidFill>
          <a:ln w="12700">
            <a:solidFill>
              <a:srgbClr val="E5E7EB">
                <a:alpha val="0"/>
              </a:srgbClr>
            </a:solidFill>
            <a:prstDash val="solid"/>
          </a:ln>
        </p:spPr>
        <p:txBody>
          <a:bodyPr/>
          <a:lstStyle/>
          <a:p>
            <a:endParaRPr lang="fr-CI"/>
          </a:p>
        </p:txBody>
      </p:sp>
      <p:sp>
        <p:nvSpPr>
          <p:cNvPr id="19" name="Shape 17"/>
          <p:cNvSpPr/>
          <p:nvPr/>
        </p:nvSpPr>
        <p:spPr>
          <a:xfrm>
            <a:off x="6594653" y="3191256"/>
            <a:ext cx="553212"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20" name="Text 18"/>
          <p:cNvSpPr/>
          <p:nvPr/>
        </p:nvSpPr>
        <p:spPr>
          <a:xfrm>
            <a:off x="6594653" y="3191256"/>
            <a:ext cx="554126"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20</a:t>
            </a:r>
            <a:endParaRPr lang="en-US" sz="900" dirty="0"/>
          </a:p>
        </p:txBody>
      </p:sp>
      <p:sp>
        <p:nvSpPr>
          <p:cNvPr id="21" name="Shape 19"/>
          <p:cNvSpPr/>
          <p:nvPr/>
        </p:nvSpPr>
        <p:spPr>
          <a:xfrm>
            <a:off x="9163202" y="3591763"/>
            <a:ext cx="8257946" cy="9144"/>
          </a:xfrm>
          <a:prstGeom prst="rect">
            <a:avLst/>
          </a:prstGeom>
          <a:solidFill>
            <a:srgbClr val="E5E7EB"/>
          </a:solidFill>
          <a:ln w="12700">
            <a:solidFill>
              <a:srgbClr val="E5E7EB">
                <a:alpha val="0"/>
              </a:srgbClr>
            </a:solidFill>
            <a:prstDash val="solid"/>
          </a:ln>
        </p:spPr>
        <p:txBody>
          <a:bodyPr/>
          <a:lstStyle/>
          <a:p>
            <a:endParaRPr lang="fr-CI"/>
          </a:p>
        </p:txBody>
      </p:sp>
      <p:sp>
        <p:nvSpPr>
          <p:cNvPr id="22" name="Text 20"/>
          <p:cNvSpPr txBox="1"/>
          <p:nvPr/>
        </p:nvSpPr>
        <p:spPr>
          <a:xfrm>
            <a:off x="9163202" y="3076956"/>
            <a:ext cx="8258861" cy="400507"/>
          </a:xfrm>
          <a:prstGeom prst="rect">
            <a:avLst/>
          </a:prstGeom>
          <a:solidFill>
            <a:srgbClr val="FFFFFF">
              <a:alpha val="0"/>
            </a:srgbClr>
          </a:solidFill>
          <a:ln>
            <a:solidFill>
              <a:srgbClr val="FFFFFF">
                <a:alpha val="0"/>
              </a:srgbClr>
            </a:solidFill>
          </a:ln>
        </p:spPr>
        <p:txBody>
          <a:bodyPr wrap="square" lIns="152400" tIns="114300" rIns="152400" bIns="0" rtlCol="0" anchor="ctr"/>
          <a:lstStyle/>
          <a:p>
            <a:pPr marL="0" indent="0" algn="l">
              <a:buNone/>
            </a:pPr>
            <a:r>
              <a:rPr lang="en-US" sz="1100" dirty="0">
                <a:solidFill>
                  <a:srgbClr val="4B5563"/>
                </a:solidFill>
                <a:latin typeface="Manrope" pitchFamily="34" charset="0"/>
                <a:ea typeface="Manrope" pitchFamily="34" charset="-122"/>
                <a:cs typeface="Manrope" pitchFamily="34" charset="-120"/>
              </a:rPr>
              <a:t>Testeurs de l'équipe projet, exécutent les use cases en suivi rapproché.</a:t>
            </a:r>
            <a:endParaRPr lang="en-US" sz="1100" dirty="0"/>
          </a:p>
        </p:txBody>
      </p:sp>
      <p:sp>
        <p:nvSpPr>
          <p:cNvPr id="23" name="Shape 21"/>
          <p:cNvSpPr/>
          <p:nvPr/>
        </p:nvSpPr>
        <p:spPr>
          <a:xfrm>
            <a:off x="914400" y="3595421"/>
            <a:ext cx="5609844" cy="523951"/>
          </a:xfrm>
          <a:prstGeom prst="rect">
            <a:avLst/>
          </a:prstGeom>
          <a:solidFill>
            <a:srgbClr val="FAFAFC"/>
          </a:solidFill>
          <a:ln/>
        </p:spPr>
        <p:txBody>
          <a:bodyPr/>
          <a:lstStyle/>
          <a:p>
            <a:endParaRPr lang="fr-CI"/>
          </a:p>
        </p:txBody>
      </p:sp>
      <p:sp>
        <p:nvSpPr>
          <p:cNvPr id="24" name="Shape 22"/>
          <p:cNvSpPr/>
          <p:nvPr/>
        </p:nvSpPr>
        <p:spPr>
          <a:xfrm>
            <a:off x="914400" y="4110228"/>
            <a:ext cx="5609844" cy="9144"/>
          </a:xfrm>
          <a:prstGeom prst="rect">
            <a:avLst/>
          </a:prstGeom>
          <a:solidFill>
            <a:srgbClr val="E5E7EB"/>
          </a:solidFill>
          <a:ln w="12700">
            <a:solidFill>
              <a:srgbClr val="E5E7EB">
                <a:alpha val="0"/>
              </a:srgbClr>
            </a:solidFill>
            <a:prstDash val="solid"/>
          </a:ln>
        </p:spPr>
        <p:txBody>
          <a:bodyPr/>
          <a:lstStyle/>
          <a:p>
            <a:endParaRPr lang="fr-CI"/>
          </a:p>
        </p:txBody>
      </p:sp>
      <p:sp>
        <p:nvSpPr>
          <p:cNvPr id="25" name="Text 23"/>
          <p:cNvSpPr txBox="1"/>
          <p:nvPr/>
        </p:nvSpPr>
        <p:spPr>
          <a:xfrm>
            <a:off x="914400" y="3595421"/>
            <a:ext cx="5610758" cy="400507"/>
          </a:xfrm>
          <a:prstGeom prst="rect">
            <a:avLst/>
          </a:prstGeom>
          <a:solidFill>
            <a:srgbClr val="FFFFFF">
              <a:alpha val="0"/>
            </a:srgbClr>
          </a:solidFill>
          <a:ln>
            <a:solidFill>
              <a:srgbClr val="FFFFFF">
                <a:alpha val="0"/>
              </a:srgbClr>
            </a:solidFill>
          </a:ln>
        </p:spPr>
        <p:txBody>
          <a:bodyPr wrap="square" lIns="152400" tIns="114300" rIns="152400" bIns="0" rtlCol="0" anchor="ctr"/>
          <a:lstStyle/>
          <a:p>
            <a:pPr marL="0" indent="0" algn="l">
              <a:buNone/>
            </a:pPr>
            <a:r>
              <a:rPr lang="en-US" sz="1100" b="1" dirty="0">
                <a:solidFill>
                  <a:srgbClr val="4B5563"/>
                </a:solidFill>
                <a:latin typeface="Manrope" pitchFamily="34" charset="0"/>
                <a:ea typeface="Manrope" pitchFamily="34" charset="-122"/>
                <a:cs typeface="Manrope" pitchFamily="34" charset="-120"/>
              </a:rPr>
              <a:t>Clients testeurs externes</a:t>
            </a:r>
            <a:endParaRPr lang="en-US" sz="1100" dirty="0"/>
          </a:p>
        </p:txBody>
      </p:sp>
      <p:sp>
        <p:nvSpPr>
          <p:cNvPr id="26" name="Shape 24"/>
          <p:cNvSpPr/>
          <p:nvPr/>
        </p:nvSpPr>
        <p:spPr>
          <a:xfrm>
            <a:off x="6523330" y="3595421"/>
            <a:ext cx="2648102" cy="523951"/>
          </a:xfrm>
          <a:prstGeom prst="rect">
            <a:avLst/>
          </a:prstGeom>
          <a:solidFill>
            <a:srgbClr val="FAFAFC"/>
          </a:solidFill>
          <a:ln/>
        </p:spPr>
        <p:txBody>
          <a:bodyPr/>
          <a:lstStyle/>
          <a:p>
            <a:endParaRPr lang="fr-CI"/>
          </a:p>
        </p:txBody>
      </p:sp>
      <p:sp>
        <p:nvSpPr>
          <p:cNvPr id="27" name="Shape 25"/>
          <p:cNvSpPr/>
          <p:nvPr/>
        </p:nvSpPr>
        <p:spPr>
          <a:xfrm>
            <a:off x="6523330" y="4110228"/>
            <a:ext cx="2648102" cy="9144"/>
          </a:xfrm>
          <a:prstGeom prst="rect">
            <a:avLst/>
          </a:prstGeom>
          <a:solidFill>
            <a:srgbClr val="E5E7EB"/>
          </a:solidFill>
          <a:ln w="12700">
            <a:solidFill>
              <a:srgbClr val="E5E7EB">
                <a:alpha val="0"/>
              </a:srgbClr>
            </a:solidFill>
            <a:prstDash val="solid"/>
          </a:ln>
        </p:spPr>
        <p:txBody>
          <a:bodyPr/>
          <a:lstStyle/>
          <a:p>
            <a:endParaRPr lang="fr-CI"/>
          </a:p>
        </p:txBody>
      </p:sp>
      <p:sp>
        <p:nvSpPr>
          <p:cNvPr id="28" name="Shape 26"/>
          <p:cNvSpPr/>
          <p:nvPr/>
        </p:nvSpPr>
        <p:spPr>
          <a:xfrm>
            <a:off x="6594653" y="3715207"/>
            <a:ext cx="553212"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29" name="Text 27"/>
          <p:cNvSpPr/>
          <p:nvPr/>
        </p:nvSpPr>
        <p:spPr>
          <a:xfrm>
            <a:off x="6594653" y="3715207"/>
            <a:ext cx="554126"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20</a:t>
            </a:r>
            <a:endParaRPr lang="en-US" sz="900" dirty="0"/>
          </a:p>
        </p:txBody>
      </p:sp>
      <p:sp>
        <p:nvSpPr>
          <p:cNvPr id="30" name="Shape 28"/>
          <p:cNvSpPr/>
          <p:nvPr/>
        </p:nvSpPr>
        <p:spPr>
          <a:xfrm>
            <a:off x="9163202" y="3595421"/>
            <a:ext cx="8257946" cy="523951"/>
          </a:xfrm>
          <a:prstGeom prst="rect">
            <a:avLst/>
          </a:prstGeom>
          <a:solidFill>
            <a:srgbClr val="FAFAFC"/>
          </a:solidFill>
          <a:ln/>
        </p:spPr>
        <p:txBody>
          <a:bodyPr/>
          <a:lstStyle/>
          <a:p>
            <a:endParaRPr lang="fr-CI"/>
          </a:p>
        </p:txBody>
      </p:sp>
      <p:sp>
        <p:nvSpPr>
          <p:cNvPr id="31" name="Shape 29"/>
          <p:cNvSpPr/>
          <p:nvPr/>
        </p:nvSpPr>
        <p:spPr>
          <a:xfrm>
            <a:off x="9163202" y="4110228"/>
            <a:ext cx="8257946" cy="9144"/>
          </a:xfrm>
          <a:prstGeom prst="rect">
            <a:avLst/>
          </a:prstGeom>
          <a:solidFill>
            <a:srgbClr val="E5E7EB"/>
          </a:solidFill>
          <a:ln w="12700">
            <a:solidFill>
              <a:srgbClr val="E5E7EB">
                <a:alpha val="0"/>
              </a:srgbClr>
            </a:solidFill>
            <a:prstDash val="solid"/>
          </a:ln>
        </p:spPr>
        <p:txBody>
          <a:bodyPr/>
          <a:lstStyle/>
          <a:p>
            <a:endParaRPr lang="fr-CI"/>
          </a:p>
        </p:txBody>
      </p:sp>
      <p:sp>
        <p:nvSpPr>
          <p:cNvPr id="32" name="Text 30"/>
          <p:cNvSpPr txBox="1"/>
          <p:nvPr/>
        </p:nvSpPr>
        <p:spPr>
          <a:xfrm>
            <a:off x="9163202" y="3595421"/>
            <a:ext cx="8258861" cy="400507"/>
          </a:xfrm>
          <a:prstGeom prst="rect">
            <a:avLst/>
          </a:prstGeom>
          <a:solidFill>
            <a:srgbClr val="FFFFFF">
              <a:alpha val="0"/>
            </a:srgbClr>
          </a:solidFill>
          <a:ln>
            <a:solidFill>
              <a:srgbClr val="FFFFFF">
                <a:alpha val="0"/>
              </a:srgbClr>
            </a:solidFill>
          </a:ln>
        </p:spPr>
        <p:txBody>
          <a:bodyPr wrap="square" lIns="152400" tIns="114300" rIns="152400" bIns="0" rtlCol="0" anchor="ctr"/>
          <a:lstStyle/>
          <a:p>
            <a:pPr marL="0" indent="0" algn="l">
              <a:buNone/>
            </a:pPr>
            <a:r>
              <a:rPr lang="en-US" sz="1100" dirty="0">
                <a:solidFill>
                  <a:srgbClr val="4B5563"/>
                </a:solidFill>
                <a:latin typeface="Manrope" pitchFamily="34" charset="0"/>
                <a:ea typeface="Manrope" pitchFamily="34" charset="-122"/>
                <a:cs typeface="Manrope" pitchFamily="34" charset="-120"/>
              </a:rPr>
              <a:t>Utilisateurs sélectionnés hors équipe — feedback ergonomie.</a:t>
            </a:r>
            <a:endParaRPr lang="en-US" sz="1100" dirty="0"/>
          </a:p>
        </p:txBody>
      </p:sp>
      <p:sp>
        <p:nvSpPr>
          <p:cNvPr id="33" name="Shape 31"/>
          <p:cNvSpPr/>
          <p:nvPr/>
        </p:nvSpPr>
        <p:spPr>
          <a:xfrm>
            <a:off x="914400" y="4634179"/>
            <a:ext cx="5609844" cy="9144"/>
          </a:xfrm>
          <a:prstGeom prst="rect">
            <a:avLst/>
          </a:prstGeom>
          <a:solidFill>
            <a:srgbClr val="E5E7EB"/>
          </a:solidFill>
          <a:ln w="12700">
            <a:solidFill>
              <a:srgbClr val="E5E7EB">
                <a:alpha val="0"/>
              </a:srgbClr>
            </a:solidFill>
            <a:prstDash val="solid"/>
          </a:ln>
        </p:spPr>
        <p:txBody>
          <a:bodyPr/>
          <a:lstStyle/>
          <a:p>
            <a:endParaRPr lang="fr-CI"/>
          </a:p>
        </p:txBody>
      </p:sp>
      <p:sp>
        <p:nvSpPr>
          <p:cNvPr id="34" name="Text 32"/>
          <p:cNvSpPr txBox="1"/>
          <p:nvPr/>
        </p:nvSpPr>
        <p:spPr>
          <a:xfrm>
            <a:off x="914400" y="4119372"/>
            <a:ext cx="5610758" cy="400507"/>
          </a:xfrm>
          <a:prstGeom prst="rect">
            <a:avLst/>
          </a:prstGeom>
          <a:solidFill>
            <a:srgbClr val="FFFFFF">
              <a:alpha val="0"/>
            </a:srgbClr>
          </a:solidFill>
          <a:ln>
            <a:solidFill>
              <a:srgbClr val="FFFFFF">
                <a:alpha val="0"/>
              </a:srgbClr>
            </a:solidFill>
          </a:ln>
        </p:spPr>
        <p:txBody>
          <a:bodyPr wrap="square" lIns="152400" tIns="114300" rIns="152400" bIns="0" rtlCol="0" anchor="ctr"/>
          <a:lstStyle/>
          <a:p>
            <a:pPr marL="0" indent="0" algn="l">
              <a:buNone/>
            </a:pPr>
            <a:r>
              <a:rPr lang="en-US" sz="1100" dirty="0">
                <a:solidFill>
                  <a:srgbClr val="4B5563"/>
                </a:solidFill>
                <a:latin typeface="Manrope" pitchFamily="34" charset="0"/>
                <a:ea typeface="Manrope" pitchFamily="34" charset="-122"/>
                <a:cs typeface="Manrope" pitchFamily="34" charset="-120"/>
              </a:rPr>
              <a:t>Clients Orange / MTN / Moov / Wave</a:t>
            </a:r>
            <a:endParaRPr lang="en-US" sz="1100" dirty="0"/>
          </a:p>
        </p:txBody>
      </p:sp>
      <p:sp>
        <p:nvSpPr>
          <p:cNvPr id="35" name="Shape 33"/>
          <p:cNvSpPr/>
          <p:nvPr/>
        </p:nvSpPr>
        <p:spPr>
          <a:xfrm>
            <a:off x="6523330" y="4634179"/>
            <a:ext cx="2648102" cy="9144"/>
          </a:xfrm>
          <a:prstGeom prst="rect">
            <a:avLst/>
          </a:prstGeom>
          <a:solidFill>
            <a:srgbClr val="E5E7EB"/>
          </a:solidFill>
          <a:ln w="12700">
            <a:solidFill>
              <a:srgbClr val="E5E7EB">
                <a:alpha val="0"/>
              </a:srgbClr>
            </a:solidFill>
            <a:prstDash val="solid"/>
          </a:ln>
        </p:spPr>
        <p:txBody>
          <a:bodyPr/>
          <a:lstStyle/>
          <a:p>
            <a:endParaRPr lang="fr-CI"/>
          </a:p>
        </p:txBody>
      </p:sp>
      <p:sp>
        <p:nvSpPr>
          <p:cNvPr id="36" name="Shape 34"/>
          <p:cNvSpPr/>
          <p:nvPr/>
        </p:nvSpPr>
        <p:spPr>
          <a:xfrm>
            <a:off x="6580937" y="4238244"/>
            <a:ext cx="1551737"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37" name="Text 35"/>
          <p:cNvSpPr/>
          <p:nvPr/>
        </p:nvSpPr>
        <p:spPr>
          <a:xfrm>
            <a:off x="6580937" y="4238244"/>
            <a:ext cx="1551737"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Tous opérateurs</a:t>
            </a:r>
            <a:endParaRPr lang="en-US" sz="900" dirty="0"/>
          </a:p>
        </p:txBody>
      </p:sp>
      <p:sp>
        <p:nvSpPr>
          <p:cNvPr id="38" name="Shape 36"/>
          <p:cNvSpPr/>
          <p:nvPr/>
        </p:nvSpPr>
        <p:spPr>
          <a:xfrm>
            <a:off x="9163202" y="4634179"/>
            <a:ext cx="8257946" cy="9144"/>
          </a:xfrm>
          <a:prstGeom prst="rect">
            <a:avLst/>
          </a:prstGeom>
          <a:solidFill>
            <a:srgbClr val="E5E7EB"/>
          </a:solidFill>
          <a:ln w="12700">
            <a:solidFill>
              <a:srgbClr val="E5E7EB">
                <a:alpha val="0"/>
              </a:srgbClr>
            </a:solidFill>
            <a:prstDash val="solid"/>
          </a:ln>
        </p:spPr>
        <p:txBody>
          <a:bodyPr/>
          <a:lstStyle/>
          <a:p>
            <a:endParaRPr lang="fr-CI"/>
          </a:p>
        </p:txBody>
      </p:sp>
      <p:sp>
        <p:nvSpPr>
          <p:cNvPr id="39" name="Text 37"/>
          <p:cNvSpPr txBox="1"/>
          <p:nvPr/>
        </p:nvSpPr>
        <p:spPr>
          <a:xfrm>
            <a:off x="9163202" y="4119372"/>
            <a:ext cx="8258861" cy="400507"/>
          </a:xfrm>
          <a:prstGeom prst="rect">
            <a:avLst/>
          </a:prstGeom>
          <a:solidFill>
            <a:srgbClr val="FFFFFF">
              <a:alpha val="0"/>
            </a:srgbClr>
          </a:solidFill>
          <a:ln>
            <a:solidFill>
              <a:srgbClr val="FFFFFF">
                <a:alpha val="0"/>
              </a:srgbClr>
            </a:solidFill>
          </a:ln>
        </p:spPr>
        <p:txBody>
          <a:bodyPr wrap="square" lIns="152400" tIns="114300" rIns="152400" bIns="0" rtlCol="0" anchor="ctr"/>
          <a:lstStyle/>
          <a:p>
            <a:pPr marL="0" indent="0" algn="l">
              <a:buNone/>
            </a:pPr>
            <a:r>
              <a:rPr lang="en-US" sz="1100" dirty="0">
                <a:solidFill>
                  <a:srgbClr val="4B5563"/>
                </a:solidFill>
                <a:latin typeface="Manrope" pitchFamily="34" charset="0"/>
                <a:ea typeface="Manrope" pitchFamily="34" charset="-122"/>
                <a:cs typeface="Manrope" pitchFamily="34" charset="-120"/>
              </a:rPr>
              <a:t>Diversité OTP &amp; recharge mobile money — couverture complète.</a:t>
            </a:r>
            <a:endParaRPr lang="en-US" sz="1100" dirty="0"/>
          </a:p>
        </p:txBody>
      </p:sp>
      <p:sp>
        <p:nvSpPr>
          <p:cNvPr id="40" name="Shape 38"/>
          <p:cNvSpPr/>
          <p:nvPr/>
        </p:nvSpPr>
        <p:spPr>
          <a:xfrm>
            <a:off x="914400" y="4643323"/>
            <a:ext cx="5609844" cy="523951"/>
          </a:xfrm>
          <a:prstGeom prst="rect">
            <a:avLst/>
          </a:prstGeom>
          <a:solidFill>
            <a:srgbClr val="FAFAFC"/>
          </a:solidFill>
          <a:ln/>
        </p:spPr>
        <p:txBody>
          <a:bodyPr/>
          <a:lstStyle/>
          <a:p>
            <a:endParaRPr lang="fr-CI"/>
          </a:p>
        </p:txBody>
      </p:sp>
      <p:sp>
        <p:nvSpPr>
          <p:cNvPr id="41" name="Shape 39"/>
          <p:cNvSpPr/>
          <p:nvPr/>
        </p:nvSpPr>
        <p:spPr>
          <a:xfrm>
            <a:off x="914400" y="5158130"/>
            <a:ext cx="5609844" cy="9144"/>
          </a:xfrm>
          <a:prstGeom prst="rect">
            <a:avLst/>
          </a:prstGeom>
          <a:solidFill>
            <a:srgbClr val="E5E7EB"/>
          </a:solidFill>
          <a:ln w="12700">
            <a:solidFill>
              <a:srgbClr val="E5E7EB">
                <a:alpha val="0"/>
              </a:srgbClr>
            </a:solidFill>
            <a:prstDash val="solid"/>
          </a:ln>
        </p:spPr>
        <p:txBody>
          <a:bodyPr/>
          <a:lstStyle/>
          <a:p>
            <a:endParaRPr lang="fr-CI"/>
          </a:p>
        </p:txBody>
      </p:sp>
      <p:sp>
        <p:nvSpPr>
          <p:cNvPr id="42" name="Text 40"/>
          <p:cNvSpPr txBox="1"/>
          <p:nvPr/>
        </p:nvSpPr>
        <p:spPr>
          <a:xfrm>
            <a:off x="914400" y="4643323"/>
            <a:ext cx="5610758" cy="400507"/>
          </a:xfrm>
          <a:prstGeom prst="rect">
            <a:avLst/>
          </a:prstGeom>
          <a:solidFill>
            <a:srgbClr val="FFFFFF">
              <a:alpha val="0"/>
            </a:srgbClr>
          </a:solidFill>
          <a:ln>
            <a:solidFill>
              <a:srgbClr val="FFFFFF">
                <a:alpha val="0"/>
              </a:srgbClr>
            </a:solidFill>
          </a:ln>
        </p:spPr>
        <p:txBody>
          <a:bodyPr wrap="square" lIns="152400" tIns="114300" rIns="152400" bIns="0" rtlCol="0" anchor="ctr"/>
          <a:lstStyle/>
          <a:p>
            <a:pPr marL="0" indent="0" algn="l">
              <a:buNone/>
            </a:pPr>
            <a:r>
              <a:rPr lang="en-US" sz="1100" dirty="0">
                <a:solidFill>
                  <a:srgbClr val="4B5563"/>
                </a:solidFill>
                <a:latin typeface="Manrope" pitchFamily="34" charset="0"/>
                <a:ea typeface="Manrope" pitchFamily="34" charset="-122"/>
                <a:cs typeface="Manrope" pitchFamily="34" charset="-120"/>
              </a:rPr>
              <a:t>Clients par service</a:t>
            </a:r>
            <a:endParaRPr lang="en-US" sz="1100" dirty="0"/>
          </a:p>
        </p:txBody>
      </p:sp>
      <p:sp>
        <p:nvSpPr>
          <p:cNvPr id="43" name="Shape 41"/>
          <p:cNvSpPr/>
          <p:nvPr/>
        </p:nvSpPr>
        <p:spPr>
          <a:xfrm>
            <a:off x="6523330" y="4643323"/>
            <a:ext cx="2648102" cy="523951"/>
          </a:xfrm>
          <a:prstGeom prst="rect">
            <a:avLst/>
          </a:prstGeom>
          <a:solidFill>
            <a:srgbClr val="FAFAFC"/>
          </a:solidFill>
          <a:ln/>
        </p:spPr>
        <p:txBody>
          <a:bodyPr/>
          <a:lstStyle/>
          <a:p>
            <a:endParaRPr lang="fr-CI"/>
          </a:p>
        </p:txBody>
      </p:sp>
      <p:sp>
        <p:nvSpPr>
          <p:cNvPr id="44" name="Shape 42"/>
          <p:cNvSpPr/>
          <p:nvPr/>
        </p:nvSpPr>
        <p:spPr>
          <a:xfrm>
            <a:off x="6523330" y="5158130"/>
            <a:ext cx="2648102" cy="9144"/>
          </a:xfrm>
          <a:prstGeom prst="rect">
            <a:avLst/>
          </a:prstGeom>
          <a:solidFill>
            <a:srgbClr val="E5E7EB"/>
          </a:solidFill>
          <a:ln w="12700">
            <a:solidFill>
              <a:srgbClr val="E5E7EB">
                <a:alpha val="0"/>
              </a:srgbClr>
            </a:solidFill>
            <a:prstDash val="solid"/>
          </a:ln>
        </p:spPr>
        <p:txBody>
          <a:bodyPr/>
          <a:lstStyle/>
          <a:p>
            <a:endParaRPr lang="fr-CI"/>
          </a:p>
        </p:txBody>
      </p:sp>
      <p:sp>
        <p:nvSpPr>
          <p:cNvPr id="45" name="Shape 43"/>
          <p:cNvSpPr/>
          <p:nvPr/>
        </p:nvSpPr>
        <p:spPr>
          <a:xfrm>
            <a:off x="6580937" y="4762195"/>
            <a:ext cx="1474927"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46" name="Text 44"/>
          <p:cNvSpPr/>
          <p:nvPr/>
        </p:nvSpPr>
        <p:spPr>
          <a:xfrm>
            <a:off x="6580937" y="4762195"/>
            <a:ext cx="1474927"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Mix 4 services</a:t>
            </a:r>
            <a:endParaRPr lang="en-US" sz="900" dirty="0"/>
          </a:p>
        </p:txBody>
      </p:sp>
      <p:sp>
        <p:nvSpPr>
          <p:cNvPr id="47" name="Shape 45"/>
          <p:cNvSpPr/>
          <p:nvPr/>
        </p:nvSpPr>
        <p:spPr>
          <a:xfrm>
            <a:off x="9163202" y="4643323"/>
            <a:ext cx="8257946" cy="523951"/>
          </a:xfrm>
          <a:prstGeom prst="rect">
            <a:avLst/>
          </a:prstGeom>
          <a:solidFill>
            <a:srgbClr val="FAFAFC"/>
          </a:solidFill>
          <a:ln/>
        </p:spPr>
        <p:txBody>
          <a:bodyPr/>
          <a:lstStyle/>
          <a:p>
            <a:endParaRPr lang="fr-CI"/>
          </a:p>
        </p:txBody>
      </p:sp>
      <p:sp>
        <p:nvSpPr>
          <p:cNvPr id="48" name="Shape 46"/>
          <p:cNvSpPr/>
          <p:nvPr/>
        </p:nvSpPr>
        <p:spPr>
          <a:xfrm>
            <a:off x="9163202" y="5158130"/>
            <a:ext cx="8257946" cy="9144"/>
          </a:xfrm>
          <a:prstGeom prst="rect">
            <a:avLst/>
          </a:prstGeom>
          <a:solidFill>
            <a:srgbClr val="E5E7EB"/>
          </a:solidFill>
          <a:ln w="12700">
            <a:solidFill>
              <a:srgbClr val="E5E7EB">
                <a:alpha val="0"/>
              </a:srgbClr>
            </a:solidFill>
            <a:prstDash val="solid"/>
          </a:ln>
        </p:spPr>
        <p:txBody>
          <a:bodyPr/>
          <a:lstStyle/>
          <a:p>
            <a:endParaRPr lang="fr-CI"/>
          </a:p>
        </p:txBody>
      </p:sp>
      <p:sp>
        <p:nvSpPr>
          <p:cNvPr id="49" name="Text 47"/>
          <p:cNvSpPr txBox="1"/>
          <p:nvPr/>
        </p:nvSpPr>
        <p:spPr>
          <a:xfrm>
            <a:off x="9163202" y="4643323"/>
            <a:ext cx="8258861" cy="400507"/>
          </a:xfrm>
          <a:prstGeom prst="rect">
            <a:avLst/>
          </a:prstGeom>
          <a:solidFill>
            <a:srgbClr val="FFFFFF">
              <a:alpha val="0"/>
            </a:srgbClr>
          </a:solidFill>
          <a:ln>
            <a:solidFill>
              <a:srgbClr val="FFFFFF">
                <a:alpha val="0"/>
              </a:srgbClr>
            </a:solidFill>
          </a:ln>
        </p:spPr>
        <p:txBody>
          <a:bodyPr wrap="square" lIns="152400" tIns="114300" rIns="152400" bIns="0" rtlCol="0" anchor="ctr"/>
          <a:lstStyle/>
          <a:p>
            <a:pPr marL="0" indent="0" algn="l">
              <a:buNone/>
            </a:pPr>
            <a:r>
              <a:rPr lang="en-US" sz="1100" dirty="0">
                <a:solidFill>
                  <a:srgbClr val="4B5563"/>
                </a:solidFill>
                <a:latin typeface="Manrope" pitchFamily="34" charset="0"/>
                <a:ea typeface="Manrope" pitchFamily="34" charset="-122"/>
                <a:cs typeface="Manrope" pitchFamily="34" charset="-120"/>
              </a:rPr>
              <a:t>Transport · livraison · location · fret — répartition équilibrée.</a:t>
            </a:r>
            <a:endParaRPr lang="en-US" sz="1100" dirty="0"/>
          </a:p>
        </p:txBody>
      </p:sp>
      <p:sp>
        <p:nvSpPr>
          <p:cNvPr id="50" name="Shape 48"/>
          <p:cNvSpPr/>
          <p:nvPr/>
        </p:nvSpPr>
        <p:spPr>
          <a:xfrm>
            <a:off x="914400" y="5167274"/>
            <a:ext cx="16497605" cy="523951"/>
          </a:xfrm>
          <a:prstGeom prst="rect">
            <a:avLst/>
          </a:prstGeom>
          <a:solidFill>
            <a:srgbClr val="F5F3FF"/>
          </a:solidFill>
          <a:ln w="12700">
            <a:solidFill>
              <a:srgbClr val="FFFFFF">
                <a:alpha val="0"/>
              </a:srgbClr>
            </a:solidFill>
            <a:prstDash val="solid"/>
          </a:ln>
        </p:spPr>
        <p:txBody>
          <a:bodyPr/>
          <a:lstStyle/>
          <a:p>
            <a:endParaRPr lang="fr-CI"/>
          </a:p>
        </p:txBody>
      </p:sp>
      <p:sp>
        <p:nvSpPr>
          <p:cNvPr id="51" name="Shape 49"/>
          <p:cNvSpPr/>
          <p:nvPr/>
        </p:nvSpPr>
        <p:spPr>
          <a:xfrm>
            <a:off x="914400" y="5682082"/>
            <a:ext cx="5609844" cy="9144"/>
          </a:xfrm>
          <a:prstGeom prst="rect">
            <a:avLst/>
          </a:prstGeom>
          <a:solidFill>
            <a:srgbClr val="E5E7EB"/>
          </a:solidFill>
          <a:ln w="12700">
            <a:solidFill>
              <a:srgbClr val="E5E7EB">
                <a:alpha val="0"/>
              </a:srgbClr>
            </a:solidFill>
            <a:prstDash val="solid"/>
          </a:ln>
        </p:spPr>
        <p:txBody>
          <a:bodyPr/>
          <a:lstStyle/>
          <a:p>
            <a:endParaRPr lang="fr-CI"/>
          </a:p>
        </p:txBody>
      </p:sp>
      <p:sp>
        <p:nvSpPr>
          <p:cNvPr id="52" name="Text 50"/>
          <p:cNvSpPr txBox="1"/>
          <p:nvPr/>
        </p:nvSpPr>
        <p:spPr>
          <a:xfrm>
            <a:off x="914400" y="5167274"/>
            <a:ext cx="5610758" cy="400507"/>
          </a:xfrm>
          <a:prstGeom prst="rect">
            <a:avLst/>
          </a:prstGeom>
          <a:solidFill>
            <a:srgbClr val="FFFFFF">
              <a:alpha val="0"/>
            </a:srgbClr>
          </a:solidFill>
          <a:ln>
            <a:solidFill>
              <a:srgbClr val="FFFFFF">
                <a:alpha val="0"/>
              </a:srgbClr>
            </a:solidFill>
          </a:ln>
        </p:spPr>
        <p:txBody>
          <a:bodyPr wrap="square" lIns="152400" tIns="114300" rIns="152400" bIns="0" rtlCol="0" anchor="ctr"/>
          <a:lstStyle/>
          <a:p>
            <a:pPr marL="0" indent="0" algn="l">
              <a:buNone/>
            </a:pPr>
            <a:r>
              <a:rPr lang="en-US" sz="1100" b="1" dirty="0">
                <a:solidFill>
                  <a:srgbClr val="4B5563"/>
                </a:solidFill>
                <a:latin typeface="Manrope" pitchFamily="34" charset="0"/>
                <a:ea typeface="Manrope" pitchFamily="34" charset="-122"/>
                <a:cs typeface="Manrope" pitchFamily="34" charset="-120"/>
              </a:rPr>
              <a:t>Chauffeurs taxi / VTC</a:t>
            </a:r>
            <a:endParaRPr lang="en-US" sz="1100" dirty="0"/>
          </a:p>
        </p:txBody>
      </p:sp>
      <p:sp>
        <p:nvSpPr>
          <p:cNvPr id="53" name="Shape 51"/>
          <p:cNvSpPr/>
          <p:nvPr/>
        </p:nvSpPr>
        <p:spPr>
          <a:xfrm>
            <a:off x="6523330" y="5682082"/>
            <a:ext cx="2648102" cy="9144"/>
          </a:xfrm>
          <a:prstGeom prst="rect">
            <a:avLst/>
          </a:prstGeom>
          <a:solidFill>
            <a:srgbClr val="E5E7EB"/>
          </a:solidFill>
          <a:ln w="12700">
            <a:solidFill>
              <a:srgbClr val="E5E7EB">
                <a:alpha val="0"/>
              </a:srgbClr>
            </a:solidFill>
            <a:prstDash val="solid"/>
          </a:ln>
        </p:spPr>
        <p:txBody>
          <a:bodyPr/>
          <a:lstStyle/>
          <a:p>
            <a:endParaRPr lang="fr-CI"/>
          </a:p>
        </p:txBody>
      </p:sp>
      <p:sp>
        <p:nvSpPr>
          <p:cNvPr id="54" name="Shape 52"/>
          <p:cNvSpPr/>
          <p:nvPr/>
        </p:nvSpPr>
        <p:spPr>
          <a:xfrm>
            <a:off x="6594653" y="5286146"/>
            <a:ext cx="553212" cy="286207"/>
          </a:xfrm>
          <a:prstGeom prst="roundRect">
            <a:avLst>
              <a:gd name="adj" fmla="val 49840"/>
            </a:avLst>
          </a:prstGeom>
          <a:solidFill>
            <a:srgbClr val="6D28D9"/>
          </a:solidFill>
          <a:ln w="12700">
            <a:solidFill>
              <a:srgbClr val="FFFFFF">
                <a:alpha val="0"/>
              </a:srgbClr>
            </a:solidFill>
            <a:prstDash val="solid"/>
          </a:ln>
        </p:spPr>
        <p:txBody>
          <a:bodyPr/>
          <a:lstStyle/>
          <a:p>
            <a:endParaRPr lang="fr-CI"/>
          </a:p>
        </p:txBody>
      </p:sp>
      <p:sp>
        <p:nvSpPr>
          <p:cNvPr id="55" name="Text 53"/>
          <p:cNvSpPr/>
          <p:nvPr/>
        </p:nvSpPr>
        <p:spPr>
          <a:xfrm>
            <a:off x="6594653" y="5286146"/>
            <a:ext cx="554126"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FFFFFF"/>
                </a:solidFill>
                <a:latin typeface="Manrope" pitchFamily="34" charset="0"/>
                <a:ea typeface="Manrope" pitchFamily="34" charset="-122"/>
                <a:cs typeface="Manrope" pitchFamily="34" charset="-120"/>
              </a:rPr>
              <a:t>20</a:t>
            </a:r>
            <a:endParaRPr lang="en-US" sz="900" dirty="0"/>
          </a:p>
        </p:txBody>
      </p:sp>
      <p:sp>
        <p:nvSpPr>
          <p:cNvPr id="56" name="Shape 54"/>
          <p:cNvSpPr/>
          <p:nvPr/>
        </p:nvSpPr>
        <p:spPr>
          <a:xfrm>
            <a:off x="9163202" y="5682082"/>
            <a:ext cx="8257946" cy="9144"/>
          </a:xfrm>
          <a:prstGeom prst="rect">
            <a:avLst/>
          </a:prstGeom>
          <a:solidFill>
            <a:srgbClr val="E5E7EB"/>
          </a:solidFill>
          <a:ln w="12700">
            <a:solidFill>
              <a:srgbClr val="E5E7EB">
                <a:alpha val="0"/>
              </a:srgbClr>
            </a:solidFill>
            <a:prstDash val="solid"/>
          </a:ln>
        </p:spPr>
        <p:txBody>
          <a:bodyPr/>
          <a:lstStyle/>
          <a:p>
            <a:endParaRPr lang="fr-CI"/>
          </a:p>
        </p:txBody>
      </p:sp>
      <p:sp>
        <p:nvSpPr>
          <p:cNvPr id="57" name="Text 55"/>
          <p:cNvSpPr txBox="1"/>
          <p:nvPr/>
        </p:nvSpPr>
        <p:spPr>
          <a:xfrm>
            <a:off x="9163202" y="5167274"/>
            <a:ext cx="8258861" cy="400507"/>
          </a:xfrm>
          <a:prstGeom prst="rect">
            <a:avLst/>
          </a:prstGeom>
          <a:solidFill>
            <a:srgbClr val="FFFFFF">
              <a:alpha val="0"/>
            </a:srgbClr>
          </a:solidFill>
          <a:ln>
            <a:solidFill>
              <a:srgbClr val="FFFFFF">
                <a:alpha val="0"/>
              </a:srgbClr>
            </a:solidFill>
          </a:ln>
        </p:spPr>
        <p:txBody>
          <a:bodyPr wrap="square" lIns="152400" tIns="114300" rIns="152400" bIns="0" rtlCol="0" anchor="ctr"/>
          <a:lstStyle/>
          <a:p>
            <a:pPr marL="0" indent="0" algn="l">
              <a:buNone/>
            </a:pPr>
            <a:r>
              <a:rPr lang="en-US" sz="1100" dirty="0">
                <a:solidFill>
                  <a:srgbClr val="4B5563"/>
                </a:solidFill>
                <a:latin typeface="Manrope" pitchFamily="34" charset="0"/>
                <a:ea typeface="Manrope" pitchFamily="34" charset="-122"/>
                <a:cs typeface="Manrope" pitchFamily="34" charset="-120"/>
              </a:rPr>
              <a:t>Tester le transport de personnes — service principal.</a:t>
            </a:r>
            <a:endParaRPr lang="en-US" sz="1100" dirty="0"/>
          </a:p>
        </p:txBody>
      </p:sp>
      <p:sp>
        <p:nvSpPr>
          <p:cNvPr id="58" name="Shape 56"/>
          <p:cNvSpPr/>
          <p:nvPr/>
        </p:nvSpPr>
        <p:spPr>
          <a:xfrm>
            <a:off x="914400" y="5691226"/>
            <a:ext cx="16497605" cy="523951"/>
          </a:xfrm>
          <a:prstGeom prst="rect">
            <a:avLst/>
          </a:prstGeom>
          <a:solidFill>
            <a:srgbClr val="F5F3FF"/>
          </a:solidFill>
          <a:ln w="12700">
            <a:solidFill>
              <a:srgbClr val="FFFFFF">
                <a:alpha val="0"/>
              </a:srgbClr>
            </a:solidFill>
            <a:prstDash val="solid"/>
          </a:ln>
        </p:spPr>
        <p:txBody>
          <a:bodyPr/>
          <a:lstStyle/>
          <a:p>
            <a:endParaRPr lang="fr-CI"/>
          </a:p>
        </p:txBody>
      </p:sp>
      <p:sp>
        <p:nvSpPr>
          <p:cNvPr id="59" name="Shape 57"/>
          <p:cNvSpPr/>
          <p:nvPr/>
        </p:nvSpPr>
        <p:spPr>
          <a:xfrm>
            <a:off x="914400" y="5691226"/>
            <a:ext cx="5609844" cy="523951"/>
          </a:xfrm>
          <a:prstGeom prst="rect">
            <a:avLst/>
          </a:prstGeom>
          <a:solidFill>
            <a:srgbClr val="FAFAFC"/>
          </a:solidFill>
          <a:ln/>
        </p:spPr>
        <p:txBody>
          <a:bodyPr/>
          <a:lstStyle/>
          <a:p>
            <a:endParaRPr lang="fr-CI"/>
          </a:p>
        </p:txBody>
      </p:sp>
      <p:sp>
        <p:nvSpPr>
          <p:cNvPr id="60" name="Shape 58"/>
          <p:cNvSpPr/>
          <p:nvPr/>
        </p:nvSpPr>
        <p:spPr>
          <a:xfrm>
            <a:off x="914400" y="6206033"/>
            <a:ext cx="5609844"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1" name="Text 59"/>
          <p:cNvSpPr txBox="1"/>
          <p:nvPr/>
        </p:nvSpPr>
        <p:spPr>
          <a:xfrm>
            <a:off x="914400" y="5691226"/>
            <a:ext cx="5610758" cy="400507"/>
          </a:xfrm>
          <a:prstGeom prst="rect">
            <a:avLst/>
          </a:prstGeom>
          <a:solidFill>
            <a:srgbClr val="FFFFFF">
              <a:alpha val="0"/>
            </a:srgbClr>
          </a:solidFill>
          <a:ln>
            <a:solidFill>
              <a:srgbClr val="FFFFFF">
                <a:alpha val="0"/>
              </a:srgbClr>
            </a:solidFill>
          </a:ln>
        </p:spPr>
        <p:txBody>
          <a:bodyPr wrap="square" lIns="152400" tIns="114300" rIns="152400" bIns="0" rtlCol="0" anchor="ctr"/>
          <a:lstStyle/>
          <a:p>
            <a:pPr marL="0" indent="0" algn="l">
              <a:buNone/>
            </a:pPr>
            <a:r>
              <a:rPr lang="en-US" sz="1100" b="1" dirty="0">
                <a:solidFill>
                  <a:srgbClr val="4B5563"/>
                </a:solidFill>
                <a:latin typeface="Manrope" pitchFamily="34" charset="0"/>
                <a:ea typeface="Manrope" pitchFamily="34" charset="-122"/>
                <a:cs typeface="Manrope" pitchFamily="34" charset="-120"/>
              </a:rPr>
              <a:t>Livreurs</a:t>
            </a:r>
            <a:endParaRPr lang="en-US" sz="1100" dirty="0"/>
          </a:p>
        </p:txBody>
      </p:sp>
      <p:sp>
        <p:nvSpPr>
          <p:cNvPr id="62" name="Shape 60"/>
          <p:cNvSpPr/>
          <p:nvPr/>
        </p:nvSpPr>
        <p:spPr>
          <a:xfrm>
            <a:off x="6523330" y="5691226"/>
            <a:ext cx="2648102" cy="523951"/>
          </a:xfrm>
          <a:prstGeom prst="rect">
            <a:avLst/>
          </a:prstGeom>
          <a:solidFill>
            <a:srgbClr val="FAFAFC"/>
          </a:solidFill>
          <a:ln/>
        </p:spPr>
        <p:txBody>
          <a:bodyPr/>
          <a:lstStyle/>
          <a:p>
            <a:endParaRPr lang="fr-CI"/>
          </a:p>
        </p:txBody>
      </p:sp>
      <p:sp>
        <p:nvSpPr>
          <p:cNvPr id="63" name="Shape 61"/>
          <p:cNvSpPr/>
          <p:nvPr/>
        </p:nvSpPr>
        <p:spPr>
          <a:xfrm>
            <a:off x="6523330" y="6206033"/>
            <a:ext cx="2648102"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4" name="Shape 62"/>
          <p:cNvSpPr/>
          <p:nvPr/>
        </p:nvSpPr>
        <p:spPr>
          <a:xfrm>
            <a:off x="6584594" y="5810098"/>
            <a:ext cx="553212" cy="286207"/>
          </a:xfrm>
          <a:prstGeom prst="roundRect">
            <a:avLst>
              <a:gd name="adj" fmla="val 49840"/>
            </a:avLst>
          </a:prstGeom>
          <a:solidFill>
            <a:srgbClr val="6D28D9"/>
          </a:solidFill>
          <a:ln w="12700">
            <a:solidFill>
              <a:srgbClr val="FFFFFF">
                <a:alpha val="0"/>
              </a:srgbClr>
            </a:solidFill>
            <a:prstDash val="solid"/>
          </a:ln>
        </p:spPr>
        <p:txBody>
          <a:bodyPr/>
          <a:lstStyle/>
          <a:p>
            <a:endParaRPr lang="fr-CI"/>
          </a:p>
        </p:txBody>
      </p:sp>
      <p:sp>
        <p:nvSpPr>
          <p:cNvPr id="65" name="Text 63"/>
          <p:cNvSpPr/>
          <p:nvPr/>
        </p:nvSpPr>
        <p:spPr>
          <a:xfrm>
            <a:off x="6584594" y="5810098"/>
            <a:ext cx="554126"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FFFFFF"/>
                </a:solidFill>
                <a:latin typeface="Manrope" pitchFamily="34" charset="0"/>
                <a:ea typeface="Manrope" pitchFamily="34" charset="-122"/>
                <a:cs typeface="Manrope" pitchFamily="34" charset="-120"/>
              </a:rPr>
              <a:t>10</a:t>
            </a:r>
            <a:endParaRPr lang="en-US" sz="900" dirty="0"/>
          </a:p>
        </p:txBody>
      </p:sp>
      <p:sp>
        <p:nvSpPr>
          <p:cNvPr id="66" name="Shape 64"/>
          <p:cNvSpPr/>
          <p:nvPr/>
        </p:nvSpPr>
        <p:spPr>
          <a:xfrm>
            <a:off x="9163202" y="5691226"/>
            <a:ext cx="8257946" cy="523951"/>
          </a:xfrm>
          <a:prstGeom prst="rect">
            <a:avLst/>
          </a:prstGeom>
          <a:solidFill>
            <a:srgbClr val="FAFAFC"/>
          </a:solidFill>
          <a:ln/>
        </p:spPr>
        <p:txBody>
          <a:bodyPr/>
          <a:lstStyle/>
          <a:p>
            <a:endParaRPr lang="fr-CI"/>
          </a:p>
        </p:txBody>
      </p:sp>
      <p:sp>
        <p:nvSpPr>
          <p:cNvPr id="67" name="Shape 65"/>
          <p:cNvSpPr/>
          <p:nvPr/>
        </p:nvSpPr>
        <p:spPr>
          <a:xfrm>
            <a:off x="9163202" y="6206033"/>
            <a:ext cx="8257946"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8" name="Text 66"/>
          <p:cNvSpPr txBox="1"/>
          <p:nvPr/>
        </p:nvSpPr>
        <p:spPr>
          <a:xfrm>
            <a:off x="9163202" y="5691226"/>
            <a:ext cx="8258861" cy="400507"/>
          </a:xfrm>
          <a:prstGeom prst="rect">
            <a:avLst/>
          </a:prstGeom>
          <a:solidFill>
            <a:srgbClr val="FFFFFF">
              <a:alpha val="0"/>
            </a:srgbClr>
          </a:solidFill>
          <a:ln>
            <a:solidFill>
              <a:srgbClr val="FFFFFF">
                <a:alpha val="0"/>
              </a:srgbClr>
            </a:solidFill>
          </a:ln>
        </p:spPr>
        <p:txBody>
          <a:bodyPr wrap="square" lIns="152400" tIns="114300" rIns="152400" bIns="0" rtlCol="0" anchor="ctr"/>
          <a:lstStyle/>
          <a:p>
            <a:pPr marL="0" indent="0" algn="l">
              <a:buNone/>
            </a:pPr>
            <a:r>
              <a:rPr lang="en-US" sz="1100" dirty="0">
                <a:solidFill>
                  <a:srgbClr val="4B5563"/>
                </a:solidFill>
                <a:latin typeface="Manrope" pitchFamily="34" charset="0"/>
                <a:ea typeface="Manrope" pitchFamily="34" charset="-122"/>
                <a:cs typeface="Manrope" pitchFamily="34" charset="-120"/>
              </a:rPr>
              <a:t>Tester la livraison (motos / petits véhicules).</a:t>
            </a:r>
            <a:endParaRPr lang="en-US" sz="1100" dirty="0"/>
          </a:p>
        </p:txBody>
      </p:sp>
      <p:sp>
        <p:nvSpPr>
          <p:cNvPr id="69" name="Shape 67"/>
          <p:cNvSpPr/>
          <p:nvPr/>
        </p:nvSpPr>
        <p:spPr>
          <a:xfrm>
            <a:off x="914400" y="6215177"/>
            <a:ext cx="16497605" cy="523951"/>
          </a:xfrm>
          <a:prstGeom prst="rect">
            <a:avLst/>
          </a:prstGeom>
          <a:solidFill>
            <a:srgbClr val="F5F3FF"/>
          </a:solidFill>
          <a:ln w="12700">
            <a:solidFill>
              <a:srgbClr val="FFFFFF">
                <a:alpha val="0"/>
              </a:srgbClr>
            </a:solidFill>
            <a:prstDash val="solid"/>
          </a:ln>
        </p:spPr>
        <p:txBody>
          <a:bodyPr/>
          <a:lstStyle/>
          <a:p>
            <a:endParaRPr lang="fr-CI"/>
          </a:p>
        </p:txBody>
      </p:sp>
      <p:sp>
        <p:nvSpPr>
          <p:cNvPr id="70" name="Shape 68"/>
          <p:cNvSpPr/>
          <p:nvPr/>
        </p:nvSpPr>
        <p:spPr>
          <a:xfrm>
            <a:off x="914400" y="6729984"/>
            <a:ext cx="5609844" cy="9144"/>
          </a:xfrm>
          <a:prstGeom prst="rect">
            <a:avLst/>
          </a:prstGeom>
          <a:solidFill>
            <a:srgbClr val="E5E7EB"/>
          </a:solidFill>
          <a:ln w="12700">
            <a:solidFill>
              <a:srgbClr val="E5E7EB">
                <a:alpha val="0"/>
              </a:srgbClr>
            </a:solidFill>
            <a:prstDash val="solid"/>
          </a:ln>
        </p:spPr>
        <p:txBody>
          <a:bodyPr/>
          <a:lstStyle/>
          <a:p>
            <a:endParaRPr lang="fr-CI"/>
          </a:p>
        </p:txBody>
      </p:sp>
      <p:sp>
        <p:nvSpPr>
          <p:cNvPr id="71" name="Text 69"/>
          <p:cNvSpPr txBox="1"/>
          <p:nvPr/>
        </p:nvSpPr>
        <p:spPr>
          <a:xfrm>
            <a:off x="914400" y="6215177"/>
            <a:ext cx="5610758" cy="400507"/>
          </a:xfrm>
          <a:prstGeom prst="rect">
            <a:avLst/>
          </a:prstGeom>
          <a:solidFill>
            <a:srgbClr val="FFFFFF">
              <a:alpha val="0"/>
            </a:srgbClr>
          </a:solidFill>
          <a:ln>
            <a:solidFill>
              <a:srgbClr val="FFFFFF">
                <a:alpha val="0"/>
              </a:srgbClr>
            </a:solidFill>
          </a:ln>
        </p:spPr>
        <p:txBody>
          <a:bodyPr wrap="square" lIns="152400" tIns="114300" rIns="152400" bIns="0" rtlCol="0" anchor="ctr"/>
          <a:lstStyle/>
          <a:p>
            <a:pPr marL="0" indent="0" algn="l">
              <a:buNone/>
            </a:pPr>
            <a:r>
              <a:rPr lang="en-US" sz="1100" b="1" dirty="0">
                <a:solidFill>
                  <a:srgbClr val="4B5563"/>
                </a:solidFill>
                <a:latin typeface="Manrope" pitchFamily="34" charset="0"/>
                <a:ea typeface="Manrope" pitchFamily="34" charset="-122"/>
                <a:cs typeface="Manrope" pitchFamily="34" charset="-120"/>
              </a:rPr>
              <a:t>Véhicules location avec chauffeur</a:t>
            </a:r>
            <a:endParaRPr lang="en-US" sz="1100" dirty="0"/>
          </a:p>
        </p:txBody>
      </p:sp>
      <p:sp>
        <p:nvSpPr>
          <p:cNvPr id="72" name="Shape 70"/>
          <p:cNvSpPr/>
          <p:nvPr/>
        </p:nvSpPr>
        <p:spPr>
          <a:xfrm>
            <a:off x="6523330" y="6729984"/>
            <a:ext cx="2648102" cy="9144"/>
          </a:xfrm>
          <a:prstGeom prst="rect">
            <a:avLst/>
          </a:prstGeom>
          <a:solidFill>
            <a:srgbClr val="E5E7EB"/>
          </a:solidFill>
          <a:ln w="12700">
            <a:solidFill>
              <a:srgbClr val="E5E7EB">
                <a:alpha val="0"/>
              </a:srgbClr>
            </a:solidFill>
            <a:prstDash val="solid"/>
          </a:ln>
        </p:spPr>
        <p:txBody>
          <a:bodyPr/>
          <a:lstStyle/>
          <a:p>
            <a:endParaRPr lang="fr-CI"/>
          </a:p>
        </p:txBody>
      </p:sp>
      <p:sp>
        <p:nvSpPr>
          <p:cNvPr id="73" name="Shape 71"/>
          <p:cNvSpPr/>
          <p:nvPr/>
        </p:nvSpPr>
        <p:spPr>
          <a:xfrm>
            <a:off x="6590081" y="6334049"/>
            <a:ext cx="476402" cy="286207"/>
          </a:xfrm>
          <a:prstGeom prst="roundRect">
            <a:avLst>
              <a:gd name="adj" fmla="val 49840"/>
            </a:avLst>
          </a:prstGeom>
          <a:solidFill>
            <a:srgbClr val="6D28D9"/>
          </a:solidFill>
          <a:ln w="12700">
            <a:solidFill>
              <a:srgbClr val="FFFFFF">
                <a:alpha val="0"/>
              </a:srgbClr>
            </a:solidFill>
            <a:prstDash val="solid"/>
          </a:ln>
        </p:spPr>
        <p:txBody>
          <a:bodyPr/>
          <a:lstStyle/>
          <a:p>
            <a:endParaRPr lang="fr-CI"/>
          </a:p>
        </p:txBody>
      </p:sp>
      <p:sp>
        <p:nvSpPr>
          <p:cNvPr id="74" name="Text 72"/>
          <p:cNvSpPr/>
          <p:nvPr/>
        </p:nvSpPr>
        <p:spPr>
          <a:xfrm>
            <a:off x="6590081" y="6334049"/>
            <a:ext cx="477317"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FFFFFF"/>
                </a:solidFill>
                <a:latin typeface="Manrope" pitchFamily="34" charset="0"/>
                <a:ea typeface="Manrope" pitchFamily="34" charset="-122"/>
                <a:cs typeface="Manrope" pitchFamily="34" charset="-120"/>
              </a:rPr>
              <a:t>5</a:t>
            </a:r>
            <a:endParaRPr lang="en-US" sz="900" dirty="0"/>
          </a:p>
        </p:txBody>
      </p:sp>
      <p:sp>
        <p:nvSpPr>
          <p:cNvPr id="75" name="Shape 73"/>
          <p:cNvSpPr/>
          <p:nvPr/>
        </p:nvSpPr>
        <p:spPr>
          <a:xfrm>
            <a:off x="9163202" y="6729984"/>
            <a:ext cx="8257946" cy="9144"/>
          </a:xfrm>
          <a:prstGeom prst="rect">
            <a:avLst/>
          </a:prstGeom>
          <a:solidFill>
            <a:srgbClr val="E5E7EB"/>
          </a:solidFill>
          <a:ln w="12700">
            <a:solidFill>
              <a:srgbClr val="E5E7EB">
                <a:alpha val="0"/>
              </a:srgbClr>
            </a:solidFill>
            <a:prstDash val="solid"/>
          </a:ln>
        </p:spPr>
        <p:txBody>
          <a:bodyPr/>
          <a:lstStyle/>
          <a:p>
            <a:endParaRPr lang="fr-CI"/>
          </a:p>
        </p:txBody>
      </p:sp>
      <p:sp>
        <p:nvSpPr>
          <p:cNvPr id="76" name="Text 74"/>
          <p:cNvSpPr txBox="1"/>
          <p:nvPr/>
        </p:nvSpPr>
        <p:spPr>
          <a:xfrm>
            <a:off x="9163202" y="6215177"/>
            <a:ext cx="8258861" cy="400507"/>
          </a:xfrm>
          <a:prstGeom prst="rect">
            <a:avLst/>
          </a:prstGeom>
          <a:solidFill>
            <a:srgbClr val="FFFFFF">
              <a:alpha val="0"/>
            </a:srgbClr>
          </a:solidFill>
          <a:ln>
            <a:solidFill>
              <a:srgbClr val="FFFFFF">
                <a:alpha val="0"/>
              </a:srgbClr>
            </a:solidFill>
          </a:ln>
        </p:spPr>
        <p:txBody>
          <a:bodyPr wrap="square" lIns="152400" tIns="114300" rIns="152400" bIns="0" rtlCol="0" anchor="ctr"/>
          <a:lstStyle/>
          <a:p>
            <a:pPr marL="0" indent="0" algn="l">
              <a:buNone/>
            </a:pPr>
            <a:r>
              <a:rPr lang="en-US" sz="1100" dirty="0">
                <a:solidFill>
                  <a:srgbClr val="4B5563"/>
                </a:solidFill>
                <a:latin typeface="Manrope" pitchFamily="34" charset="0"/>
                <a:ea typeface="Manrope" pitchFamily="34" charset="-122"/>
                <a:cs typeface="Manrope" pitchFamily="34" charset="-120"/>
              </a:rPr>
              <a:t>Tester la réservation et la mise à disposition.</a:t>
            </a:r>
            <a:endParaRPr lang="en-US" sz="1100" dirty="0"/>
          </a:p>
        </p:txBody>
      </p:sp>
      <p:sp>
        <p:nvSpPr>
          <p:cNvPr id="77" name="Shape 75"/>
          <p:cNvSpPr/>
          <p:nvPr/>
        </p:nvSpPr>
        <p:spPr>
          <a:xfrm>
            <a:off x="914400" y="6739128"/>
            <a:ext cx="16497605" cy="523951"/>
          </a:xfrm>
          <a:prstGeom prst="rect">
            <a:avLst/>
          </a:prstGeom>
          <a:solidFill>
            <a:srgbClr val="F5F3FF"/>
          </a:solidFill>
          <a:ln w="12700">
            <a:solidFill>
              <a:srgbClr val="FFFFFF">
                <a:alpha val="0"/>
              </a:srgbClr>
            </a:solidFill>
            <a:prstDash val="solid"/>
          </a:ln>
        </p:spPr>
        <p:txBody>
          <a:bodyPr/>
          <a:lstStyle/>
          <a:p>
            <a:endParaRPr lang="fr-CI"/>
          </a:p>
        </p:txBody>
      </p:sp>
      <p:sp>
        <p:nvSpPr>
          <p:cNvPr id="78" name="Shape 76"/>
          <p:cNvSpPr/>
          <p:nvPr/>
        </p:nvSpPr>
        <p:spPr>
          <a:xfrm>
            <a:off x="914400" y="6739128"/>
            <a:ext cx="5609844" cy="523951"/>
          </a:xfrm>
          <a:prstGeom prst="rect">
            <a:avLst/>
          </a:prstGeom>
          <a:solidFill>
            <a:srgbClr val="FAFAFC"/>
          </a:solidFill>
          <a:ln/>
        </p:spPr>
        <p:txBody>
          <a:bodyPr/>
          <a:lstStyle/>
          <a:p>
            <a:endParaRPr lang="fr-CI"/>
          </a:p>
        </p:txBody>
      </p:sp>
      <p:sp>
        <p:nvSpPr>
          <p:cNvPr id="79" name="Shape 77"/>
          <p:cNvSpPr/>
          <p:nvPr/>
        </p:nvSpPr>
        <p:spPr>
          <a:xfrm>
            <a:off x="914400" y="7253935"/>
            <a:ext cx="5609844" cy="9144"/>
          </a:xfrm>
          <a:prstGeom prst="rect">
            <a:avLst/>
          </a:prstGeom>
          <a:solidFill>
            <a:srgbClr val="E5E7EB"/>
          </a:solidFill>
          <a:ln w="12700">
            <a:solidFill>
              <a:srgbClr val="E5E7EB">
                <a:alpha val="0"/>
              </a:srgbClr>
            </a:solidFill>
            <a:prstDash val="solid"/>
          </a:ln>
        </p:spPr>
        <p:txBody>
          <a:bodyPr/>
          <a:lstStyle/>
          <a:p>
            <a:endParaRPr lang="fr-CI"/>
          </a:p>
        </p:txBody>
      </p:sp>
      <p:sp>
        <p:nvSpPr>
          <p:cNvPr id="80" name="Text 78"/>
          <p:cNvSpPr txBox="1"/>
          <p:nvPr/>
        </p:nvSpPr>
        <p:spPr>
          <a:xfrm>
            <a:off x="914400" y="6739128"/>
            <a:ext cx="5610758" cy="400507"/>
          </a:xfrm>
          <a:prstGeom prst="rect">
            <a:avLst/>
          </a:prstGeom>
          <a:solidFill>
            <a:srgbClr val="FFFFFF">
              <a:alpha val="0"/>
            </a:srgbClr>
          </a:solidFill>
          <a:ln>
            <a:solidFill>
              <a:srgbClr val="FFFFFF">
                <a:alpha val="0"/>
              </a:srgbClr>
            </a:solidFill>
          </a:ln>
        </p:spPr>
        <p:txBody>
          <a:bodyPr wrap="square" lIns="152400" tIns="114300" rIns="152400" bIns="0" rtlCol="0" anchor="ctr"/>
          <a:lstStyle/>
          <a:p>
            <a:pPr marL="0" indent="0" algn="l">
              <a:buNone/>
            </a:pPr>
            <a:r>
              <a:rPr lang="en-US" sz="1100" b="1" dirty="0">
                <a:solidFill>
                  <a:srgbClr val="4B5563"/>
                </a:solidFill>
                <a:latin typeface="Manrope" pitchFamily="34" charset="0"/>
                <a:ea typeface="Manrope" pitchFamily="34" charset="-122"/>
                <a:cs typeface="Manrope" pitchFamily="34" charset="-120"/>
              </a:rPr>
              <a:t>Véhicules fret urbain</a:t>
            </a:r>
            <a:endParaRPr lang="en-US" sz="1100" dirty="0"/>
          </a:p>
        </p:txBody>
      </p:sp>
      <p:sp>
        <p:nvSpPr>
          <p:cNvPr id="81" name="Shape 79"/>
          <p:cNvSpPr/>
          <p:nvPr/>
        </p:nvSpPr>
        <p:spPr>
          <a:xfrm>
            <a:off x="6523330" y="6739128"/>
            <a:ext cx="2648102" cy="523951"/>
          </a:xfrm>
          <a:prstGeom prst="rect">
            <a:avLst/>
          </a:prstGeom>
          <a:solidFill>
            <a:srgbClr val="FAFAFC"/>
          </a:solidFill>
          <a:ln/>
        </p:spPr>
        <p:txBody>
          <a:bodyPr/>
          <a:lstStyle/>
          <a:p>
            <a:endParaRPr lang="fr-CI"/>
          </a:p>
        </p:txBody>
      </p:sp>
      <p:sp>
        <p:nvSpPr>
          <p:cNvPr id="82" name="Shape 80"/>
          <p:cNvSpPr/>
          <p:nvPr/>
        </p:nvSpPr>
        <p:spPr>
          <a:xfrm>
            <a:off x="6523330" y="7253935"/>
            <a:ext cx="2648102" cy="9144"/>
          </a:xfrm>
          <a:prstGeom prst="rect">
            <a:avLst/>
          </a:prstGeom>
          <a:solidFill>
            <a:srgbClr val="E5E7EB"/>
          </a:solidFill>
          <a:ln w="12700">
            <a:solidFill>
              <a:srgbClr val="E5E7EB">
                <a:alpha val="0"/>
              </a:srgbClr>
            </a:solidFill>
            <a:prstDash val="solid"/>
          </a:ln>
        </p:spPr>
        <p:txBody>
          <a:bodyPr/>
          <a:lstStyle/>
          <a:p>
            <a:endParaRPr lang="fr-CI"/>
          </a:p>
        </p:txBody>
      </p:sp>
      <p:sp>
        <p:nvSpPr>
          <p:cNvPr id="83" name="Shape 81"/>
          <p:cNvSpPr/>
          <p:nvPr/>
        </p:nvSpPr>
        <p:spPr>
          <a:xfrm>
            <a:off x="6590081" y="6858000"/>
            <a:ext cx="476402" cy="286207"/>
          </a:xfrm>
          <a:prstGeom prst="roundRect">
            <a:avLst>
              <a:gd name="adj" fmla="val 49840"/>
            </a:avLst>
          </a:prstGeom>
          <a:solidFill>
            <a:srgbClr val="6D28D9"/>
          </a:solidFill>
          <a:ln w="12700">
            <a:solidFill>
              <a:srgbClr val="FFFFFF">
                <a:alpha val="0"/>
              </a:srgbClr>
            </a:solidFill>
            <a:prstDash val="solid"/>
          </a:ln>
        </p:spPr>
        <p:txBody>
          <a:bodyPr/>
          <a:lstStyle/>
          <a:p>
            <a:endParaRPr lang="fr-CI"/>
          </a:p>
        </p:txBody>
      </p:sp>
      <p:sp>
        <p:nvSpPr>
          <p:cNvPr id="84" name="Text 82"/>
          <p:cNvSpPr/>
          <p:nvPr/>
        </p:nvSpPr>
        <p:spPr>
          <a:xfrm>
            <a:off x="6590081" y="6858000"/>
            <a:ext cx="477317"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FFFFFF"/>
                </a:solidFill>
                <a:latin typeface="Manrope" pitchFamily="34" charset="0"/>
                <a:ea typeface="Manrope" pitchFamily="34" charset="-122"/>
                <a:cs typeface="Manrope" pitchFamily="34" charset="-120"/>
              </a:rPr>
              <a:t>5</a:t>
            </a:r>
            <a:endParaRPr lang="en-US" sz="900" dirty="0"/>
          </a:p>
        </p:txBody>
      </p:sp>
      <p:sp>
        <p:nvSpPr>
          <p:cNvPr id="85" name="Shape 83"/>
          <p:cNvSpPr/>
          <p:nvPr/>
        </p:nvSpPr>
        <p:spPr>
          <a:xfrm>
            <a:off x="9163202" y="6739128"/>
            <a:ext cx="8257946" cy="523951"/>
          </a:xfrm>
          <a:prstGeom prst="rect">
            <a:avLst/>
          </a:prstGeom>
          <a:solidFill>
            <a:srgbClr val="FAFAFC"/>
          </a:solidFill>
          <a:ln/>
        </p:spPr>
        <p:txBody>
          <a:bodyPr/>
          <a:lstStyle/>
          <a:p>
            <a:endParaRPr lang="fr-CI"/>
          </a:p>
        </p:txBody>
      </p:sp>
      <p:sp>
        <p:nvSpPr>
          <p:cNvPr id="86" name="Shape 84"/>
          <p:cNvSpPr/>
          <p:nvPr/>
        </p:nvSpPr>
        <p:spPr>
          <a:xfrm>
            <a:off x="9163202" y="7253935"/>
            <a:ext cx="8257946" cy="9144"/>
          </a:xfrm>
          <a:prstGeom prst="rect">
            <a:avLst/>
          </a:prstGeom>
          <a:solidFill>
            <a:srgbClr val="E5E7EB"/>
          </a:solidFill>
          <a:ln w="12700">
            <a:solidFill>
              <a:srgbClr val="E5E7EB">
                <a:alpha val="0"/>
              </a:srgbClr>
            </a:solidFill>
            <a:prstDash val="solid"/>
          </a:ln>
        </p:spPr>
        <p:txBody>
          <a:bodyPr/>
          <a:lstStyle/>
          <a:p>
            <a:endParaRPr lang="fr-CI"/>
          </a:p>
        </p:txBody>
      </p:sp>
      <p:sp>
        <p:nvSpPr>
          <p:cNvPr id="87" name="Text 85"/>
          <p:cNvSpPr txBox="1"/>
          <p:nvPr/>
        </p:nvSpPr>
        <p:spPr>
          <a:xfrm>
            <a:off x="9163202" y="6739128"/>
            <a:ext cx="8258861" cy="400507"/>
          </a:xfrm>
          <a:prstGeom prst="rect">
            <a:avLst/>
          </a:prstGeom>
          <a:solidFill>
            <a:srgbClr val="FFFFFF">
              <a:alpha val="0"/>
            </a:srgbClr>
          </a:solidFill>
          <a:ln>
            <a:solidFill>
              <a:srgbClr val="FFFFFF">
                <a:alpha val="0"/>
              </a:srgbClr>
            </a:solidFill>
          </a:ln>
        </p:spPr>
        <p:txBody>
          <a:bodyPr wrap="square" lIns="152400" tIns="114300" rIns="152400" bIns="0" rtlCol="0" anchor="ctr"/>
          <a:lstStyle/>
          <a:p>
            <a:pPr marL="0" indent="0" algn="l">
              <a:buNone/>
            </a:pPr>
            <a:r>
              <a:rPr lang="en-US" sz="1100" dirty="0">
                <a:solidFill>
                  <a:srgbClr val="4B5563"/>
                </a:solidFill>
                <a:latin typeface="Manrope" pitchFamily="34" charset="0"/>
                <a:ea typeface="Manrope" pitchFamily="34" charset="-122"/>
                <a:cs typeface="Manrope" pitchFamily="34" charset="-120"/>
              </a:rPr>
              <a:t>Tester les demandes de transport de marchandises.</a:t>
            </a:r>
            <a:endParaRPr lang="en-US" sz="1100" dirty="0"/>
          </a:p>
        </p:txBody>
      </p:sp>
      <p:sp>
        <p:nvSpPr>
          <p:cNvPr id="88" name="Shape 86"/>
          <p:cNvSpPr/>
          <p:nvPr/>
        </p:nvSpPr>
        <p:spPr>
          <a:xfrm>
            <a:off x="914400" y="7777886"/>
            <a:ext cx="5609844" cy="9144"/>
          </a:xfrm>
          <a:prstGeom prst="rect">
            <a:avLst/>
          </a:prstGeom>
          <a:solidFill>
            <a:srgbClr val="E5E7EB"/>
          </a:solidFill>
          <a:ln w="12700">
            <a:solidFill>
              <a:srgbClr val="E5E7EB">
                <a:alpha val="0"/>
              </a:srgbClr>
            </a:solidFill>
            <a:prstDash val="solid"/>
          </a:ln>
        </p:spPr>
        <p:txBody>
          <a:bodyPr/>
          <a:lstStyle/>
          <a:p>
            <a:endParaRPr lang="fr-CI"/>
          </a:p>
        </p:txBody>
      </p:sp>
      <p:sp>
        <p:nvSpPr>
          <p:cNvPr id="89" name="Text 87"/>
          <p:cNvSpPr txBox="1"/>
          <p:nvPr/>
        </p:nvSpPr>
        <p:spPr>
          <a:xfrm>
            <a:off x="914400" y="7263079"/>
            <a:ext cx="5610758" cy="400507"/>
          </a:xfrm>
          <a:prstGeom prst="rect">
            <a:avLst/>
          </a:prstGeom>
          <a:solidFill>
            <a:srgbClr val="FFFFFF">
              <a:alpha val="0"/>
            </a:srgbClr>
          </a:solidFill>
          <a:ln>
            <a:solidFill>
              <a:srgbClr val="FFFFFF">
                <a:alpha val="0"/>
              </a:srgbClr>
            </a:solidFill>
          </a:ln>
        </p:spPr>
        <p:txBody>
          <a:bodyPr wrap="square" lIns="152400" tIns="114300" rIns="152400" bIns="0" rtlCol="0" anchor="ctr"/>
          <a:lstStyle/>
          <a:p>
            <a:pPr marL="0" indent="0" algn="l">
              <a:buNone/>
            </a:pPr>
            <a:r>
              <a:rPr lang="en-US" sz="1100" b="1" dirty="0">
                <a:solidFill>
                  <a:srgbClr val="4B5563"/>
                </a:solidFill>
                <a:latin typeface="Manrope" pitchFamily="34" charset="0"/>
                <a:ea typeface="Manrope" pitchFamily="34" charset="-122"/>
                <a:cs typeface="Manrope" pitchFamily="34" charset="-120"/>
              </a:rPr>
              <a:t>Partenaires pilotes</a:t>
            </a:r>
            <a:endParaRPr lang="en-US" sz="1100" dirty="0"/>
          </a:p>
        </p:txBody>
      </p:sp>
      <p:sp>
        <p:nvSpPr>
          <p:cNvPr id="90" name="Shape 88"/>
          <p:cNvSpPr/>
          <p:nvPr/>
        </p:nvSpPr>
        <p:spPr>
          <a:xfrm>
            <a:off x="6523330" y="7777886"/>
            <a:ext cx="2648102" cy="9144"/>
          </a:xfrm>
          <a:prstGeom prst="rect">
            <a:avLst/>
          </a:prstGeom>
          <a:solidFill>
            <a:srgbClr val="E5E7EB"/>
          </a:solidFill>
          <a:ln w="12700">
            <a:solidFill>
              <a:srgbClr val="E5E7EB">
                <a:alpha val="0"/>
              </a:srgbClr>
            </a:solidFill>
            <a:prstDash val="solid"/>
          </a:ln>
        </p:spPr>
        <p:txBody>
          <a:bodyPr/>
          <a:lstStyle/>
          <a:p>
            <a:endParaRPr lang="fr-CI"/>
          </a:p>
        </p:txBody>
      </p:sp>
      <p:sp>
        <p:nvSpPr>
          <p:cNvPr id="91" name="Shape 89"/>
          <p:cNvSpPr/>
          <p:nvPr/>
        </p:nvSpPr>
        <p:spPr>
          <a:xfrm>
            <a:off x="6580937" y="7381951"/>
            <a:ext cx="783641"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92" name="Text 90"/>
          <p:cNvSpPr/>
          <p:nvPr/>
        </p:nvSpPr>
        <p:spPr>
          <a:xfrm>
            <a:off x="6580937" y="7381951"/>
            <a:ext cx="784555"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3 à 5</a:t>
            </a:r>
            <a:endParaRPr lang="en-US" sz="900" dirty="0"/>
          </a:p>
        </p:txBody>
      </p:sp>
      <p:sp>
        <p:nvSpPr>
          <p:cNvPr id="93" name="Shape 91"/>
          <p:cNvSpPr/>
          <p:nvPr/>
        </p:nvSpPr>
        <p:spPr>
          <a:xfrm>
            <a:off x="9163202" y="7777886"/>
            <a:ext cx="8257946" cy="9144"/>
          </a:xfrm>
          <a:prstGeom prst="rect">
            <a:avLst/>
          </a:prstGeom>
          <a:solidFill>
            <a:srgbClr val="E5E7EB"/>
          </a:solidFill>
          <a:ln w="12700">
            <a:solidFill>
              <a:srgbClr val="E5E7EB">
                <a:alpha val="0"/>
              </a:srgbClr>
            </a:solidFill>
            <a:prstDash val="solid"/>
          </a:ln>
        </p:spPr>
        <p:txBody>
          <a:bodyPr/>
          <a:lstStyle/>
          <a:p>
            <a:endParaRPr lang="fr-CI"/>
          </a:p>
        </p:txBody>
      </p:sp>
      <p:sp>
        <p:nvSpPr>
          <p:cNvPr id="94" name="Text 92"/>
          <p:cNvSpPr txBox="1"/>
          <p:nvPr/>
        </p:nvSpPr>
        <p:spPr>
          <a:xfrm>
            <a:off x="9163202" y="7263079"/>
            <a:ext cx="8258861" cy="400507"/>
          </a:xfrm>
          <a:prstGeom prst="rect">
            <a:avLst/>
          </a:prstGeom>
          <a:solidFill>
            <a:srgbClr val="FFFFFF">
              <a:alpha val="0"/>
            </a:srgbClr>
          </a:solidFill>
          <a:ln>
            <a:solidFill>
              <a:srgbClr val="FFFFFF">
                <a:alpha val="0"/>
              </a:srgbClr>
            </a:solidFill>
          </a:ln>
        </p:spPr>
        <p:txBody>
          <a:bodyPr wrap="square" lIns="152400" tIns="114300" rIns="152400" bIns="0" rtlCol="0" anchor="ctr"/>
          <a:lstStyle/>
          <a:p>
            <a:pPr marL="0" indent="0" algn="l">
              <a:buNone/>
            </a:pPr>
            <a:r>
              <a:rPr lang="en-US" sz="1100" dirty="0">
                <a:solidFill>
                  <a:srgbClr val="4B5563"/>
                </a:solidFill>
                <a:latin typeface="Manrope" pitchFamily="34" charset="0"/>
                <a:ea typeface="Manrope" pitchFamily="34" charset="-122"/>
                <a:cs typeface="Manrope" pitchFamily="34" charset="-120"/>
              </a:rPr>
              <a:t>Plusieurs chauffeurs, plusieurs véhicules, 1 par type d'activité.</a:t>
            </a:r>
            <a:endParaRPr lang="en-US" sz="1100" dirty="0"/>
          </a:p>
        </p:txBody>
      </p:sp>
      <p:sp>
        <p:nvSpPr>
          <p:cNvPr id="95" name="Shape 93"/>
          <p:cNvSpPr/>
          <p:nvPr/>
        </p:nvSpPr>
        <p:spPr>
          <a:xfrm>
            <a:off x="914400" y="7787030"/>
            <a:ext cx="5609844" cy="523951"/>
          </a:xfrm>
          <a:prstGeom prst="rect">
            <a:avLst/>
          </a:prstGeom>
          <a:solidFill>
            <a:srgbClr val="FAFAFC"/>
          </a:solidFill>
          <a:ln/>
        </p:spPr>
        <p:txBody>
          <a:bodyPr/>
          <a:lstStyle/>
          <a:p>
            <a:endParaRPr lang="fr-CI"/>
          </a:p>
        </p:txBody>
      </p:sp>
      <p:sp>
        <p:nvSpPr>
          <p:cNvPr id="96" name="Shape 94"/>
          <p:cNvSpPr/>
          <p:nvPr/>
        </p:nvSpPr>
        <p:spPr>
          <a:xfrm>
            <a:off x="914400" y="8301838"/>
            <a:ext cx="5609844" cy="9144"/>
          </a:xfrm>
          <a:prstGeom prst="rect">
            <a:avLst/>
          </a:prstGeom>
          <a:solidFill>
            <a:srgbClr val="E5E7EB"/>
          </a:solidFill>
          <a:ln w="12700">
            <a:solidFill>
              <a:srgbClr val="E5E7EB">
                <a:alpha val="0"/>
              </a:srgbClr>
            </a:solidFill>
            <a:prstDash val="solid"/>
          </a:ln>
        </p:spPr>
        <p:txBody>
          <a:bodyPr/>
          <a:lstStyle/>
          <a:p>
            <a:endParaRPr lang="fr-CI"/>
          </a:p>
        </p:txBody>
      </p:sp>
      <p:sp>
        <p:nvSpPr>
          <p:cNvPr id="97" name="Text 95"/>
          <p:cNvSpPr txBox="1"/>
          <p:nvPr/>
        </p:nvSpPr>
        <p:spPr>
          <a:xfrm>
            <a:off x="914400" y="7787030"/>
            <a:ext cx="5610758" cy="400507"/>
          </a:xfrm>
          <a:prstGeom prst="rect">
            <a:avLst/>
          </a:prstGeom>
          <a:solidFill>
            <a:srgbClr val="FFFFFF">
              <a:alpha val="0"/>
            </a:srgbClr>
          </a:solidFill>
          <a:ln>
            <a:solidFill>
              <a:srgbClr val="FFFFFF">
                <a:alpha val="0"/>
              </a:srgbClr>
            </a:solidFill>
          </a:ln>
        </p:spPr>
        <p:txBody>
          <a:bodyPr wrap="square" lIns="152400" tIns="114300" rIns="152400" bIns="0" rtlCol="0" anchor="ctr"/>
          <a:lstStyle/>
          <a:p>
            <a:pPr marL="0" indent="0" algn="l">
              <a:buNone/>
            </a:pPr>
            <a:r>
              <a:rPr lang="en-US" sz="1100" b="1" dirty="0">
                <a:solidFill>
                  <a:srgbClr val="4B5563"/>
                </a:solidFill>
                <a:latin typeface="Manrope" pitchFamily="34" charset="0"/>
                <a:ea typeface="Manrope" pitchFamily="34" charset="-122"/>
                <a:cs typeface="Manrope" pitchFamily="34" charset="-120"/>
              </a:rPr>
              <a:t>Compte franchise test</a:t>
            </a:r>
            <a:endParaRPr lang="en-US" sz="1100" dirty="0"/>
          </a:p>
        </p:txBody>
      </p:sp>
      <p:sp>
        <p:nvSpPr>
          <p:cNvPr id="98" name="Shape 96"/>
          <p:cNvSpPr/>
          <p:nvPr/>
        </p:nvSpPr>
        <p:spPr>
          <a:xfrm>
            <a:off x="6523330" y="7787030"/>
            <a:ext cx="2648102" cy="523951"/>
          </a:xfrm>
          <a:prstGeom prst="rect">
            <a:avLst/>
          </a:prstGeom>
          <a:solidFill>
            <a:srgbClr val="FAFAFC"/>
          </a:solidFill>
          <a:ln/>
        </p:spPr>
        <p:txBody>
          <a:bodyPr/>
          <a:lstStyle/>
          <a:p>
            <a:endParaRPr lang="fr-CI"/>
          </a:p>
        </p:txBody>
      </p:sp>
      <p:sp>
        <p:nvSpPr>
          <p:cNvPr id="99" name="Shape 97"/>
          <p:cNvSpPr/>
          <p:nvPr/>
        </p:nvSpPr>
        <p:spPr>
          <a:xfrm>
            <a:off x="6523330" y="8301838"/>
            <a:ext cx="2648102" cy="9144"/>
          </a:xfrm>
          <a:prstGeom prst="rect">
            <a:avLst/>
          </a:prstGeom>
          <a:solidFill>
            <a:srgbClr val="E5E7EB"/>
          </a:solidFill>
          <a:ln w="12700">
            <a:solidFill>
              <a:srgbClr val="E5E7EB">
                <a:alpha val="0"/>
              </a:srgbClr>
            </a:solidFill>
            <a:prstDash val="solid"/>
          </a:ln>
        </p:spPr>
        <p:txBody>
          <a:bodyPr/>
          <a:lstStyle/>
          <a:p>
            <a:endParaRPr lang="fr-CI"/>
          </a:p>
        </p:txBody>
      </p:sp>
      <p:sp>
        <p:nvSpPr>
          <p:cNvPr id="100" name="Shape 98"/>
          <p:cNvSpPr/>
          <p:nvPr/>
        </p:nvSpPr>
        <p:spPr>
          <a:xfrm>
            <a:off x="6580937" y="7905902"/>
            <a:ext cx="476402"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101" name="Text 99"/>
          <p:cNvSpPr/>
          <p:nvPr/>
        </p:nvSpPr>
        <p:spPr>
          <a:xfrm>
            <a:off x="6580937" y="7905902"/>
            <a:ext cx="477317"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1</a:t>
            </a:r>
            <a:endParaRPr lang="en-US" sz="900" dirty="0"/>
          </a:p>
        </p:txBody>
      </p:sp>
      <p:sp>
        <p:nvSpPr>
          <p:cNvPr id="102" name="Shape 100"/>
          <p:cNvSpPr/>
          <p:nvPr/>
        </p:nvSpPr>
        <p:spPr>
          <a:xfrm>
            <a:off x="9163202" y="7787030"/>
            <a:ext cx="8257946" cy="523951"/>
          </a:xfrm>
          <a:prstGeom prst="rect">
            <a:avLst/>
          </a:prstGeom>
          <a:solidFill>
            <a:srgbClr val="FAFAFC"/>
          </a:solidFill>
          <a:ln/>
        </p:spPr>
        <p:txBody>
          <a:bodyPr/>
          <a:lstStyle/>
          <a:p>
            <a:endParaRPr lang="fr-CI"/>
          </a:p>
        </p:txBody>
      </p:sp>
      <p:sp>
        <p:nvSpPr>
          <p:cNvPr id="103" name="Shape 101"/>
          <p:cNvSpPr/>
          <p:nvPr/>
        </p:nvSpPr>
        <p:spPr>
          <a:xfrm>
            <a:off x="9163202" y="8301838"/>
            <a:ext cx="8257946" cy="9144"/>
          </a:xfrm>
          <a:prstGeom prst="rect">
            <a:avLst/>
          </a:prstGeom>
          <a:solidFill>
            <a:srgbClr val="E5E7EB"/>
          </a:solidFill>
          <a:ln w="12700">
            <a:solidFill>
              <a:srgbClr val="E5E7EB">
                <a:alpha val="0"/>
              </a:srgbClr>
            </a:solidFill>
            <a:prstDash val="solid"/>
          </a:ln>
        </p:spPr>
        <p:txBody>
          <a:bodyPr/>
          <a:lstStyle/>
          <a:p>
            <a:endParaRPr lang="fr-CI"/>
          </a:p>
        </p:txBody>
      </p:sp>
      <p:sp>
        <p:nvSpPr>
          <p:cNvPr id="104" name="Text 102"/>
          <p:cNvSpPr txBox="1"/>
          <p:nvPr/>
        </p:nvSpPr>
        <p:spPr>
          <a:xfrm>
            <a:off x="9163202" y="7787030"/>
            <a:ext cx="8258861" cy="400507"/>
          </a:xfrm>
          <a:prstGeom prst="rect">
            <a:avLst/>
          </a:prstGeom>
          <a:solidFill>
            <a:srgbClr val="FFFFFF">
              <a:alpha val="0"/>
            </a:srgbClr>
          </a:solidFill>
          <a:ln>
            <a:solidFill>
              <a:srgbClr val="FFFFFF">
                <a:alpha val="0"/>
              </a:srgbClr>
            </a:solidFill>
          </a:ln>
        </p:spPr>
        <p:txBody>
          <a:bodyPr wrap="square" lIns="152400" tIns="114300" rIns="152400" bIns="0" rtlCol="0" anchor="ctr"/>
          <a:lstStyle/>
          <a:p>
            <a:pPr marL="0" indent="0" algn="l">
              <a:buNone/>
            </a:pPr>
            <a:r>
              <a:rPr lang="en-US" sz="1100" dirty="0">
                <a:solidFill>
                  <a:srgbClr val="4B5563"/>
                </a:solidFill>
                <a:latin typeface="Manrope" pitchFamily="34" charset="0"/>
                <a:ea typeface="Manrope" pitchFamily="34" charset="-122"/>
                <a:cs typeface="Manrope" pitchFamily="34" charset="-120"/>
              </a:rPr>
              <a:t>Zone Abidjan principale (+1 zone secondaire optionnelle).</a:t>
            </a:r>
            <a:endParaRPr lang="en-US" sz="1100" dirty="0"/>
          </a:p>
        </p:txBody>
      </p:sp>
      <p:sp>
        <p:nvSpPr>
          <p:cNvPr id="105" name="Shape 103"/>
          <p:cNvSpPr/>
          <p:nvPr/>
        </p:nvSpPr>
        <p:spPr>
          <a:xfrm>
            <a:off x="914400" y="8825789"/>
            <a:ext cx="5609844" cy="9144"/>
          </a:xfrm>
          <a:prstGeom prst="rect">
            <a:avLst/>
          </a:prstGeom>
          <a:solidFill>
            <a:srgbClr val="E5E7EB"/>
          </a:solidFill>
          <a:ln w="12700">
            <a:solidFill>
              <a:srgbClr val="E5E7EB">
                <a:alpha val="0"/>
              </a:srgbClr>
            </a:solidFill>
            <a:prstDash val="solid"/>
          </a:ln>
        </p:spPr>
        <p:txBody>
          <a:bodyPr/>
          <a:lstStyle/>
          <a:p>
            <a:endParaRPr lang="fr-CI"/>
          </a:p>
        </p:txBody>
      </p:sp>
      <p:sp>
        <p:nvSpPr>
          <p:cNvPr id="106" name="Text 104"/>
          <p:cNvSpPr txBox="1"/>
          <p:nvPr/>
        </p:nvSpPr>
        <p:spPr>
          <a:xfrm>
            <a:off x="914400" y="8310982"/>
            <a:ext cx="5610758" cy="400507"/>
          </a:xfrm>
          <a:prstGeom prst="rect">
            <a:avLst/>
          </a:prstGeom>
          <a:solidFill>
            <a:srgbClr val="FFFFFF">
              <a:alpha val="0"/>
            </a:srgbClr>
          </a:solidFill>
          <a:ln>
            <a:solidFill>
              <a:srgbClr val="FFFFFF">
                <a:alpha val="0"/>
              </a:srgbClr>
            </a:solidFill>
          </a:ln>
        </p:spPr>
        <p:txBody>
          <a:bodyPr wrap="square" lIns="152400" tIns="114300" rIns="152400" bIns="0" rtlCol="0" anchor="ctr"/>
          <a:lstStyle/>
          <a:p>
            <a:pPr marL="0" indent="0" algn="l">
              <a:buNone/>
            </a:pPr>
            <a:r>
              <a:rPr lang="en-US" sz="1100" b="1" dirty="0">
                <a:solidFill>
                  <a:srgbClr val="4B5563"/>
                </a:solidFill>
                <a:latin typeface="Manrope" pitchFamily="34" charset="0"/>
                <a:ea typeface="Manrope" pitchFamily="34" charset="-122"/>
                <a:cs typeface="Manrope" pitchFamily="34" charset="-120"/>
              </a:rPr>
              <a:t>Comptes central</a:t>
            </a:r>
            <a:endParaRPr lang="en-US" sz="1100" dirty="0"/>
          </a:p>
        </p:txBody>
      </p:sp>
      <p:sp>
        <p:nvSpPr>
          <p:cNvPr id="107" name="Shape 105"/>
          <p:cNvSpPr/>
          <p:nvPr/>
        </p:nvSpPr>
        <p:spPr>
          <a:xfrm>
            <a:off x="6523330" y="8825789"/>
            <a:ext cx="2648102" cy="9144"/>
          </a:xfrm>
          <a:prstGeom prst="rect">
            <a:avLst/>
          </a:prstGeom>
          <a:solidFill>
            <a:srgbClr val="E5E7EB"/>
          </a:solidFill>
          <a:ln w="12700">
            <a:solidFill>
              <a:srgbClr val="E5E7EB">
                <a:alpha val="0"/>
              </a:srgbClr>
            </a:solidFill>
            <a:prstDash val="solid"/>
          </a:ln>
        </p:spPr>
        <p:txBody>
          <a:bodyPr/>
          <a:lstStyle/>
          <a:p>
            <a:endParaRPr lang="fr-CI"/>
          </a:p>
        </p:txBody>
      </p:sp>
      <p:sp>
        <p:nvSpPr>
          <p:cNvPr id="108" name="Shape 106"/>
          <p:cNvSpPr/>
          <p:nvPr/>
        </p:nvSpPr>
        <p:spPr>
          <a:xfrm>
            <a:off x="6590081" y="8429854"/>
            <a:ext cx="476402"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109" name="Text 107"/>
          <p:cNvSpPr/>
          <p:nvPr/>
        </p:nvSpPr>
        <p:spPr>
          <a:xfrm>
            <a:off x="6590081" y="8429854"/>
            <a:ext cx="477317"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7</a:t>
            </a:r>
            <a:endParaRPr lang="en-US" sz="900" dirty="0"/>
          </a:p>
        </p:txBody>
      </p:sp>
      <p:sp>
        <p:nvSpPr>
          <p:cNvPr id="110" name="Shape 108"/>
          <p:cNvSpPr/>
          <p:nvPr/>
        </p:nvSpPr>
        <p:spPr>
          <a:xfrm>
            <a:off x="9163202" y="8825789"/>
            <a:ext cx="8257946" cy="9144"/>
          </a:xfrm>
          <a:prstGeom prst="rect">
            <a:avLst/>
          </a:prstGeom>
          <a:solidFill>
            <a:srgbClr val="E5E7EB"/>
          </a:solidFill>
          <a:ln w="12700">
            <a:solidFill>
              <a:srgbClr val="E5E7EB">
                <a:alpha val="0"/>
              </a:srgbClr>
            </a:solidFill>
            <a:prstDash val="solid"/>
          </a:ln>
        </p:spPr>
        <p:txBody>
          <a:bodyPr/>
          <a:lstStyle/>
          <a:p>
            <a:endParaRPr lang="fr-CI"/>
          </a:p>
        </p:txBody>
      </p:sp>
      <p:sp>
        <p:nvSpPr>
          <p:cNvPr id="111" name="Text 109"/>
          <p:cNvSpPr txBox="1"/>
          <p:nvPr/>
        </p:nvSpPr>
        <p:spPr>
          <a:xfrm>
            <a:off x="9163202" y="8310982"/>
            <a:ext cx="8258861" cy="400507"/>
          </a:xfrm>
          <a:prstGeom prst="rect">
            <a:avLst/>
          </a:prstGeom>
          <a:solidFill>
            <a:srgbClr val="FFFFFF">
              <a:alpha val="0"/>
            </a:srgbClr>
          </a:solidFill>
          <a:ln>
            <a:solidFill>
              <a:srgbClr val="FFFFFF">
                <a:alpha val="0"/>
              </a:srgbClr>
            </a:solidFill>
          </a:ln>
        </p:spPr>
        <p:txBody>
          <a:bodyPr wrap="square" lIns="152400" tIns="114300" rIns="152400" bIns="0" rtlCol="0" anchor="ctr"/>
          <a:lstStyle/>
          <a:p>
            <a:pPr marL="0" indent="0" algn="l">
              <a:buNone/>
            </a:pPr>
            <a:r>
              <a:rPr lang="en-US" sz="1100" dirty="0">
                <a:solidFill>
                  <a:srgbClr val="4B5563"/>
                </a:solidFill>
                <a:latin typeface="Manrope" pitchFamily="34" charset="0"/>
                <a:ea typeface="Manrope" pitchFamily="34" charset="-122"/>
                <a:cs typeface="Manrope" pitchFamily="34" charset="-120"/>
              </a:rPr>
              <a:t>Super-admin · exploitation · finance · support · conformité · reporting · lecture seule direction.</a:t>
            </a:r>
            <a:endParaRPr lang="en-US" sz="1100" dirty="0"/>
          </a:p>
        </p:txBody>
      </p:sp>
      <p:sp>
        <p:nvSpPr>
          <p:cNvPr id="112" name="Shape 110"/>
          <p:cNvSpPr/>
          <p:nvPr/>
        </p:nvSpPr>
        <p:spPr>
          <a:xfrm>
            <a:off x="914400" y="8477402"/>
            <a:ext cx="16497605" cy="1047902"/>
          </a:xfrm>
          <a:prstGeom prst="roundRect">
            <a:avLst>
              <a:gd name="adj" fmla="val 12740"/>
            </a:avLst>
          </a:prstGeom>
          <a:solidFill>
            <a:srgbClr val="1F2937"/>
          </a:solidFill>
          <a:ln w="12700">
            <a:solidFill>
              <a:srgbClr val="FFFFFF">
                <a:alpha val="0"/>
              </a:srgbClr>
            </a:solidFill>
            <a:prstDash val="solid"/>
          </a:ln>
        </p:spPr>
        <p:txBody>
          <a:bodyPr/>
          <a:lstStyle/>
          <a:p>
            <a:endParaRPr lang="fr-CI"/>
          </a:p>
        </p:txBody>
      </p:sp>
      <p:sp>
        <p:nvSpPr>
          <p:cNvPr id="113" name="Text 111"/>
          <p:cNvSpPr txBox="1"/>
          <p:nvPr/>
        </p:nvSpPr>
        <p:spPr>
          <a:xfrm>
            <a:off x="1218895" y="8667598"/>
            <a:ext cx="2586838" cy="600761"/>
          </a:xfrm>
          <a:prstGeom prst="rect">
            <a:avLst/>
          </a:prstGeom>
          <a:noFill/>
          <a:ln/>
        </p:spPr>
        <p:txBody>
          <a:bodyPr wrap="none" lIns="0" tIns="0" rIns="0" bIns="0" rtlCol="0" anchor="ctr"/>
          <a:lstStyle/>
          <a:p>
            <a:pPr marL="0" indent="0" algn="l">
              <a:buNone/>
            </a:pPr>
            <a:r>
              <a:rPr lang="en-US" sz="3600" b="1" kern="0" spc="-72" dirty="0">
                <a:solidFill>
                  <a:srgbClr val="A78BFA"/>
                </a:solidFill>
                <a:latin typeface="JetBrains Mono" pitchFamily="34" charset="0"/>
                <a:ea typeface="JetBrains Mono" pitchFamily="34" charset="-122"/>
                <a:cs typeface="JetBrains Mono" pitchFamily="34" charset="-120"/>
              </a:rPr>
              <a:t>40 ENGINS</a:t>
            </a:r>
            <a:endParaRPr lang="en-US" sz="3600" dirty="0"/>
          </a:p>
        </p:txBody>
      </p:sp>
      <p:sp>
        <p:nvSpPr>
          <p:cNvPr id="114" name="Text 112"/>
          <p:cNvSpPr txBox="1"/>
          <p:nvPr/>
        </p:nvSpPr>
        <p:spPr>
          <a:xfrm>
            <a:off x="3910889" y="8706002"/>
            <a:ext cx="11097158" cy="286207"/>
          </a:xfrm>
          <a:prstGeom prst="rect">
            <a:avLst/>
          </a:prstGeom>
          <a:noFill/>
          <a:ln/>
        </p:spPr>
        <p:txBody>
          <a:bodyPr wrap="none" lIns="0" tIns="0" rIns="0" bIns="0" rtlCol="0" anchor="ctr"/>
          <a:lstStyle/>
          <a:p>
            <a:pPr marL="0" indent="0" algn="l">
              <a:buNone/>
            </a:pPr>
            <a:r>
              <a:rPr lang="en-US" sz="1600" b="1" dirty="0">
                <a:solidFill>
                  <a:srgbClr val="FFFFFF"/>
                </a:solidFill>
                <a:latin typeface="Manrope" pitchFamily="34" charset="0"/>
                <a:ea typeface="Manrope" pitchFamily="34" charset="-122"/>
                <a:cs typeface="Manrope" pitchFamily="34" charset="-120"/>
              </a:rPr>
              <a:t>Total flotte de test réel</a:t>
            </a:r>
            <a:endParaRPr lang="en-US" sz="1600" dirty="0"/>
          </a:p>
        </p:txBody>
      </p:sp>
      <p:sp>
        <p:nvSpPr>
          <p:cNvPr id="115" name="Text 113"/>
          <p:cNvSpPr txBox="1"/>
          <p:nvPr/>
        </p:nvSpPr>
        <p:spPr>
          <a:xfrm>
            <a:off x="3910889" y="9029700"/>
            <a:ext cx="11097158" cy="200254"/>
          </a:xfrm>
          <a:prstGeom prst="rect">
            <a:avLst/>
          </a:prstGeom>
          <a:noFill/>
          <a:ln/>
        </p:spPr>
        <p:txBody>
          <a:bodyPr wrap="none" lIns="0" tIns="0" rIns="0" bIns="0" rtlCol="0" anchor="ctr"/>
          <a:lstStyle/>
          <a:p>
            <a:pPr marL="0" indent="0" algn="l">
              <a:buNone/>
            </a:pPr>
            <a:r>
              <a:rPr lang="en-US" sz="1100" dirty="0">
                <a:solidFill>
                  <a:srgbClr val="C4B5FD"/>
                </a:solidFill>
                <a:latin typeface="Manrope" pitchFamily="34" charset="0"/>
                <a:ea typeface="Manrope" pitchFamily="34" charset="-122"/>
                <a:cs typeface="Manrope" pitchFamily="34" charset="-120"/>
              </a:rPr>
              <a:t>20 taxis/VTC + 10 motos livreurs + 5 location + 5 fret = couverture multiservices intégrale.</a:t>
            </a:r>
            <a:endParaRPr lang="en-US" sz="1100" dirty="0"/>
          </a:p>
        </p:txBody>
      </p:sp>
      <p:sp>
        <p:nvSpPr>
          <p:cNvPr id="116" name="Shape 114"/>
          <p:cNvSpPr/>
          <p:nvPr/>
        </p:nvSpPr>
        <p:spPr>
          <a:xfrm>
            <a:off x="15307056" y="8824874"/>
            <a:ext cx="1819656" cy="286207"/>
          </a:xfrm>
          <a:prstGeom prst="roundRect">
            <a:avLst>
              <a:gd name="adj" fmla="val 49840"/>
            </a:avLst>
          </a:prstGeom>
          <a:solidFill>
            <a:srgbClr val="A78BFA"/>
          </a:solidFill>
          <a:ln w="12700">
            <a:solidFill>
              <a:srgbClr val="FFFFFF">
                <a:alpha val="0"/>
              </a:srgbClr>
            </a:solidFill>
            <a:prstDash val="solid"/>
          </a:ln>
        </p:spPr>
        <p:txBody>
          <a:bodyPr/>
          <a:lstStyle/>
          <a:p>
            <a:endParaRPr lang="fr-CI"/>
          </a:p>
        </p:txBody>
      </p:sp>
      <p:sp>
        <p:nvSpPr>
          <p:cNvPr id="117" name="Text 115"/>
          <p:cNvSpPr/>
          <p:nvPr/>
        </p:nvSpPr>
        <p:spPr>
          <a:xfrm>
            <a:off x="15307056" y="8824874"/>
            <a:ext cx="1819656"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1F2937"/>
                </a:solidFill>
                <a:latin typeface="Manrope" pitchFamily="34" charset="0"/>
                <a:ea typeface="Manrope" pitchFamily="34" charset="-122"/>
                <a:cs typeface="Manrope" pitchFamily="34" charset="-120"/>
              </a:rPr>
              <a:t>~90 comptes test au total</a:t>
            </a:r>
            <a:endParaRPr lang="en-US" sz="900" dirty="0"/>
          </a:p>
        </p:txBody>
      </p:sp>
      <p:sp>
        <p:nvSpPr>
          <p:cNvPr id="118" name="Shape 116"/>
          <p:cNvSpPr/>
          <p:nvPr/>
        </p:nvSpPr>
        <p:spPr>
          <a:xfrm>
            <a:off x="0" y="9791395"/>
            <a:ext cx="18288000" cy="495605"/>
          </a:xfrm>
          <a:prstGeom prst="rect">
            <a:avLst/>
          </a:prstGeom>
          <a:solidFill>
            <a:srgbClr val="FFFFFF"/>
          </a:solidFill>
          <a:ln/>
        </p:spPr>
        <p:txBody>
          <a:bodyPr/>
          <a:lstStyle/>
          <a:p>
            <a:endParaRPr lang="fr-CI"/>
          </a:p>
        </p:txBody>
      </p:sp>
      <p:sp>
        <p:nvSpPr>
          <p:cNvPr id="119" name="Shape 117"/>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120" name="Text 118"/>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121" name="Text 119"/>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26 / 59</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5649042" y="256946"/>
            <a:ext cx="2261311"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Partie V — §15 Gouvernance</a:t>
            </a:r>
            <a:endParaRPr lang="en-US" sz="900" dirty="0"/>
          </a:p>
        </p:txBody>
      </p:sp>
      <p:sp>
        <p:nvSpPr>
          <p:cNvPr id="10" name="Text 8"/>
          <p:cNvSpPr txBox="1"/>
          <p:nvPr/>
        </p:nvSpPr>
        <p:spPr>
          <a:xfrm>
            <a:off x="914400" y="1205179"/>
            <a:ext cx="3238805"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15. Gouvernance de la recette</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6193110"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11 acteurs avec rôles et responsabilités dédiés.</a:t>
            </a:r>
            <a:endParaRPr lang="en-US" sz="3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914400" y="2667305"/>
          <a:ext cx="16496691" cy="5229456"/>
        </p:xfrm>
        <a:graphic>
          <a:graphicData uri="http://schemas.openxmlformats.org/drawingml/2006/table">
            <a:tbl>
              <a:tblPr/>
              <a:tblGrid>
                <a:gridCol w="4948733">
                  <a:extLst>
                    <a:ext uri="{9D8B030D-6E8A-4147-A177-3AD203B41FA5}">
                      <a16:colId xmlns:a16="http://schemas.microsoft.com/office/drawing/2014/main" val="20000"/>
                    </a:ext>
                  </a:extLst>
                </a:gridCol>
                <a:gridCol w="11547958">
                  <a:extLst>
                    <a:ext uri="{9D8B030D-6E8A-4147-A177-3AD203B41FA5}">
                      <a16:colId xmlns:a16="http://schemas.microsoft.com/office/drawing/2014/main" val="20001"/>
                    </a:ext>
                  </a:extLst>
                </a:gridCol>
              </a:tblGrid>
              <a:tr h="435788">
                <a:tc>
                  <a:txBody>
                    <a:bodyPr/>
                    <a:lstStyle/>
                    <a:p>
                      <a:pPr marL="0" indent="0" algn="l">
                        <a:buNone/>
                      </a:pPr>
                      <a:r>
                        <a:rPr lang="en-US" sz="1050" b="1" dirty="0">
                          <a:solidFill>
                            <a:srgbClr val="FFFFFF"/>
                          </a:solidFill>
                          <a:latin typeface="Manrope" pitchFamily="34" charset="0"/>
                          <a:ea typeface="Manrope" pitchFamily="34" charset="-122"/>
                          <a:cs typeface="Manrope" pitchFamily="34" charset="-120"/>
                        </a:rPr>
                        <a:t>ACTEUR</a:t>
                      </a:r>
                      <a:endParaRPr lang="en-US" sz="1050" dirty="0">
                        <a:latin typeface="Manrope" charset="0"/>
                        <a:ea typeface="Manrope" charset="0"/>
                        <a:cs typeface="Manrope" charset="0"/>
                      </a:endParaRPr>
                    </a:p>
                  </a:txBody>
                  <a:tcPr marL="152705" marR="152705" marT="114300" marB="114300" anchor="ctr">
                    <a:lnL w="0" cap="flat" cmpd="sng" algn="ctr">
                      <a:solidFill>
                        <a:srgbClr val="E5E7EB"/>
                      </a:solidFill>
                      <a:prstDash val="solid"/>
                      <a:round/>
                      <a:headEnd type="none" w="med" len="med"/>
                      <a:tailEnd type="none" w="med" len="med"/>
                    </a:lnL>
                    <a:lnR w="0" cap="flat" cmpd="sng" algn="ctr">
                      <a:solidFill>
                        <a:srgbClr val="E5E7EB"/>
                      </a:solidFill>
                      <a:prstDash val="solid"/>
                      <a:round/>
                      <a:headEnd type="none" w="med" len="med"/>
                      <a:tailEnd type="none" w="med" len="med"/>
                    </a:lnR>
                    <a:lnT w="0" cap="flat" cmpd="sng" algn="ctr">
                      <a:solidFill>
                        <a:srgbClr val="E5E7EB"/>
                      </a:solidFill>
                      <a:prstDash val="solid"/>
                      <a:round/>
                      <a:headEnd type="none" w="med" len="med"/>
                      <a:tailEnd type="none" w="med" len="med"/>
                    </a:lnT>
                    <a:lnB w="0" cap="flat" cmpd="sng" algn="ctr">
                      <a:solidFill>
                        <a:srgbClr val="E5E7EB"/>
                      </a:solidFill>
                      <a:prstDash val="solid"/>
                      <a:round/>
                      <a:headEnd type="none" w="med" len="med"/>
                      <a:tailEnd type="none" w="med" len="med"/>
                    </a:lnB>
                    <a:solidFill>
                      <a:srgbClr val="1F2937"/>
                    </a:solidFill>
                  </a:tcPr>
                </a:tc>
                <a:tc>
                  <a:txBody>
                    <a:bodyPr/>
                    <a:lstStyle/>
                    <a:p>
                      <a:pPr marL="0" indent="0" algn="l">
                        <a:buNone/>
                      </a:pPr>
                      <a:r>
                        <a:rPr lang="en-US" sz="1050" b="1" dirty="0">
                          <a:solidFill>
                            <a:srgbClr val="FFFFFF"/>
                          </a:solidFill>
                          <a:latin typeface="Manrope" pitchFamily="34" charset="0"/>
                          <a:ea typeface="Manrope" pitchFamily="34" charset="-122"/>
                          <a:cs typeface="Manrope" pitchFamily="34" charset="-120"/>
                        </a:rPr>
                        <a:t>RESPONSABILITÉS PRINCIPALES</a:t>
                      </a:r>
                      <a:endParaRPr lang="en-US" sz="1050" dirty="0">
                        <a:latin typeface="Manrope" charset="0"/>
                        <a:ea typeface="Manrope" charset="0"/>
                        <a:cs typeface="Manrope" charset="0"/>
                      </a:endParaRPr>
                    </a:p>
                  </a:txBody>
                  <a:tcPr marL="152705" marR="152705" marT="114300" marB="114300" anchor="ctr">
                    <a:lnL w="0" cap="flat" cmpd="sng" algn="ctr">
                      <a:solidFill>
                        <a:srgbClr val="E5E7EB"/>
                      </a:solidFill>
                      <a:prstDash val="solid"/>
                      <a:round/>
                      <a:headEnd type="none" w="med" len="med"/>
                      <a:tailEnd type="none" w="med" len="med"/>
                    </a:lnL>
                    <a:lnR w="0" cap="flat" cmpd="sng" algn="ctr">
                      <a:solidFill>
                        <a:srgbClr val="E5E7EB"/>
                      </a:solidFill>
                      <a:prstDash val="solid"/>
                      <a:round/>
                      <a:headEnd type="none" w="med" len="med"/>
                      <a:tailEnd type="none" w="med" len="med"/>
                    </a:lnR>
                    <a:lnT w="0" cap="flat" cmpd="sng" algn="ctr">
                      <a:solidFill>
                        <a:srgbClr val="E5E7EB"/>
                      </a:solidFill>
                      <a:prstDash val="solid"/>
                      <a:round/>
                      <a:headEnd type="none" w="med" len="med"/>
                      <a:tailEnd type="none" w="med" len="med"/>
                    </a:lnT>
                    <a:lnB w="0" cap="flat" cmpd="sng" algn="ctr">
                      <a:solidFill>
                        <a:srgbClr val="E5E7EB"/>
                      </a:solidFill>
                      <a:prstDash val="solid"/>
                      <a:round/>
                      <a:headEnd type="none" w="med" len="med"/>
                      <a:tailEnd type="none" w="med" len="med"/>
                    </a:lnB>
                    <a:solidFill>
                      <a:srgbClr val="1F2937"/>
                    </a:solidFill>
                  </a:tcPr>
                </a:tc>
                <a:extLst>
                  <a:ext uri="{0D108BD9-81ED-4DB2-BD59-A6C34878D82A}">
                    <a16:rowId xmlns:a16="http://schemas.microsoft.com/office/drawing/2014/main" val="10000"/>
                  </a:ext>
                </a:extLst>
              </a:tr>
              <a:tr h="435788">
                <a:tc>
                  <a:txBody>
                    <a:bodyPr/>
                    <a:lstStyle/>
                    <a:p>
                      <a:pPr marL="0" indent="0">
                        <a:buNone/>
                      </a:pPr>
                      <a:r>
                        <a:rPr lang="en-US" sz="1125" b="1" dirty="0">
                          <a:solidFill>
                            <a:srgbClr val="4B5563"/>
                          </a:solidFill>
                          <a:latin typeface="Manrope" pitchFamily="34" charset="0"/>
                          <a:ea typeface="Manrope" pitchFamily="34" charset="-122"/>
                          <a:cs typeface="Manrope" pitchFamily="34" charset="-120"/>
                        </a:rPr>
                        <a:t>Direction UPJUNOO PRO</a:t>
                      </a:r>
                      <a:endParaRPr lang="en-US" sz="1200" dirty="0"/>
                    </a:p>
                  </a:txBody>
                  <a:tcPr marL="152705" marR="152705" marT="114300" marB="114300">
                    <a:lnL w="0" cap="flat" cmpd="sng" algn="ctr">
                      <a:solidFill>
                        <a:srgbClr val="E5E7EB"/>
                      </a:solidFill>
                      <a:prstDash val="solid"/>
                      <a:round/>
                      <a:headEnd type="none" w="med" len="med"/>
                      <a:tailEnd type="none" w="med" len="med"/>
                    </a:lnL>
                    <a:lnR w="0" cap="flat" cmpd="sng" algn="ctr">
                      <a:solidFill>
                        <a:srgbClr val="E5E7EB"/>
                      </a:solidFill>
                      <a:prstDash val="solid"/>
                      <a:round/>
                      <a:headEnd type="none" w="med" len="med"/>
                      <a:tailEnd type="none" w="med" len="med"/>
                    </a:lnR>
                    <a:lnT w="0"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125" dirty="0">
                          <a:solidFill>
                            <a:srgbClr val="4B5563"/>
                          </a:solidFill>
                          <a:latin typeface="Manrope" pitchFamily="34" charset="0"/>
                          <a:ea typeface="Manrope" pitchFamily="34" charset="-122"/>
                          <a:cs typeface="Manrope" pitchFamily="34" charset="-120"/>
                        </a:rPr>
                        <a:t>Validation stratégique · arbitrage · décision finale Go / No-Go en production.</a:t>
                      </a:r>
                      <a:endParaRPr lang="en-US" sz="1125" dirty="0">
                        <a:latin typeface="Manrope" charset="0"/>
                        <a:ea typeface="Manrope" charset="0"/>
                        <a:cs typeface="Manrope" charset="0"/>
                      </a:endParaRPr>
                    </a:p>
                  </a:txBody>
                  <a:tcPr marL="152705" marR="152705" marT="114300" marB="114300">
                    <a:lnL w="0" cap="flat" cmpd="sng" algn="ctr">
                      <a:solidFill>
                        <a:srgbClr val="E5E7EB"/>
                      </a:solidFill>
                      <a:prstDash val="solid"/>
                      <a:round/>
                      <a:headEnd type="none" w="med" len="med"/>
                      <a:tailEnd type="none" w="med" len="med"/>
                    </a:lnL>
                    <a:lnR w="0" cap="flat" cmpd="sng" algn="ctr">
                      <a:solidFill>
                        <a:srgbClr val="E5E7EB"/>
                      </a:solidFill>
                      <a:prstDash val="solid"/>
                      <a:round/>
                      <a:headEnd type="none" w="med" len="med"/>
                      <a:tailEnd type="none" w="med" len="med"/>
                    </a:lnR>
                    <a:lnT w="0"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435788">
                <a:tc>
                  <a:txBody>
                    <a:bodyPr/>
                    <a:lstStyle/>
                    <a:p>
                      <a:pPr marL="0" indent="0">
                        <a:buNone/>
                      </a:pPr>
                      <a:r>
                        <a:rPr lang="en-US" sz="1125" b="1" dirty="0">
                          <a:solidFill>
                            <a:srgbClr val="4B5563"/>
                          </a:solidFill>
                          <a:latin typeface="Manrope" pitchFamily="34" charset="0"/>
                          <a:ea typeface="Manrope" pitchFamily="34" charset="-122"/>
                          <a:cs typeface="Manrope" pitchFamily="34" charset="-120"/>
                        </a:rPr>
                        <a:t>Chef de projet</a:t>
                      </a:r>
                      <a:endParaRPr lang="en-US" sz="1200" dirty="0"/>
                    </a:p>
                  </a:txBody>
                  <a:tcPr marL="152705" marR="152705" marT="114300" marB="114300">
                    <a:lnL w="0" cap="flat" cmpd="sng" algn="ctr">
                      <a:solidFill>
                        <a:srgbClr val="E5E7EB"/>
                      </a:solidFill>
                      <a:prstDash val="solid"/>
                      <a:round/>
                      <a:headEnd type="none" w="med" len="med"/>
                      <a:tailEnd type="none" w="med" len="med"/>
                    </a:lnL>
                    <a:lnR w="0"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C"/>
                    </a:solidFill>
                  </a:tcPr>
                </a:tc>
                <a:tc>
                  <a:txBody>
                    <a:bodyPr/>
                    <a:lstStyle/>
                    <a:p>
                      <a:pPr marL="0" indent="0">
                        <a:buNone/>
                      </a:pPr>
                      <a:r>
                        <a:rPr lang="en-US" sz="1125" dirty="0">
                          <a:solidFill>
                            <a:srgbClr val="4B5563"/>
                          </a:solidFill>
                          <a:latin typeface="Manrope" pitchFamily="34" charset="0"/>
                          <a:ea typeface="Manrope" pitchFamily="34" charset="-122"/>
                          <a:cs typeface="Manrope" pitchFamily="34" charset="-120"/>
                        </a:rPr>
                        <a:t>Coordination globale · planning · suivi des validations · gestion du registre d'anomalies.</a:t>
                      </a:r>
                      <a:endParaRPr lang="en-US" sz="1125" dirty="0">
                        <a:latin typeface="Manrope" charset="0"/>
                        <a:ea typeface="Manrope" charset="0"/>
                        <a:cs typeface="Manrope" charset="0"/>
                      </a:endParaRPr>
                    </a:p>
                  </a:txBody>
                  <a:tcPr marL="152705" marR="152705" marT="114300" marB="114300">
                    <a:lnL w="0" cap="flat" cmpd="sng" algn="ctr">
                      <a:solidFill>
                        <a:srgbClr val="E5E7EB"/>
                      </a:solidFill>
                      <a:prstDash val="solid"/>
                      <a:round/>
                      <a:headEnd type="none" w="med" len="med"/>
                      <a:tailEnd type="none" w="med" len="med"/>
                    </a:lnL>
                    <a:lnR w="0"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C"/>
                    </a:solidFill>
                  </a:tcPr>
                </a:tc>
                <a:extLst>
                  <a:ext uri="{0D108BD9-81ED-4DB2-BD59-A6C34878D82A}">
                    <a16:rowId xmlns:a16="http://schemas.microsoft.com/office/drawing/2014/main" val="10002"/>
                  </a:ext>
                </a:extLst>
              </a:tr>
              <a:tr h="435788">
                <a:tc>
                  <a:txBody>
                    <a:bodyPr/>
                    <a:lstStyle/>
                    <a:p>
                      <a:pPr marL="0" indent="0">
                        <a:buNone/>
                      </a:pPr>
                      <a:r>
                        <a:rPr lang="en-US" sz="1125" b="1" dirty="0">
                          <a:solidFill>
                            <a:srgbClr val="4B5563"/>
                          </a:solidFill>
                          <a:latin typeface="Manrope" pitchFamily="34" charset="0"/>
                          <a:ea typeface="Manrope" pitchFamily="34" charset="-122"/>
                          <a:cs typeface="Manrope" pitchFamily="34" charset="-120"/>
                        </a:rPr>
                        <a:t>Éditeur</a:t>
                      </a:r>
                      <a:endParaRPr lang="en-US" sz="1200" dirty="0"/>
                    </a:p>
                  </a:txBody>
                  <a:tcPr marL="152705" marR="152705" marT="114300" marB="114300">
                    <a:lnL w="0" cap="flat" cmpd="sng" algn="ctr">
                      <a:solidFill>
                        <a:srgbClr val="E5E7EB"/>
                      </a:solidFill>
                      <a:prstDash val="solid"/>
                      <a:round/>
                      <a:headEnd type="none" w="med" len="med"/>
                      <a:tailEnd type="none" w="med" len="med"/>
                    </a:lnL>
                    <a:lnR w="0"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125" dirty="0">
                          <a:solidFill>
                            <a:srgbClr val="4B5563"/>
                          </a:solidFill>
                          <a:latin typeface="Manrope" pitchFamily="34" charset="0"/>
                          <a:ea typeface="Manrope" pitchFamily="34" charset="-122"/>
                          <a:cs typeface="Manrope" pitchFamily="34" charset="-120"/>
                        </a:rPr>
                        <a:t>Livraison de la version · corrections techniques · support de niveau 3 · documentation technique.</a:t>
                      </a:r>
                      <a:endParaRPr lang="en-US" sz="1125" dirty="0">
                        <a:latin typeface="Manrope" charset="0"/>
                        <a:ea typeface="Manrope" charset="0"/>
                        <a:cs typeface="Manrope" charset="0"/>
                      </a:endParaRPr>
                    </a:p>
                  </a:txBody>
                  <a:tcPr marL="152705" marR="152705" marT="114300" marB="114300">
                    <a:lnL w="0" cap="flat" cmpd="sng" algn="ctr">
                      <a:solidFill>
                        <a:srgbClr val="E5E7EB"/>
                      </a:solidFill>
                      <a:prstDash val="solid"/>
                      <a:round/>
                      <a:headEnd type="none" w="med" len="med"/>
                      <a:tailEnd type="none" w="med" len="med"/>
                    </a:lnL>
                    <a:lnR w="0"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435788">
                <a:tc>
                  <a:txBody>
                    <a:bodyPr/>
                    <a:lstStyle/>
                    <a:p>
                      <a:pPr marL="0" indent="0">
                        <a:buNone/>
                      </a:pPr>
                      <a:r>
                        <a:rPr lang="en-US" sz="1125" b="1" dirty="0">
                          <a:solidFill>
                            <a:srgbClr val="4B5563"/>
                          </a:solidFill>
                          <a:latin typeface="Manrope" pitchFamily="34" charset="0"/>
                          <a:ea typeface="Manrope" pitchFamily="34" charset="-122"/>
                          <a:cs typeface="Manrope" pitchFamily="34" charset="-120"/>
                        </a:rPr>
                        <a:t>Équipe technique interne</a:t>
                      </a:r>
                      <a:endParaRPr lang="en-US" sz="1200" dirty="0"/>
                    </a:p>
                  </a:txBody>
                  <a:tcPr marL="152705" marR="152705" marT="114300" marB="114300">
                    <a:lnL w="0" cap="flat" cmpd="sng" algn="ctr">
                      <a:solidFill>
                        <a:srgbClr val="E5E7EB"/>
                      </a:solidFill>
                      <a:prstDash val="solid"/>
                      <a:round/>
                      <a:headEnd type="none" w="med" len="med"/>
                      <a:tailEnd type="none" w="med" len="med"/>
                    </a:lnL>
                    <a:lnR w="0"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C"/>
                    </a:solidFill>
                  </a:tcPr>
                </a:tc>
                <a:tc>
                  <a:txBody>
                    <a:bodyPr/>
                    <a:lstStyle/>
                    <a:p>
                      <a:pPr marL="0" indent="0">
                        <a:buNone/>
                      </a:pPr>
                      <a:r>
                        <a:rPr lang="en-US" sz="1125" dirty="0">
                          <a:solidFill>
                            <a:srgbClr val="4B5563"/>
                          </a:solidFill>
                          <a:latin typeface="Manrope" pitchFamily="34" charset="0"/>
                          <a:ea typeface="Manrope" pitchFamily="34" charset="-122"/>
                          <a:cs typeface="Manrope" pitchFamily="34" charset="-120"/>
                        </a:rPr>
                        <a:t>Contrôle technique · tests API · environnement · logs · monitoring · sécurité.</a:t>
                      </a:r>
                      <a:endParaRPr lang="en-US" sz="1125" dirty="0">
                        <a:latin typeface="Manrope" charset="0"/>
                        <a:ea typeface="Manrope" charset="0"/>
                        <a:cs typeface="Manrope" charset="0"/>
                      </a:endParaRPr>
                    </a:p>
                  </a:txBody>
                  <a:tcPr marL="152705" marR="152705" marT="114300" marB="114300">
                    <a:lnL w="0" cap="flat" cmpd="sng" algn="ctr">
                      <a:solidFill>
                        <a:srgbClr val="E5E7EB"/>
                      </a:solidFill>
                      <a:prstDash val="solid"/>
                      <a:round/>
                      <a:headEnd type="none" w="med" len="med"/>
                      <a:tailEnd type="none" w="med" len="med"/>
                    </a:lnL>
                    <a:lnR w="0"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C"/>
                    </a:solidFill>
                  </a:tcPr>
                </a:tc>
                <a:extLst>
                  <a:ext uri="{0D108BD9-81ED-4DB2-BD59-A6C34878D82A}">
                    <a16:rowId xmlns:a16="http://schemas.microsoft.com/office/drawing/2014/main" val="10004"/>
                  </a:ext>
                </a:extLst>
              </a:tr>
              <a:tr h="435788">
                <a:tc>
                  <a:txBody>
                    <a:bodyPr/>
                    <a:lstStyle/>
                    <a:p>
                      <a:pPr marL="0" indent="0">
                        <a:buNone/>
                      </a:pPr>
                      <a:r>
                        <a:rPr lang="en-US" sz="1125" b="1" dirty="0">
                          <a:solidFill>
                            <a:srgbClr val="4B5563"/>
                          </a:solidFill>
                          <a:latin typeface="Manrope" pitchFamily="34" charset="0"/>
                          <a:ea typeface="Manrope" pitchFamily="34" charset="-122"/>
                          <a:cs typeface="Manrope" pitchFamily="34" charset="-120"/>
                        </a:rPr>
                        <a:t>Équipe exploitation</a:t>
                      </a:r>
                      <a:endParaRPr lang="en-US" sz="1200" dirty="0"/>
                    </a:p>
                  </a:txBody>
                  <a:tcPr marL="152705" marR="152705" marT="114300" marB="114300">
                    <a:lnL w="0" cap="flat" cmpd="sng" algn="ctr">
                      <a:solidFill>
                        <a:srgbClr val="E5E7EB"/>
                      </a:solidFill>
                      <a:prstDash val="solid"/>
                      <a:round/>
                      <a:headEnd type="none" w="med" len="med"/>
                      <a:tailEnd type="none" w="med" len="med"/>
                    </a:lnL>
                    <a:lnR w="0"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125" dirty="0">
                          <a:solidFill>
                            <a:srgbClr val="4B5563"/>
                          </a:solidFill>
                          <a:latin typeface="Manrope" pitchFamily="34" charset="0"/>
                          <a:ea typeface="Manrope" pitchFamily="34" charset="-122"/>
                          <a:cs typeface="Manrope" pitchFamily="34" charset="-120"/>
                        </a:rPr>
                        <a:t>Tests métiers · supervision terrain · animation chauffeurs / livreurs.</a:t>
                      </a:r>
                      <a:endParaRPr lang="en-US" sz="1125" dirty="0">
                        <a:latin typeface="Manrope" charset="0"/>
                        <a:ea typeface="Manrope" charset="0"/>
                        <a:cs typeface="Manrope" charset="0"/>
                      </a:endParaRPr>
                    </a:p>
                  </a:txBody>
                  <a:tcPr marL="152705" marR="152705" marT="114300" marB="114300">
                    <a:lnL w="0" cap="flat" cmpd="sng" algn="ctr">
                      <a:solidFill>
                        <a:srgbClr val="E5E7EB"/>
                      </a:solidFill>
                      <a:prstDash val="solid"/>
                      <a:round/>
                      <a:headEnd type="none" w="med" len="med"/>
                      <a:tailEnd type="none" w="med" len="med"/>
                    </a:lnL>
                    <a:lnR w="0"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r h="435788">
                <a:tc>
                  <a:txBody>
                    <a:bodyPr/>
                    <a:lstStyle/>
                    <a:p>
                      <a:pPr marL="0" indent="0">
                        <a:buNone/>
                      </a:pPr>
                      <a:r>
                        <a:rPr lang="en-US" sz="1125" b="1" dirty="0">
                          <a:solidFill>
                            <a:srgbClr val="4B5563"/>
                          </a:solidFill>
                          <a:latin typeface="Manrope" pitchFamily="34" charset="0"/>
                          <a:ea typeface="Manrope" pitchFamily="34" charset="-122"/>
                          <a:cs typeface="Manrope" pitchFamily="34" charset="-120"/>
                        </a:rPr>
                        <a:t>Équipe finance</a:t>
                      </a:r>
                      <a:endParaRPr lang="en-US" sz="1200" dirty="0"/>
                    </a:p>
                  </a:txBody>
                  <a:tcPr marL="152705" marR="152705" marT="114300" marB="114300">
                    <a:lnL w="0" cap="flat" cmpd="sng" algn="ctr">
                      <a:solidFill>
                        <a:srgbClr val="E5E7EB"/>
                      </a:solidFill>
                      <a:prstDash val="solid"/>
                      <a:round/>
                      <a:headEnd type="none" w="med" len="med"/>
                      <a:tailEnd type="none" w="med" len="med"/>
                    </a:lnL>
                    <a:lnR w="0"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C"/>
                    </a:solidFill>
                  </a:tcPr>
                </a:tc>
                <a:tc>
                  <a:txBody>
                    <a:bodyPr/>
                    <a:lstStyle/>
                    <a:p>
                      <a:pPr marL="0" indent="0">
                        <a:buNone/>
                      </a:pPr>
                      <a:r>
                        <a:rPr lang="en-US" sz="1125" dirty="0">
                          <a:solidFill>
                            <a:srgbClr val="4B5563"/>
                          </a:solidFill>
                          <a:latin typeface="Manrope" pitchFamily="34" charset="0"/>
                          <a:ea typeface="Manrope" pitchFamily="34" charset="-122"/>
                          <a:cs typeface="Manrope" pitchFamily="34" charset="-120"/>
                        </a:rPr>
                        <a:t>Tests wallet · commissions · rapports financiers · répartitions plateforme / partenaire / franchise / central.</a:t>
                      </a:r>
                      <a:endParaRPr lang="en-US" sz="1125" dirty="0">
                        <a:latin typeface="Manrope" charset="0"/>
                        <a:ea typeface="Manrope" charset="0"/>
                        <a:cs typeface="Manrope" charset="0"/>
                      </a:endParaRPr>
                    </a:p>
                  </a:txBody>
                  <a:tcPr marL="152705" marR="152705" marT="114300" marB="114300">
                    <a:lnL w="0" cap="flat" cmpd="sng" algn="ctr">
                      <a:solidFill>
                        <a:srgbClr val="E5E7EB"/>
                      </a:solidFill>
                      <a:prstDash val="solid"/>
                      <a:round/>
                      <a:headEnd type="none" w="med" len="med"/>
                      <a:tailEnd type="none" w="med" len="med"/>
                    </a:lnL>
                    <a:lnR w="0"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C"/>
                    </a:solidFill>
                  </a:tcPr>
                </a:tc>
                <a:extLst>
                  <a:ext uri="{0D108BD9-81ED-4DB2-BD59-A6C34878D82A}">
                    <a16:rowId xmlns:a16="http://schemas.microsoft.com/office/drawing/2014/main" val="10006"/>
                  </a:ext>
                </a:extLst>
              </a:tr>
              <a:tr h="435788">
                <a:tc>
                  <a:txBody>
                    <a:bodyPr/>
                    <a:lstStyle/>
                    <a:p>
                      <a:pPr marL="0" indent="0">
                        <a:buNone/>
                      </a:pPr>
                      <a:r>
                        <a:rPr lang="en-US" sz="1125" b="1" dirty="0">
                          <a:solidFill>
                            <a:srgbClr val="4B5563"/>
                          </a:solidFill>
                          <a:latin typeface="Manrope" pitchFamily="34" charset="0"/>
                          <a:ea typeface="Manrope" pitchFamily="34" charset="-122"/>
                          <a:cs typeface="Manrope" pitchFamily="34" charset="-120"/>
                        </a:rPr>
                        <a:t>Équipe support</a:t>
                      </a:r>
                      <a:endParaRPr lang="en-US" sz="1200" dirty="0"/>
                    </a:p>
                  </a:txBody>
                  <a:tcPr marL="152705" marR="152705" marT="114300" marB="114300">
                    <a:lnL w="0" cap="flat" cmpd="sng" algn="ctr">
                      <a:solidFill>
                        <a:srgbClr val="E5E7EB"/>
                      </a:solidFill>
                      <a:prstDash val="solid"/>
                      <a:round/>
                      <a:headEnd type="none" w="med" len="med"/>
                      <a:tailEnd type="none" w="med" len="med"/>
                    </a:lnL>
                    <a:lnR w="0"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5F3FF"/>
                    </a:solidFill>
                  </a:tcPr>
                </a:tc>
                <a:tc>
                  <a:txBody>
                    <a:bodyPr/>
                    <a:lstStyle/>
                    <a:p>
                      <a:pPr marL="0" indent="0">
                        <a:buNone/>
                      </a:pPr>
                      <a:r>
                        <a:rPr lang="en-US" sz="1125" dirty="0">
                          <a:solidFill>
                            <a:srgbClr val="4B5563"/>
                          </a:solidFill>
                          <a:latin typeface="Manrope" pitchFamily="34" charset="0"/>
                          <a:ea typeface="Manrope" pitchFamily="34" charset="-122"/>
                          <a:cs typeface="Manrope" pitchFamily="34" charset="-120"/>
                        </a:rPr>
                        <a:t>Tests réclamations · assistance utilisateurs · gestion des incidents en journée test.</a:t>
                      </a:r>
                      <a:endParaRPr lang="en-US" sz="1125" dirty="0">
                        <a:latin typeface="Manrope" charset="0"/>
                        <a:ea typeface="Manrope" charset="0"/>
                        <a:cs typeface="Manrope" charset="0"/>
                      </a:endParaRPr>
                    </a:p>
                  </a:txBody>
                  <a:tcPr marL="152705" marR="152705" marT="114300" marB="114300">
                    <a:lnL w="0" cap="flat" cmpd="sng" algn="ctr">
                      <a:solidFill>
                        <a:srgbClr val="E5E7EB"/>
                      </a:solidFill>
                      <a:prstDash val="solid"/>
                      <a:round/>
                      <a:headEnd type="none" w="med" len="med"/>
                      <a:tailEnd type="none" w="med" len="med"/>
                    </a:lnL>
                    <a:lnR w="0"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5F3FF"/>
                    </a:solidFill>
                  </a:tcPr>
                </a:tc>
                <a:extLst>
                  <a:ext uri="{0D108BD9-81ED-4DB2-BD59-A6C34878D82A}">
                    <a16:rowId xmlns:a16="http://schemas.microsoft.com/office/drawing/2014/main" val="10007"/>
                  </a:ext>
                </a:extLst>
              </a:tr>
              <a:tr h="435788">
                <a:tc>
                  <a:txBody>
                    <a:bodyPr/>
                    <a:lstStyle/>
                    <a:p>
                      <a:pPr marL="0" indent="0">
                        <a:buNone/>
                      </a:pPr>
                      <a:r>
                        <a:rPr lang="en-US" sz="1125" b="1" dirty="0">
                          <a:solidFill>
                            <a:srgbClr val="4B5563"/>
                          </a:solidFill>
                          <a:latin typeface="Manrope" pitchFamily="34" charset="0"/>
                          <a:ea typeface="Manrope" pitchFamily="34" charset="-122"/>
                          <a:cs typeface="Manrope" pitchFamily="34" charset="-120"/>
                        </a:rPr>
                        <a:t>Partenaires pilotes</a:t>
                      </a:r>
                      <a:endParaRPr lang="en-US" sz="1200" dirty="0"/>
                    </a:p>
                  </a:txBody>
                  <a:tcPr marL="152705" marR="152705" marT="114300" marB="114300">
                    <a:lnL w="0" cap="flat" cmpd="sng" algn="ctr">
                      <a:solidFill>
                        <a:srgbClr val="E5E7EB"/>
                      </a:solidFill>
                      <a:prstDash val="solid"/>
                      <a:round/>
                      <a:headEnd type="none" w="med" len="med"/>
                      <a:tailEnd type="none" w="med" len="med"/>
                    </a:lnL>
                    <a:lnR w="0"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C"/>
                    </a:solidFill>
                  </a:tcPr>
                </a:tc>
                <a:tc>
                  <a:txBody>
                    <a:bodyPr/>
                    <a:lstStyle/>
                    <a:p>
                      <a:pPr marL="0" indent="0">
                        <a:buNone/>
                      </a:pPr>
                      <a:r>
                        <a:rPr lang="en-US" sz="1125" dirty="0">
                          <a:solidFill>
                            <a:srgbClr val="4B5563"/>
                          </a:solidFill>
                          <a:latin typeface="Manrope" pitchFamily="34" charset="0"/>
                          <a:ea typeface="Manrope" pitchFamily="34" charset="-122"/>
                          <a:cs typeface="Manrope" pitchFamily="34" charset="-120"/>
                        </a:rPr>
                        <a:t>Tests rattachement chauffeurs / véhicules · supervision flotte · recharge wallet de leurs chauffeurs.</a:t>
                      </a:r>
                      <a:endParaRPr lang="en-US" sz="1125" dirty="0">
                        <a:latin typeface="Manrope" charset="0"/>
                        <a:ea typeface="Manrope" charset="0"/>
                        <a:cs typeface="Manrope" charset="0"/>
                      </a:endParaRPr>
                    </a:p>
                  </a:txBody>
                  <a:tcPr marL="152705" marR="152705" marT="114300" marB="114300">
                    <a:lnL w="0" cap="flat" cmpd="sng" algn="ctr">
                      <a:solidFill>
                        <a:srgbClr val="E5E7EB"/>
                      </a:solidFill>
                      <a:prstDash val="solid"/>
                      <a:round/>
                      <a:headEnd type="none" w="med" len="med"/>
                      <a:tailEnd type="none" w="med" len="med"/>
                    </a:lnL>
                    <a:lnR w="0"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C"/>
                    </a:solidFill>
                  </a:tcPr>
                </a:tc>
                <a:extLst>
                  <a:ext uri="{0D108BD9-81ED-4DB2-BD59-A6C34878D82A}">
                    <a16:rowId xmlns:a16="http://schemas.microsoft.com/office/drawing/2014/main" val="10008"/>
                  </a:ext>
                </a:extLst>
              </a:tr>
              <a:tr h="435788">
                <a:tc>
                  <a:txBody>
                    <a:bodyPr/>
                    <a:lstStyle/>
                    <a:p>
                      <a:pPr marL="0" indent="0">
                        <a:buNone/>
                      </a:pPr>
                      <a:r>
                        <a:rPr lang="en-US" sz="1125" b="1" dirty="0">
                          <a:solidFill>
                            <a:srgbClr val="4B5563"/>
                          </a:solidFill>
                          <a:latin typeface="Manrope" pitchFamily="34" charset="0"/>
                          <a:ea typeface="Manrope" pitchFamily="34" charset="-122"/>
                          <a:cs typeface="Manrope" pitchFamily="34" charset="-120"/>
                        </a:rPr>
                        <a:t>Franchises pilotes</a:t>
                      </a:r>
                      <a:endParaRPr lang="en-US" sz="1200" dirty="0"/>
                    </a:p>
                  </a:txBody>
                  <a:tcPr marL="152705" marR="152705" marT="114300" marB="114300">
                    <a:lnL w="0" cap="flat" cmpd="sng" algn="ctr">
                      <a:solidFill>
                        <a:srgbClr val="E5E7EB"/>
                      </a:solidFill>
                      <a:prstDash val="solid"/>
                      <a:round/>
                      <a:headEnd type="none" w="med" len="med"/>
                      <a:tailEnd type="none" w="med" len="med"/>
                    </a:lnL>
                    <a:lnR w="0"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125" dirty="0">
                          <a:solidFill>
                            <a:srgbClr val="4B5563"/>
                          </a:solidFill>
                          <a:latin typeface="Manrope" pitchFamily="34" charset="0"/>
                          <a:ea typeface="Manrope" pitchFamily="34" charset="-122"/>
                          <a:cs typeface="Manrope" pitchFamily="34" charset="-120"/>
                        </a:rPr>
                        <a:t>Tests reporting zone · supervision locale · escalade vers central.</a:t>
                      </a:r>
                      <a:endParaRPr lang="en-US" sz="1125" dirty="0">
                        <a:latin typeface="Manrope" charset="0"/>
                        <a:ea typeface="Manrope" charset="0"/>
                        <a:cs typeface="Manrope" charset="0"/>
                      </a:endParaRPr>
                    </a:p>
                  </a:txBody>
                  <a:tcPr marL="152705" marR="152705" marT="114300" marB="114300">
                    <a:lnL w="0" cap="flat" cmpd="sng" algn="ctr">
                      <a:solidFill>
                        <a:srgbClr val="E5E7EB"/>
                      </a:solidFill>
                      <a:prstDash val="solid"/>
                      <a:round/>
                      <a:headEnd type="none" w="med" len="med"/>
                      <a:tailEnd type="none" w="med" len="med"/>
                    </a:lnL>
                    <a:lnR w="0"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9"/>
                  </a:ext>
                </a:extLst>
              </a:tr>
              <a:tr h="435788">
                <a:tc>
                  <a:txBody>
                    <a:bodyPr/>
                    <a:lstStyle/>
                    <a:p>
                      <a:pPr marL="0" indent="0">
                        <a:buNone/>
                      </a:pPr>
                      <a:r>
                        <a:rPr lang="en-US" sz="1125" b="1" dirty="0">
                          <a:solidFill>
                            <a:srgbClr val="4B5563"/>
                          </a:solidFill>
                          <a:latin typeface="Manrope" pitchFamily="34" charset="0"/>
                          <a:ea typeface="Manrope" pitchFamily="34" charset="-122"/>
                          <a:cs typeface="Manrope" pitchFamily="34" charset="-120"/>
                        </a:rPr>
                        <a:t>Chauffeurs / livreurs pilotes</a:t>
                      </a:r>
                      <a:endParaRPr lang="en-US" sz="1200" dirty="0"/>
                    </a:p>
                  </a:txBody>
                  <a:tcPr marL="152705" marR="152705" marT="114300" marB="114300">
                    <a:lnL w="0" cap="flat" cmpd="sng" algn="ctr">
                      <a:solidFill>
                        <a:srgbClr val="E5E7EB"/>
                      </a:solidFill>
                      <a:prstDash val="solid"/>
                      <a:round/>
                      <a:headEnd type="none" w="med" len="med"/>
                      <a:tailEnd type="none" w="med" len="med"/>
                    </a:lnL>
                    <a:lnR w="0"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C"/>
                    </a:solidFill>
                  </a:tcPr>
                </a:tc>
                <a:tc>
                  <a:txBody>
                    <a:bodyPr/>
                    <a:lstStyle/>
                    <a:p>
                      <a:pPr marL="0" indent="0">
                        <a:buNone/>
                      </a:pPr>
                      <a:r>
                        <a:rPr lang="en-US" sz="1125" dirty="0">
                          <a:solidFill>
                            <a:srgbClr val="4B5563"/>
                          </a:solidFill>
                          <a:latin typeface="Manrope" pitchFamily="34" charset="0"/>
                          <a:ea typeface="Manrope" pitchFamily="34" charset="-122"/>
                          <a:cs typeface="Manrope" pitchFamily="34" charset="-120"/>
                        </a:rPr>
                        <a:t>Exécution terrain · acceptation courses / missions · feedback utilisabilité.</a:t>
                      </a:r>
                      <a:endParaRPr lang="en-US" sz="1125" dirty="0">
                        <a:latin typeface="Manrope" charset="0"/>
                        <a:ea typeface="Manrope" charset="0"/>
                        <a:cs typeface="Manrope" charset="0"/>
                      </a:endParaRPr>
                    </a:p>
                  </a:txBody>
                  <a:tcPr marL="152705" marR="152705" marT="114300" marB="114300">
                    <a:lnL w="0" cap="flat" cmpd="sng" algn="ctr">
                      <a:solidFill>
                        <a:srgbClr val="E5E7EB"/>
                      </a:solidFill>
                      <a:prstDash val="solid"/>
                      <a:round/>
                      <a:headEnd type="none" w="med" len="med"/>
                      <a:tailEnd type="none" w="med" len="med"/>
                    </a:lnL>
                    <a:lnR w="0"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C"/>
                    </a:solidFill>
                  </a:tcPr>
                </a:tc>
                <a:extLst>
                  <a:ext uri="{0D108BD9-81ED-4DB2-BD59-A6C34878D82A}">
                    <a16:rowId xmlns:a16="http://schemas.microsoft.com/office/drawing/2014/main" val="10010"/>
                  </a:ext>
                </a:extLst>
              </a:tr>
              <a:tr h="435788">
                <a:tc>
                  <a:txBody>
                    <a:bodyPr/>
                    <a:lstStyle/>
                    <a:p>
                      <a:pPr marL="0" indent="0">
                        <a:buNone/>
                      </a:pPr>
                      <a:r>
                        <a:rPr lang="en-US" sz="1125" b="1" dirty="0">
                          <a:solidFill>
                            <a:srgbClr val="4B5563"/>
                          </a:solidFill>
                          <a:latin typeface="Manrope" pitchFamily="34" charset="0"/>
                          <a:ea typeface="Manrope" pitchFamily="34" charset="-122"/>
                          <a:cs typeface="Manrope" pitchFamily="34" charset="-120"/>
                        </a:rPr>
                        <a:t>Clients testeurs</a:t>
                      </a:r>
                      <a:endParaRPr lang="en-US" sz="1200" dirty="0"/>
                    </a:p>
                  </a:txBody>
                  <a:tcPr marL="152705" marR="152705" marT="114300" marB="114300">
                    <a:lnL w="0" cap="flat" cmpd="sng" algn="ctr">
                      <a:solidFill>
                        <a:srgbClr val="E5E7EB"/>
                      </a:solidFill>
                      <a:prstDash val="solid"/>
                      <a:round/>
                      <a:headEnd type="none" w="med" len="med"/>
                      <a:tailEnd type="none" w="med" len="med"/>
                    </a:lnL>
                    <a:lnR w="0"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125" dirty="0">
                          <a:solidFill>
                            <a:srgbClr val="4B5563"/>
                          </a:solidFill>
                          <a:latin typeface="Manrope" pitchFamily="34" charset="0"/>
                          <a:ea typeface="Manrope" pitchFamily="34" charset="-122"/>
                          <a:cs typeface="Manrope" pitchFamily="34" charset="-120"/>
                        </a:rPr>
                        <a:t>Simulation des demandes multiservices · notation · réclamation.</a:t>
                      </a:r>
                      <a:endParaRPr lang="en-US" sz="1125" dirty="0">
                        <a:latin typeface="Manrope" charset="0"/>
                        <a:ea typeface="Manrope" charset="0"/>
                        <a:cs typeface="Manrope" charset="0"/>
                      </a:endParaRPr>
                    </a:p>
                  </a:txBody>
                  <a:tcPr marL="152705" marR="152705" marT="114300" marB="114300">
                    <a:lnL w="0" cap="flat" cmpd="sng" algn="ctr">
                      <a:solidFill>
                        <a:srgbClr val="E5E7EB"/>
                      </a:solidFill>
                      <a:prstDash val="solid"/>
                      <a:round/>
                      <a:headEnd type="none" w="med" len="med"/>
                      <a:tailEnd type="none" w="med" len="med"/>
                    </a:lnL>
                    <a:lnR w="0"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14" name="Shape 11"/>
          <p:cNvSpPr/>
          <p:nvPr/>
        </p:nvSpPr>
        <p:spPr>
          <a:xfrm>
            <a:off x="0" y="9791395"/>
            <a:ext cx="18288000" cy="495605"/>
          </a:xfrm>
          <a:prstGeom prst="rect">
            <a:avLst/>
          </a:prstGeom>
          <a:solidFill>
            <a:srgbClr val="FFFFFF"/>
          </a:solidFill>
          <a:ln/>
        </p:spPr>
        <p:txBody>
          <a:bodyPr/>
          <a:lstStyle/>
          <a:p>
            <a:endParaRPr lang="fr-CI"/>
          </a:p>
        </p:txBody>
      </p:sp>
      <p:sp>
        <p:nvSpPr>
          <p:cNvPr id="15" name="Shape 12"/>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16" name="Text 13"/>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17" name="Text 14"/>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27 / 59</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5919704" y="256946"/>
            <a:ext cx="1913839"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§16 Méthode de recette</a:t>
            </a:r>
            <a:endParaRPr lang="en-US" sz="900" dirty="0"/>
          </a:p>
        </p:txBody>
      </p:sp>
      <p:sp>
        <p:nvSpPr>
          <p:cNvPr id="10" name="Text 8"/>
          <p:cNvSpPr txBox="1"/>
          <p:nvPr/>
        </p:nvSpPr>
        <p:spPr>
          <a:xfrm>
            <a:off x="914400" y="1205179"/>
            <a:ext cx="2533802"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16. Méthode de recette</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6193110" cy="1095451"/>
          </a:xfrm>
          <a:prstGeom prst="rect">
            <a:avLst/>
          </a:prstGeom>
          <a:noFill/>
          <a:ln/>
        </p:spPr>
        <p:txBody>
          <a:bodyPr wrap="squar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5 niveaux de recette — exécutés séquentiellement, validés en parallèle.</a:t>
            </a:r>
            <a:endParaRPr lang="en-US" sz="3900" dirty="0"/>
          </a:p>
        </p:txBody>
      </p:sp>
      <p:sp>
        <p:nvSpPr>
          <p:cNvPr id="13" name="Shape 11"/>
          <p:cNvSpPr/>
          <p:nvPr/>
        </p:nvSpPr>
        <p:spPr>
          <a:xfrm>
            <a:off x="914400" y="2857500"/>
            <a:ext cx="3200400" cy="6476695"/>
          </a:xfrm>
          <a:prstGeom prst="roundRect">
            <a:avLst>
              <a:gd name="adj" fmla="val 4171"/>
            </a:avLst>
          </a:prstGeom>
          <a:solidFill>
            <a:srgbClr val="F5F3FF"/>
          </a:solidFill>
          <a:ln w="12700">
            <a:solidFill>
              <a:srgbClr val="DDD6FE"/>
            </a:solidFill>
            <a:prstDash val="solid"/>
          </a:ln>
        </p:spPr>
        <p:txBody>
          <a:bodyPr/>
          <a:lstStyle/>
          <a:p>
            <a:endParaRPr lang="fr-CI"/>
          </a:p>
        </p:txBody>
      </p:sp>
      <p:sp>
        <p:nvSpPr>
          <p:cNvPr id="14" name="Text 12"/>
          <p:cNvSpPr txBox="1"/>
          <p:nvPr/>
        </p:nvSpPr>
        <p:spPr>
          <a:xfrm>
            <a:off x="1133856" y="3076956"/>
            <a:ext cx="2762402" cy="152705"/>
          </a:xfrm>
          <a:prstGeom prst="rect">
            <a:avLst/>
          </a:prstGeom>
          <a:noFill/>
          <a:ln/>
        </p:spPr>
        <p:txBody>
          <a:bodyPr wrap="none" lIns="0" tIns="0" rIns="0" bIns="0" rtlCol="0" anchor="ctr"/>
          <a:lstStyle/>
          <a:p>
            <a:pPr marL="0" indent="0" algn="l">
              <a:buNone/>
            </a:pPr>
            <a:r>
              <a:rPr lang="en-US" sz="900" b="1" kern="0" spc="108" dirty="0">
                <a:solidFill>
                  <a:srgbClr val="6D28D9"/>
                </a:solidFill>
                <a:latin typeface="JetBrains Mono" pitchFamily="34" charset="0"/>
                <a:ea typeface="JetBrains Mono" pitchFamily="34" charset="-122"/>
                <a:cs typeface="JetBrains Mono" pitchFamily="34" charset="-120"/>
              </a:rPr>
              <a:t>16.1</a:t>
            </a:r>
            <a:endParaRPr lang="en-US" sz="900" dirty="0"/>
          </a:p>
        </p:txBody>
      </p:sp>
      <p:sp>
        <p:nvSpPr>
          <p:cNvPr id="15" name="Text 13"/>
          <p:cNvSpPr txBox="1"/>
          <p:nvPr/>
        </p:nvSpPr>
        <p:spPr>
          <a:xfrm>
            <a:off x="1133856" y="3323844"/>
            <a:ext cx="2762402" cy="286207"/>
          </a:xfrm>
          <a:prstGeom prst="rect">
            <a:avLst/>
          </a:prstGeom>
          <a:noFill/>
          <a:ln/>
        </p:spPr>
        <p:txBody>
          <a:bodyPr wrap="none" lIns="0" tIns="0" rIns="0" bIns="0" rtlCol="0" anchor="ctr"/>
          <a:lstStyle/>
          <a:p>
            <a:pPr marL="0" indent="0" algn="l">
              <a:buNone/>
            </a:pPr>
            <a:r>
              <a:rPr lang="en-US" sz="1600" b="1" dirty="0">
                <a:solidFill>
                  <a:srgbClr val="1F2937"/>
                </a:solidFill>
                <a:latin typeface="Manrope" pitchFamily="34" charset="0"/>
                <a:ea typeface="Manrope" pitchFamily="34" charset="-122"/>
                <a:cs typeface="Manrope" pitchFamily="34" charset="-120"/>
              </a:rPr>
              <a:t>Technique</a:t>
            </a:r>
            <a:endParaRPr lang="en-US" sz="1600" dirty="0"/>
          </a:p>
        </p:txBody>
      </p:sp>
      <p:pic>
        <p:nvPicPr>
          <p:cNvPr id="16" name="Image 0" descr="gen-dedup-2a66364b4001e60df4d64446cb492ac7.png"/>
          <p:cNvPicPr>
            <a:picLocks noChangeAspect="1"/>
          </p:cNvPicPr>
          <p:nvPr/>
        </p:nvPicPr>
        <p:blipFill>
          <a:blip r:embed="rId3"/>
          <a:srcRect l="-353" r="-353"/>
          <a:stretch/>
        </p:blipFill>
        <p:spPr>
          <a:xfrm>
            <a:off x="1133856" y="3648456"/>
            <a:ext cx="304495" cy="28346"/>
          </a:xfrm>
          <a:prstGeom prst="rect">
            <a:avLst/>
          </a:prstGeom>
        </p:spPr>
      </p:pic>
      <p:sp>
        <p:nvSpPr>
          <p:cNvPr id="17" name="Text 14"/>
          <p:cNvSpPr txBox="1"/>
          <p:nvPr/>
        </p:nvSpPr>
        <p:spPr>
          <a:xfrm>
            <a:off x="1133856" y="3810305"/>
            <a:ext cx="3287268" cy="200254"/>
          </a:xfrm>
          <a:prstGeom prst="rect">
            <a:avLst/>
          </a:prstGeom>
          <a:noFill/>
          <a:ln/>
        </p:spPr>
        <p:txBody>
          <a:bodyPr wrap="none" lIns="0" tIns="0" rIns="0" bIns="0" rtlCol="0" anchor="ctr"/>
          <a:lstStyle/>
          <a:p>
            <a:pPr marL="0" indent="0" algn="l">
              <a:buNone/>
            </a:pPr>
            <a:r>
              <a:rPr lang="en-US" sz="1000" dirty="0">
                <a:solidFill>
                  <a:srgbClr val="4B5563"/>
                </a:solidFill>
                <a:latin typeface="Manrope" pitchFamily="34" charset="0"/>
                <a:ea typeface="Manrope" pitchFamily="34" charset="-122"/>
                <a:cs typeface="Manrope" pitchFamily="34" charset="-120"/>
              </a:rPr>
              <a:t>Vérifie l'environnement et l'infrastructure.</a:t>
            </a:r>
            <a:endParaRPr lang="en-US" sz="1000" dirty="0"/>
          </a:p>
        </p:txBody>
      </p:sp>
      <p:sp>
        <p:nvSpPr>
          <p:cNvPr id="18" name="Shape 15"/>
          <p:cNvSpPr/>
          <p:nvPr/>
        </p:nvSpPr>
        <p:spPr>
          <a:xfrm>
            <a:off x="1133856" y="4390949"/>
            <a:ext cx="2762402" cy="9144"/>
          </a:xfrm>
          <a:prstGeom prst="rect">
            <a:avLst/>
          </a:prstGeom>
          <a:solidFill>
            <a:srgbClr val="DDD6FE"/>
          </a:solidFill>
          <a:ln w="12700">
            <a:solidFill>
              <a:srgbClr val="DDD6FE">
                <a:alpha val="0"/>
              </a:srgbClr>
            </a:solidFill>
            <a:prstDash val="solid"/>
          </a:ln>
        </p:spPr>
        <p:txBody>
          <a:bodyPr/>
          <a:lstStyle/>
          <a:p>
            <a:endParaRPr lang="fr-CI"/>
          </a:p>
        </p:txBody>
      </p:sp>
      <p:sp>
        <p:nvSpPr>
          <p:cNvPr id="19" name="Text 16"/>
          <p:cNvSpPr txBox="1"/>
          <p:nvPr/>
        </p:nvSpPr>
        <p:spPr>
          <a:xfrm>
            <a:off x="1133856" y="4143146"/>
            <a:ext cx="2762402"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Installation des applications</a:t>
            </a:r>
            <a:endParaRPr lang="en-US" sz="900" dirty="0"/>
          </a:p>
        </p:txBody>
      </p:sp>
      <p:sp>
        <p:nvSpPr>
          <p:cNvPr id="20" name="Shape 17"/>
          <p:cNvSpPr/>
          <p:nvPr/>
        </p:nvSpPr>
        <p:spPr>
          <a:xfrm>
            <a:off x="1133856" y="4648810"/>
            <a:ext cx="2762402" cy="9144"/>
          </a:xfrm>
          <a:prstGeom prst="rect">
            <a:avLst/>
          </a:prstGeom>
          <a:solidFill>
            <a:srgbClr val="DDD6FE"/>
          </a:solidFill>
          <a:ln w="12700">
            <a:solidFill>
              <a:srgbClr val="DDD6FE">
                <a:alpha val="0"/>
              </a:srgbClr>
            </a:solidFill>
            <a:prstDash val="solid"/>
          </a:ln>
        </p:spPr>
        <p:txBody>
          <a:bodyPr/>
          <a:lstStyle/>
          <a:p>
            <a:endParaRPr lang="fr-CI"/>
          </a:p>
        </p:txBody>
      </p:sp>
      <p:sp>
        <p:nvSpPr>
          <p:cNvPr id="21" name="Text 18"/>
          <p:cNvSpPr txBox="1"/>
          <p:nvPr/>
        </p:nvSpPr>
        <p:spPr>
          <a:xfrm>
            <a:off x="1133856" y="4401007"/>
            <a:ext cx="2762402"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Connexion serveur</a:t>
            </a:r>
            <a:endParaRPr lang="en-US" sz="900" dirty="0"/>
          </a:p>
        </p:txBody>
      </p:sp>
      <p:sp>
        <p:nvSpPr>
          <p:cNvPr id="22" name="Shape 19"/>
          <p:cNvSpPr/>
          <p:nvPr/>
        </p:nvSpPr>
        <p:spPr>
          <a:xfrm>
            <a:off x="1133856" y="4905756"/>
            <a:ext cx="2762402" cy="9144"/>
          </a:xfrm>
          <a:prstGeom prst="rect">
            <a:avLst/>
          </a:prstGeom>
          <a:solidFill>
            <a:srgbClr val="DDD6FE"/>
          </a:solidFill>
          <a:ln w="12700">
            <a:solidFill>
              <a:srgbClr val="DDD6FE">
                <a:alpha val="0"/>
              </a:srgbClr>
            </a:solidFill>
            <a:prstDash val="solid"/>
          </a:ln>
        </p:spPr>
        <p:txBody>
          <a:bodyPr/>
          <a:lstStyle/>
          <a:p>
            <a:endParaRPr lang="fr-CI"/>
          </a:p>
        </p:txBody>
      </p:sp>
      <p:sp>
        <p:nvSpPr>
          <p:cNvPr id="23" name="Text 20"/>
          <p:cNvSpPr txBox="1"/>
          <p:nvPr/>
        </p:nvSpPr>
        <p:spPr>
          <a:xfrm>
            <a:off x="1133856" y="4657954"/>
            <a:ext cx="2762402"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Disponibilité APIs</a:t>
            </a:r>
            <a:endParaRPr lang="en-US" sz="900" dirty="0"/>
          </a:p>
        </p:txBody>
      </p:sp>
      <p:sp>
        <p:nvSpPr>
          <p:cNvPr id="24" name="Shape 21"/>
          <p:cNvSpPr/>
          <p:nvPr/>
        </p:nvSpPr>
        <p:spPr>
          <a:xfrm>
            <a:off x="1133856" y="5162702"/>
            <a:ext cx="2762402" cy="9144"/>
          </a:xfrm>
          <a:prstGeom prst="rect">
            <a:avLst/>
          </a:prstGeom>
          <a:solidFill>
            <a:srgbClr val="DDD6FE"/>
          </a:solidFill>
          <a:ln w="12700">
            <a:solidFill>
              <a:srgbClr val="DDD6FE">
                <a:alpha val="0"/>
              </a:srgbClr>
            </a:solidFill>
            <a:prstDash val="solid"/>
          </a:ln>
        </p:spPr>
        <p:txBody>
          <a:bodyPr/>
          <a:lstStyle/>
          <a:p>
            <a:endParaRPr lang="fr-CI"/>
          </a:p>
        </p:txBody>
      </p:sp>
      <p:sp>
        <p:nvSpPr>
          <p:cNvPr id="25" name="Text 22"/>
          <p:cNvSpPr txBox="1"/>
          <p:nvPr/>
        </p:nvSpPr>
        <p:spPr>
          <a:xfrm>
            <a:off x="1133856" y="4914900"/>
            <a:ext cx="2762402"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Stabilité BDD</a:t>
            </a:r>
            <a:endParaRPr lang="en-US" sz="900" dirty="0"/>
          </a:p>
        </p:txBody>
      </p:sp>
      <p:sp>
        <p:nvSpPr>
          <p:cNvPr id="26" name="Shape 23"/>
          <p:cNvSpPr/>
          <p:nvPr/>
        </p:nvSpPr>
        <p:spPr>
          <a:xfrm>
            <a:off x="1133856" y="5419649"/>
            <a:ext cx="2762402" cy="9144"/>
          </a:xfrm>
          <a:prstGeom prst="rect">
            <a:avLst/>
          </a:prstGeom>
          <a:solidFill>
            <a:srgbClr val="DDD6FE"/>
          </a:solidFill>
          <a:ln w="12700">
            <a:solidFill>
              <a:srgbClr val="DDD6FE">
                <a:alpha val="0"/>
              </a:srgbClr>
            </a:solidFill>
            <a:prstDash val="solid"/>
          </a:ln>
        </p:spPr>
        <p:txBody>
          <a:bodyPr/>
          <a:lstStyle/>
          <a:p>
            <a:endParaRPr lang="fr-CI"/>
          </a:p>
        </p:txBody>
      </p:sp>
      <p:sp>
        <p:nvSpPr>
          <p:cNvPr id="27" name="Text 24"/>
          <p:cNvSpPr txBox="1"/>
          <p:nvPr/>
        </p:nvSpPr>
        <p:spPr>
          <a:xfrm>
            <a:off x="1133856" y="5171846"/>
            <a:ext cx="2762402"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Logs</a:t>
            </a:r>
            <a:endParaRPr lang="en-US" sz="900" dirty="0"/>
          </a:p>
        </p:txBody>
      </p:sp>
      <p:sp>
        <p:nvSpPr>
          <p:cNvPr id="28" name="Shape 25"/>
          <p:cNvSpPr/>
          <p:nvPr/>
        </p:nvSpPr>
        <p:spPr>
          <a:xfrm>
            <a:off x="1133856" y="5677510"/>
            <a:ext cx="2762402" cy="9144"/>
          </a:xfrm>
          <a:prstGeom prst="rect">
            <a:avLst/>
          </a:prstGeom>
          <a:solidFill>
            <a:srgbClr val="DDD6FE"/>
          </a:solidFill>
          <a:ln w="12700">
            <a:solidFill>
              <a:srgbClr val="DDD6FE">
                <a:alpha val="0"/>
              </a:srgbClr>
            </a:solidFill>
            <a:prstDash val="solid"/>
          </a:ln>
        </p:spPr>
        <p:txBody>
          <a:bodyPr/>
          <a:lstStyle/>
          <a:p>
            <a:endParaRPr lang="fr-CI"/>
          </a:p>
        </p:txBody>
      </p:sp>
      <p:sp>
        <p:nvSpPr>
          <p:cNvPr id="29" name="Text 26"/>
          <p:cNvSpPr txBox="1"/>
          <p:nvPr/>
        </p:nvSpPr>
        <p:spPr>
          <a:xfrm>
            <a:off x="1133856" y="5429707"/>
            <a:ext cx="2762402"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Performance</a:t>
            </a:r>
            <a:endParaRPr lang="en-US" sz="900" dirty="0"/>
          </a:p>
        </p:txBody>
      </p:sp>
      <p:sp>
        <p:nvSpPr>
          <p:cNvPr id="30" name="Shape 27"/>
          <p:cNvSpPr/>
          <p:nvPr/>
        </p:nvSpPr>
        <p:spPr>
          <a:xfrm>
            <a:off x="1133856" y="5934456"/>
            <a:ext cx="2762402" cy="9144"/>
          </a:xfrm>
          <a:prstGeom prst="rect">
            <a:avLst/>
          </a:prstGeom>
          <a:solidFill>
            <a:srgbClr val="DDD6FE"/>
          </a:solidFill>
          <a:ln w="12700">
            <a:solidFill>
              <a:srgbClr val="DDD6FE">
                <a:alpha val="0"/>
              </a:srgbClr>
            </a:solidFill>
            <a:prstDash val="solid"/>
          </a:ln>
        </p:spPr>
        <p:txBody>
          <a:bodyPr/>
          <a:lstStyle/>
          <a:p>
            <a:endParaRPr lang="fr-CI"/>
          </a:p>
        </p:txBody>
      </p:sp>
      <p:sp>
        <p:nvSpPr>
          <p:cNvPr id="31" name="Text 28"/>
          <p:cNvSpPr txBox="1"/>
          <p:nvPr/>
        </p:nvSpPr>
        <p:spPr>
          <a:xfrm>
            <a:off x="1133856" y="5686654"/>
            <a:ext cx="2762402"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Notifications</a:t>
            </a:r>
            <a:endParaRPr lang="en-US" sz="900" dirty="0"/>
          </a:p>
        </p:txBody>
      </p:sp>
      <p:sp>
        <p:nvSpPr>
          <p:cNvPr id="32" name="Shape 29"/>
          <p:cNvSpPr/>
          <p:nvPr/>
        </p:nvSpPr>
        <p:spPr>
          <a:xfrm>
            <a:off x="1133856" y="6191402"/>
            <a:ext cx="2762402" cy="9144"/>
          </a:xfrm>
          <a:prstGeom prst="rect">
            <a:avLst/>
          </a:prstGeom>
          <a:solidFill>
            <a:srgbClr val="DDD6FE"/>
          </a:solidFill>
          <a:ln w="12700">
            <a:solidFill>
              <a:srgbClr val="DDD6FE">
                <a:alpha val="0"/>
              </a:srgbClr>
            </a:solidFill>
            <a:prstDash val="solid"/>
          </a:ln>
        </p:spPr>
        <p:txBody>
          <a:bodyPr/>
          <a:lstStyle/>
          <a:p>
            <a:endParaRPr lang="fr-CI"/>
          </a:p>
        </p:txBody>
      </p:sp>
      <p:sp>
        <p:nvSpPr>
          <p:cNvPr id="33" name="Text 30"/>
          <p:cNvSpPr txBox="1"/>
          <p:nvPr/>
        </p:nvSpPr>
        <p:spPr>
          <a:xfrm>
            <a:off x="1133856" y="5943600"/>
            <a:ext cx="2762402"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Paiement</a:t>
            </a:r>
            <a:endParaRPr lang="en-US" sz="900" dirty="0"/>
          </a:p>
        </p:txBody>
      </p:sp>
      <p:sp>
        <p:nvSpPr>
          <p:cNvPr id="34" name="Shape 31"/>
          <p:cNvSpPr/>
          <p:nvPr/>
        </p:nvSpPr>
        <p:spPr>
          <a:xfrm>
            <a:off x="1133856" y="6448349"/>
            <a:ext cx="2762402" cy="9144"/>
          </a:xfrm>
          <a:prstGeom prst="rect">
            <a:avLst/>
          </a:prstGeom>
          <a:solidFill>
            <a:srgbClr val="DDD6FE"/>
          </a:solidFill>
          <a:ln w="12700">
            <a:solidFill>
              <a:srgbClr val="DDD6FE">
                <a:alpha val="0"/>
              </a:srgbClr>
            </a:solidFill>
            <a:prstDash val="solid"/>
          </a:ln>
        </p:spPr>
        <p:txBody>
          <a:bodyPr/>
          <a:lstStyle/>
          <a:p>
            <a:endParaRPr lang="fr-CI"/>
          </a:p>
        </p:txBody>
      </p:sp>
      <p:sp>
        <p:nvSpPr>
          <p:cNvPr id="35" name="Text 32"/>
          <p:cNvSpPr txBox="1"/>
          <p:nvPr/>
        </p:nvSpPr>
        <p:spPr>
          <a:xfrm>
            <a:off x="1133856" y="6200546"/>
            <a:ext cx="2762402"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Sauvegarde</a:t>
            </a:r>
            <a:endParaRPr lang="en-US" sz="900" dirty="0"/>
          </a:p>
        </p:txBody>
      </p:sp>
      <p:sp>
        <p:nvSpPr>
          <p:cNvPr id="36" name="Text 33"/>
          <p:cNvSpPr txBox="1"/>
          <p:nvPr/>
        </p:nvSpPr>
        <p:spPr>
          <a:xfrm>
            <a:off x="1133856" y="6458407"/>
            <a:ext cx="2762402" cy="247802"/>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Sécurité</a:t>
            </a:r>
            <a:endParaRPr lang="en-US" sz="900" dirty="0"/>
          </a:p>
        </p:txBody>
      </p:sp>
      <p:sp>
        <p:nvSpPr>
          <p:cNvPr id="37" name="Shape 34"/>
          <p:cNvSpPr/>
          <p:nvPr/>
        </p:nvSpPr>
        <p:spPr>
          <a:xfrm>
            <a:off x="4240073" y="2857500"/>
            <a:ext cx="3200400" cy="6476695"/>
          </a:xfrm>
          <a:prstGeom prst="roundRect">
            <a:avLst>
              <a:gd name="adj" fmla="val 4171"/>
            </a:avLst>
          </a:prstGeom>
          <a:solidFill>
            <a:srgbClr val="FAFAFC"/>
          </a:solidFill>
          <a:ln w="12700">
            <a:solidFill>
              <a:srgbClr val="E5E7EB"/>
            </a:solidFill>
            <a:prstDash val="solid"/>
          </a:ln>
        </p:spPr>
        <p:txBody>
          <a:bodyPr/>
          <a:lstStyle/>
          <a:p>
            <a:endParaRPr lang="fr-CI"/>
          </a:p>
        </p:txBody>
      </p:sp>
      <p:sp>
        <p:nvSpPr>
          <p:cNvPr id="38" name="Text 35"/>
          <p:cNvSpPr txBox="1"/>
          <p:nvPr/>
        </p:nvSpPr>
        <p:spPr>
          <a:xfrm>
            <a:off x="4459529" y="3076956"/>
            <a:ext cx="2762402" cy="152705"/>
          </a:xfrm>
          <a:prstGeom prst="rect">
            <a:avLst/>
          </a:prstGeom>
          <a:noFill/>
          <a:ln/>
        </p:spPr>
        <p:txBody>
          <a:bodyPr wrap="none" lIns="0" tIns="0" rIns="0" bIns="0" rtlCol="0" anchor="ctr"/>
          <a:lstStyle/>
          <a:p>
            <a:pPr marL="0" indent="0" algn="l">
              <a:buNone/>
            </a:pPr>
            <a:r>
              <a:rPr lang="en-US" sz="900" b="1" kern="0" spc="108" dirty="0">
                <a:solidFill>
                  <a:srgbClr val="6D28D9"/>
                </a:solidFill>
                <a:latin typeface="JetBrains Mono" pitchFamily="34" charset="0"/>
                <a:ea typeface="JetBrains Mono" pitchFamily="34" charset="-122"/>
                <a:cs typeface="JetBrains Mono" pitchFamily="34" charset="-120"/>
              </a:rPr>
              <a:t>16.2</a:t>
            </a:r>
            <a:endParaRPr lang="en-US" sz="900" dirty="0"/>
          </a:p>
        </p:txBody>
      </p:sp>
      <p:sp>
        <p:nvSpPr>
          <p:cNvPr id="39" name="Text 36"/>
          <p:cNvSpPr txBox="1"/>
          <p:nvPr/>
        </p:nvSpPr>
        <p:spPr>
          <a:xfrm>
            <a:off x="4459529" y="3323844"/>
            <a:ext cx="2762402" cy="286207"/>
          </a:xfrm>
          <a:prstGeom prst="rect">
            <a:avLst/>
          </a:prstGeom>
          <a:noFill/>
          <a:ln/>
        </p:spPr>
        <p:txBody>
          <a:bodyPr wrap="none" lIns="0" tIns="0" rIns="0" bIns="0" rtlCol="0" anchor="ctr"/>
          <a:lstStyle/>
          <a:p>
            <a:pPr marL="0" indent="0" algn="l">
              <a:buNone/>
            </a:pPr>
            <a:r>
              <a:rPr lang="en-US" sz="1600" b="1" dirty="0">
                <a:solidFill>
                  <a:srgbClr val="1F2937"/>
                </a:solidFill>
                <a:latin typeface="Manrope" pitchFamily="34" charset="0"/>
                <a:ea typeface="Manrope" pitchFamily="34" charset="-122"/>
                <a:cs typeface="Manrope" pitchFamily="34" charset="-120"/>
              </a:rPr>
              <a:t>Fonctionnelle</a:t>
            </a:r>
            <a:endParaRPr lang="en-US" sz="1600" dirty="0"/>
          </a:p>
        </p:txBody>
      </p:sp>
      <p:pic>
        <p:nvPicPr>
          <p:cNvPr id="40" name="Image 1" descr="gen-dedup-2a66364b4001e60df4d64446cb492ac7.png"/>
          <p:cNvPicPr>
            <a:picLocks noChangeAspect="1"/>
          </p:cNvPicPr>
          <p:nvPr/>
        </p:nvPicPr>
        <p:blipFill>
          <a:blip r:embed="rId3"/>
          <a:srcRect l="-353" r="-353"/>
          <a:stretch/>
        </p:blipFill>
        <p:spPr>
          <a:xfrm>
            <a:off x="4459529" y="3648456"/>
            <a:ext cx="304495" cy="28346"/>
          </a:xfrm>
          <a:prstGeom prst="rect">
            <a:avLst/>
          </a:prstGeom>
        </p:spPr>
      </p:pic>
      <p:sp>
        <p:nvSpPr>
          <p:cNvPr id="41" name="Text 37"/>
          <p:cNvSpPr txBox="1"/>
          <p:nvPr/>
        </p:nvSpPr>
        <p:spPr>
          <a:xfrm>
            <a:off x="4459529" y="3810305"/>
            <a:ext cx="2762402" cy="200254"/>
          </a:xfrm>
          <a:prstGeom prst="rect">
            <a:avLst/>
          </a:prstGeom>
          <a:noFill/>
          <a:ln/>
        </p:spPr>
        <p:txBody>
          <a:bodyPr wrap="none" lIns="0" tIns="0" rIns="0" bIns="0" rtlCol="0" anchor="ctr"/>
          <a:lstStyle/>
          <a:p>
            <a:pPr marL="0" indent="0" algn="l">
              <a:buNone/>
            </a:pPr>
            <a:r>
              <a:rPr lang="en-US" sz="1000" dirty="0">
                <a:solidFill>
                  <a:srgbClr val="4B5563"/>
                </a:solidFill>
                <a:latin typeface="Manrope" pitchFamily="34" charset="0"/>
                <a:ea typeface="Manrope" pitchFamily="34" charset="-122"/>
                <a:cs typeface="Manrope" pitchFamily="34" charset="-120"/>
              </a:rPr>
              <a:t>Vérifie les parcours métier.</a:t>
            </a:r>
            <a:endParaRPr lang="en-US" sz="1000" dirty="0"/>
          </a:p>
        </p:txBody>
      </p:sp>
      <p:sp>
        <p:nvSpPr>
          <p:cNvPr id="42" name="Shape 38"/>
          <p:cNvSpPr/>
          <p:nvPr/>
        </p:nvSpPr>
        <p:spPr>
          <a:xfrm>
            <a:off x="4459529" y="4390949"/>
            <a:ext cx="2762402" cy="9144"/>
          </a:xfrm>
          <a:prstGeom prst="rect">
            <a:avLst/>
          </a:prstGeom>
          <a:solidFill>
            <a:srgbClr val="E5E7EB"/>
          </a:solidFill>
          <a:ln w="12700">
            <a:solidFill>
              <a:srgbClr val="E5E7EB">
                <a:alpha val="0"/>
              </a:srgbClr>
            </a:solidFill>
            <a:prstDash val="solid"/>
          </a:ln>
        </p:spPr>
        <p:txBody>
          <a:bodyPr/>
          <a:lstStyle/>
          <a:p>
            <a:endParaRPr lang="fr-CI"/>
          </a:p>
        </p:txBody>
      </p:sp>
      <p:sp>
        <p:nvSpPr>
          <p:cNvPr id="43" name="Text 39"/>
          <p:cNvSpPr txBox="1"/>
          <p:nvPr/>
        </p:nvSpPr>
        <p:spPr>
          <a:xfrm>
            <a:off x="4459529" y="4143146"/>
            <a:ext cx="2762402"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Parcours clients</a:t>
            </a:r>
            <a:endParaRPr lang="en-US" sz="900" dirty="0"/>
          </a:p>
        </p:txBody>
      </p:sp>
      <p:sp>
        <p:nvSpPr>
          <p:cNvPr id="44" name="Shape 40"/>
          <p:cNvSpPr/>
          <p:nvPr/>
        </p:nvSpPr>
        <p:spPr>
          <a:xfrm>
            <a:off x="4459529" y="4648810"/>
            <a:ext cx="2762402" cy="9144"/>
          </a:xfrm>
          <a:prstGeom prst="rect">
            <a:avLst/>
          </a:prstGeom>
          <a:solidFill>
            <a:srgbClr val="E5E7EB"/>
          </a:solidFill>
          <a:ln w="12700">
            <a:solidFill>
              <a:srgbClr val="E5E7EB">
                <a:alpha val="0"/>
              </a:srgbClr>
            </a:solidFill>
            <a:prstDash val="solid"/>
          </a:ln>
        </p:spPr>
        <p:txBody>
          <a:bodyPr/>
          <a:lstStyle/>
          <a:p>
            <a:endParaRPr lang="fr-CI"/>
          </a:p>
        </p:txBody>
      </p:sp>
      <p:sp>
        <p:nvSpPr>
          <p:cNvPr id="45" name="Text 41"/>
          <p:cNvSpPr txBox="1"/>
          <p:nvPr/>
        </p:nvSpPr>
        <p:spPr>
          <a:xfrm>
            <a:off x="4459529" y="4401007"/>
            <a:ext cx="2762402"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Parcours chauffeurs</a:t>
            </a:r>
            <a:endParaRPr lang="en-US" sz="900" dirty="0"/>
          </a:p>
        </p:txBody>
      </p:sp>
      <p:sp>
        <p:nvSpPr>
          <p:cNvPr id="46" name="Shape 42"/>
          <p:cNvSpPr/>
          <p:nvPr/>
        </p:nvSpPr>
        <p:spPr>
          <a:xfrm>
            <a:off x="4459529" y="4905756"/>
            <a:ext cx="2762402" cy="9144"/>
          </a:xfrm>
          <a:prstGeom prst="rect">
            <a:avLst/>
          </a:prstGeom>
          <a:solidFill>
            <a:srgbClr val="E5E7EB"/>
          </a:solidFill>
          <a:ln w="12700">
            <a:solidFill>
              <a:srgbClr val="E5E7EB">
                <a:alpha val="0"/>
              </a:srgbClr>
            </a:solidFill>
            <a:prstDash val="solid"/>
          </a:ln>
        </p:spPr>
        <p:txBody>
          <a:bodyPr/>
          <a:lstStyle/>
          <a:p>
            <a:endParaRPr lang="fr-CI"/>
          </a:p>
        </p:txBody>
      </p:sp>
      <p:sp>
        <p:nvSpPr>
          <p:cNvPr id="47" name="Text 43"/>
          <p:cNvSpPr txBox="1"/>
          <p:nvPr/>
        </p:nvSpPr>
        <p:spPr>
          <a:xfrm>
            <a:off x="4459529" y="4657954"/>
            <a:ext cx="2762402"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Parcours livreurs</a:t>
            </a:r>
            <a:endParaRPr lang="en-US" sz="900" dirty="0"/>
          </a:p>
        </p:txBody>
      </p:sp>
      <p:sp>
        <p:nvSpPr>
          <p:cNvPr id="48" name="Shape 44"/>
          <p:cNvSpPr/>
          <p:nvPr/>
        </p:nvSpPr>
        <p:spPr>
          <a:xfrm>
            <a:off x="4459529" y="5162702"/>
            <a:ext cx="2762402" cy="9144"/>
          </a:xfrm>
          <a:prstGeom prst="rect">
            <a:avLst/>
          </a:prstGeom>
          <a:solidFill>
            <a:srgbClr val="E5E7EB"/>
          </a:solidFill>
          <a:ln w="12700">
            <a:solidFill>
              <a:srgbClr val="E5E7EB">
                <a:alpha val="0"/>
              </a:srgbClr>
            </a:solidFill>
            <a:prstDash val="solid"/>
          </a:ln>
        </p:spPr>
        <p:txBody>
          <a:bodyPr/>
          <a:lstStyle/>
          <a:p>
            <a:endParaRPr lang="fr-CI"/>
          </a:p>
        </p:txBody>
      </p:sp>
      <p:sp>
        <p:nvSpPr>
          <p:cNvPr id="49" name="Text 45"/>
          <p:cNvSpPr txBox="1"/>
          <p:nvPr/>
        </p:nvSpPr>
        <p:spPr>
          <a:xfrm>
            <a:off x="4459529" y="4914900"/>
            <a:ext cx="2762402"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Parcours partenaires</a:t>
            </a:r>
            <a:endParaRPr lang="en-US" sz="900" dirty="0"/>
          </a:p>
        </p:txBody>
      </p:sp>
      <p:sp>
        <p:nvSpPr>
          <p:cNvPr id="50" name="Shape 46"/>
          <p:cNvSpPr/>
          <p:nvPr/>
        </p:nvSpPr>
        <p:spPr>
          <a:xfrm>
            <a:off x="4459529" y="5419649"/>
            <a:ext cx="2762402" cy="9144"/>
          </a:xfrm>
          <a:prstGeom prst="rect">
            <a:avLst/>
          </a:prstGeom>
          <a:solidFill>
            <a:srgbClr val="E5E7EB"/>
          </a:solidFill>
          <a:ln w="12700">
            <a:solidFill>
              <a:srgbClr val="E5E7EB">
                <a:alpha val="0"/>
              </a:srgbClr>
            </a:solidFill>
            <a:prstDash val="solid"/>
          </a:ln>
        </p:spPr>
        <p:txBody>
          <a:bodyPr/>
          <a:lstStyle/>
          <a:p>
            <a:endParaRPr lang="fr-CI"/>
          </a:p>
        </p:txBody>
      </p:sp>
      <p:sp>
        <p:nvSpPr>
          <p:cNvPr id="51" name="Text 47"/>
          <p:cNvSpPr txBox="1"/>
          <p:nvPr/>
        </p:nvSpPr>
        <p:spPr>
          <a:xfrm>
            <a:off x="4459529" y="5171846"/>
            <a:ext cx="2762402"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Parcours franchises</a:t>
            </a:r>
            <a:endParaRPr lang="en-US" sz="900" dirty="0"/>
          </a:p>
        </p:txBody>
      </p:sp>
      <p:sp>
        <p:nvSpPr>
          <p:cNvPr id="52" name="Shape 48"/>
          <p:cNvSpPr/>
          <p:nvPr/>
        </p:nvSpPr>
        <p:spPr>
          <a:xfrm>
            <a:off x="4459529" y="5677510"/>
            <a:ext cx="2762402" cy="9144"/>
          </a:xfrm>
          <a:prstGeom prst="rect">
            <a:avLst/>
          </a:prstGeom>
          <a:solidFill>
            <a:srgbClr val="E5E7EB"/>
          </a:solidFill>
          <a:ln w="12700">
            <a:solidFill>
              <a:srgbClr val="E5E7EB">
                <a:alpha val="0"/>
              </a:srgbClr>
            </a:solidFill>
            <a:prstDash val="solid"/>
          </a:ln>
        </p:spPr>
        <p:txBody>
          <a:bodyPr/>
          <a:lstStyle/>
          <a:p>
            <a:endParaRPr lang="fr-CI"/>
          </a:p>
        </p:txBody>
      </p:sp>
      <p:sp>
        <p:nvSpPr>
          <p:cNvPr id="53" name="Text 49"/>
          <p:cNvSpPr txBox="1"/>
          <p:nvPr/>
        </p:nvSpPr>
        <p:spPr>
          <a:xfrm>
            <a:off x="4459529" y="5429707"/>
            <a:ext cx="2762402"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Parcours central</a:t>
            </a:r>
            <a:endParaRPr lang="en-US" sz="900" dirty="0"/>
          </a:p>
        </p:txBody>
      </p:sp>
      <p:sp>
        <p:nvSpPr>
          <p:cNvPr id="54" name="Shape 50"/>
          <p:cNvSpPr/>
          <p:nvPr/>
        </p:nvSpPr>
        <p:spPr>
          <a:xfrm>
            <a:off x="4459529" y="5934456"/>
            <a:ext cx="2762402" cy="9144"/>
          </a:xfrm>
          <a:prstGeom prst="rect">
            <a:avLst/>
          </a:prstGeom>
          <a:solidFill>
            <a:srgbClr val="E5E7EB"/>
          </a:solidFill>
          <a:ln w="12700">
            <a:solidFill>
              <a:srgbClr val="E5E7EB">
                <a:alpha val="0"/>
              </a:srgbClr>
            </a:solidFill>
            <a:prstDash val="solid"/>
          </a:ln>
        </p:spPr>
        <p:txBody>
          <a:bodyPr/>
          <a:lstStyle/>
          <a:p>
            <a:endParaRPr lang="fr-CI"/>
          </a:p>
        </p:txBody>
      </p:sp>
      <p:sp>
        <p:nvSpPr>
          <p:cNvPr id="55" name="Text 51"/>
          <p:cNvSpPr txBox="1"/>
          <p:nvPr/>
        </p:nvSpPr>
        <p:spPr>
          <a:xfrm>
            <a:off x="4459529" y="5686654"/>
            <a:ext cx="2762402"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Règles métier</a:t>
            </a:r>
            <a:endParaRPr lang="en-US" sz="900" dirty="0"/>
          </a:p>
        </p:txBody>
      </p:sp>
      <p:sp>
        <p:nvSpPr>
          <p:cNvPr id="56" name="Shape 52"/>
          <p:cNvSpPr/>
          <p:nvPr/>
        </p:nvSpPr>
        <p:spPr>
          <a:xfrm>
            <a:off x="4459529" y="6191402"/>
            <a:ext cx="2762402" cy="9144"/>
          </a:xfrm>
          <a:prstGeom prst="rect">
            <a:avLst/>
          </a:prstGeom>
          <a:solidFill>
            <a:srgbClr val="E5E7EB"/>
          </a:solidFill>
          <a:ln w="12700">
            <a:solidFill>
              <a:srgbClr val="E5E7EB">
                <a:alpha val="0"/>
              </a:srgbClr>
            </a:solidFill>
            <a:prstDash val="solid"/>
          </a:ln>
        </p:spPr>
        <p:txBody>
          <a:bodyPr/>
          <a:lstStyle/>
          <a:p>
            <a:endParaRPr lang="fr-CI"/>
          </a:p>
        </p:txBody>
      </p:sp>
      <p:sp>
        <p:nvSpPr>
          <p:cNvPr id="57" name="Text 53"/>
          <p:cNvSpPr txBox="1"/>
          <p:nvPr/>
        </p:nvSpPr>
        <p:spPr>
          <a:xfrm>
            <a:off x="4459529" y="5943600"/>
            <a:ext cx="2762402"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Statuts</a:t>
            </a:r>
            <a:endParaRPr lang="en-US" sz="900" dirty="0"/>
          </a:p>
        </p:txBody>
      </p:sp>
      <p:sp>
        <p:nvSpPr>
          <p:cNvPr id="58" name="Shape 54"/>
          <p:cNvSpPr/>
          <p:nvPr/>
        </p:nvSpPr>
        <p:spPr>
          <a:xfrm>
            <a:off x="4459529" y="6448349"/>
            <a:ext cx="2762402" cy="9144"/>
          </a:xfrm>
          <a:prstGeom prst="rect">
            <a:avLst/>
          </a:prstGeom>
          <a:solidFill>
            <a:srgbClr val="E5E7EB"/>
          </a:solidFill>
          <a:ln w="12700">
            <a:solidFill>
              <a:srgbClr val="E5E7EB">
                <a:alpha val="0"/>
              </a:srgbClr>
            </a:solidFill>
            <a:prstDash val="solid"/>
          </a:ln>
        </p:spPr>
        <p:txBody>
          <a:bodyPr/>
          <a:lstStyle/>
          <a:p>
            <a:endParaRPr lang="fr-CI"/>
          </a:p>
        </p:txBody>
      </p:sp>
      <p:sp>
        <p:nvSpPr>
          <p:cNvPr id="59" name="Text 55"/>
          <p:cNvSpPr txBox="1"/>
          <p:nvPr/>
        </p:nvSpPr>
        <p:spPr>
          <a:xfrm>
            <a:off x="4459529" y="6200546"/>
            <a:ext cx="2762402"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Notifications</a:t>
            </a:r>
            <a:endParaRPr lang="en-US" sz="900" dirty="0"/>
          </a:p>
        </p:txBody>
      </p:sp>
      <p:sp>
        <p:nvSpPr>
          <p:cNvPr id="60" name="Text 56"/>
          <p:cNvSpPr txBox="1"/>
          <p:nvPr/>
        </p:nvSpPr>
        <p:spPr>
          <a:xfrm>
            <a:off x="4459529" y="6458407"/>
            <a:ext cx="2762402" cy="247802"/>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Historiques</a:t>
            </a:r>
            <a:endParaRPr lang="en-US" sz="900" dirty="0"/>
          </a:p>
        </p:txBody>
      </p:sp>
      <p:sp>
        <p:nvSpPr>
          <p:cNvPr id="61" name="Shape 57"/>
          <p:cNvSpPr/>
          <p:nvPr/>
        </p:nvSpPr>
        <p:spPr>
          <a:xfrm>
            <a:off x="7566660" y="2857500"/>
            <a:ext cx="3200400" cy="6476695"/>
          </a:xfrm>
          <a:prstGeom prst="roundRect">
            <a:avLst>
              <a:gd name="adj" fmla="val 4171"/>
            </a:avLst>
          </a:prstGeom>
          <a:solidFill>
            <a:srgbClr val="F5F3FF"/>
          </a:solidFill>
          <a:ln w="12700">
            <a:solidFill>
              <a:srgbClr val="DDD6FE"/>
            </a:solidFill>
            <a:prstDash val="solid"/>
          </a:ln>
        </p:spPr>
        <p:txBody>
          <a:bodyPr/>
          <a:lstStyle/>
          <a:p>
            <a:endParaRPr lang="fr-CI"/>
          </a:p>
        </p:txBody>
      </p:sp>
      <p:sp>
        <p:nvSpPr>
          <p:cNvPr id="62" name="Text 58"/>
          <p:cNvSpPr txBox="1"/>
          <p:nvPr/>
        </p:nvSpPr>
        <p:spPr>
          <a:xfrm>
            <a:off x="7785202" y="3076956"/>
            <a:ext cx="2762402" cy="152705"/>
          </a:xfrm>
          <a:prstGeom prst="rect">
            <a:avLst/>
          </a:prstGeom>
          <a:noFill/>
          <a:ln/>
        </p:spPr>
        <p:txBody>
          <a:bodyPr wrap="none" lIns="0" tIns="0" rIns="0" bIns="0" rtlCol="0" anchor="ctr"/>
          <a:lstStyle/>
          <a:p>
            <a:pPr marL="0" indent="0" algn="l">
              <a:buNone/>
            </a:pPr>
            <a:r>
              <a:rPr lang="en-US" sz="900" b="1" kern="0" spc="108" dirty="0">
                <a:solidFill>
                  <a:srgbClr val="6D28D9"/>
                </a:solidFill>
                <a:latin typeface="JetBrains Mono" pitchFamily="34" charset="0"/>
                <a:ea typeface="JetBrains Mono" pitchFamily="34" charset="-122"/>
                <a:cs typeface="JetBrains Mono" pitchFamily="34" charset="-120"/>
              </a:rPr>
              <a:t>16.3</a:t>
            </a:r>
            <a:endParaRPr lang="en-US" sz="900" dirty="0"/>
          </a:p>
        </p:txBody>
      </p:sp>
      <p:sp>
        <p:nvSpPr>
          <p:cNvPr id="63" name="Text 59"/>
          <p:cNvSpPr txBox="1"/>
          <p:nvPr/>
        </p:nvSpPr>
        <p:spPr>
          <a:xfrm>
            <a:off x="7785202" y="3323844"/>
            <a:ext cx="2762402" cy="286207"/>
          </a:xfrm>
          <a:prstGeom prst="rect">
            <a:avLst/>
          </a:prstGeom>
          <a:noFill/>
          <a:ln/>
        </p:spPr>
        <p:txBody>
          <a:bodyPr wrap="none" lIns="0" tIns="0" rIns="0" bIns="0" rtlCol="0" anchor="ctr"/>
          <a:lstStyle/>
          <a:p>
            <a:pPr marL="0" indent="0" algn="l">
              <a:buNone/>
            </a:pPr>
            <a:r>
              <a:rPr lang="en-US" sz="1600" b="1" dirty="0">
                <a:solidFill>
                  <a:srgbClr val="1F2937"/>
                </a:solidFill>
                <a:latin typeface="Manrope" pitchFamily="34" charset="0"/>
                <a:ea typeface="Manrope" pitchFamily="34" charset="-122"/>
                <a:cs typeface="Manrope" pitchFamily="34" charset="-120"/>
              </a:rPr>
              <a:t>Financière</a:t>
            </a:r>
            <a:endParaRPr lang="en-US" sz="1600" dirty="0"/>
          </a:p>
        </p:txBody>
      </p:sp>
      <p:pic>
        <p:nvPicPr>
          <p:cNvPr id="64" name="Image 2" descr="gen-dedup-2a66364b4001e60df4d64446cb492ac7.png"/>
          <p:cNvPicPr>
            <a:picLocks noChangeAspect="1"/>
          </p:cNvPicPr>
          <p:nvPr/>
        </p:nvPicPr>
        <p:blipFill>
          <a:blip r:embed="rId3"/>
          <a:srcRect l="-353" r="-353"/>
          <a:stretch/>
        </p:blipFill>
        <p:spPr>
          <a:xfrm>
            <a:off x="7785202" y="3648456"/>
            <a:ext cx="304495" cy="28346"/>
          </a:xfrm>
          <a:prstGeom prst="rect">
            <a:avLst/>
          </a:prstGeom>
        </p:spPr>
      </p:pic>
      <p:sp>
        <p:nvSpPr>
          <p:cNvPr id="65" name="Text 60"/>
          <p:cNvSpPr txBox="1"/>
          <p:nvPr/>
        </p:nvSpPr>
        <p:spPr>
          <a:xfrm>
            <a:off x="7785202" y="3810305"/>
            <a:ext cx="3287268" cy="200254"/>
          </a:xfrm>
          <a:prstGeom prst="rect">
            <a:avLst/>
          </a:prstGeom>
          <a:noFill/>
          <a:ln/>
        </p:spPr>
        <p:txBody>
          <a:bodyPr wrap="none" lIns="0" tIns="0" rIns="0" bIns="0" rtlCol="0" anchor="ctr"/>
          <a:lstStyle/>
          <a:p>
            <a:pPr marL="0" indent="0" algn="l">
              <a:buNone/>
            </a:pPr>
            <a:r>
              <a:rPr lang="en-US" sz="1000" dirty="0">
                <a:solidFill>
                  <a:srgbClr val="4B5563"/>
                </a:solidFill>
                <a:latin typeface="Manrope" pitchFamily="34" charset="0"/>
                <a:ea typeface="Manrope" pitchFamily="34" charset="-122"/>
                <a:cs typeface="Manrope" pitchFamily="34" charset="-120"/>
              </a:rPr>
              <a:t>Vérifie wallet, commission, répartition.</a:t>
            </a:r>
            <a:endParaRPr lang="en-US" sz="1000" dirty="0"/>
          </a:p>
        </p:txBody>
      </p:sp>
      <p:sp>
        <p:nvSpPr>
          <p:cNvPr id="66" name="Shape 61"/>
          <p:cNvSpPr/>
          <p:nvPr/>
        </p:nvSpPr>
        <p:spPr>
          <a:xfrm>
            <a:off x="7785202" y="4390949"/>
            <a:ext cx="2762402" cy="9144"/>
          </a:xfrm>
          <a:prstGeom prst="rect">
            <a:avLst/>
          </a:prstGeom>
          <a:solidFill>
            <a:srgbClr val="DDD6FE"/>
          </a:solidFill>
          <a:ln w="12700">
            <a:solidFill>
              <a:srgbClr val="DDD6FE">
                <a:alpha val="0"/>
              </a:srgbClr>
            </a:solidFill>
            <a:prstDash val="solid"/>
          </a:ln>
        </p:spPr>
        <p:txBody>
          <a:bodyPr/>
          <a:lstStyle/>
          <a:p>
            <a:endParaRPr lang="fr-CI"/>
          </a:p>
        </p:txBody>
      </p:sp>
      <p:sp>
        <p:nvSpPr>
          <p:cNvPr id="67" name="Text 62"/>
          <p:cNvSpPr txBox="1"/>
          <p:nvPr/>
        </p:nvSpPr>
        <p:spPr>
          <a:xfrm>
            <a:off x="7785202" y="4143146"/>
            <a:ext cx="2762402"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Wallet chauffeur</a:t>
            </a:r>
            <a:endParaRPr lang="en-US" sz="900" dirty="0"/>
          </a:p>
        </p:txBody>
      </p:sp>
      <p:sp>
        <p:nvSpPr>
          <p:cNvPr id="68" name="Shape 63"/>
          <p:cNvSpPr/>
          <p:nvPr/>
        </p:nvSpPr>
        <p:spPr>
          <a:xfrm>
            <a:off x="7785202" y="4648810"/>
            <a:ext cx="2762402" cy="9144"/>
          </a:xfrm>
          <a:prstGeom prst="rect">
            <a:avLst/>
          </a:prstGeom>
          <a:solidFill>
            <a:srgbClr val="DDD6FE"/>
          </a:solidFill>
          <a:ln w="12700">
            <a:solidFill>
              <a:srgbClr val="DDD6FE">
                <a:alpha val="0"/>
              </a:srgbClr>
            </a:solidFill>
            <a:prstDash val="solid"/>
          </a:ln>
        </p:spPr>
        <p:txBody>
          <a:bodyPr/>
          <a:lstStyle/>
          <a:p>
            <a:endParaRPr lang="fr-CI"/>
          </a:p>
        </p:txBody>
      </p:sp>
      <p:sp>
        <p:nvSpPr>
          <p:cNvPr id="69" name="Text 64"/>
          <p:cNvSpPr txBox="1"/>
          <p:nvPr/>
        </p:nvSpPr>
        <p:spPr>
          <a:xfrm>
            <a:off x="7785202" y="4401007"/>
            <a:ext cx="2762402"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Wallet livreur</a:t>
            </a:r>
            <a:endParaRPr lang="en-US" sz="900" dirty="0"/>
          </a:p>
        </p:txBody>
      </p:sp>
      <p:sp>
        <p:nvSpPr>
          <p:cNvPr id="70" name="Shape 65"/>
          <p:cNvSpPr/>
          <p:nvPr/>
        </p:nvSpPr>
        <p:spPr>
          <a:xfrm>
            <a:off x="7785202" y="4905756"/>
            <a:ext cx="2762402" cy="9144"/>
          </a:xfrm>
          <a:prstGeom prst="rect">
            <a:avLst/>
          </a:prstGeom>
          <a:solidFill>
            <a:srgbClr val="DDD6FE"/>
          </a:solidFill>
          <a:ln w="12700">
            <a:solidFill>
              <a:srgbClr val="DDD6FE">
                <a:alpha val="0"/>
              </a:srgbClr>
            </a:solidFill>
            <a:prstDash val="solid"/>
          </a:ln>
        </p:spPr>
        <p:txBody>
          <a:bodyPr/>
          <a:lstStyle/>
          <a:p>
            <a:endParaRPr lang="fr-CI"/>
          </a:p>
        </p:txBody>
      </p:sp>
      <p:sp>
        <p:nvSpPr>
          <p:cNvPr id="71" name="Text 66"/>
          <p:cNvSpPr txBox="1"/>
          <p:nvPr/>
        </p:nvSpPr>
        <p:spPr>
          <a:xfrm>
            <a:off x="7785202" y="4657954"/>
            <a:ext cx="2762402"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Recharge (4 voies)</a:t>
            </a:r>
            <a:endParaRPr lang="en-US" sz="900" dirty="0"/>
          </a:p>
        </p:txBody>
      </p:sp>
      <p:sp>
        <p:nvSpPr>
          <p:cNvPr id="72" name="Shape 67"/>
          <p:cNvSpPr/>
          <p:nvPr/>
        </p:nvSpPr>
        <p:spPr>
          <a:xfrm>
            <a:off x="7785202" y="5162702"/>
            <a:ext cx="2762402" cy="9144"/>
          </a:xfrm>
          <a:prstGeom prst="rect">
            <a:avLst/>
          </a:prstGeom>
          <a:solidFill>
            <a:srgbClr val="DDD6FE"/>
          </a:solidFill>
          <a:ln w="12700">
            <a:solidFill>
              <a:srgbClr val="DDD6FE">
                <a:alpha val="0"/>
              </a:srgbClr>
            </a:solidFill>
            <a:prstDash val="solid"/>
          </a:ln>
        </p:spPr>
        <p:txBody>
          <a:bodyPr/>
          <a:lstStyle/>
          <a:p>
            <a:endParaRPr lang="fr-CI"/>
          </a:p>
        </p:txBody>
      </p:sp>
      <p:sp>
        <p:nvSpPr>
          <p:cNvPr id="73" name="Text 68"/>
          <p:cNvSpPr txBox="1"/>
          <p:nvPr/>
        </p:nvSpPr>
        <p:spPr>
          <a:xfrm>
            <a:off x="7785202" y="4914900"/>
            <a:ext cx="2762402"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Débit commission</a:t>
            </a:r>
            <a:endParaRPr lang="en-US" sz="900" dirty="0"/>
          </a:p>
        </p:txBody>
      </p:sp>
      <p:sp>
        <p:nvSpPr>
          <p:cNvPr id="74" name="Shape 69"/>
          <p:cNvSpPr/>
          <p:nvPr/>
        </p:nvSpPr>
        <p:spPr>
          <a:xfrm>
            <a:off x="7785202" y="5419649"/>
            <a:ext cx="2762402" cy="9144"/>
          </a:xfrm>
          <a:prstGeom prst="rect">
            <a:avLst/>
          </a:prstGeom>
          <a:solidFill>
            <a:srgbClr val="DDD6FE"/>
          </a:solidFill>
          <a:ln w="12700">
            <a:solidFill>
              <a:srgbClr val="DDD6FE">
                <a:alpha val="0"/>
              </a:srgbClr>
            </a:solidFill>
            <a:prstDash val="solid"/>
          </a:ln>
        </p:spPr>
        <p:txBody>
          <a:bodyPr/>
          <a:lstStyle/>
          <a:p>
            <a:endParaRPr lang="fr-CI"/>
          </a:p>
        </p:txBody>
      </p:sp>
      <p:sp>
        <p:nvSpPr>
          <p:cNvPr id="75" name="Text 70"/>
          <p:cNvSpPr txBox="1"/>
          <p:nvPr/>
        </p:nvSpPr>
        <p:spPr>
          <a:xfrm>
            <a:off x="7785202" y="5171846"/>
            <a:ext cx="2762402"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Solde</a:t>
            </a:r>
            <a:endParaRPr lang="en-US" sz="900" dirty="0"/>
          </a:p>
        </p:txBody>
      </p:sp>
      <p:sp>
        <p:nvSpPr>
          <p:cNvPr id="76" name="Shape 71"/>
          <p:cNvSpPr/>
          <p:nvPr/>
        </p:nvSpPr>
        <p:spPr>
          <a:xfrm>
            <a:off x="7785202" y="5677510"/>
            <a:ext cx="2762402" cy="9144"/>
          </a:xfrm>
          <a:prstGeom prst="rect">
            <a:avLst/>
          </a:prstGeom>
          <a:solidFill>
            <a:srgbClr val="DDD6FE"/>
          </a:solidFill>
          <a:ln w="12700">
            <a:solidFill>
              <a:srgbClr val="DDD6FE">
                <a:alpha val="0"/>
              </a:srgbClr>
            </a:solidFill>
            <a:prstDash val="solid"/>
          </a:ln>
        </p:spPr>
        <p:txBody>
          <a:bodyPr/>
          <a:lstStyle/>
          <a:p>
            <a:endParaRPr lang="fr-CI"/>
          </a:p>
        </p:txBody>
      </p:sp>
      <p:sp>
        <p:nvSpPr>
          <p:cNvPr id="77" name="Text 72"/>
          <p:cNvSpPr txBox="1"/>
          <p:nvPr/>
        </p:nvSpPr>
        <p:spPr>
          <a:xfrm>
            <a:off x="7785202" y="5429707"/>
            <a:ext cx="2762402"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Historique transaction</a:t>
            </a:r>
            <a:endParaRPr lang="en-US" sz="900" dirty="0"/>
          </a:p>
        </p:txBody>
      </p:sp>
      <p:sp>
        <p:nvSpPr>
          <p:cNvPr id="78" name="Shape 73"/>
          <p:cNvSpPr/>
          <p:nvPr/>
        </p:nvSpPr>
        <p:spPr>
          <a:xfrm>
            <a:off x="7785202" y="5934456"/>
            <a:ext cx="2762402" cy="9144"/>
          </a:xfrm>
          <a:prstGeom prst="rect">
            <a:avLst/>
          </a:prstGeom>
          <a:solidFill>
            <a:srgbClr val="DDD6FE"/>
          </a:solidFill>
          <a:ln w="12700">
            <a:solidFill>
              <a:srgbClr val="DDD6FE">
                <a:alpha val="0"/>
              </a:srgbClr>
            </a:solidFill>
            <a:prstDash val="solid"/>
          </a:ln>
        </p:spPr>
        <p:txBody>
          <a:bodyPr/>
          <a:lstStyle/>
          <a:p>
            <a:endParaRPr lang="fr-CI"/>
          </a:p>
        </p:txBody>
      </p:sp>
      <p:sp>
        <p:nvSpPr>
          <p:cNvPr id="79" name="Text 74"/>
          <p:cNvSpPr txBox="1"/>
          <p:nvPr/>
        </p:nvSpPr>
        <p:spPr>
          <a:xfrm>
            <a:off x="7785202" y="5686654"/>
            <a:ext cx="2762402"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Part plateforme</a:t>
            </a:r>
            <a:endParaRPr lang="en-US" sz="900" dirty="0"/>
          </a:p>
        </p:txBody>
      </p:sp>
      <p:sp>
        <p:nvSpPr>
          <p:cNvPr id="80" name="Shape 75"/>
          <p:cNvSpPr/>
          <p:nvPr/>
        </p:nvSpPr>
        <p:spPr>
          <a:xfrm>
            <a:off x="7785202" y="6191402"/>
            <a:ext cx="2762402" cy="9144"/>
          </a:xfrm>
          <a:prstGeom prst="rect">
            <a:avLst/>
          </a:prstGeom>
          <a:solidFill>
            <a:srgbClr val="DDD6FE"/>
          </a:solidFill>
          <a:ln w="12700">
            <a:solidFill>
              <a:srgbClr val="DDD6FE">
                <a:alpha val="0"/>
              </a:srgbClr>
            </a:solidFill>
            <a:prstDash val="solid"/>
          </a:ln>
        </p:spPr>
        <p:txBody>
          <a:bodyPr/>
          <a:lstStyle/>
          <a:p>
            <a:endParaRPr lang="fr-CI"/>
          </a:p>
        </p:txBody>
      </p:sp>
      <p:sp>
        <p:nvSpPr>
          <p:cNvPr id="81" name="Text 76"/>
          <p:cNvSpPr txBox="1"/>
          <p:nvPr/>
        </p:nvSpPr>
        <p:spPr>
          <a:xfrm>
            <a:off x="7785202" y="5943600"/>
            <a:ext cx="2762402"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Part partenaire</a:t>
            </a:r>
            <a:endParaRPr lang="en-US" sz="900" dirty="0"/>
          </a:p>
        </p:txBody>
      </p:sp>
      <p:sp>
        <p:nvSpPr>
          <p:cNvPr id="82" name="Shape 77"/>
          <p:cNvSpPr/>
          <p:nvPr/>
        </p:nvSpPr>
        <p:spPr>
          <a:xfrm>
            <a:off x="7785202" y="6448349"/>
            <a:ext cx="2762402" cy="9144"/>
          </a:xfrm>
          <a:prstGeom prst="rect">
            <a:avLst/>
          </a:prstGeom>
          <a:solidFill>
            <a:srgbClr val="DDD6FE"/>
          </a:solidFill>
          <a:ln w="12700">
            <a:solidFill>
              <a:srgbClr val="DDD6FE">
                <a:alpha val="0"/>
              </a:srgbClr>
            </a:solidFill>
            <a:prstDash val="solid"/>
          </a:ln>
        </p:spPr>
        <p:txBody>
          <a:bodyPr/>
          <a:lstStyle/>
          <a:p>
            <a:endParaRPr lang="fr-CI"/>
          </a:p>
        </p:txBody>
      </p:sp>
      <p:sp>
        <p:nvSpPr>
          <p:cNvPr id="83" name="Text 78"/>
          <p:cNvSpPr txBox="1"/>
          <p:nvPr/>
        </p:nvSpPr>
        <p:spPr>
          <a:xfrm>
            <a:off x="7785202" y="6200546"/>
            <a:ext cx="2762402"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Part franchise</a:t>
            </a:r>
            <a:endParaRPr lang="en-US" sz="900" dirty="0"/>
          </a:p>
        </p:txBody>
      </p:sp>
      <p:sp>
        <p:nvSpPr>
          <p:cNvPr id="84" name="Text 79"/>
          <p:cNvSpPr txBox="1"/>
          <p:nvPr/>
        </p:nvSpPr>
        <p:spPr>
          <a:xfrm>
            <a:off x="7785202" y="6458407"/>
            <a:ext cx="2762402" cy="247802"/>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Export comptable</a:t>
            </a:r>
            <a:endParaRPr lang="en-US" sz="900" dirty="0"/>
          </a:p>
        </p:txBody>
      </p:sp>
      <p:sp>
        <p:nvSpPr>
          <p:cNvPr id="85" name="Shape 80"/>
          <p:cNvSpPr/>
          <p:nvPr/>
        </p:nvSpPr>
        <p:spPr>
          <a:xfrm>
            <a:off x="10892333" y="2857500"/>
            <a:ext cx="3200400" cy="6476695"/>
          </a:xfrm>
          <a:prstGeom prst="roundRect">
            <a:avLst>
              <a:gd name="adj" fmla="val 4171"/>
            </a:avLst>
          </a:prstGeom>
          <a:solidFill>
            <a:srgbClr val="FAFAFC"/>
          </a:solidFill>
          <a:ln w="12700">
            <a:solidFill>
              <a:srgbClr val="E5E7EB"/>
            </a:solidFill>
            <a:prstDash val="solid"/>
          </a:ln>
        </p:spPr>
        <p:txBody>
          <a:bodyPr/>
          <a:lstStyle/>
          <a:p>
            <a:endParaRPr lang="fr-CI"/>
          </a:p>
        </p:txBody>
      </p:sp>
      <p:sp>
        <p:nvSpPr>
          <p:cNvPr id="86" name="Text 81"/>
          <p:cNvSpPr txBox="1"/>
          <p:nvPr/>
        </p:nvSpPr>
        <p:spPr>
          <a:xfrm>
            <a:off x="11111789" y="3076956"/>
            <a:ext cx="2762402" cy="152705"/>
          </a:xfrm>
          <a:prstGeom prst="rect">
            <a:avLst/>
          </a:prstGeom>
          <a:noFill/>
          <a:ln/>
        </p:spPr>
        <p:txBody>
          <a:bodyPr wrap="none" lIns="0" tIns="0" rIns="0" bIns="0" rtlCol="0" anchor="ctr"/>
          <a:lstStyle/>
          <a:p>
            <a:pPr marL="0" indent="0" algn="l">
              <a:buNone/>
            </a:pPr>
            <a:r>
              <a:rPr lang="en-US" sz="900" b="1" kern="0" spc="108" dirty="0">
                <a:solidFill>
                  <a:srgbClr val="6D28D9"/>
                </a:solidFill>
                <a:latin typeface="JetBrains Mono" pitchFamily="34" charset="0"/>
                <a:ea typeface="JetBrains Mono" pitchFamily="34" charset="-122"/>
                <a:cs typeface="JetBrains Mono" pitchFamily="34" charset="-120"/>
              </a:rPr>
              <a:t>16.4</a:t>
            </a:r>
            <a:endParaRPr lang="en-US" sz="900" dirty="0"/>
          </a:p>
        </p:txBody>
      </p:sp>
      <p:sp>
        <p:nvSpPr>
          <p:cNvPr id="87" name="Text 82"/>
          <p:cNvSpPr txBox="1"/>
          <p:nvPr/>
        </p:nvSpPr>
        <p:spPr>
          <a:xfrm>
            <a:off x="11111789" y="3323844"/>
            <a:ext cx="2762402" cy="286207"/>
          </a:xfrm>
          <a:prstGeom prst="rect">
            <a:avLst/>
          </a:prstGeom>
          <a:noFill/>
          <a:ln/>
        </p:spPr>
        <p:txBody>
          <a:bodyPr wrap="none" lIns="0" tIns="0" rIns="0" bIns="0" rtlCol="0" anchor="ctr"/>
          <a:lstStyle/>
          <a:p>
            <a:pPr marL="0" indent="0" algn="l">
              <a:buNone/>
            </a:pPr>
            <a:r>
              <a:rPr lang="en-US" sz="1600" b="1" dirty="0">
                <a:solidFill>
                  <a:srgbClr val="1F2937"/>
                </a:solidFill>
                <a:latin typeface="Manrope" pitchFamily="34" charset="0"/>
                <a:ea typeface="Manrope" pitchFamily="34" charset="-122"/>
                <a:cs typeface="Manrope" pitchFamily="34" charset="-120"/>
              </a:rPr>
              <a:t>Opérationnelle</a:t>
            </a:r>
            <a:endParaRPr lang="en-US" sz="1600" dirty="0"/>
          </a:p>
        </p:txBody>
      </p:sp>
      <p:pic>
        <p:nvPicPr>
          <p:cNvPr id="88" name="Image 3" descr="gen-dedup-2a66364b4001e60df4d64446cb492ac7.png"/>
          <p:cNvPicPr>
            <a:picLocks noChangeAspect="1"/>
          </p:cNvPicPr>
          <p:nvPr/>
        </p:nvPicPr>
        <p:blipFill>
          <a:blip r:embed="rId3"/>
          <a:srcRect l="-353" r="-353"/>
          <a:stretch/>
        </p:blipFill>
        <p:spPr>
          <a:xfrm>
            <a:off x="11111789" y="3648456"/>
            <a:ext cx="304495" cy="28346"/>
          </a:xfrm>
          <a:prstGeom prst="rect">
            <a:avLst/>
          </a:prstGeom>
        </p:spPr>
      </p:pic>
      <p:sp>
        <p:nvSpPr>
          <p:cNvPr id="89" name="Text 83"/>
          <p:cNvSpPr txBox="1"/>
          <p:nvPr/>
        </p:nvSpPr>
        <p:spPr>
          <a:xfrm>
            <a:off x="11111789" y="3810305"/>
            <a:ext cx="2911450" cy="200254"/>
          </a:xfrm>
          <a:prstGeom prst="rect">
            <a:avLst/>
          </a:prstGeom>
          <a:noFill/>
          <a:ln/>
        </p:spPr>
        <p:txBody>
          <a:bodyPr wrap="none" lIns="0" tIns="0" rIns="0" bIns="0" rtlCol="0" anchor="ctr"/>
          <a:lstStyle/>
          <a:p>
            <a:pPr marL="0" indent="0" algn="l">
              <a:buNone/>
            </a:pPr>
            <a:r>
              <a:rPr lang="en-US" sz="1000" dirty="0">
                <a:solidFill>
                  <a:srgbClr val="4B5563"/>
                </a:solidFill>
                <a:latin typeface="Manrope" pitchFamily="34" charset="0"/>
                <a:ea typeface="Manrope" pitchFamily="34" charset="-122"/>
                <a:cs typeface="Manrope" pitchFamily="34" charset="-120"/>
              </a:rPr>
              <a:t>Vérifie la capacité d'exploitation.</a:t>
            </a:r>
            <a:endParaRPr lang="en-US" sz="1000" dirty="0"/>
          </a:p>
        </p:txBody>
      </p:sp>
      <p:sp>
        <p:nvSpPr>
          <p:cNvPr id="90" name="Shape 84"/>
          <p:cNvSpPr/>
          <p:nvPr/>
        </p:nvSpPr>
        <p:spPr>
          <a:xfrm>
            <a:off x="11111789" y="4390949"/>
            <a:ext cx="2762402" cy="9144"/>
          </a:xfrm>
          <a:prstGeom prst="rect">
            <a:avLst/>
          </a:prstGeom>
          <a:solidFill>
            <a:srgbClr val="E5E7EB"/>
          </a:solidFill>
          <a:ln w="12700">
            <a:solidFill>
              <a:srgbClr val="E5E7EB">
                <a:alpha val="0"/>
              </a:srgbClr>
            </a:solidFill>
            <a:prstDash val="solid"/>
          </a:ln>
        </p:spPr>
        <p:txBody>
          <a:bodyPr/>
          <a:lstStyle/>
          <a:p>
            <a:endParaRPr lang="fr-CI"/>
          </a:p>
        </p:txBody>
      </p:sp>
      <p:sp>
        <p:nvSpPr>
          <p:cNvPr id="91" name="Text 85"/>
          <p:cNvSpPr txBox="1"/>
          <p:nvPr/>
        </p:nvSpPr>
        <p:spPr>
          <a:xfrm>
            <a:off x="11111789" y="4143146"/>
            <a:ext cx="2762402"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Capacité terrain</a:t>
            </a:r>
            <a:endParaRPr lang="en-US" sz="900" dirty="0"/>
          </a:p>
        </p:txBody>
      </p:sp>
      <p:sp>
        <p:nvSpPr>
          <p:cNvPr id="92" name="Shape 86"/>
          <p:cNvSpPr/>
          <p:nvPr/>
        </p:nvSpPr>
        <p:spPr>
          <a:xfrm>
            <a:off x="11111789" y="4648810"/>
            <a:ext cx="2762402" cy="9144"/>
          </a:xfrm>
          <a:prstGeom prst="rect">
            <a:avLst/>
          </a:prstGeom>
          <a:solidFill>
            <a:srgbClr val="E5E7EB"/>
          </a:solidFill>
          <a:ln w="12700">
            <a:solidFill>
              <a:srgbClr val="E5E7EB">
                <a:alpha val="0"/>
              </a:srgbClr>
            </a:solidFill>
            <a:prstDash val="solid"/>
          </a:ln>
        </p:spPr>
        <p:txBody>
          <a:bodyPr/>
          <a:lstStyle/>
          <a:p>
            <a:endParaRPr lang="fr-CI"/>
          </a:p>
        </p:txBody>
      </p:sp>
      <p:sp>
        <p:nvSpPr>
          <p:cNvPr id="93" name="Text 87"/>
          <p:cNvSpPr txBox="1"/>
          <p:nvPr/>
        </p:nvSpPr>
        <p:spPr>
          <a:xfrm>
            <a:off x="11111789" y="4401007"/>
            <a:ext cx="2762402"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Formation utilisateurs</a:t>
            </a:r>
            <a:endParaRPr lang="en-US" sz="900" dirty="0"/>
          </a:p>
        </p:txBody>
      </p:sp>
      <p:sp>
        <p:nvSpPr>
          <p:cNvPr id="94" name="Shape 88"/>
          <p:cNvSpPr/>
          <p:nvPr/>
        </p:nvSpPr>
        <p:spPr>
          <a:xfrm>
            <a:off x="11111789" y="4905756"/>
            <a:ext cx="2762402" cy="9144"/>
          </a:xfrm>
          <a:prstGeom prst="rect">
            <a:avLst/>
          </a:prstGeom>
          <a:solidFill>
            <a:srgbClr val="E5E7EB"/>
          </a:solidFill>
          <a:ln w="12700">
            <a:solidFill>
              <a:srgbClr val="E5E7EB">
                <a:alpha val="0"/>
              </a:srgbClr>
            </a:solidFill>
            <a:prstDash val="solid"/>
          </a:ln>
        </p:spPr>
        <p:txBody>
          <a:bodyPr/>
          <a:lstStyle/>
          <a:p>
            <a:endParaRPr lang="fr-CI"/>
          </a:p>
        </p:txBody>
      </p:sp>
      <p:sp>
        <p:nvSpPr>
          <p:cNvPr id="95" name="Text 89"/>
          <p:cNvSpPr txBox="1"/>
          <p:nvPr/>
        </p:nvSpPr>
        <p:spPr>
          <a:xfrm>
            <a:off x="11111789" y="4657954"/>
            <a:ext cx="2762402"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Réactivité support</a:t>
            </a:r>
            <a:endParaRPr lang="en-US" sz="900" dirty="0"/>
          </a:p>
        </p:txBody>
      </p:sp>
      <p:sp>
        <p:nvSpPr>
          <p:cNvPr id="96" name="Shape 90"/>
          <p:cNvSpPr/>
          <p:nvPr/>
        </p:nvSpPr>
        <p:spPr>
          <a:xfrm>
            <a:off x="11111789" y="5162702"/>
            <a:ext cx="2762402" cy="9144"/>
          </a:xfrm>
          <a:prstGeom prst="rect">
            <a:avLst/>
          </a:prstGeom>
          <a:solidFill>
            <a:srgbClr val="E5E7EB"/>
          </a:solidFill>
          <a:ln w="12700">
            <a:solidFill>
              <a:srgbClr val="E5E7EB">
                <a:alpha val="0"/>
              </a:srgbClr>
            </a:solidFill>
            <a:prstDash val="solid"/>
          </a:ln>
        </p:spPr>
        <p:txBody>
          <a:bodyPr/>
          <a:lstStyle/>
          <a:p>
            <a:endParaRPr lang="fr-CI"/>
          </a:p>
        </p:txBody>
      </p:sp>
      <p:sp>
        <p:nvSpPr>
          <p:cNvPr id="97" name="Text 91"/>
          <p:cNvSpPr txBox="1"/>
          <p:nvPr/>
        </p:nvSpPr>
        <p:spPr>
          <a:xfrm>
            <a:off x="11111789" y="4914900"/>
            <a:ext cx="2762402"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Suivi des incidents</a:t>
            </a:r>
            <a:endParaRPr lang="en-US" sz="900" dirty="0"/>
          </a:p>
        </p:txBody>
      </p:sp>
      <p:sp>
        <p:nvSpPr>
          <p:cNvPr id="98" name="Shape 92"/>
          <p:cNvSpPr/>
          <p:nvPr/>
        </p:nvSpPr>
        <p:spPr>
          <a:xfrm>
            <a:off x="11111789" y="5419649"/>
            <a:ext cx="2762402" cy="9144"/>
          </a:xfrm>
          <a:prstGeom prst="rect">
            <a:avLst/>
          </a:prstGeom>
          <a:solidFill>
            <a:srgbClr val="E5E7EB"/>
          </a:solidFill>
          <a:ln w="12700">
            <a:solidFill>
              <a:srgbClr val="E5E7EB">
                <a:alpha val="0"/>
              </a:srgbClr>
            </a:solidFill>
            <a:prstDash val="solid"/>
          </a:ln>
        </p:spPr>
        <p:txBody>
          <a:bodyPr/>
          <a:lstStyle/>
          <a:p>
            <a:endParaRPr lang="fr-CI"/>
          </a:p>
        </p:txBody>
      </p:sp>
      <p:sp>
        <p:nvSpPr>
          <p:cNvPr id="99" name="Text 93"/>
          <p:cNvSpPr txBox="1"/>
          <p:nvPr/>
        </p:nvSpPr>
        <p:spPr>
          <a:xfrm>
            <a:off x="11111789" y="5171846"/>
            <a:ext cx="2762402"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Clarté procédures</a:t>
            </a:r>
            <a:endParaRPr lang="en-US" sz="900" dirty="0"/>
          </a:p>
        </p:txBody>
      </p:sp>
      <p:sp>
        <p:nvSpPr>
          <p:cNvPr id="100" name="Shape 94"/>
          <p:cNvSpPr/>
          <p:nvPr/>
        </p:nvSpPr>
        <p:spPr>
          <a:xfrm>
            <a:off x="11111789" y="5677510"/>
            <a:ext cx="2762402" cy="9144"/>
          </a:xfrm>
          <a:prstGeom prst="rect">
            <a:avLst/>
          </a:prstGeom>
          <a:solidFill>
            <a:srgbClr val="E5E7EB"/>
          </a:solidFill>
          <a:ln w="12700">
            <a:solidFill>
              <a:srgbClr val="E5E7EB">
                <a:alpha val="0"/>
              </a:srgbClr>
            </a:solidFill>
            <a:prstDash val="solid"/>
          </a:ln>
        </p:spPr>
        <p:txBody>
          <a:bodyPr/>
          <a:lstStyle/>
          <a:p>
            <a:endParaRPr lang="fr-CI"/>
          </a:p>
        </p:txBody>
      </p:sp>
      <p:sp>
        <p:nvSpPr>
          <p:cNvPr id="101" name="Text 95"/>
          <p:cNvSpPr txBox="1"/>
          <p:nvPr/>
        </p:nvSpPr>
        <p:spPr>
          <a:xfrm>
            <a:off x="11111789" y="5429707"/>
            <a:ext cx="2762402"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Supervision temps réel</a:t>
            </a:r>
            <a:endParaRPr lang="en-US" sz="900" dirty="0"/>
          </a:p>
        </p:txBody>
      </p:sp>
      <p:sp>
        <p:nvSpPr>
          <p:cNvPr id="102" name="Text 96"/>
          <p:cNvSpPr txBox="1"/>
          <p:nvPr/>
        </p:nvSpPr>
        <p:spPr>
          <a:xfrm>
            <a:off x="11111789" y="5686654"/>
            <a:ext cx="2762402" cy="247802"/>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Qualité des rapports</a:t>
            </a:r>
            <a:endParaRPr lang="en-US" sz="900" dirty="0"/>
          </a:p>
        </p:txBody>
      </p:sp>
      <p:sp>
        <p:nvSpPr>
          <p:cNvPr id="103" name="Shape 97"/>
          <p:cNvSpPr/>
          <p:nvPr/>
        </p:nvSpPr>
        <p:spPr>
          <a:xfrm>
            <a:off x="14218920" y="2857500"/>
            <a:ext cx="3200400" cy="6476695"/>
          </a:xfrm>
          <a:prstGeom prst="roundRect">
            <a:avLst>
              <a:gd name="adj" fmla="val 4171"/>
            </a:avLst>
          </a:prstGeom>
          <a:solidFill>
            <a:srgbClr val="1F2937"/>
          </a:solidFill>
          <a:ln w="12700">
            <a:solidFill>
              <a:srgbClr val="FFFFFF">
                <a:alpha val="0"/>
              </a:srgbClr>
            </a:solidFill>
            <a:prstDash val="solid"/>
          </a:ln>
        </p:spPr>
        <p:txBody>
          <a:bodyPr/>
          <a:lstStyle/>
          <a:p>
            <a:endParaRPr lang="fr-CI"/>
          </a:p>
        </p:txBody>
      </p:sp>
      <p:sp>
        <p:nvSpPr>
          <p:cNvPr id="104" name="Text 98"/>
          <p:cNvSpPr txBox="1"/>
          <p:nvPr/>
        </p:nvSpPr>
        <p:spPr>
          <a:xfrm>
            <a:off x="14428318" y="3066898"/>
            <a:ext cx="2781605" cy="152705"/>
          </a:xfrm>
          <a:prstGeom prst="rect">
            <a:avLst/>
          </a:prstGeom>
          <a:noFill/>
          <a:ln/>
        </p:spPr>
        <p:txBody>
          <a:bodyPr wrap="none" lIns="0" tIns="0" rIns="0" bIns="0" rtlCol="0" anchor="ctr"/>
          <a:lstStyle/>
          <a:p>
            <a:pPr marL="0" indent="0" algn="l">
              <a:buNone/>
            </a:pPr>
            <a:r>
              <a:rPr lang="en-US" sz="900" b="1" kern="0" spc="108" dirty="0">
                <a:solidFill>
                  <a:srgbClr val="A78BFA"/>
                </a:solidFill>
                <a:latin typeface="JetBrains Mono" pitchFamily="34" charset="0"/>
                <a:ea typeface="JetBrains Mono" pitchFamily="34" charset="-122"/>
                <a:cs typeface="JetBrains Mono" pitchFamily="34" charset="-120"/>
              </a:rPr>
              <a:t>16.5</a:t>
            </a:r>
            <a:endParaRPr lang="en-US" sz="900" dirty="0"/>
          </a:p>
        </p:txBody>
      </p:sp>
      <p:sp>
        <p:nvSpPr>
          <p:cNvPr id="105" name="Text 99"/>
          <p:cNvSpPr txBox="1"/>
          <p:nvPr/>
        </p:nvSpPr>
        <p:spPr>
          <a:xfrm>
            <a:off x="14428318" y="3314700"/>
            <a:ext cx="2781605" cy="286207"/>
          </a:xfrm>
          <a:prstGeom prst="rect">
            <a:avLst/>
          </a:prstGeom>
          <a:noFill/>
          <a:ln/>
        </p:spPr>
        <p:txBody>
          <a:bodyPr wrap="none" lIns="0" tIns="0" rIns="0" bIns="0" rtlCol="0" anchor="ctr"/>
          <a:lstStyle/>
          <a:p>
            <a:pPr marL="0" indent="0" algn="l">
              <a:buNone/>
            </a:pPr>
            <a:r>
              <a:rPr lang="en-US" sz="1600" b="1" dirty="0">
                <a:solidFill>
                  <a:srgbClr val="FFFFFF"/>
                </a:solidFill>
                <a:latin typeface="Manrope" pitchFamily="34" charset="0"/>
                <a:ea typeface="Manrope" pitchFamily="34" charset="-122"/>
                <a:cs typeface="Manrope" pitchFamily="34" charset="-120"/>
              </a:rPr>
              <a:t>Reporting</a:t>
            </a:r>
            <a:endParaRPr lang="en-US" sz="1600" dirty="0"/>
          </a:p>
        </p:txBody>
      </p:sp>
      <p:pic>
        <p:nvPicPr>
          <p:cNvPr id="106" name="Image 4" descr="gen-dedup-dee1777222f4445c6e867fd9883ec3f5.png"/>
          <p:cNvPicPr>
            <a:picLocks noChangeAspect="1"/>
          </p:cNvPicPr>
          <p:nvPr/>
        </p:nvPicPr>
        <p:blipFill>
          <a:blip r:embed="rId4"/>
          <a:srcRect l="-353" r="-353"/>
          <a:stretch/>
        </p:blipFill>
        <p:spPr>
          <a:xfrm>
            <a:off x="14428318" y="3638398"/>
            <a:ext cx="304495" cy="28346"/>
          </a:xfrm>
          <a:prstGeom prst="rect">
            <a:avLst/>
          </a:prstGeom>
        </p:spPr>
      </p:pic>
      <p:sp>
        <p:nvSpPr>
          <p:cNvPr id="107" name="Text 100"/>
          <p:cNvSpPr txBox="1"/>
          <p:nvPr/>
        </p:nvSpPr>
        <p:spPr>
          <a:xfrm>
            <a:off x="14428318" y="3800246"/>
            <a:ext cx="2991917" cy="200254"/>
          </a:xfrm>
          <a:prstGeom prst="rect">
            <a:avLst/>
          </a:prstGeom>
          <a:noFill/>
          <a:ln/>
        </p:spPr>
        <p:txBody>
          <a:bodyPr wrap="none" lIns="0" tIns="0" rIns="0" bIns="0" rtlCol="0" anchor="ctr"/>
          <a:lstStyle/>
          <a:p>
            <a:pPr marL="0" indent="0" algn="l">
              <a:buNone/>
            </a:pPr>
            <a:r>
              <a:rPr lang="en-US" sz="1000" dirty="0">
                <a:solidFill>
                  <a:srgbClr val="C4B5FD"/>
                </a:solidFill>
                <a:latin typeface="Manrope" pitchFamily="34" charset="0"/>
                <a:ea typeface="Manrope" pitchFamily="34" charset="-122"/>
                <a:cs typeface="Manrope" pitchFamily="34" charset="-120"/>
              </a:rPr>
              <a:t>Vérifie tableaux de bord et exports.</a:t>
            </a:r>
            <a:endParaRPr lang="en-US" sz="1000" dirty="0"/>
          </a:p>
        </p:txBody>
      </p:sp>
      <p:sp>
        <p:nvSpPr>
          <p:cNvPr id="108" name="Shape 101"/>
          <p:cNvSpPr/>
          <p:nvPr/>
        </p:nvSpPr>
        <p:spPr>
          <a:xfrm>
            <a:off x="14428318" y="4381805"/>
            <a:ext cx="2781605" cy="9144"/>
          </a:xfrm>
          <a:prstGeom prst="rect">
            <a:avLst/>
          </a:prstGeom>
          <a:solidFill>
            <a:srgbClr val="374151"/>
          </a:solidFill>
          <a:ln w="12700">
            <a:solidFill>
              <a:srgbClr val="374151">
                <a:alpha val="0"/>
              </a:srgbClr>
            </a:solidFill>
            <a:prstDash val="solid"/>
          </a:ln>
        </p:spPr>
        <p:txBody>
          <a:bodyPr/>
          <a:lstStyle/>
          <a:p>
            <a:endParaRPr lang="fr-CI"/>
          </a:p>
        </p:txBody>
      </p:sp>
      <p:sp>
        <p:nvSpPr>
          <p:cNvPr id="109" name="Text 102"/>
          <p:cNvSpPr txBox="1"/>
          <p:nvPr/>
        </p:nvSpPr>
        <p:spPr>
          <a:xfrm>
            <a:off x="14428318" y="4134002"/>
            <a:ext cx="2781605"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Tableaux de bord</a:t>
            </a:r>
            <a:endParaRPr lang="en-US" sz="900" dirty="0"/>
          </a:p>
        </p:txBody>
      </p:sp>
      <p:sp>
        <p:nvSpPr>
          <p:cNvPr id="110" name="Shape 103"/>
          <p:cNvSpPr/>
          <p:nvPr/>
        </p:nvSpPr>
        <p:spPr>
          <a:xfrm>
            <a:off x="14428318" y="4638751"/>
            <a:ext cx="2781605" cy="9144"/>
          </a:xfrm>
          <a:prstGeom prst="rect">
            <a:avLst/>
          </a:prstGeom>
          <a:solidFill>
            <a:srgbClr val="374151"/>
          </a:solidFill>
          <a:ln w="12700">
            <a:solidFill>
              <a:srgbClr val="374151">
                <a:alpha val="0"/>
              </a:srgbClr>
            </a:solidFill>
            <a:prstDash val="solid"/>
          </a:ln>
        </p:spPr>
        <p:txBody>
          <a:bodyPr/>
          <a:lstStyle/>
          <a:p>
            <a:endParaRPr lang="fr-CI"/>
          </a:p>
        </p:txBody>
      </p:sp>
      <p:sp>
        <p:nvSpPr>
          <p:cNvPr id="111" name="Text 104"/>
          <p:cNvSpPr txBox="1"/>
          <p:nvPr/>
        </p:nvSpPr>
        <p:spPr>
          <a:xfrm>
            <a:off x="14428318" y="4390949"/>
            <a:ext cx="2781605"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Données par profil</a:t>
            </a:r>
            <a:endParaRPr lang="en-US" sz="900" dirty="0"/>
          </a:p>
        </p:txBody>
      </p:sp>
      <p:sp>
        <p:nvSpPr>
          <p:cNvPr id="112" name="Shape 105"/>
          <p:cNvSpPr/>
          <p:nvPr/>
        </p:nvSpPr>
        <p:spPr>
          <a:xfrm>
            <a:off x="14428318" y="4895698"/>
            <a:ext cx="2781605" cy="9144"/>
          </a:xfrm>
          <a:prstGeom prst="rect">
            <a:avLst/>
          </a:prstGeom>
          <a:solidFill>
            <a:srgbClr val="374151"/>
          </a:solidFill>
          <a:ln w="12700">
            <a:solidFill>
              <a:srgbClr val="374151">
                <a:alpha val="0"/>
              </a:srgbClr>
            </a:solidFill>
            <a:prstDash val="solid"/>
          </a:ln>
        </p:spPr>
        <p:txBody>
          <a:bodyPr/>
          <a:lstStyle/>
          <a:p>
            <a:endParaRPr lang="fr-CI"/>
          </a:p>
        </p:txBody>
      </p:sp>
      <p:sp>
        <p:nvSpPr>
          <p:cNvPr id="113" name="Text 106"/>
          <p:cNvSpPr txBox="1"/>
          <p:nvPr/>
        </p:nvSpPr>
        <p:spPr>
          <a:xfrm>
            <a:off x="14428318" y="4647895"/>
            <a:ext cx="2781605"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Données par service</a:t>
            </a:r>
            <a:endParaRPr lang="en-US" sz="900" dirty="0"/>
          </a:p>
        </p:txBody>
      </p:sp>
      <p:sp>
        <p:nvSpPr>
          <p:cNvPr id="114" name="Shape 107"/>
          <p:cNvSpPr/>
          <p:nvPr/>
        </p:nvSpPr>
        <p:spPr>
          <a:xfrm>
            <a:off x="14428318" y="5153558"/>
            <a:ext cx="2781605" cy="9144"/>
          </a:xfrm>
          <a:prstGeom prst="rect">
            <a:avLst/>
          </a:prstGeom>
          <a:solidFill>
            <a:srgbClr val="374151"/>
          </a:solidFill>
          <a:ln w="12700">
            <a:solidFill>
              <a:srgbClr val="374151">
                <a:alpha val="0"/>
              </a:srgbClr>
            </a:solidFill>
            <a:prstDash val="solid"/>
          </a:ln>
        </p:spPr>
        <p:txBody>
          <a:bodyPr/>
          <a:lstStyle/>
          <a:p>
            <a:endParaRPr lang="fr-CI"/>
          </a:p>
        </p:txBody>
      </p:sp>
      <p:sp>
        <p:nvSpPr>
          <p:cNvPr id="115" name="Text 108"/>
          <p:cNvSpPr txBox="1"/>
          <p:nvPr/>
        </p:nvSpPr>
        <p:spPr>
          <a:xfrm>
            <a:off x="14428318" y="4905756"/>
            <a:ext cx="2781605"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Données par période</a:t>
            </a:r>
            <a:endParaRPr lang="en-US" sz="900" dirty="0"/>
          </a:p>
        </p:txBody>
      </p:sp>
      <p:sp>
        <p:nvSpPr>
          <p:cNvPr id="116" name="Shape 109"/>
          <p:cNvSpPr/>
          <p:nvPr/>
        </p:nvSpPr>
        <p:spPr>
          <a:xfrm>
            <a:off x="14428318" y="5410505"/>
            <a:ext cx="2781605" cy="9144"/>
          </a:xfrm>
          <a:prstGeom prst="rect">
            <a:avLst/>
          </a:prstGeom>
          <a:solidFill>
            <a:srgbClr val="374151"/>
          </a:solidFill>
          <a:ln w="12700">
            <a:solidFill>
              <a:srgbClr val="374151">
                <a:alpha val="0"/>
              </a:srgbClr>
            </a:solidFill>
            <a:prstDash val="solid"/>
          </a:ln>
        </p:spPr>
        <p:txBody>
          <a:bodyPr/>
          <a:lstStyle/>
          <a:p>
            <a:endParaRPr lang="fr-CI"/>
          </a:p>
        </p:txBody>
      </p:sp>
      <p:sp>
        <p:nvSpPr>
          <p:cNvPr id="117" name="Text 110"/>
          <p:cNvSpPr txBox="1"/>
          <p:nvPr/>
        </p:nvSpPr>
        <p:spPr>
          <a:xfrm>
            <a:off x="14428318" y="5162702"/>
            <a:ext cx="2781605"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Données par zone</a:t>
            </a:r>
            <a:endParaRPr lang="en-US" sz="900" dirty="0"/>
          </a:p>
        </p:txBody>
      </p:sp>
      <p:sp>
        <p:nvSpPr>
          <p:cNvPr id="118" name="Shape 111"/>
          <p:cNvSpPr/>
          <p:nvPr/>
        </p:nvSpPr>
        <p:spPr>
          <a:xfrm>
            <a:off x="14428318" y="5667451"/>
            <a:ext cx="2781605" cy="9144"/>
          </a:xfrm>
          <a:prstGeom prst="rect">
            <a:avLst/>
          </a:prstGeom>
          <a:solidFill>
            <a:srgbClr val="374151"/>
          </a:solidFill>
          <a:ln w="12700">
            <a:solidFill>
              <a:srgbClr val="374151">
                <a:alpha val="0"/>
              </a:srgbClr>
            </a:solidFill>
            <a:prstDash val="solid"/>
          </a:ln>
        </p:spPr>
        <p:txBody>
          <a:bodyPr/>
          <a:lstStyle/>
          <a:p>
            <a:endParaRPr lang="fr-CI"/>
          </a:p>
        </p:txBody>
      </p:sp>
      <p:sp>
        <p:nvSpPr>
          <p:cNvPr id="119" name="Text 112"/>
          <p:cNvSpPr txBox="1"/>
          <p:nvPr/>
        </p:nvSpPr>
        <p:spPr>
          <a:xfrm>
            <a:off x="14428318" y="5419649"/>
            <a:ext cx="2781605"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Données par partenaire</a:t>
            </a:r>
            <a:endParaRPr lang="en-US" sz="900" dirty="0"/>
          </a:p>
        </p:txBody>
      </p:sp>
      <p:sp>
        <p:nvSpPr>
          <p:cNvPr id="120" name="Shape 113"/>
          <p:cNvSpPr/>
          <p:nvPr/>
        </p:nvSpPr>
        <p:spPr>
          <a:xfrm>
            <a:off x="14428318" y="5924398"/>
            <a:ext cx="2781605" cy="9144"/>
          </a:xfrm>
          <a:prstGeom prst="rect">
            <a:avLst/>
          </a:prstGeom>
          <a:solidFill>
            <a:srgbClr val="374151"/>
          </a:solidFill>
          <a:ln w="12700">
            <a:solidFill>
              <a:srgbClr val="374151">
                <a:alpha val="0"/>
              </a:srgbClr>
            </a:solidFill>
            <a:prstDash val="solid"/>
          </a:ln>
        </p:spPr>
        <p:txBody>
          <a:bodyPr/>
          <a:lstStyle/>
          <a:p>
            <a:endParaRPr lang="fr-CI"/>
          </a:p>
        </p:txBody>
      </p:sp>
      <p:sp>
        <p:nvSpPr>
          <p:cNvPr id="121" name="Text 114"/>
          <p:cNvSpPr txBox="1"/>
          <p:nvPr/>
        </p:nvSpPr>
        <p:spPr>
          <a:xfrm>
            <a:off x="14428318" y="5676595"/>
            <a:ext cx="2781605"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Données par franchise</a:t>
            </a:r>
            <a:endParaRPr lang="en-US" sz="900" dirty="0"/>
          </a:p>
        </p:txBody>
      </p:sp>
      <p:sp>
        <p:nvSpPr>
          <p:cNvPr id="122" name="Shape 115"/>
          <p:cNvSpPr/>
          <p:nvPr/>
        </p:nvSpPr>
        <p:spPr>
          <a:xfrm>
            <a:off x="14428318" y="6182258"/>
            <a:ext cx="2781605" cy="9144"/>
          </a:xfrm>
          <a:prstGeom prst="rect">
            <a:avLst/>
          </a:prstGeom>
          <a:solidFill>
            <a:srgbClr val="374151"/>
          </a:solidFill>
          <a:ln w="12700">
            <a:solidFill>
              <a:srgbClr val="374151">
                <a:alpha val="0"/>
              </a:srgbClr>
            </a:solidFill>
            <a:prstDash val="solid"/>
          </a:ln>
        </p:spPr>
        <p:txBody>
          <a:bodyPr/>
          <a:lstStyle/>
          <a:p>
            <a:endParaRPr lang="fr-CI"/>
          </a:p>
        </p:txBody>
      </p:sp>
      <p:sp>
        <p:nvSpPr>
          <p:cNvPr id="123" name="Text 116"/>
          <p:cNvSpPr txBox="1"/>
          <p:nvPr/>
        </p:nvSpPr>
        <p:spPr>
          <a:xfrm>
            <a:off x="14428318" y="5934456"/>
            <a:ext cx="2781605"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Exports</a:t>
            </a:r>
            <a:endParaRPr lang="en-US" sz="900" dirty="0"/>
          </a:p>
        </p:txBody>
      </p:sp>
      <p:sp>
        <p:nvSpPr>
          <p:cNvPr id="124" name="Shape 117"/>
          <p:cNvSpPr/>
          <p:nvPr/>
        </p:nvSpPr>
        <p:spPr>
          <a:xfrm>
            <a:off x="14428318" y="6439205"/>
            <a:ext cx="2781605" cy="9144"/>
          </a:xfrm>
          <a:prstGeom prst="rect">
            <a:avLst/>
          </a:prstGeom>
          <a:solidFill>
            <a:srgbClr val="374151"/>
          </a:solidFill>
          <a:ln w="12700">
            <a:solidFill>
              <a:srgbClr val="374151">
                <a:alpha val="0"/>
              </a:srgbClr>
            </a:solidFill>
            <a:prstDash val="solid"/>
          </a:ln>
        </p:spPr>
        <p:txBody>
          <a:bodyPr/>
          <a:lstStyle/>
          <a:p>
            <a:endParaRPr lang="fr-CI"/>
          </a:p>
        </p:txBody>
      </p:sp>
      <p:sp>
        <p:nvSpPr>
          <p:cNvPr id="125" name="Text 118"/>
          <p:cNvSpPr txBox="1"/>
          <p:nvPr/>
        </p:nvSpPr>
        <p:spPr>
          <a:xfrm>
            <a:off x="14428318" y="6191402"/>
            <a:ext cx="2781605" cy="210312"/>
          </a:xfrm>
          <a:prstGeom prst="rect">
            <a:avLst/>
          </a:prstGeom>
          <a:solidFill>
            <a:srgbClr val="FFFFFF">
              <a:alpha val="0"/>
            </a:srgbClr>
          </a:solidFill>
          <a:ln>
            <a:solidFill>
              <a:srgbClr val="FFFFFF">
                <a:alpha val="0"/>
              </a:srgbClr>
            </a:solidFill>
          </a:ln>
        </p:spPr>
        <p:txBody>
          <a:bodyPr wrap="none" lIns="38100" tIns="38100" rIns="3810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Cohérence financière</a:t>
            </a:r>
            <a:endParaRPr lang="en-US" sz="900" dirty="0"/>
          </a:p>
        </p:txBody>
      </p:sp>
      <p:sp>
        <p:nvSpPr>
          <p:cNvPr id="126" name="Text 119"/>
          <p:cNvSpPr txBox="1"/>
          <p:nvPr/>
        </p:nvSpPr>
        <p:spPr>
          <a:xfrm>
            <a:off x="14428318" y="6448349"/>
            <a:ext cx="2781605" cy="247802"/>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Cohérence opérationnelle</a:t>
            </a:r>
            <a:endParaRPr lang="en-US" sz="900" dirty="0"/>
          </a:p>
        </p:txBody>
      </p:sp>
      <p:sp>
        <p:nvSpPr>
          <p:cNvPr id="127" name="Shape 120"/>
          <p:cNvSpPr/>
          <p:nvPr/>
        </p:nvSpPr>
        <p:spPr>
          <a:xfrm>
            <a:off x="0" y="9791395"/>
            <a:ext cx="18288000" cy="495605"/>
          </a:xfrm>
          <a:prstGeom prst="rect">
            <a:avLst/>
          </a:prstGeom>
          <a:solidFill>
            <a:srgbClr val="FFFFFF"/>
          </a:solidFill>
          <a:ln/>
        </p:spPr>
        <p:txBody>
          <a:bodyPr/>
          <a:lstStyle/>
          <a:p>
            <a:endParaRPr lang="fr-CI"/>
          </a:p>
        </p:txBody>
      </p:sp>
      <p:sp>
        <p:nvSpPr>
          <p:cNvPr id="128" name="Shape 121"/>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129" name="Text 122"/>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130" name="Text 123"/>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28 / 59</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5405811" y="256946"/>
            <a:ext cx="2691994"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Partie VI — §17 Format use case</a:t>
            </a:r>
            <a:endParaRPr lang="en-US" sz="900" dirty="0"/>
          </a:p>
        </p:txBody>
      </p:sp>
      <p:sp>
        <p:nvSpPr>
          <p:cNvPr id="10" name="Text 8"/>
          <p:cNvSpPr txBox="1"/>
          <p:nvPr/>
        </p:nvSpPr>
        <p:spPr>
          <a:xfrm>
            <a:off x="914400" y="1205179"/>
            <a:ext cx="3591763"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17. Format standard d'un use case</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8479110"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12 champs structurés — gabarit appliqué à chacun des 29 use cases.</a:t>
            </a:r>
            <a:endParaRPr lang="en-US" sz="3900" dirty="0"/>
          </a:p>
        </p:txBody>
      </p:sp>
      <p:sp>
        <p:nvSpPr>
          <p:cNvPr id="13" name="Text 11"/>
          <p:cNvSpPr txBox="1"/>
          <p:nvPr/>
        </p:nvSpPr>
        <p:spPr>
          <a:xfrm>
            <a:off x="914400" y="2457907"/>
            <a:ext cx="16193110" cy="257861"/>
          </a:xfrm>
          <a:prstGeom prst="rect">
            <a:avLst/>
          </a:prstGeom>
          <a:noFill/>
          <a:ln/>
        </p:spPr>
        <p:txBody>
          <a:bodyPr wrap="none" lIns="0" tIns="0" rIns="0" bIns="0" rtlCol="0" anchor="ctr"/>
          <a:lstStyle/>
          <a:p>
            <a:pPr marL="0" indent="0" algn="l">
              <a:buNone/>
            </a:pPr>
            <a:r>
              <a:rPr lang="en-US" sz="1300" dirty="0">
                <a:solidFill>
                  <a:srgbClr val="4B5563"/>
                </a:solidFill>
                <a:latin typeface="Manrope" pitchFamily="34" charset="0"/>
                <a:ea typeface="Manrope" pitchFamily="34" charset="-122"/>
                <a:cs typeface="Manrope" pitchFamily="34" charset="-120"/>
              </a:rPr>
              <a:t>Chaque scénario de test est documenté avec le même squelette pour permettre une exécution répétable, traçable et auditable.</a:t>
            </a:r>
            <a:endParaRPr lang="en-US" sz="1300" dirty="0"/>
          </a:p>
        </p:txBody>
      </p:sp>
      <p:sp>
        <p:nvSpPr>
          <p:cNvPr id="14" name="Shape 12"/>
          <p:cNvSpPr/>
          <p:nvPr/>
        </p:nvSpPr>
        <p:spPr>
          <a:xfrm>
            <a:off x="914400" y="3143707"/>
            <a:ext cx="10477195" cy="6286500"/>
          </a:xfrm>
          <a:prstGeom prst="roundRect">
            <a:avLst>
              <a:gd name="adj" fmla="val 2124"/>
            </a:avLst>
          </a:prstGeom>
          <a:solidFill>
            <a:srgbClr val="FFFFFF"/>
          </a:solidFill>
          <a:ln w="25400">
            <a:solidFill>
              <a:srgbClr val="1F2937"/>
            </a:solidFill>
            <a:prstDash val="solid"/>
          </a:ln>
        </p:spPr>
        <p:txBody>
          <a:bodyPr/>
          <a:lstStyle/>
          <a:p>
            <a:endParaRPr lang="fr-CI"/>
          </a:p>
        </p:txBody>
      </p:sp>
      <p:sp>
        <p:nvSpPr>
          <p:cNvPr id="15" name="Shape 13"/>
          <p:cNvSpPr/>
          <p:nvPr/>
        </p:nvSpPr>
        <p:spPr>
          <a:xfrm>
            <a:off x="1218895" y="3791102"/>
            <a:ext cx="9905695" cy="19202"/>
          </a:xfrm>
          <a:prstGeom prst="rect">
            <a:avLst/>
          </a:prstGeom>
          <a:solidFill>
            <a:srgbClr val="1F2937"/>
          </a:solidFill>
          <a:ln w="12700">
            <a:solidFill>
              <a:srgbClr val="1F2937">
                <a:alpha val="0"/>
              </a:srgbClr>
            </a:solidFill>
            <a:prstDash val="solid"/>
          </a:ln>
        </p:spPr>
        <p:txBody>
          <a:bodyPr/>
          <a:lstStyle/>
          <a:p>
            <a:endParaRPr lang="fr-CI"/>
          </a:p>
        </p:txBody>
      </p:sp>
      <p:sp>
        <p:nvSpPr>
          <p:cNvPr id="16" name="Text 14"/>
          <p:cNvSpPr txBox="1"/>
          <p:nvPr/>
        </p:nvSpPr>
        <p:spPr>
          <a:xfrm>
            <a:off x="1218895" y="3390595"/>
            <a:ext cx="571500" cy="247802"/>
          </a:xfrm>
          <a:prstGeom prst="rect">
            <a:avLst/>
          </a:prstGeom>
          <a:noFill/>
          <a:ln/>
        </p:spPr>
        <p:txBody>
          <a:bodyPr wrap="none" lIns="0" tIns="0" rIns="0" bIns="0" rtlCol="0" anchor="ctr"/>
          <a:lstStyle/>
          <a:p>
            <a:pPr marL="0" indent="0" algn="l">
              <a:buNone/>
            </a:pPr>
            <a:r>
              <a:rPr lang="en-US" sz="1500" b="1" dirty="0">
                <a:solidFill>
                  <a:srgbClr val="6D28D9"/>
                </a:solidFill>
                <a:latin typeface="JetBrains Mono" pitchFamily="34" charset="0"/>
                <a:ea typeface="JetBrains Mono" pitchFamily="34" charset="-122"/>
                <a:cs typeface="JetBrains Mono" pitchFamily="34" charset="-120"/>
              </a:rPr>
              <a:t>UC-XX</a:t>
            </a:r>
            <a:endParaRPr lang="en-US" sz="1500" dirty="0"/>
          </a:p>
        </p:txBody>
      </p:sp>
      <p:sp>
        <p:nvSpPr>
          <p:cNvPr id="17" name="Text 15"/>
          <p:cNvSpPr txBox="1"/>
          <p:nvPr/>
        </p:nvSpPr>
        <p:spPr>
          <a:xfrm>
            <a:off x="1923898" y="3386023"/>
            <a:ext cx="2142439" cy="257861"/>
          </a:xfrm>
          <a:prstGeom prst="rect">
            <a:avLst/>
          </a:prstGeom>
          <a:noFill/>
          <a:ln/>
        </p:spPr>
        <p:txBody>
          <a:bodyPr wrap="none" lIns="0" tIns="0" rIns="0" bIns="0" rtlCol="0" anchor="ctr"/>
          <a:lstStyle/>
          <a:p>
            <a:pPr marL="0" indent="0" algn="l">
              <a:buNone/>
            </a:pPr>
            <a:r>
              <a:rPr lang="en-US" sz="1500" b="1" dirty="0">
                <a:solidFill>
                  <a:srgbClr val="1F2937"/>
                </a:solidFill>
                <a:latin typeface="Manrope" pitchFamily="34" charset="0"/>
                <a:ea typeface="Manrope" pitchFamily="34" charset="-122"/>
                <a:cs typeface="Manrope" pitchFamily="34" charset="-120"/>
              </a:rPr>
              <a:t>Intitulé du scénario</a:t>
            </a:r>
            <a:endParaRPr lang="en-US" sz="1500" dirty="0"/>
          </a:p>
        </p:txBody>
      </p:sp>
      <p:sp>
        <p:nvSpPr>
          <p:cNvPr id="18" name="Shape 16"/>
          <p:cNvSpPr/>
          <p:nvPr/>
        </p:nvSpPr>
        <p:spPr>
          <a:xfrm>
            <a:off x="10445191" y="3372307"/>
            <a:ext cx="685800"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19" name="Text 17"/>
          <p:cNvSpPr/>
          <p:nvPr/>
        </p:nvSpPr>
        <p:spPr>
          <a:xfrm>
            <a:off x="10445191" y="3372307"/>
            <a:ext cx="685800"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Modèle</a:t>
            </a:r>
            <a:endParaRPr lang="en-US" sz="900" dirty="0"/>
          </a:p>
        </p:txBody>
      </p:sp>
      <p:sp>
        <p:nvSpPr>
          <p:cNvPr id="20" name="Text 18"/>
          <p:cNvSpPr txBox="1"/>
          <p:nvPr/>
        </p:nvSpPr>
        <p:spPr>
          <a:xfrm>
            <a:off x="1218895" y="4038905"/>
            <a:ext cx="4819802" cy="133502"/>
          </a:xfrm>
          <a:prstGeom prst="rect">
            <a:avLst/>
          </a:prstGeom>
          <a:noFill/>
          <a:ln/>
        </p:spPr>
        <p:txBody>
          <a:bodyPr wrap="none" lIns="0" tIns="0" rIns="0" bIns="0" rtlCol="0" anchor="ctr"/>
          <a:lstStyle/>
          <a:p>
            <a:pPr marL="0" indent="0" algn="l">
              <a:buNone/>
            </a:pPr>
            <a:r>
              <a:rPr lang="en-US" sz="800" b="1" kern="0" spc="83" dirty="0">
                <a:solidFill>
                  <a:srgbClr val="6D28D9"/>
                </a:solidFill>
                <a:latin typeface="JetBrains Mono" pitchFamily="34" charset="0"/>
                <a:ea typeface="JetBrains Mono" pitchFamily="34" charset="-122"/>
                <a:cs typeface="JetBrains Mono" pitchFamily="34" charset="-120"/>
              </a:rPr>
              <a:t>01 · RÉFÉRENCE</a:t>
            </a:r>
            <a:endParaRPr lang="en-US" sz="800" dirty="0"/>
          </a:p>
        </p:txBody>
      </p:sp>
      <p:sp>
        <p:nvSpPr>
          <p:cNvPr id="21" name="Text 19"/>
          <p:cNvSpPr txBox="1"/>
          <p:nvPr/>
        </p:nvSpPr>
        <p:spPr>
          <a:xfrm>
            <a:off x="1218895" y="4209898"/>
            <a:ext cx="4819802" cy="181051"/>
          </a:xfrm>
          <a:prstGeom prst="rect">
            <a:avLst/>
          </a:prstGeom>
          <a:noFill/>
          <a:ln/>
        </p:spPr>
        <p:txBody>
          <a:bodyPr wrap="none" lIns="0" tIns="0" rIns="0" bIns="0" rtlCol="0" anchor="ctr"/>
          <a:lstStyle/>
          <a:p>
            <a:pPr marL="0" indent="0" algn="l">
              <a:buNone/>
            </a:pPr>
            <a:r>
              <a:rPr lang="en-US" sz="1000" dirty="0">
                <a:solidFill>
                  <a:srgbClr val="4B5563"/>
                </a:solidFill>
                <a:latin typeface="Manrope" pitchFamily="34" charset="0"/>
                <a:ea typeface="Manrope" pitchFamily="34" charset="-122"/>
                <a:cs typeface="Manrope" pitchFamily="34" charset="-120"/>
              </a:rPr>
              <a:t>Code unique UC-XX</a:t>
            </a:r>
            <a:endParaRPr lang="en-US" sz="1000" dirty="0"/>
          </a:p>
        </p:txBody>
      </p:sp>
      <p:sp>
        <p:nvSpPr>
          <p:cNvPr id="22" name="Text 20"/>
          <p:cNvSpPr txBox="1"/>
          <p:nvPr/>
        </p:nvSpPr>
        <p:spPr>
          <a:xfrm>
            <a:off x="6305702" y="4038905"/>
            <a:ext cx="4819802" cy="133502"/>
          </a:xfrm>
          <a:prstGeom prst="rect">
            <a:avLst/>
          </a:prstGeom>
          <a:noFill/>
          <a:ln/>
        </p:spPr>
        <p:txBody>
          <a:bodyPr wrap="none" lIns="0" tIns="0" rIns="0" bIns="0" rtlCol="0" anchor="ctr"/>
          <a:lstStyle/>
          <a:p>
            <a:pPr marL="0" indent="0" algn="l">
              <a:buNone/>
            </a:pPr>
            <a:r>
              <a:rPr lang="en-US" sz="800" b="1" kern="0" spc="83" dirty="0">
                <a:solidFill>
                  <a:srgbClr val="6D28D9"/>
                </a:solidFill>
                <a:latin typeface="JetBrains Mono" pitchFamily="34" charset="0"/>
                <a:ea typeface="JetBrains Mono" pitchFamily="34" charset="-122"/>
                <a:cs typeface="JetBrains Mono" pitchFamily="34" charset="-120"/>
              </a:rPr>
              <a:t>02 · SERVICE CONCERNÉ</a:t>
            </a:r>
            <a:endParaRPr lang="en-US" sz="800" dirty="0"/>
          </a:p>
        </p:txBody>
      </p:sp>
      <p:sp>
        <p:nvSpPr>
          <p:cNvPr id="23" name="Text 21"/>
          <p:cNvSpPr txBox="1"/>
          <p:nvPr/>
        </p:nvSpPr>
        <p:spPr>
          <a:xfrm>
            <a:off x="6305702" y="4209898"/>
            <a:ext cx="4819802" cy="181051"/>
          </a:xfrm>
          <a:prstGeom prst="rect">
            <a:avLst/>
          </a:prstGeom>
          <a:noFill/>
          <a:ln/>
        </p:spPr>
        <p:txBody>
          <a:bodyPr wrap="none" lIns="0" tIns="0" rIns="0" bIns="0" rtlCol="0" anchor="ctr"/>
          <a:lstStyle/>
          <a:p>
            <a:pPr marL="0" indent="0" algn="l">
              <a:buNone/>
            </a:pPr>
            <a:r>
              <a:rPr lang="en-US" sz="1000" dirty="0">
                <a:solidFill>
                  <a:srgbClr val="4B5563"/>
                </a:solidFill>
                <a:latin typeface="Manrope" pitchFamily="34" charset="0"/>
                <a:ea typeface="Manrope" pitchFamily="34" charset="-122"/>
                <a:cs typeface="Manrope" pitchFamily="34" charset="-120"/>
              </a:rPr>
              <a:t>Transport, livraison, fret, location, finance, central…</a:t>
            </a:r>
            <a:endParaRPr lang="en-US" sz="1000" dirty="0"/>
          </a:p>
        </p:txBody>
      </p:sp>
      <p:sp>
        <p:nvSpPr>
          <p:cNvPr id="24" name="Text 22"/>
          <p:cNvSpPr txBox="1"/>
          <p:nvPr/>
        </p:nvSpPr>
        <p:spPr>
          <a:xfrm>
            <a:off x="1218895" y="4562856"/>
            <a:ext cx="4819802" cy="133502"/>
          </a:xfrm>
          <a:prstGeom prst="rect">
            <a:avLst/>
          </a:prstGeom>
          <a:noFill/>
          <a:ln/>
        </p:spPr>
        <p:txBody>
          <a:bodyPr wrap="none" lIns="0" tIns="0" rIns="0" bIns="0" rtlCol="0" anchor="ctr"/>
          <a:lstStyle/>
          <a:p>
            <a:pPr marL="0" indent="0" algn="l">
              <a:buNone/>
            </a:pPr>
            <a:r>
              <a:rPr lang="en-US" sz="800" b="1" kern="0" spc="83" dirty="0">
                <a:solidFill>
                  <a:srgbClr val="6D28D9"/>
                </a:solidFill>
                <a:latin typeface="JetBrains Mono" pitchFamily="34" charset="0"/>
                <a:ea typeface="JetBrains Mono" pitchFamily="34" charset="-122"/>
                <a:cs typeface="JetBrains Mono" pitchFamily="34" charset="-120"/>
              </a:rPr>
              <a:t>03 · PROFIL CONCERNÉ</a:t>
            </a:r>
            <a:endParaRPr lang="en-US" sz="800" dirty="0"/>
          </a:p>
        </p:txBody>
      </p:sp>
      <p:sp>
        <p:nvSpPr>
          <p:cNvPr id="25" name="Text 23"/>
          <p:cNvSpPr txBox="1"/>
          <p:nvPr/>
        </p:nvSpPr>
        <p:spPr>
          <a:xfrm>
            <a:off x="1218895" y="4733849"/>
            <a:ext cx="4819802" cy="181051"/>
          </a:xfrm>
          <a:prstGeom prst="rect">
            <a:avLst/>
          </a:prstGeom>
          <a:noFill/>
          <a:ln/>
        </p:spPr>
        <p:txBody>
          <a:bodyPr wrap="none" lIns="0" tIns="0" rIns="0" bIns="0" rtlCol="0" anchor="ctr"/>
          <a:lstStyle/>
          <a:p>
            <a:pPr marL="0" indent="0" algn="l">
              <a:buNone/>
            </a:pPr>
            <a:r>
              <a:rPr lang="en-US" sz="1000" dirty="0">
                <a:solidFill>
                  <a:srgbClr val="4B5563"/>
                </a:solidFill>
                <a:latin typeface="Manrope" pitchFamily="34" charset="0"/>
                <a:ea typeface="Manrope" pitchFamily="34" charset="-122"/>
                <a:cs typeface="Manrope" pitchFamily="34" charset="-120"/>
              </a:rPr>
              <a:t>Client, chauffeur, livreur, partenaire, franchise, central</a:t>
            </a:r>
            <a:endParaRPr lang="en-US" sz="1000" dirty="0"/>
          </a:p>
        </p:txBody>
      </p:sp>
      <p:sp>
        <p:nvSpPr>
          <p:cNvPr id="26" name="Text 24"/>
          <p:cNvSpPr txBox="1"/>
          <p:nvPr/>
        </p:nvSpPr>
        <p:spPr>
          <a:xfrm>
            <a:off x="6305702" y="4562856"/>
            <a:ext cx="4819802" cy="133502"/>
          </a:xfrm>
          <a:prstGeom prst="rect">
            <a:avLst/>
          </a:prstGeom>
          <a:noFill/>
          <a:ln/>
        </p:spPr>
        <p:txBody>
          <a:bodyPr wrap="none" lIns="0" tIns="0" rIns="0" bIns="0" rtlCol="0" anchor="ctr"/>
          <a:lstStyle/>
          <a:p>
            <a:pPr marL="0" indent="0" algn="l">
              <a:buNone/>
            </a:pPr>
            <a:r>
              <a:rPr lang="en-US" sz="800" b="1" kern="0" spc="83" dirty="0">
                <a:solidFill>
                  <a:srgbClr val="6D28D9"/>
                </a:solidFill>
                <a:latin typeface="JetBrains Mono" pitchFamily="34" charset="0"/>
                <a:ea typeface="JetBrains Mono" pitchFamily="34" charset="-122"/>
                <a:cs typeface="JetBrains Mono" pitchFamily="34" charset="-120"/>
              </a:rPr>
              <a:t>04 · OBJECTIF</a:t>
            </a:r>
            <a:endParaRPr lang="en-US" sz="800" dirty="0"/>
          </a:p>
        </p:txBody>
      </p:sp>
      <p:sp>
        <p:nvSpPr>
          <p:cNvPr id="27" name="Text 25"/>
          <p:cNvSpPr txBox="1"/>
          <p:nvPr/>
        </p:nvSpPr>
        <p:spPr>
          <a:xfrm>
            <a:off x="6305702" y="4733849"/>
            <a:ext cx="4819802" cy="181051"/>
          </a:xfrm>
          <a:prstGeom prst="rect">
            <a:avLst/>
          </a:prstGeom>
          <a:noFill/>
          <a:ln/>
        </p:spPr>
        <p:txBody>
          <a:bodyPr wrap="none" lIns="0" tIns="0" rIns="0" bIns="0" rtlCol="0" anchor="ctr"/>
          <a:lstStyle/>
          <a:p>
            <a:pPr marL="0" indent="0" algn="l">
              <a:buNone/>
            </a:pPr>
            <a:r>
              <a:rPr lang="en-US" sz="1000" dirty="0">
                <a:solidFill>
                  <a:srgbClr val="4B5563"/>
                </a:solidFill>
                <a:latin typeface="Manrope" pitchFamily="34" charset="0"/>
                <a:ea typeface="Manrope" pitchFamily="34" charset="-122"/>
                <a:cs typeface="Manrope" pitchFamily="34" charset="-120"/>
              </a:rPr>
              <a:t>Hypothèse à vérifier en une phrase</a:t>
            </a:r>
            <a:endParaRPr lang="en-US" sz="1000" dirty="0"/>
          </a:p>
        </p:txBody>
      </p:sp>
      <p:sp>
        <p:nvSpPr>
          <p:cNvPr id="28" name="Text 26"/>
          <p:cNvSpPr txBox="1"/>
          <p:nvPr/>
        </p:nvSpPr>
        <p:spPr>
          <a:xfrm>
            <a:off x="1218895" y="5086807"/>
            <a:ext cx="4819802" cy="133502"/>
          </a:xfrm>
          <a:prstGeom prst="rect">
            <a:avLst/>
          </a:prstGeom>
          <a:noFill/>
          <a:ln/>
        </p:spPr>
        <p:txBody>
          <a:bodyPr wrap="none" lIns="0" tIns="0" rIns="0" bIns="0" rtlCol="0" anchor="ctr"/>
          <a:lstStyle/>
          <a:p>
            <a:pPr marL="0" indent="0" algn="l">
              <a:buNone/>
            </a:pPr>
            <a:r>
              <a:rPr lang="en-US" sz="800" b="1" kern="0" spc="83" dirty="0">
                <a:solidFill>
                  <a:srgbClr val="6D28D9"/>
                </a:solidFill>
                <a:latin typeface="JetBrains Mono" pitchFamily="34" charset="0"/>
                <a:ea typeface="JetBrains Mono" pitchFamily="34" charset="-122"/>
                <a:cs typeface="JetBrains Mono" pitchFamily="34" charset="-120"/>
              </a:rPr>
              <a:t>05 · PRÉCONDITIONS</a:t>
            </a:r>
            <a:endParaRPr lang="en-US" sz="800" dirty="0"/>
          </a:p>
        </p:txBody>
      </p:sp>
      <p:sp>
        <p:nvSpPr>
          <p:cNvPr id="29" name="Text 27"/>
          <p:cNvSpPr txBox="1"/>
          <p:nvPr/>
        </p:nvSpPr>
        <p:spPr>
          <a:xfrm>
            <a:off x="1218895" y="5257800"/>
            <a:ext cx="4819802" cy="181051"/>
          </a:xfrm>
          <a:prstGeom prst="rect">
            <a:avLst/>
          </a:prstGeom>
          <a:noFill/>
          <a:ln/>
        </p:spPr>
        <p:txBody>
          <a:bodyPr wrap="none" lIns="0" tIns="0" rIns="0" bIns="0" rtlCol="0" anchor="ctr"/>
          <a:lstStyle/>
          <a:p>
            <a:pPr marL="0" indent="0" algn="l">
              <a:buNone/>
            </a:pPr>
            <a:r>
              <a:rPr lang="en-US" sz="1000" dirty="0">
                <a:solidFill>
                  <a:srgbClr val="4B5563"/>
                </a:solidFill>
                <a:latin typeface="Manrope" pitchFamily="34" charset="0"/>
                <a:ea typeface="Manrope" pitchFamily="34" charset="-122"/>
                <a:cs typeface="Manrope" pitchFamily="34" charset="-120"/>
              </a:rPr>
              <a:t>État du système avant le test</a:t>
            </a:r>
            <a:endParaRPr lang="en-US" sz="1000" dirty="0"/>
          </a:p>
        </p:txBody>
      </p:sp>
      <p:sp>
        <p:nvSpPr>
          <p:cNvPr id="30" name="Text 28"/>
          <p:cNvSpPr txBox="1"/>
          <p:nvPr/>
        </p:nvSpPr>
        <p:spPr>
          <a:xfrm>
            <a:off x="6305702" y="5086807"/>
            <a:ext cx="4819802" cy="133502"/>
          </a:xfrm>
          <a:prstGeom prst="rect">
            <a:avLst/>
          </a:prstGeom>
          <a:noFill/>
          <a:ln/>
        </p:spPr>
        <p:txBody>
          <a:bodyPr wrap="none" lIns="0" tIns="0" rIns="0" bIns="0" rtlCol="0" anchor="ctr"/>
          <a:lstStyle/>
          <a:p>
            <a:pPr marL="0" indent="0" algn="l">
              <a:buNone/>
            </a:pPr>
            <a:r>
              <a:rPr lang="en-US" sz="800" b="1" kern="0" spc="83" dirty="0">
                <a:solidFill>
                  <a:srgbClr val="6D28D9"/>
                </a:solidFill>
                <a:latin typeface="JetBrains Mono" pitchFamily="34" charset="0"/>
                <a:ea typeface="JetBrains Mono" pitchFamily="34" charset="-122"/>
                <a:cs typeface="JetBrains Mono" pitchFamily="34" charset="-120"/>
              </a:rPr>
              <a:t>06 · ÉTAPES DE TEST</a:t>
            </a:r>
            <a:endParaRPr lang="en-US" sz="800" dirty="0"/>
          </a:p>
        </p:txBody>
      </p:sp>
      <p:sp>
        <p:nvSpPr>
          <p:cNvPr id="31" name="Text 29"/>
          <p:cNvSpPr txBox="1"/>
          <p:nvPr/>
        </p:nvSpPr>
        <p:spPr>
          <a:xfrm>
            <a:off x="6305702" y="5257800"/>
            <a:ext cx="4819802" cy="181051"/>
          </a:xfrm>
          <a:prstGeom prst="rect">
            <a:avLst/>
          </a:prstGeom>
          <a:noFill/>
          <a:ln/>
        </p:spPr>
        <p:txBody>
          <a:bodyPr wrap="none" lIns="0" tIns="0" rIns="0" bIns="0" rtlCol="0" anchor="ctr"/>
          <a:lstStyle/>
          <a:p>
            <a:pPr marL="0" indent="0" algn="l">
              <a:buNone/>
            </a:pPr>
            <a:r>
              <a:rPr lang="en-US" sz="1000" dirty="0">
                <a:solidFill>
                  <a:srgbClr val="4B5563"/>
                </a:solidFill>
                <a:latin typeface="Manrope" pitchFamily="34" charset="0"/>
                <a:ea typeface="Manrope" pitchFamily="34" charset="-122"/>
                <a:cs typeface="Manrope" pitchFamily="34" charset="-120"/>
              </a:rPr>
              <a:t>Séquence numérotée d'actions</a:t>
            </a:r>
            <a:endParaRPr lang="en-US" sz="1000" dirty="0"/>
          </a:p>
        </p:txBody>
      </p:sp>
      <p:sp>
        <p:nvSpPr>
          <p:cNvPr id="32" name="Text 30"/>
          <p:cNvSpPr txBox="1"/>
          <p:nvPr/>
        </p:nvSpPr>
        <p:spPr>
          <a:xfrm>
            <a:off x="1218895" y="5609844"/>
            <a:ext cx="4819802" cy="133502"/>
          </a:xfrm>
          <a:prstGeom prst="rect">
            <a:avLst/>
          </a:prstGeom>
          <a:noFill/>
          <a:ln/>
        </p:spPr>
        <p:txBody>
          <a:bodyPr wrap="none" lIns="0" tIns="0" rIns="0" bIns="0" rtlCol="0" anchor="ctr"/>
          <a:lstStyle/>
          <a:p>
            <a:pPr marL="0" indent="0" algn="l">
              <a:buNone/>
            </a:pPr>
            <a:r>
              <a:rPr lang="en-US" sz="800" b="1" kern="0" spc="83" dirty="0">
                <a:solidFill>
                  <a:srgbClr val="6D28D9"/>
                </a:solidFill>
                <a:latin typeface="JetBrains Mono" pitchFamily="34" charset="0"/>
                <a:ea typeface="JetBrains Mono" pitchFamily="34" charset="-122"/>
                <a:cs typeface="JetBrains Mono" pitchFamily="34" charset="-120"/>
              </a:rPr>
              <a:t>07 · RÉSULTATS ATTENDUS</a:t>
            </a:r>
            <a:endParaRPr lang="en-US" sz="800" dirty="0"/>
          </a:p>
        </p:txBody>
      </p:sp>
      <p:sp>
        <p:nvSpPr>
          <p:cNvPr id="33" name="Text 31"/>
          <p:cNvSpPr txBox="1"/>
          <p:nvPr/>
        </p:nvSpPr>
        <p:spPr>
          <a:xfrm>
            <a:off x="1218895" y="5781751"/>
            <a:ext cx="4819802" cy="181051"/>
          </a:xfrm>
          <a:prstGeom prst="rect">
            <a:avLst/>
          </a:prstGeom>
          <a:noFill/>
          <a:ln/>
        </p:spPr>
        <p:txBody>
          <a:bodyPr wrap="none" lIns="0" tIns="0" rIns="0" bIns="0" rtlCol="0" anchor="ctr"/>
          <a:lstStyle/>
          <a:p>
            <a:pPr marL="0" indent="0" algn="l">
              <a:buNone/>
            </a:pPr>
            <a:r>
              <a:rPr lang="en-US" sz="1000" dirty="0">
                <a:solidFill>
                  <a:srgbClr val="4B5563"/>
                </a:solidFill>
                <a:latin typeface="Manrope" pitchFamily="34" charset="0"/>
                <a:ea typeface="Manrope" pitchFamily="34" charset="-122"/>
                <a:cs typeface="Manrope" pitchFamily="34" charset="-120"/>
              </a:rPr>
              <a:t>Sortie observable du système</a:t>
            </a:r>
            <a:endParaRPr lang="en-US" sz="1000" dirty="0"/>
          </a:p>
        </p:txBody>
      </p:sp>
      <p:sp>
        <p:nvSpPr>
          <p:cNvPr id="34" name="Text 32"/>
          <p:cNvSpPr txBox="1"/>
          <p:nvPr/>
        </p:nvSpPr>
        <p:spPr>
          <a:xfrm>
            <a:off x="6305702" y="5609844"/>
            <a:ext cx="4819802" cy="133502"/>
          </a:xfrm>
          <a:prstGeom prst="rect">
            <a:avLst/>
          </a:prstGeom>
          <a:noFill/>
          <a:ln/>
        </p:spPr>
        <p:txBody>
          <a:bodyPr wrap="none" lIns="0" tIns="0" rIns="0" bIns="0" rtlCol="0" anchor="ctr"/>
          <a:lstStyle/>
          <a:p>
            <a:pPr marL="0" indent="0" algn="l">
              <a:buNone/>
            </a:pPr>
            <a:r>
              <a:rPr lang="en-US" sz="800" b="1" kern="0" spc="83" dirty="0">
                <a:solidFill>
                  <a:srgbClr val="6D28D9"/>
                </a:solidFill>
                <a:latin typeface="JetBrains Mono" pitchFamily="34" charset="0"/>
                <a:ea typeface="JetBrains Mono" pitchFamily="34" charset="-122"/>
                <a:cs typeface="JetBrains Mono" pitchFamily="34" charset="-120"/>
              </a:rPr>
              <a:t>08 · CRITÈRES D'ACCEPTATION</a:t>
            </a:r>
            <a:endParaRPr lang="en-US" sz="800" dirty="0"/>
          </a:p>
        </p:txBody>
      </p:sp>
      <p:sp>
        <p:nvSpPr>
          <p:cNvPr id="35" name="Text 33"/>
          <p:cNvSpPr txBox="1"/>
          <p:nvPr/>
        </p:nvSpPr>
        <p:spPr>
          <a:xfrm>
            <a:off x="6305702" y="5781751"/>
            <a:ext cx="4819802" cy="181051"/>
          </a:xfrm>
          <a:prstGeom prst="rect">
            <a:avLst/>
          </a:prstGeom>
          <a:noFill/>
          <a:ln/>
        </p:spPr>
        <p:txBody>
          <a:bodyPr wrap="none" lIns="0" tIns="0" rIns="0" bIns="0" rtlCol="0" anchor="ctr"/>
          <a:lstStyle/>
          <a:p>
            <a:pPr marL="0" indent="0" algn="l">
              <a:buNone/>
            </a:pPr>
            <a:r>
              <a:rPr lang="en-US" sz="1000" dirty="0">
                <a:solidFill>
                  <a:srgbClr val="4B5563"/>
                </a:solidFill>
                <a:latin typeface="Manrope" pitchFamily="34" charset="0"/>
                <a:ea typeface="Manrope" pitchFamily="34" charset="-122"/>
                <a:cs typeface="Manrope" pitchFamily="34" charset="-120"/>
              </a:rPr>
              <a:t>Conditions à remplir pour valider</a:t>
            </a:r>
            <a:endParaRPr lang="en-US" sz="1000" dirty="0"/>
          </a:p>
        </p:txBody>
      </p:sp>
      <p:sp>
        <p:nvSpPr>
          <p:cNvPr id="36" name="Text 34"/>
          <p:cNvSpPr txBox="1"/>
          <p:nvPr/>
        </p:nvSpPr>
        <p:spPr>
          <a:xfrm>
            <a:off x="1218895" y="6133795"/>
            <a:ext cx="4819802" cy="133502"/>
          </a:xfrm>
          <a:prstGeom prst="rect">
            <a:avLst/>
          </a:prstGeom>
          <a:noFill/>
          <a:ln/>
        </p:spPr>
        <p:txBody>
          <a:bodyPr wrap="none" lIns="0" tIns="0" rIns="0" bIns="0" rtlCol="0" anchor="ctr"/>
          <a:lstStyle/>
          <a:p>
            <a:pPr marL="0" indent="0" algn="l">
              <a:buNone/>
            </a:pPr>
            <a:r>
              <a:rPr lang="en-US" sz="800" b="1" kern="0" spc="83" dirty="0">
                <a:solidFill>
                  <a:srgbClr val="6D28D9"/>
                </a:solidFill>
                <a:latin typeface="JetBrains Mono" pitchFamily="34" charset="0"/>
                <a:ea typeface="JetBrains Mono" pitchFamily="34" charset="-122"/>
                <a:cs typeface="JetBrains Mono" pitchFamily="34" charset="-120"/>
              </a:rPr>
              <a:t>09 · CRITICITÉ</a:t>
            </a:r>
            <a:endParaRPr lang="en-US" sz="800" dirty="0"/>
          </a:p>
        </p:txBody>
      </p:sp>
      <p:sp>
        <p:nvSpPr>
          <p:cNvPr id="37" name="Text 35"/>
          <p:cNvSpPr txBox="1"/>
          <p:nvPr/>
        </p:nvSpPr>
        <p:spPr>
          <a:xfrm>
            <a:off x="1218895" y="6305702"/>
            <a:ext cx="4819802" cy="181051"/>
          </a:xfrm>
          <a:prstGeom prst="rect">
            <a:avLst/>
          </a:prstGeom>
          <a:noFill/>
          <a:ln/>
        </p:spPr>
        <p:txBody>
          <a:bodyPr wrap="none" lIns="0" tIns="0" rIns="0" bIns="0" rtlCol="0" anchor="ctr"/>
          <a:lstStyle/>
          <a:p>
            <a:pPr marL="0" indent="0" algn="l">
              <a:buNone/>
            </a:pPr>
            <a:r>
              <a:rPr lang="en-US" sz="1000" dirty="0">
                <a:solidFill>
                  <a:srgbClr val="4B5563"/>
                </a:solidFill>
                <a:latin typeface="Manrope" pitchFamily="34" charset="0"/>
                <a:ea typeface="Manrope" pitchFamily="34" charset="-122"/>
                <a:cs typeface="Manrope" pitchFamily="34" charset="-120"/>
              </a:rPr>
              <a:t>Critique · Majeure · Moyenne · Mineure</a:t>
            </a:r>
            <a:endParaRPr lang="en-US" sz="1000" dirty="0"/>
          </a:p>
        </p:txBody>
      </p:sp>
      <p:sp>
        <p:nvSpPr>
          <p:cNvPr id="38" name="Text 36"/>
          <p:cNvSpPr txBox="1"/>
          <p:nvPr/>
        </p:nvSpPr>
        <p:spPr>
          <a:xfrm>
            <a:off x="6305702" y="6133795"/>
            <a:ext cx="4819802" cy="133502"/>
          </a:xfrm>
          <a:prstGeom prst="rect">
            <a:avLst/>
          </a:prstGeom>
          <a:noFill/>
          <a:ln/>
        </p:spPr>
        <p:txBody>
          <a:bodyPr wrap="none" lIns="0" tIns="0" rIns="0" bIns="0" rtlCol="0" anchor="ctr"/>
          <a:lstStyle/>
          <a:p>
            <a:pPr marL="0" indent="0" algn="l">
              <a:buNone/>
            </a:pPr>
            <a:r>
              <a:rPr lang="en-US" sz="800" b="1" kern="0" spc="83" dirty="0">
                <a:solidFill>
                  <a:srgbClr val="6D28D9"/>
                </a:solidFill>
                <a:latin typeface="JetBrains Mono" pitchFamily="34" charset="0"/>
                <a:ea typeface="JetBrains Mono" pitchFamily="34" charset="-122"/>
                <a:cs typeface="JetBrains Mono" pitchFamily="34" charset="-120"/>
              </a:rPr>
              <a:t>10 · STATUT</a:t>
            </a:r>
            <a:endParaRPr lang="en-US" sz="800" dirty="0"/>
          </a:p>
        </p:txBody>
      </p:sp>
      <p:sp>
        <p:nvSpPr>
          <p:cNvPr id="39" name="Text 37"/>
          <p:cNvSpPr txBox="1"/>
          <p:nvPr/>
        </p:nvSpPr>
        <p:spPr>
          <a:xfrm>
            <a:off x="6305702" y="6305702"/>
            <a:ext cx="4819802" cy="181051"/>
          </a:xfrm>
          <a:prstGeom prst="rect">
            <a:avLst/>
          </a:prstGeom>
          <a:noFill/>
          <a:ln/>
        </p:spPr>
        <p:txBody>
          <a:bodyPr wrap="none" lIns="0" tIns="0" rIns="0" bIns="0" rtlCol="0" anchor="ctr"/>
          <a:lstStyle/>
          <a:p>
            <a:pPr marL="0" indent="0" algn="l">
              <a:buNone/>
            </a:pPr>
            <a:r>
              <a:rPr lang="en-US" sz="1000" dirty="0">
                <a:solidFill>
                  <a:srgbClr val="4B5563"/>
                </a:solidFill>
                <a:latin typeface="Manrope" pitchFamily="34" charset="0"/>
                <a:ea typeface="Manrope" pitchFamily="34" charset="-122"/>
                <a:cs typeface="Manrope" pitchFamily="34" charset="-120"/>
              </a:rPr>
              <a:t>À tester · En cours · Validé · KO</a:t>
            </a:r>
            <a:endParaRPr lang="en-US" sz="1000" dirty="0"/>
          </a:p>
        </p:txBody>
      </p:sp>
      <p:sp>
        <p:nvSpPr>
          <p:cNvPr id="40" name="Text 38"/>
          <p:cNvSpPr txBox="1"/>
          <p:nvPr/>
        </p:nvSpPr>
        <p:spPr>
          <a:xfrm>
            <a:off x="1218895" y="6657746"/>
            <a:ext cx="4819802" cy="133502"/>
          </a:xfrm>
          <a:prstGeom prst="rect">
            <a:avLst/>
          </a:prstGeom>
          <a:noFill/>
          <a:ln/>
        </p:spPr>
        <p:txBody>
          <a:bodyPr wrap="none" lIns="0" tIns="0" rIns="0" bIns="0" rtlCol="0" anchor="ctr"/>
          <a:lstStyle/>
          <a:p>
            <a:pPr marL="0" indent="0" algn="l">
              <a:buNone/>
            </a:pPr>
            <a:r>
              <a:rPr lang="en-US" sz="800" b="1" kern="0" spc="83" dirty="0">
                <a:solidFill>
                  <a:srgbClr val="6D28D9"/>
                </a:solidFill>
                <a:latin typeface="JetBrains Mono" pitchFamily="34" charset="0"/>
                <a:ea typeface="JetBrains Mono" pitchFamily="34" charset="-122"/>
                <a:cs typeface="JetBrains Mono" pitchFamily="34" charset="-120"/>
              </a:rPr>
              <a:t>11 · OBSERVATIONS</a:t>
            </a:r>
            <a:endParaRPr lang="en-US" sz="800" dirty="0"/>
          </a:p>
        </p:txBody>
      </p:sp>
      <p:sp>
        <p:nvSpPr>
          <p:cNvPr id="41" name="Text 39"/>
          <p:cNvSpPr txBox="1"/>
          <p:nvPr/>
        </p:nvSpPr>
        <p:spPr>
          <a:xfrm>
            <a:off x="1218895" y="6829654"/>
            <a:ext cx="4819802" cy="181051"/>
          </a:xfrm>
          <a:prstGeom prst="rect">
            <a:avLst/>
          </a:prstGeom>
          <a:noFill/>
          <a:ln/>
        </p:spPr>
        <p:txBody>
          <a:bodyPr wrap="none" lIns="0" tIns="0" rIns="0" bIns="0" rtlCol="0" anchor="ctr"/>
          <a:lstStyle/>
          <a:p>
            <a:pPr marL="0" indent="0" algn="l">
              <a:buNone/>
            </a:pPr>
            <a:r>
              <a:rPr lang="en-US" sz="1000" dirty="0">
                <a:solidFill>
                  <a:srgbClr val="4B5563"/>
                </a:solidFill>
                <a:latin typeface="Manrope" pitchFamily="34" charset="0"/>
                <a:ea typeface="Manrope" pitchFamily="34" charset="-122"/>
                <a:cs typeface="Manrope" pitchFamily="34" charset="-120"/>
              </a:rPr>
              <a:t>Notes du testeur, contexte</a:t>
            </a:r>
            <a:endParaRPr lang="en-US" sz="1000" dirty="0"/>
          </a:p>
        </p:txBody>
      </p:sp>
      <p:sp>
        <p:nvSpPr>
          <p:cNvPr id="42" name="Text 40"/>
          <p:cNvSpPr txBox="1"/>
          <p:nvPr/>
        </p:nvSpPr>
        <p:spPr>
          <a:xfrm>
            <a:off x="6305702" y="6657746"/>
            <a:ext cx="4819802" cy="133502"/>
          </a:xfrm>
          <a:prstGeom prst="rect">
            <a:avLst/>
          </a:prstGeom>
          <a:noFill/>
          <a:ln/>
        </p:spPr>
        <p:txBody>
          <a:bodyPr wrap="none" lIns="0" tIns="0" rIns="0" bIns="0" rtlCol="0" anchor="ctr"/>
          <a:lstStyle/>
          <a:p>
            <a:pPr marL="0" indent="0" algn="l">
              <a:buNone/>
            </a:pPr>
            <a:r>
              <a:rPr lang="en-US" sz="800" b="1" kern="0" spc="83" dirty="0">
                <a:solidFill>
                  <a:srgbClr val="6D28D9"/>
                </a:solidFill>
                <a:latin typeface="JetBrains Mono" pitchFamily="34" charset="0"/>
                <a:ea typeface="JetBrains Mono" pitchFamily="34" charset="-122"/>
                <a:cs typeface="JetBrains Mono" pitchFamily="34" charset="-120"/>
              </a:rPr>
              <a:t>12 · ANOMALIES DÉTECTÉES</a:t>
            </a:r>
            <a:endParaRPr lang="en-US" sz="800" dirty="0"/>
          </a:p>
        </p:txBody>
      </p:sp>
      <p:sp>
        <p:nvSpPr>
          <p:cNvPr id="43" name="Text 41"/>
          <p:cNvSpPr txBox="1"/>
          <p:nvPr/>
        </p:nvSpPr>
        <p:spPr>
          <a:xfrm>
            <a:off x="6305702" y="6829654"/>
            <a:ext cx="4819802" cy="181051"/>
          </a:xfrm>
          <a:prstGeom prst="rect">
            <a:avLst/>
          </a:prstGeom>
          <a:noFill/>
          <a:ln/>
        </p:spPr>
        <p:txBody>
          <a:bodyPr wrap="none" lIns="0" tIns="0" rIns="0" bIns="0" rtlCol="0" anchor="ctr"/>
          <a:lstStyle/>
          <a:p>
            <a:pPr marL="0" indent="0" algn="l">
              <a:buNone/>
            </a:pPr>
            <a:r>
              <a:rPr lang="en-US" sz="1000" dirty="0">
                <a:solidFill>
                  <a:srgbClr val="4B5563"/>
                </a:solidFill>
                <a:latin typeface="Manrope" pitchFamily="34" charset="0"/>
                <a:ea typeface="Manrope" pitchFamily="34" charset="-122"/>
                <a:cs typeface="Manrope" pitchFamily="34" charset="-120"/>
              </a:rPr>
              <a:t>Référence dans le registre</a:t>
            </a:r>
            <a:endParaRPr lang="en-US" sz="1000" dirty="0"/>
          </a:p>
        </p:txBody>
      </p:sp>
      <p:sp>
        <p:nvSpPr>
          <p:cNvPr id="44" name="Shape 42"/>
          <p:cNvSpPr/>
          <p:nvPr/>
        </p:nvSpPr>
        <p:spPr>
          <a:xfrm>
            <a:off x="11697005" y="3143707"/>
            <a:ext cx="5715000" cy="6286500"/>
          </a:xfrm>
          <a:prstGeom prst="roundRect">
            <a:avLst>
              <a:gd name="adj" fmla="val 2336"/>
            </a:avLst>
          </a:prstGeom>
          <a:solidFill>
            <a:srgbClr val="F5F3FF"/>
          </a:solidFill>
          <a:ln w="12700">
            <a:solidFill>
              <a:srgbClr val="DDD6FE"/>
            </a:solidFill>
            <a:prstDash val="solid"/>
          </a:ln>
        </p:spPr>
        <p:txBody>
          <a:bodyPr/>
          <a:lstStyle/>
          <a:p>
            <a:endParaRPr lang="fr-CI"/>
          </a:p>
        </p:txBody>
      </p:sp>
      <p:sp>
        <p:nvSpPr>
          <p:cNvPr id="45" name="Text 43"/>
          <p:cNvSpPr txBox="1"/>
          <p:nvPr/>
        </p:nvSpPr>
        <p:spPr>
          <a:xfrm>
            <a:off x="12001500" y="3390595"/>
            <a:ext cx="5143500" cy="238658"/>
          </a:xfrm>
          <a:prstGeom prst="rect">
            <a:avLst/>
          </a:prstGeom>
          <a:noFill/>
          <a:ln/>
        </p:spPr>
        <p:txBody>
          <a:bodyPr wrap="none" lIns="0" tIns="0" rIns="0" bIns="0" rtlCol="0" anchor="ctr"/>
          <a:lstStyle/>
          <a:p>
            <a:pPr marL="0" indent="0" algn="l">
              <a:buNone/>
            </a:pPr>
            <a:r>
              <a:rPr lang="en-US" sz="1500" b="1" dirty="0">
                <a:solidFill>
                  <a:srgbClr val="1F2937"/>
                </a:solidFill>
                <a:latin typeface="Manrope" pitchFamily="34" charset="0"/>
                <a:ea typeface="Manrope" pitchFamily="34" charset="-122"/>
                <a:cs typeface="Manrope" pitchFamily="34" charset="-120"/>
              </a:rPr>
              <a:t>29 use cases couverts</a:t>
            </a:r>
            <a:endParaRPr lang="en-US" sz="1500" dirty="0"/>
          </a:p>
        </p:txBody>
      </p:sp>
      <p:sp>
        <p:nvSpPr>
          <p:cNvPr id="46" name="Shape 44"/>
          <p:cNvSpPr/>
          <p:nvPr/>
        </p:nvSpPr>
        <p:spPr>
          <a:xfrm>
            <a:off x="12001500" y="3762756"/>
            <a:ext cx="5143500" cy="448056"/>
          </a:xfrm>
          <a:prstGeom prst="roundRect">
            <a:avLst>
              <a:gd name="adj" fmla="val 16939"/>
            </a:avLst>
          </a:prstGeom>
          <a:solidFill>
            <a:srgbClr val="FFFFFF"/>
          </a:solidFill>
          <a:ln w="12700">
            <a:solidFill>
              <a:srgbClr val="FFFFFF">
                <a:alpha val="0"/>
              </a:srgbClr>
            </a:solidFill>
            <a:prstDash val="solid"/>
          </a:ln>
        </p:spPr>
        <p:txBody>
          <a:bodyPr/>
          <a:lstStyle/>
          <a:p>
            <a:endParaRPr lang="fr-CI"/>
          </a:p>
        </p:txBody>
      </p:sp>
      <p:sp>
        <p:nvSpPr>
          <p:cNvPr id="47" name="Text 45"/>
          <p:cNvSpPr txBox="1"/>
          <p:nvPr/>
        </p:nvSpPr>
        <p:spPr>
          <a:xfrm>
            <a:off x="12115800" y="3838651"/>
            <a:ext cx="790956"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UC-01 → UC-03</a:t>
            </a:r>
            <a:endParaRPr lang="en-US" sz="800" dirty="0"/>
          </a:p>
        </p:txBody>
      </p:sp>
      <p:sp>
        <p:nvSpPr>
          <p:cNvPr id="48" name="Text 46"/>
          <p:cNvSpPr txBox="1"/>
          <p:nvPr/>
        </p:nvSpPr>
        <p:spPr>
          <a:xfrm>
            <a:off x="12115800" y="3962095"/>
            <a:ext cx="1040587" cy="171907"/>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Transversaux</a:t>
            </a:r>
            <a:endParaRPr lang="en-US" sz="900" dirty="0"/>
          </a:p>
        </p:txBody>
      </p:sp>
      <p:sp>
        <p:nvSpPr>
          <p:cNvPr id="49" name="Shape 47"/>
          <p:cNvSpPr/>
          <p:nvPr/>
        </p:nvSpPr>
        <p:spPr>
          <a:xfrm>
            <a:off x="16728948" y="3843223"/>
            <a:ext cx="304495"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50" name="Text 48"/>
          <p:cNvSpPr/>
          <p:nvPr/>
        </p:nvSpPr>
        <p:spPr>
          <a:xfrm>
            <a:off x="16728948" y="3843223"/>
            <a:ext cx="305410"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3</a:t>
            </a:r>
            <a:endParaRPr lang="en-US" sz="900" dirty="0"/>
          </a:p>
        </p:txBody>
      </p:sp>
      <p:sp>
        <p:nvSpPr>
          <p:cNvPr id="51" name="Shape 49"/>
          <p:cNvSpPr/>
          <p:nvPr/>
        </p:nvSpPr>
        <p:spPr>
          <a:xfrm>
            <a:off x="12001500" y="4286707"/>
            <a:ext cx="5143500" cy="448056"/>
          </a:xfrm>
          <a:prstGeom prst="roundRect">
            <a:avLst>
              <a:gd name="adj" fmla="val 16939"/>
            </a:avLst>
          </a:prstGeom>
          <a:solidFill>
            <a:srgbClr val="FFFFFF"/>
          </a:solidFill>
          <a:ln w="12700">
            <a:solidFill>
              <a:srgbClr val="FFFFFF">
                <a:alpha val="0"/>
              </a:srgbClr>
            </a:solidFill>
            <a:prstDash val="solid"/>
          </a:ln>
        </p:spPr>
        <p:txBody>
          <a:bodyPr/>
          <a:lstStyle/>
          <a:p>
            <a:endParaRPr lang="fr-CI"/>
          </a:p>
        </p:txBody>
      </p:sp>
      <p:sp>
        <p:nvSpPr>
          <p:cNvPr id="52" name="Text 50"/>
          <p:cNvSpPr txBox="1"/>
          <p:nvPr/>
        </p:nvSpPr>
        <p:spPr>
          <a:xfrm>
            <a:off x="12115800" y="4362602"/>
            <a:ext cx="924458"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UC-T01 → UC-T05</a:t>
            </a:r>
            <a:endParaRPr lang="en-US" sz="800" dirty="0"/>
          </a:p>
        </p:txBody>
      </p:sp>
      <p:sp>
        <p:nvSpPr>
          <p:cNvPr id="53" name="Text 51"/>
          <p:cNvSpPr txBox="1"/>
          <p:nvPr/>
        </p:nvSpPr>
        <p:spPr>
          <a:xfrm>
            <a:off x="12115800" y="4486046"/>
            <a:ext cx="1290218" cy="171907"/>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Transport / VTC</a:t>
            </a:r>
            <a:endParaRPr lang="en-US" sz="900" dirty="0"/>
          </a:p>
        </p:txBody>
      </p:sp>
      <p:sp>
        <p:nvSpPr>
          <p:cNvPr id="54" name="Shape 52"/>
          <p:cNvSpPr/>
          <p:nvPr/>
        </p:nvSpPr>
        <p:spPr>
          <a:xfrm>
            <a:off x="16727119" y="4367174"/>
            <a:ext cx="304495"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55" name="Text 53"/>
          <p:cNvSpPr/>
          <p:nvPr/>
        </p:nvSpPr>
        <p:spPr>
          <a:xfrm>
            <a:off x="16727119" y="4367174"/>
            <a:ext cx="305410"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5</a:t>
            </a:r>
            <a:endParaRPr lang="en-US" sz="900" dirty="0"/>
          </a:p>
        </p:txBody>
      </p:sp>
      <p:sp>
        <p:nvSpPr>
          <p:cNvPr id="56" name="Shape 54"/>
          <p:cNvSpPr/>
          <p:nvPr/>
        </p:nvSpPr>
        <p:spPr>
          <a:xfrm>
            <a:off x="12001500" y="4809744"/>
            <a:ext cx="5143500" cy="448056"/>
          </a:xfrm>
          <a:prstGeom prst="roundRect">
            <a:avLst>
              <a:gd name="adj" fmla="val 16939"/>
            </a:avLst>
          </a:prstGeom>
          <a:solidFill>
            <a:srgbClr val="FFFFFF"/>
          </a:solidFill>
          <a:ln w="12700">
            <a:solidFill>
              <a:srgbClr val="FFFFFF">
                <a:alpha val="0"/>
              </a:srgbClr>
            </a:solidFill>
            <a:prstDash val="solid"/>
          </a:ln>
        </p:spPr>
        <p:txBody>
          <a:bodyPr/>
          <a:lstStyle/>
          <a:p>
            <a:endParaRPr lang="fr-CI"/>
          </a:p>
        </p:txBody>
      </p:sp>
      <p:sp>
        <p:nvSpPr>
          <p:cNvPr id="57" name="Text 55"/>
          <p:cNvSpPr txBox="1"/>
          <p:nvPr/>
        </p:nvSpPr>
        <p:spPr>
          <a:xfrm>
            <a:off x="12115800" y="4886554"/>
            <a:ext cx="896112"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UC-L01 → UC-L04</a:t>
            </a:r>
            <a:endParaRPr lang="en-US" sz="800" dirty="0"/>
          </a:p>
        </p:txBody>
      </p:sp>
      <p:sp>
        <p:nvSpPr>
          <p:cNvPr id="58" name="Text 56"/>
          <p:cNvSpPr txBox="1"/>
          <p:nvPr/>
        </p:nvSpPr>
        <p:spPr>
          <a:xfrm>
            <a:off x="12115800" y="5009998"/>
            <a:ext cx="896112" cy="171907"/>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Livraison</a:t>
            </a:r>
            <a:endParaRPr lang="en-US" sz="900" dirty="0"/>
          </a:p>
        </p:txBody>
      </p:sp>
      <p:sp>
        <p:nvSpPr>
          <p:cNvPr id="59" name="Shape 57"/>
          <p:cNvSpPr/>
          <p:nvPr/>
        </p:nvSpPr>
        <p:spPr>
          <a:xfrm>
            <a:off x="16725290" y="4891126"/>
            <a:ext cx="314554"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60" name="Text 58"/>
          <p:cNvSpPr/>
          <p:nvPr/>
        </p:nvSpPr>
        <p:spPr>
          <a:xfrm>
            <a:off x="16725290" y="4891126"/>
            <a:ext cx="314554"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4</a:t>
            </a:r>
            <a:endParaRPr lang="en-US" sz="900" dirty="0"/>
          </a:p>
        </p:txBody>
      </p:sp>
      <p:sp>
        <p:nvSpPr>
          <p:cNvPr id="61" name="Shape 59"/>
          <p:cNvSpPr/>
          <p:nvPr/>
        </p:nvSpPr>
        <p:spPr>
          <a:xfrm>
            <a:off x="12001500" y="5333695"/>
            <a:ext cx="5143500" cy="448056"/>
          </a:xfrm>
          <a:prstGeom prst="roundRect">
            <a:avLst>
              <a:gd name="adj" fmla="val 16939"/>
            </a:avLst>
          </a:prstGeom>
          <a:solidFill>
            <a:srgbClr val="FFFFFF"/>
          </a:solidFill>
          <a:ln w="12700">
            <a:solidFill>
              <a:srgbClr val="FFFFFF">
                <a:alpha val="0"/>
              </a:srgbClr>
            </a:solidFill>
            <a:prstDash val="solid"/>
          </a:ln>
        </p:spPr>
        <p:txBody>
          <a:bodyPr/>
          <a:lstStyle/>
          <a:p>
            <a:endParaRPr lang="fr-CI"/>
          </a:p>
        </p:txBody>
      </p:sp>
      <p:sp>
        <p:nvSpPr>
          <p:cNvPr id="62" name="Text 60"/>
          <p:cNvSpPr txBox="1"/>
          <p:nvPr/>
        </p:nvSpPr>
        <p:spPr>
          <a:xfrm>
            <a:off x="12115800" y="5410505"/>
            <a:ext cx="896112"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UC-F01 → UC-F02</a:t>
            </a:r>
            <a:endParaRPr lang="en-US" sz="800" dirty="0"/>
          </a:p>
        </p:txBody>
      </p:sp>
      <p:sp>
        <p:nvSpPr>
          <p:cNvPr id="63" name="Text 61"/>
          <p:cNvSpPr txBox="1"/>
          <p:nvPr/>
        </p:nvSpPr>
        <p:spPr>
          <a:xfrm>
            <a:off x="12115800" y="5533949"/>
            <a:ext cx="896112" cy="171907"/>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Fret urbain</a:t>
            </a:r>
            <a:endParaRPr lang="en-US" sz="900" dirty="0"/>
          </a:p>
        </p:txBody>
      </p:sp>
      <p:sp>
        <p:nvSpPr>
          <p:cNvPr id="64" name="Shape 62"/>
          <p:cNvSpPr/>
          <p:nvPr/>
        </p:nvSpPr>
        <p:spPr>
          <a:xfrm>
            <a:off x="16727119" y="5415077"/>
            <a:ext cx="304495"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65" name="Text 63"/>
          <p:cNvSpPr/>
          <p:nvPr/>
        </p:nvSpPr>
        <p:spPr>
          <a:xfrm>
            <a:off x="16727119" y="5415077"/>
            <a:ext cx="305410"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2</a:t>
            </a:r>
            <a:endParaRPr lang="en-US" sz="900" dirty="0"/>
          </a:p>
        </p:txBody>
      </p:sp>
      <p:sp>
        <p:nvSpPr>
          <p:cNvPr id="66" name="Shape 64"/>
          <p:cNvSpPr/>
          <p:nvPr/>
        </p:nvSpPr>
        <p:spPr>
          <a:xfrm>
            <a:off x="12001500" y="5857646"/>
            <a:ext cx="5143500" cy="448056"/>
          </a:xfrm>
          <a:prstGeom prst="roundRect">
            <a:avLst>
              <a:gd name="adj" fmla="val 16939"/>
            </a:avLst>
          </a:prstGeom>
          <a:solidFill>
            <a:srgbClr val="FFFFFF"/>
          </a:solidFill>
          <a:ln w="12700">
            <a:solidFill>
              <a:srgbClr val="FFFFFF">
                <a:alpha val="0"/>
              </a:srgbClr>
            </a:solidFill>
            <a:prstDash val="solid"/>
          </a:ln>
        </p:spPr>
        <p:txBody>
          <a:bodyPr/>
          <a:lstStyle/>
          <a:p>
            <a:endParaRPr lang="fr-CI"/>
          </a:p>
        </p:txBody>
      </p:sp>
      <p:sp>
        <p:nvSpPr>
          <p:cNvPr id="67" name="Text 65"/>
          <p:cNvSpPr txBox="1"/>
          <p:nvPr/>
        </p:nvSpPr>
        <p:spPr>
          <a:xfrm>
            <a:off x="12115800" y="5934456"/>
            <a:ext cx="1010412"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UC-LO01 → UC-LO02</a:t>
            </a:r>
            <a:endParaRPr lang="en-US" sz="800" dirty="0"/>
          </a:p>
        </p:txBody>
      </p:sp>
      <p:sp>
        <p:nvSpPr>
          <p:cNvPr id="68" name="Text 66"/>
          <p:cNvSpPr txBox="1"/>
          <p:nvPr/>
        </p:nvSpPr>
        <p:spPr>
          <a:xfrm>
            <a:off x="12115800" y="6057900"/>
            <a:ext cx="1010412" cy="171907"/>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Location</a:t>
            </a:r>
            <a:endParaRPr lang="en-US" sz="900" dirty="0"/>
          </a:p>
        </p:txBody>
      </p:sp>
      <p:sp>
        <p:nvSpPr>
          <p:cNvPr id="69" name="Shape 67"/>
          <p:cNvSpPr/>
          <p:nvPr/>
        </p:nvSpPr>
        <p:spPr>
          <a:xfrm>
            <a:off x="16727119" y="5939028"/>
            <a:ext cx="304495"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70" name="Text 68"/>
          <p:cNvSpPr/>
          <p:nvPr/>
        </p:nvSpPr>
        <p:spPr>
          <a:xfrm>
            <a:off x="16727119" y="5939028"/>
            <a:ext cx="305410"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2</a:t>
            </a:r>
            <a:endParaRPr lang="en-US" sz="900" dirty="0"/>
          </a:p>
        </p:txBody>
      </p:sp>
      <p:sp>
        <p:nvSpPr>
          <p:cNvPr id="71" name="Shape 69"/>
          <p:cNvSpPr/>
          <p:nvPr/>
        </p:nvSpPr>
        <p:spPr>
          <a:xfrm>
            <a:off x="12001500" y="6381598"/>
            <a:ext cx="5143500" cy="448056"/>
          </a:xfrm>
          <a:prstGeom prst="roundRect">
            <a:avLst>
              <a:gd name="adj" fmla="val 16939"/>
            </a:avLst>
          </a:prstGeom>
          <a:solidFill>
            <a:srgbClr val="1F2937"/>
          </a:solidFill>
          <a:ln w="12700">
            <a:solidFill>
              <a:srgbClr val="FFFFFF">
                <a:alpha val="0"/>
              </a:srgbClr>
            </a:solidFill>
            <a:prstDash val="solid"/>
          </a:ln>
        </p:spPr>
        <p:txBody>
          <a:bodyPr/>
          <a:lstStyle/>
          <a:p>
            <a:endParaRPr lang="fr-CI"/>
          </a:p>
        </p:txBody>
      </p:sp>
      <p:sp>
        <p:nvSpPr>
          <p:cNvPr id="72" name="Text 70"/>
          <p:cNvSpPr txBox="1"/>
          <p:nvPr/>
        </p:nvSpPr>
        <p:spPr>
          <a:xfrm>
            <a:off x="12115800" y="6458407"/>
            <a:ext cx="1124712" cy="124358"/>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UC-FIN01 → UC-FIN04</a:t>
            </a:r>
            <a:endParaRPr lang="en-US" sz="800" dirty="0"/>
          </a:p>
        </p:txBody>
      </p:sp>
      <p:sp>
        <p:nvSpPr>
          <p:cNvPr id="73" name="Text 71"/>
          <p:cNvSpPr txBox="1"/>
          <p:nvPr/>
        </p:nvSpPr>
        <p:spPr>
          <a:xfrm>
            <a:off x="12115800" y="6581851"/>
            <a:ext cx="1397203" cy="171907"/>
          </a:xfrm>
          <a:prstGeom prst="rect">
            <a:avLst/>
          </a:prstGeom>
          <a:noFill/>
          <a:ln/>
        </p:spPr>
        <p:txBody>
          <a:bodyPr wrap="non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Finance · Wallet</a:t>
            </a:r>
            <a:endParaRPr lang="en-US" sz="900" dirty="0"/>
          </a:p>
        </p:txBody>
      </p:sp>
      <p:sp>
        <p:nvSpPr>
          <p:cNvPr id="74" name="Shape 72"/>
          <p:cNvSpPr/>
          <p:nvPr/>
        </p:nvSpPr>
        <p:spPr>
          <a:xfrm>
            <a:off x="16725290" y="6462979"/>
            <a:ext cx="314554" cy="286207"/>
          </a:xfrm>
          <a:prstGeom prst="roundRect">
            <a:avLst>
              <a:gd name="adj" fmla="val 49840"/>
            </a:avLst>
          </a:prstGeom>
          <a:solidFill>
            <a:srgbClr val="A78BFA"/>
          </a:solidFill>
          <a:ln w="12700">
            <a:solidFill>
              <a:srgbClr val="FFFFFF">
                <a:alpha val="0"/>
              </a:srgbClr>
            </a:solidFill>
            <a:prstDash val="solid"/>
          </a:ln>
        </p:spPr>
        <p:txBody>
          <a:bodyPr/>
          <a:lstStyle/>
          <a:p>
            <a:endParaRPr lang="fr-CI"/>
          </a:p>
        </p:txBody>
      </p:sp>
      <p:sp>
        <p:nvSpPr>
          <p:cNvPr id="75" name="Text 73"/>
          <p:cNvSpPr/>
          <p:nvPr/>
        </p:nvSpPr>
        <p:spPr>
          <a:xfrm>
            <a:off x="16725290" y="6462979"/>
            <a:ext cx="314554"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1F2937"/>
                </a:solidFill>
                <a:latin typeface="Manrope" pitchFamily="34" charset="0"/>
                <a:ea typeface="Manrope" pitchFamily="34" charset="-122"/>
                <a:cs typeface="Manrope" pitchFamily="34" charset="-120"/>
              </a:rPr>
              <a:t>4</a:t>
            </a:r>
            <a:endParaRPr lang="en-US" sz="900" dirty="0"/>
          </a:p>
        </p:txBody>
      </p:sp>
      <p:sp>
        <p:nvSpPr>
          <p:cNvPr id="76" name="Shape 74"/>
          <p:cNvSpPr/>
          <p:nvPr/>
        </p:nvSpPr>
        <p:spPr>
          <a:xfrm>
            <a:off x="12001500" y="6905549"/>
            <a:ext cx="5143500" cy="448056"/>
          </a:xfrm>
          <a:prstGeom prst="roundRect">
            <a:avLst>
              <a:gd name="adj" fmla="val 16939"/>
            </a:avLst>
          </a:prstGeom>
          <a:solidFill>
            <a:srgbClr val="FFFFFF"/>
          </a:solidFill>
          <a:ln w="12700">
            <a:solidFill>
              <a:srgbClr val="FFFFFF">
                <a:alpha val="0"/>
              </a:srgbClr>
            </a:solidFill>
            <a:prstDash val="solid"/>
          </a:ln>
        </p:spPr>
        <p:txBody>
          <a:bodyPr/>
          <a:lstStyle/>
          <a:p>
            <a:endParaRPr lang="fr-CI"/>
          </a:p>
        </p:txBody>
      </p:sp>
      <p:sp>
        <p:nvSpPr>
          <p:cNvPr id="77" name="Text 75"/>
          <p:cNvSpPr txBox="1"/>
          <p:nvPr/>
        </p:nvSpPr>
        <p:spPr>
          <a:xfrm>
            <a:off x="12115800" y="6981444"/>
            <a:ext cx="896112"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UC-P01 → UC-P02</a:t>
            </a:r>
            <a:endParaRPr lang="en-US" sz="800" dirty="0"/>
          </a:p>
        </p:txBody>
      </p:sp>
      <p:sp>
        <p:nvSpPr>
          <p:cNvPr id="78" name="Text 76"/>
          <p:cNvSpPr txBox="1"/>
          <p:nvPr/>
        </p:nvSpPr>
        <p:spPr>
          <a:xfrm>
            <a:off x="12115800" y="7105802"/>
            <a:ext cx="896112" cy="171907"/>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Partenaires</a:t>
            </a:r>
            <a:endParaRPr lang="en-US" sz="900" dirty="0"/>
          </a:p>
        </p:txBody>
      </p:sp>
      <p:sp>
        <p:nvSpPr>
          <p:cNvPr id="79" name="Shape 77"/>
          <p:cNvSpPr/>
          <p:nvPr/>
        </p:nvSpPr>
        <p:spPr>
          <a:xfrm>
            <a:off x="16727119" y="6986930"/>
            <a:ext cx="304495"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80" name="Text 78"/>
          <p:cNvSpPr/>
          <p:nvPr/>
        </p:nvSpPr>
        <p:spPr>
          <a:xfrm>
            <a:off x="16727119" y="6986930"/>
            <a:ext cx="305410"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2</a:t>
            </a:r>
            <a:endParaRPr lang="en-US" sz="900" dirty="0"/>
          </a:p>
        </p:txBody>
      </p:sp>
      <p:sp>
        <p:nvSpPr>
          <p:cNvPr id="81" name="Shape 79"/>
          <p:cNvSpPr/>
          <p:nvPr/>
        </p:nvSpPr>
        <p:spPr>
          <a:xfrm>
            <a:off x="12001500" y="7429500"/>
            <a:ext cx="5143500" cy="448056"/>
          </a:xfrm>
          <a:prstGeom prst="roundRect">
            <a:avLst>
              <a:gd name="adj" fmla="val 16939"/>
            </a:avLst>
          </a:prstGeom>
          <a:solidFill>
            <a:srgbClr val="F5F3FF"/>
          </a:solidFill>
          <a:ln w="12700">
            <a:solidFill>
              <a:srgbClr val="FFFFFF">
                <a:alpha val="0"/>
              </a:srgbClr>
            </a:solidFill>
            <a:prstDash val="solid"/>
          </a:ln>
        </p:spPr>
        <p:txBody>
          <a:bodyPr/>
          <a:lstStyle/>
          <a:p>
            <a:endParaRPr lang="fr-CI"/>
          </a:p>
        </p:txBody>
      </p:sp>
      <p:sp>
        <p:nvSpPr>
          <p:cNvPr id="82" name="Text 80"/>
          <p:cNvSpPr txBox="1"/>
          <p:nvPr/>
        </p:nvSpPr>
        <p:spPr>
          <a:xfrm>
            <a:off x="12115800" y="7505395"/>
            <a:ext cx="1086307"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UC-FR01 · UC-FR02</a:t>
            </a:r>
            <a:endParaRPr lang="en-US" sz="800" dirty="0"/>
          </a:p>
        </p:txBody>
      </p:sp>
      <p:sp>
        <p:nvSpPr>
          <p:cNvPr id="83" name="Text 81"/>
          <p:cNvSpPr txBox="1"/>
          <p:nvPr/>
        </p:nvSpPr>
        <p:spPr>
          <a:xfrm>
            <a:off x="12115800" y="7629754"/>
            <a:ext cx="1468526" cy="171907"/>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Franchise &amp; bonus</a:t>
            </a:r>
            <a:endParaRPr lang="en-US" sz="900" dirty="0"/>
          </a:p>
        </p:txBody>
      </p:sp>
      <p:sp>
        <p:nvSpPr>
          <p:cNvPr id="84" name="Shape 82"/>
          <p:cNvSpPr/>
          <p:nvPr/>
        </p:nvSpPr>
        <p:spPr>
          <a:xfrm>
            <a:off x="16727119" y="7510882"/>
            <a:ext cx="304495"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85" name="Text 83"/>
          <p:cNvSpPr/>
          <p:nvPr/>
        </p:nvSpPr>
        <p:spPr>
          <a:xfrm>
            <a:off x="16727119" y="7510882"/>
            <a:ext cx="305410"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2</a:t>
            </a:r>
            <a:endParaRPr lang="en-US" sz="900" dirty="0"/>
          </a:p>
        </p:txBody>
      </p:sp>
      <p:sp>
        <p:nvSpPr>
          <p:cNvPr id="86" name="Shape 84"/>
          <p:cNvSpPr/>
          <p:nvPr/>
        </p:nvSpPr>
        <p:spPr>
          <a:xfrm>
            <a:off x="12001500" y="7953451"/>
            <a:ext cx="5143500" cy="448056"/>
          </a:xfrm>
          <a:prstGeom prst="roundRect">
            <a:avLst>
              <a:gd name="adj" fmla="val 16939"/>
            </a:avLst>
          </a:prstGeom>
          <a:solidFill>
            <a:srgbClr val="FFFFFF"/>
          </a:solidFill>
          <a:ln w="12700">
            <a:solidFill>
              <a:srgbClr val="FFFFFF">
                <a:alpha val="0"/>
              </a:srgbClr>
            </a:solidFill>
            <a:prstDash val="solid"/>
          </a:ln>
        </p:spPr>
        <p:txBody>
          <a:bodyPr/>
          <a:lstStyle/>
          <a:p>
            <a:endParaRPr lang="fr-CI"/>
          </a:p>
        </p:txBody>
      </p:sp>
      <p:sp>
        <p:nvSpPr>
          <p:cNvPr id="87" name="Text 85"/>
          <p:cNvSpPr txBox="1"/>
          <p:nvPr/>
        </p:nvSpPr>
        <p:spPr>
          <a:xfrm>
            <a:off x="12115800" y="8029346"/>
            <a:ext cx="1114654"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UC-C01 → UC-C03</a:t>
            </a:r>
            <a:endParaRPr lang="en-US" sz="800" dirty="0"/>
          </a:p>
        </p:txBody>
      </p:sp>
      <p:sp>
        <p:nvSpPr>
          <p:cNvPr id="88" name="Text 86"/>
          <p:cNvSpPr txBox="1"/>
          <p:nvPr/>
        </p:nvSpPr>
        <p:spPr>
          <a:xfrm>
            <a:off x="12115800" y="8153705"/>
            <a:ext cx="1626718" cy="171907"/>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Central · Reporting</a:t>
            </a:r>
            <a:endParaRPr lang="en-US" sz="900" dirty="0"/>
          </a:p>
        </p:txBody>
      </p:sp>
      <p:sp>
        <p:nvSpPr>
          <p:cNvPr id="89" name="Shape 87"/>
          <p:cNvSpPr/>
          <p:nvPr/>
        </p:nvSpPr>
        <p:spPr>
          <a:xfrm>
            <a:off x="16728948" y="8033918"/>
            <a:ext cx="304495"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90" name="Text 88"/>
          <p:cNvSpPr/>
          <p:nvPr/>
        </p:nvSpPr>
        <p:spPr>
          <a:xfrm>
            <a:off x="16728948" y="8033918"/>
            <a:ext cx="305410"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3</a:t>
            </a:r>
            <a:endParaRPr lang="en-US" sz="900" dirty="0"/>
          </a:p>
        </p:txBody>
      </p:sp>
      <p:sp>
        <p:nvSpPr>
          <p:cNvPr id="91" name="Shape 89"/>
          <p:cNvSpPr/>
          <p:nvPr/>
        </p:nvSpPr>
        <p:spPr>
          <a:xfrm>
            <a:off x="12001500" y="8477402"/>
            <a:ext cx="5143500" cy="448056"/>
          </a:xfrm>
          <a:prstGeom prst="roundRect">
            <a:avLst>
              <a:gd name="adj" fmla="val 16939"/>
            </a:avLst>
          </a:prstGeom>
          <a:solidFill>
            <a:srgbClr val="F5F3FF"/>
          </a:solidFill>
          <a:ln w="12700">
            <a:solidFill>
              <a:srgbClr val="FFFFFF">
                <a:alpha val="0"/>
              </a:srgbClr>
            </a:solidFill>
            <a:prstDash val="solid"/>
          </a:ln>
        </p:spPr>
        <p:txBody>
          <a:bodyPr/>
          <a:lstStyle/>
          <a:p>
            <a:endParaRPr lang="fr-CI"/>
          </a:p>
        </p:txBody>
      </p:sp>
      <p:sp>
        <p:nvSpPr>
          <p:cNvPr id="92" name="Text 90"/>
          <p:cNvSpPr txBox="1"/>
          <p:nvPr/>
        </p:nvSpPr>
        <p:spPr>
          <a:xfrm>
            <a:off x="12115800" y="8553298"/>
            <a:ext cx="486461"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UC-S01</a:t>
            </a:r>
            <a:endParaRPr lang="en-US" sz="800" dirty="0"/>
          </a:p>
        </p:txBody>
      </p:sp>
      <p:sp>
        <p:nvSpPr>
          <p:cNvPr id="93" name="Text 91"/>
          <p:cNvSpPr txBox="1"/>
          <p:nvPr/>
        </p:nvSpPr>
        <p:spPr>
          <a:xfrm>
            <a:off x="12115800" y="8677656"/>
            <a:ext cx="610819" cy="171907"/>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Support</a:t>
            </a:r>
            <a:endParaRPr lang="en-US" sz="900" dirty="0"/>
          </a:p>
        </p:txBody>
      </p:sp>
      <p:sp>
        <p:nvSpPr>
          <p:cNvPr id="94" name="Shape 92"/>
          <p:cNvSpPr/>
          <p:nvPr/>
        </p:nvSpPr>
        <p:spPr>
          <a:xfrm>
            <a:off x="16747236" y="8557870"/>
            <a:ext cx="286207" cy="286207"/>
          </a:xfrm>
          <a:prstGeom prst="ellipse">
            <a:avLst/>
          </a:prstGeom>
          <a:solidFill>
            <a:srgbClr val="EDE9FE"/>
          </a:solidFill>
          <a:ln w="12700">
            <a:solidFill>
              <a:srgbClr val="FFFFFF">
                <a:alpha val="0"/>
              </a:srgbClr>
            </a:solidFill>
            <a:prstDash val="solid"/>
          </a:ln>
        </p:spPr>
        <p:txBody>
          <a:bodyPr/>
          <a:lstStyle/>
          <a:p>
            <a:endParaRPr lang="fr-CI"/>
          </a:p>
        </p:txBody>
      </p:sp>
      <p:sp>
        <p:nvSpPr>
          <p:cNvPr id="95" name="Text 93"/>
          <p:cNvSpPr/>
          <p:nvPr/>
        </p:nvSpPr>
        <p:spPr>
          <a:xfrm>
            <a:off x="16747236" y="8557870"/>
            <a:ext cx="286207"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1</a:t>
            </a:r>
            <a:endParaRPr lang="en-US" sz="900" dirty="0"/>
          </a:p>
        </p:txBody>
      </p:sp>
      <p:sp>
        <p:nvSpPr>
          <p:cNvPr id="96" name="Shape 94"/>
          <p:cNvSpPr/>
          <p:nvPr/>
        </p:nvSpPr>
        <p:spPr>
          <a:xfrm>
            <a:off x="12001500" y="9001354"/>
            <a:ext cx="5143500" cy="448056"/>
          </a:xfrm>
          <a:prstGeom prst="roundRect">
            <a:avLst>
              <a:gd name="adj" fmla="val 16939"/>
            </a:avLst>
          </a:prstGeom>
          <a:solidFill>
            <a:srgbClr val="F5F3FF"/>
          </a:solidFill>
          <a:ln w="12700">
            <a:solidFill>
              <a:srgbClr val="FFFFFF">
                <a:alpha val="0"/>
              </a:srgbClr>
            </a:solidFill>
            <a:prstDash val="solid"/>
          </a:ln>
        </p:spPr>
        <p:txBody>
          <a:bodyPr/>
          <a:lstStyle/>
          <a:p>
            <a:endParaRPr lang="fr-CI"/>
          </a:p>
        </p:txBody>
      </p:sp>
      <p:sp>
        <p:nvSpPr>
          <p:cNvPr id="97" name="Text 95"/>
          <p:cNvSpPr txBox="1"/>
          <p:nvPr/>
        </p:nvSpPr>
        <p:spPr>
          <a:xfrm>
            <a:off x="12115800" y="9077249"/>
            <a:ext cx="1228954"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UC-A01 (a · b · c)</a:t>
            </a:r>
            <a:endParaRPr lang="en-US" sz="800" dirty="0"/>
          </a:p>
        </p:txBody>
      </p:sp>
      <p:sp>
        <p:nvSpPr>
          <p:cNvPr id="98" name="Text 96"/>
          <p:cNvSpPr txBox="1"/>
          <p:nvPr/>
        </p:nvSpPr>
        <p:spPr>
          <a:xfrm>
            <a:off x="12115800" y="9201607"/>
            <a:ext cx="1643177" cy="171907"/>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Admin · Paramétrage</a:t>
            </a:r>
            <a:endParaRPr lang="en-US" sz="900" dirty="0"/>
          </a:p>
        </p:txBody>
      </p:sp>
      <p:sp>
        <p:nvSpPr>
          <p:cNvPr id="99" name="Shape 97"/>
          <p:cNvSpPr/>
          <p:nvPr/>
        </p:nvSpPr>
        <p:spPr>
          <a:xfrm>
            <a:off x="16728948" y="9081821"/>
            <a:ext cx="304495"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100" name="Text 98"/>
          <p:cNvSpPr/>
          <p:nvPr/>
        </p:nvSpPr>
        <p:spPr>
          <a:xfrm>
            <a:off x="16728948" y="9081821"/>
            <a:ext cx="305410"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3</a:t>
            </a:r>
            <a:endParaRPr lang="en-US" sz="900" dirty="0"/>
          </a:p>
        </p:txBody>
      </p:sp>
      <p:sp>
        <p:nvSpPr>
          <p:cNvPr id="101" name="Shape 99"/>
          <p:cNvSpPr/>
          <p:nvPr/>
        </p:nvSpPr>
        <p:spPr>
          <a:xfrm>
            <a:off x="12001500" y="9525305"/>
            <a:ext cx="5143500" cy="448056"/>
          </a:xfrm>
          <a:prstGeom prst="roundRect">
            <a:avLst>
              <a:gd name="adj" fmla="val 16939"/>
            </a:avLst>
          </a:prstGeom>
          <a:solidFill>
            <a:srgbClr val="1F2937"/>
          </a:solidFill>
          <a:ln w="12700">
            <a:solidFill>
              <a:srgbClr val="FFFFFF">
                <a:alpha val="0"/>
              </a:srgbClr>
            </a:solidFill>
            <a:prstDash val="solid"/>
          </a:ln>
        </p:spPr>
        <p:txBody>
          <a:bodyPr/>
          <a:lstStyle/>
          <a:p>
            <a:endParaRPr lang="fr-CI"/>
          </a:p>
        </p:txBody>
      </p:sp>
      <p:sp>
        <p:nvSpPr>
          <p:cNvPr id="102" name="Text 100"/>
          <p:cNvSpPr txBox="1"/>
          <p:nvPr/>
        </p:nvSpPr>
        <p:spPr>
          <a:xfrm>
            <a:off x="12115800" y="9601200"/>
            <a:ext cx="1077163" cy="124358"/>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UC-AU01</a:t>
            </a:r>
            <a:endParaRPr lang="en-US" sz="800" dirty="0"/>
          </a:p>
        </p:txBody>
      </p:sp>
      <p:sp>
        <p:nvSpPr>
          <p:cNvPr id="103" name="Text 101"/>
          <p:cNvSpPr txBox="1"/>
          <p:nvPr/>
        </p:nvSpPr>
        <p:spPr>
          <a:xfrm>
            <a:off x="12115800" y="9724644"/>
            <a:ext cx="1543507" cy="171907"/>
          </a:xfrm>
          <a:prstGeom prst="rect">
            <a:avLst/>
          </a:prstGeom>
          <a:noFill/>
          <a:ln/>
        </p:spPr>
        <p:txBody>
          <a:bodyPr wrap="non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Audit · Conformité</a:t>
            </a:r>
            <a:endParaRPr lang="en-US" sz="900" dirty="0"/>
          </a:p>
        </p:txBody>
      </p:sp>
      <p:sp>
        <p:nvSpPr>
          <p:cNvPr id="104" name="Shape 102"/>
          <p:cNvSpPr/>
          <p:nvPr/>
        </p:nvSpPr>
        <p:spPr>
          <a:xfrm>
            <a:off x="16747236" y="9605772"/>
            <a:ext cx="286207" cy="286207"/>
          </a:xfrm>
          <a:prstGeom prst="ellipse">
            <a:avLst/>
          </a:prstGeom>
          <a:solidFill>
            <a:srgbClr val="A78BFA"/>
          </a:solidFill>
          <a:ln w="12700">
            <a:solidFill>
              <a:srgbClr val="FFFFFF">
                <a:alpha val="0"/>
              </a:srgbClr>
            </a:solidFill>
            <a:prstDash val="solid"/>
          </a:ln>
        </p:spPr>
        <p:txBody>
          <a:bodyPr/>
          <a:lstStyle/>
          <a:p>
            <a:endParaRPr lang="fr-CI"/>
          </a:p>
        </p:txBody>
      </p:sp>
      <p:sp>
        <p:nvSpPr>
          <p:cNvPr id="105" name="Text 103"/>
          <p:cNvSpPr/>
          <p:nvPr/>
        </p:nvSpPr>
        <p:spPr>
          <a:xfrm>
            <a:off x="16747236" y="9605772"/>
            <a:ext cx="286207"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1F2937"/>
                </a:solidFill>
                <a:latin typeface="Manrope" pitchFamily="34" charset="0"/>
                <a:ea typeface="Manrope" pitchFamily="34" charset="-122"/>
                <a:cs typeface="Manrope" pitchFamily="34" charset="-120"/>
              </a:rPr>
              <a:t>1</a:t>
            </a:r>
            <a:endParaRPr lang="en-US" sz="900" dirty="0"/>
          </a:p>
        </p:txBody>
      </p:sp>
      <p:sp>
        <p:nvSpPr>
          <p:cNvPr id="106" name="Shape 104"/>
          <p:cNvSpPr/>
          <p:nvPr/>
        </p:nvSpPr>
        <p:spPr>
          <a:xfrm>
            <a:off x="0" y="9791395"/>
            <a:ext cx="18288000" cy="495605"/>
          </a:xfrm>
          <a:prstGeom prst="rect">
            <a:avLst/>
          </a:prstGeom>
          <a:solidFill>
            <a:srgbClr val="FFFFFF"/>
          </a:solidFill>
          <a:ln/>
        </p:spPr>
        <p:txBody>
          <a:bodyPr/>
          <a:lstStyle/>
          <a:p>
            <a:endParaRPr lang="fr-CI"/>
          </a:p>
        </p:txBody>
      </p:sp>
      <p:sp>
        <p:nvSpPr>
          <p:cNvPr id="107" name="Shape 105"/>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108" name="Text 106"/>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109" name="Text 107"/>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29 / 59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6142818" y="256946"/>
            <a:ext cx="1865376"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UC transversaux · A.</a:t>
            </a:r>
            <a:endParaRPr lang="en-US" sz="900" dirty="0"/>
          </a:p>
        </p:txBody>
      </p:sp>
      <p:sp>
        <p:nvSpPr>
          <p:cNvPr id="10" name="Text 8"/>
          <p:cNvSpPr txBox="1"/>
          <p:nvPr/>
        </p:nvSpPr>
        <p:spPr>
          <a:xfrm>
            <a:off x="914400" y="1205179"/>
            <a:ext cx="2886761"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A. Use cases transversaux</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7578426"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UC-01 · UC-02 · UC-03 — authentification, comptes, droits.</a:t>
            </a:r>
            <a:endParaRPr lang="en-US" sz="3900" dirty="0"/>
          </a:p>
        </p:txBody>
      </p:sp>
      <p:sp>
        <p:nvSpPr>
          <p:cNvPr id="13" name="Shape 11"/>
          <p:cNvSpPr/>
          <p:nvPr/>
        </p:nvSpPr>
        <p:spPr>
          <a:xfrm>
            <a:off x="914400" y="2667305"/>
            <a:ext cx="5429707" cy="6858000"/>
          </a:xfrm>
          <a:prstGeom prst="roundRect">
            <a:avLst>
              <a:gd name="adj" fmla="val 2459"/>
            </a:avLst>
          </a:prstGeom>
          <a:solidFill>
            <a:srgbClr val="FFFFFF"/>
          </a:solidFill>
          <a:ln w="25400">
            <a:solidFill>
              <a:srgbClr val="6D28D9"/>
            </a:solidFill>
            <a:prstDash val="solid"/>
          </a:ln>
        </p:spPr>
        <p:txBody>
          <a:bodyPr/>
          <a:lstStyle/>
          <a:p>
            <a:endParaRPr lang="fr-CI"/>
          </a:p>
        </p:txBody>
      </p:sp>
      <p:sp>
        <p:nvSpPr>
          <p:cNvPr id="14" name="Text 12"/>
          <p:cNvSpPr txBox="1"/>
          <p:nvPr/>
        </p:nvSpPr>
        <p:spPr>
          <a:xfrm>
            <a:off x="1143000" y="2890418"/>
            <a:ext cx="514807" cy="219456"/>
          </a:xfrm>
          <a:prstGeom prst="rect">
            <a:avLst/>
          </a:prstGeom>
          <a:noFill/>
          <a:ln/>
        </p:spPr>
        <p:txBody>
          <a:bodyPr wrap="none" lIns="0" tIns="0" rIns="0" bIns="0" rtlCol="0" anchor="ctr"/>
          <a:lstStyle/>
          <a:p>
            <a:pPr marL="0" indent="0" algn="l">
              <a:buNone/>
            </a:pPr>
            <a:r>
              <a:rPr lang="en-US" sz="1300" b="1" dirty="0">
                <a:solidFill>
                  <a:srgbClr val="6D28D9"/>
                </a:solidFill>
                <a:latin typeface="JetBrains Mono" pitchFamily="34" charset="0"/>
                <a:ea typeface="JetBrains Mono" pitchFamily="34" charset="-122"/>
                <a:cs typeface="JetBrains Mono" pitchFamily="34" charset="-120"/>
              </a:rPr>
              <a:t>UC-01</a:t>
            </a:r>
            <a:endParaRPr lang="en-US" sz="1300" dirty="0"/>
          </a:p>
        </p:txBody>
      </p:sp>
      <p:sp>
        <p:nvSpPr>
          <p:cNvPr id="15" name="Shape 13"/>
          <p:cNvSpPr/>
          <p:nvPr/>
        </p:nvSpPr>
        <p:spPr>
          <a:xfrm>
            <a:off x="5365699" y="2857500"/>
            <a:ext cx="733349" cy="286207"/>
          </a:xfrm>
          <a:prstGeom prst="roundRect">
            <a:avLst>
              <a:gd name="adj" fmla="val 49840"/>
            </a:avLst>
          </a:prstGeom>
          <a:solidFill>
            <a:srgbClr val="FEE2E2"/>
          </a:solidFill>
          <a:ln w="12700">
            <a:solidFill>
              <a:srgbClr val="FFFFFF">
                <a:alpha val="0"/>
              </a:srgbClr>
            </a:solidFill>
            <a:prstDash val="solid"/>
          </a:ln>
        </p:spPr>
        <p:txBody>
          <a:bodyPr/>
          <a:lstStyle/>
          <a:p>
            <a:endParaRPr lang="fr-CI"/>
          </a:p>
        </p:txBody>
      </p:sp>
      <p:sp>
        <p:nvSpPr>
          <p:cNvPr id="16" name="Text 14"/>
          <p:cNvSpPr/>
          <p:nvPr/>
        </p:nvSpPr>
        <p:spPr>
          <a:xfrm>
            <a:off x="5365699" y="2857500"/>
            <a:ext cx="7342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91B1B"/>
                </a:solidFill>
                <a:latin typeface="Manrope" pitchFamily="34" charset="0"/>
                <a:ea typeface="Manrope" pitchFamily="34" charset="-122"/>
                <a:cs typeface="Manrope" pitchFamily="34" charset="-120"/>
              </a:rPr>
              <a:t>Critique</a:t>
            </a:r>
            <a:endParaRPr lang="en-US" sz="900" dirty="0"/>
          </a:p>
        </p:txBody>
      </p:sp>
      <p:sp>
        <p:nvSpPr>
          <p:cNvPr id="17" name="Text 15"/>
          <p:cNvSpPr txBox="1"/>
          <p:nvPr/>
        </p:nvSpPr>
        <p:spPr>
          <a:xfrm>
            <a:off x="1143000" y="3238805"/>
            <a:ext cx="4953305" cy="267005"/>
          </a:xfrm>
          <a:prstGeom prst="rect">
            <a:avLst/>
          </a:prstGeom>
          <a:noFill/>
          <a:ln/>
        </p:spPr>
        <p:txBody>
          <a:bodyPr wrap="none" lIns="0" tIns="0" rIns="0" bIns="0" rtlCol="0" anchor="ctr"/>
          <a:lstStyle/>
          <a:p>
            <a:pPr marL="0" indent="0" algn="l">
              <a:buNone/>
            </a:pPr>
            <a:r>
              <a:rPr lang="en-US" sz="1600" b="1" dirty="0">
                <a:solidFill>
                  <a:srgbClr val="1F2937"/>
                </a:solidFill>
                <a:latin typeface="Manrope" pitchFamily="34" charset="0"/>
                <a:ea typeface="Manrope" pitchFamily="34" charset="-122"/>
                <a:cs typeface="Manrope" pitchFamily="34" charset="-120"/>
              </a:rPr>
              <a:t>Création d'un compte client</a:t>
            </a:r>
            <a:endParaRPr lang="en-US" sz="1600" dirty="0"/>
          </a:p>
        </p:txBody>
      </p:sp>
      <p:sp>
        <p:nvSpPr>
          <p:cNvPr id="18" name="Text 16"/>
          <p:cNvSpPr txBox="1"/>
          <p:nvPr/>
        </p:nvSpPr>
        <p:spPr>
          <a:xfrm>
            <a:off x="1143000" y="3557930"/>
            <a:ext cx="4953305"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Service : tous · Profil : Client</a:t>
            </a:r>
            <a:endParaRPr lang="en-US" sz="900" dirty="0"/>
          </a:p>
        </p:txBody>
      </p:sp>
      <p:sp>
        <p:nvSpPr>
          <p:cNvPr id="19" name="Text 17"/>
          <p:cNvSpPr txBox="1"/>
          <p:nvPr/>
        </p:nvSpPr>
        <p:spPr>
          <a:xfrm>
            <a:off x="1143000" y="3881628"/>
            <a:ext cx="4953305" cy="133502"/>
          </a:xfrm>
          <a:prstGeom prst="rect">
            <a:avLst/>
          </a:prstGeom>
          <a:noFill/>
          <a:ln/>
        </p:spPr>
        <p:txBody>
          <a:bodyPr wrap="none" lIns="0" tIns="0" rIns="0" bIns="0" rtlCol="0" anchor="ctr"/>
          <a:lstStyle/>
          <a:p>
            <a:pPr marL="0" indent="0" algn="l">
              <a:buNone/>
            </a:pPr>
            <a:r>
              <a:rPr lang="en-US" sz="800" b="1" kern="0" spc="83" dirty="0">
                <a:solidFill>
                  <a:srgbClr val="6D28D9"/>
                </a:solidFill>
                <a:latin typeface="JetBrains Mono" pitchFamily="34" charset="0"/>
                <a:ea typeface="JetBrains Mono" pitchFamily="34" charset="-122"/>
                <a:cs typeface="JetBrains Mono" pitchFamily="34" charset="-120"/>
              </a:rPr>
              <a:t>OBJECTIF</a:t>
            </a:r>
            <a:endParaRPr lang="en-US" sz="800" dirty="0"/>
          </a:p>
        </p:txBody>
      </p:sp>
      <p:sp>
        <p:nvSpPr>
          <p:cNvPr id="20" name="Text 18"/>
          <p:cNvSpPr txBox="1"/>
          <p:nvPr/>
        </p:nvSpPr>
        <p:spPr>
          <a:xfrm>
            <a:off x="1143000" y="4071823"/>
            <a:ext cx="5639105" cy="181051"/>
          </a:xfrm>
          <a:prstGeom prst="rect">
            <a:avLst/>
          </a:prstGeom>
          <a:noFill/>
          <a:ln/>
        </p:spPr>
        <p:txBody>
          <a:bodyPr wrap="none" lIns="0" tIns="0" rIns="0" bIns="0" rtlCol="0" anchor="ctr"/>
          <a:lstStyle/>
          <a:p>
            <a:pPr marL="0" indent="0" algn="l">
              <a:buNone/>
            </a:pPr>
            <a:r>
              <a:rPr lang="en-US" sz="1000" dirty="0">
                <a:solidFill>
                  <a:srgbClr val="1F2937"/>
                </a:solidFill>
                <a:latin typeface="Manrope" pitchFamily="34" charset="0"/>
                <a:ea typeface="Manrope" pitchFamily="34" charset="-122"/>
                <a:cs typeface="Manrope" pitchFamily="34" charset="-120"/>
              </a:rPr>
              <a:t>Vérifier qu'un client peut créer un compte et accéder à la plateforme.</a:t>
            </a:r>
            <a:endParaRPr lang="en-US" sz="1000" dirty="0"/>
          </a:p>
        </p:txBody>
      </p:sp>
      <p:sp>
        <p:nvSpPr>
          <p:cNvPr id="21" name="Text 19"/>
          <p:cNvSpPr txBox="1"/>
          <p:nvPr/>
        </p:nvSpPr>
        <p:spPr>
          <a:xfrm>
            <a:off x="1143000" y="4386377"/>
            <a:ext cx="4953305" cy="133502"/>
          </a:xfrm>
          <a:prstGeom prst="rect">
            <a:avLst/>
          </a:prstGeom>
          <a:noFill/>
          <a:ln/>
        </p:spPr>
        <p:txBody>
          <a:bodyPr wrap="none" lIns="0" tIns="0" rIns="0" bIns="0" rtlCol="0" anchor="ctr"/>
          <a:lstStyle/>
          <a:p>
            <a:pPr marL="0" indent="0" algn="l">
              <a:buNone/>
            </a:pPr>
            <a:r>
              <a:rPr lang="en-US" sz="800" b="1" kern="0" spc="83" dirty="0">
                <a:solidFill>
                  <a:srgbClr val="6D28D9"/>
                </a:solidFill>
                <a:latin typeface="JetBrains Mono" pitchFamily="34" charset="0"/>
                <a:ea typeface="JetBrains Mono" pitchFamily="34" charset="-122"/>
                <a:cs typeface="JetBrains Mono" pitchFamily="34" charset="-120"/>
              </a:rPr>
              <a:t>ÉTAPES</a:t>
            </a:r>
            <a:endParaRPr lang="en-US" sz="800" dirty="0"/>
          </a:p>
        </p:txBody>
      </p:sp>
      <p:sp>
        <p:nvSpPr>
          <p:cNvPr id="22" name="Text 20"/>
          <p:cNvSpPr txBox="1"/>
          <p:nvPr/>
        </p:nvSpPr>
        <p:spPr>
          <a:xfrm>
            <a:off x="1314907" y="4576572"/>
            <a:ext cx="47823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Ouvrir l'application client</a:t>
            </a:r>
            <a:endParaRPr lang="en-US" sz="900" dirty="0"/>
          </a:p>
        </p:txBody>
      </p:sp>
      <p:sp>
        <p:nvSpPr>
          <p:cNvPr id="23" name="Text 21"/>
          <p:cNvSpPr txBox="1"/>
          <p:nvPr/>
        </p:nvSpPr>
        <p:spPr>
          <a:xfrm>
            <a:off x="1314907" y="4768596"/>
            <a:ext cx="47823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Saisir le numéro de téléphone</a:t>
            </a:r>
            <a:endParaRPr lang="en-US" sz="900" dirty="0"/>
          </a:p>
        </p:txBody>
      </p:sp>
      <p:sp>
        <p:nvSpPr>
          <p:cNvPr id="24" name="Text 22"/>
          <p:cNvSpPr txBox="1"/>
          <p:nvPr/>
        </p:nvSpPr>
        <p:spPr>
          <a:xfrm>
            <a:off x="1314907" y="4960620"/>
            <a:ext cx="47823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Recevoir le code OTP</a:t>
            </a:r>
            <a:endParaRPr lang="en-US" sz="900" dirty="0"/>
          </a:p>
        </p:txBody>
      </p:sp>
      <p:sp>
        <p:nvSpPr>
          <p:cNvPr id="25" name="Text 23"/>
          <p:cNvSpPr txBox="1"/>
          <p:nvPr/>
        </p:nvSpPr>
        <p:spPr>
          <a:xfrm>
            <a:off x="1314907" y="5152644"/>
            <a:ext cx="47823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Valider le code</a:t>
            </a:r>
            <a:endParaRPr lang="en-US" sz="900" dirty="0"/>
          </a:p>
        </p:txBody>
      </p:sp>
      <p:sp>
        <p:nvSpPr>
          <p:cNvPr id="26" name="Text 24"/>
          <p:cNvSpPr txBox="1"/>
          <p:nvPr/>
        </p:nvSpPr>
        <p:spPr>
          <a:xfrm>
            <a:off x="1314907" y="5344668"/>
            <a:ext cx="47823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Renseigner profil &amp; enregistrer</a:t>
            </a:r>
            <a:endParaRPr lang="en-US" sz="900" dirty="0"/>
          </a:p>
        </p:txBody>
      </p:sp>
      <p:sp>
        <p:nvSpPr>
          <p:cNvPr id="27" name="Text 25"/>
          <p:cNvSpPr txBox="1"/>
          <p:nvPr/>
        </p:nvSpPr>
        <p:spPr>
          <a:xfrm>
            <a:off x="1314907" y="5536692"/>
            <a:ext cx="47823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Vérifier le compte dans le back-office</a:t>
            </a:r>
            <a:endParaRPr lang="en-US" sz="900" dirty="0"/>
          </a:p>
        </p:txBody>
      </p:sp>
      <p:sp>
        <p:nvSpPr>
          <p:cNvPr id="28" name="Text 26"/>
          <p:cNvSpPr txBox="1"/>
          <p:nvPr/>
        </p:nvSpPr>
        <p:spPr>
          <a:xfrm>
            <a:off x="1143000" y="5862218"/>
            <a:ext cx="4953305" cy="133502"/>
          </a:xfrm>
          <a:prstGeom prst="rect">
            <a:avLst/>
          </a:prstGeom>
          <a:noFill/>
          <a:ln/>
        </p:spPr>
        <p:txBody>
          <a:bodyPr wrap="none" lIns="0" tIns="0" rIns="0" bIns="0" rtlCol="0" anchor="ctr"/>
          <a:lstStyle/>
          <a:p>
            <a:pPr marL="0" indent="0" algn="l">
              <a:buNone/>
            </a:pPr>
            <a:r>
              <a:rPr lang="en-US" sz="800" b="1" kern="0" spc="83" dirty="0">
                <a:solidFill>
                  <a:srgbClr val="10B981"/>
                </a:solidFill>
                <a:latin typeface="JetBrains Mono" pitchFamily="34" charset="0"/>
                <a:ea typeface="JetBrains Mono" pitchFamily="34" charset="-122"/>
                <a:cs typeface="JetBrains Mono" pitchFamily="34" charset="-120"/>
              </a:rPr>
              <a:t>RÉSULTATS ATTENDUS</a:t>
            </a:r>
            <a:endParaRPr lang="en-US" sz="800" dirty="0"/>
          </a:p>
        </p:txBody>
      </p:sp>
      <p:sp>
        <p:nvSpPr>
          <p:cNvPr id="29" name="Text 27"/>
          <p:cNvSpPr txBox="1"/>
          <p:nvPr/>
        </p:nvSpPr>
        <p:spPr>
          <a:xfrm>
            <a:off x="1143000" y="6052414"/>
            <a:ext cx="4953305" cy="391363"/>
          </a:xfrm>
          <a:prstGeom prst="rect">
            <a:avLst/>
          </a:prstGeom>
          <a:noFill/>
          <a:ln/>
        </p:spPr>
        <p:txBody>
          <a:bodyPr wrap="squar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OTP reçu · compte créé · profil enregistré · compte visible au back-office · client en statut actif.</a:t>
            </a:r>
            <a:endParaRPr lang="en-US" sz="900" dirty="0"/>
          </a:p>
        </p:txBody>
      </p:sp>
      <p:sp>
        <p:nvSpPr>
          <p:cNvPr id="30" name="Shape 28"/>
          <p:cNvSpPr/>
          <p:nvPr/>
        </p:nvSpPr>
        <p:spPr>
          <a:xfrm>
            <a:off x="1143000" y="6569964"/>
            <a:ext cx="4953305" cy="571500"/>
          </a:xfrm>
          <a:prstGeom prst="roundRect">
            <a:avLst>
              <a:gd name="adj" fmla="val 13280"/>
            </a:avLst>
          </a:prstGeom>
          <a:solidFill>
            <a:srgbClr val="F5F3FF"/>
          </a:solidFill>
          <a:ln w="12700">
            <a:solidFill>
              <a:srgbClr val="FFFFFF">
                <a:alpha val="0"/>
              </a:srgbClr>
            </a:solidFill>
            <a:prstDash val="solid"/>
          </a:ln>
        </p:spPr>
        <p:txBody>
          <a:bodyPr/>
          <a:lstStyle/>
          <a:p>
            <a:endParaRPr lang="fr-CI"/>
          </a:p>
        </p:txBody>
      </p:sp>
      <p:sp>
        <p:nvSpPr>
          <p:cNvPr id="31" name="Text 29"/>
          <p:cNvSpPr txBox="1"/>
          <p:nvPr/>
        </p:nvSpPr>
        <p:spPr>
          <a:xfrm>
            <a:off x="1257300" y="6684264"/>
            <a:ext cx="4724705"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CRITÈRE D'ACCEPTATION</a:t>
            </a:r>
            <a:endParaRPr lang="en-US" sz="800" dirty="0"/>
          </a:p>
        </p:txBody>
      </p:sp>
      <p:sp>
        <p:nvSpPr>
          <p:cNvPr id="32" name="Text 30"/>
          <p:cNvSpPr txBox="1"/>
          <p:nvPr/>
        </p:nvSpPr>
        <p:spPr>
          <a:xfrm>
            <a:off x="1257300" y="6855257"/>
            <a:ext cx="4724705" cy="171907"/>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Le client se connecte et accède aux services sans blocage.</a:t>
            </a:r>
            <a:endParaRPr lang="en-US" sz="900" dirty="0"/>
          </a:p>
        </p:txBody>
      </p:sp>
      <p:sp>
        <p:nvSpPr>
          <p:cNvPr id="33" name="Shape 31"/>
          <p:cNvSpPr/>
          <p:nvPr/>
        </p:nvSpPr>
        <p:spPr>
          <a:xfrm>
            <a:off x="6534302" y="2667305"/>
            <a:ext cx="5429707" cy="6858000"/>
          </a:xfrm>
          <a:prstGeom prst="roundRect">
            <a:avLst>
              <a:gd name="adj" fmla="val 2459"/>
            </a:avLst>
          </a:prstGeom>
          <a:solidFill>
            <a:srgbClr val="FFFFFF"/>
          </a:solidFill>
          <a:ln w="25400">
            <a:solidFill>
              <a:srgbClr val="6D28D9"/>
            </a:solidFill>
            <a:prstDash val="solid"/>
          </a:ln>
        </p:spPr>
        <p:txBody>
          <a:bodyPr/>
          <a:lstStyle/>
          <a:p>
            <a:endParaRPr lang="fr-CI"/>
          </a:p>
        </p:txBody>
      </p:sp>
      <p:sp>
        <p:nvSpPr>
          <p:cNvPr id="34" name="Text 32"/>
          <p:cNvSpPr txBox="1"/>
          <p:nvPr/>
        </p:nvSpPr>
        <p:spPr>
          <a:xfrm>
            <a:off x="6762902" y="2890418"/>
            <a:ext cx="514807" cy="219456"/>
          </a:xfrm>
          <a:prstGeom prst="rect">
            <a:avLst/>
          </a:prstGeom>
          <a:noFill/>
          <a:ln/>
        </p:spPr>
        <p:txBody>
          <a:bodyPr wrap="none" lIns="0" tIns="0" rIns="0" bIns="0" rtlCol="0" anchor="ctr"/>
          <a:lstStyle/>
          <a:p>
            <a:pPr marL="0" indent="0" algn="l">
              <a:buNone/>
            </a:pPr>
            <a:r>
              <a:rPr lang="en-US" sz="1300" b="1" dirty="0">
                <a:solidFill>
                  <a:srgbClr val="6D28D9"/>
                </a:solidFill>
                <a:latin typeface="JetBrains Mono" pitchFamily="34" charset="0"/>
                <a:ea typeface="JetBrains Mono" pitchFamily="34" charset="-122"/>
                <a:cs typeface="JetBrains Mono" pitchFamily="34" charset="-120"/>
              </a:rPr>
              <a:t>UC-02</a:t>
            </a:r>
            <a:endParaRPr lang="en-US" sz="1300" dirty="0"/>
          </a:p>
        </p:txBody>
      </p:sp>
      <p:sp>
        <p:nvSpPr>
          <p:cNvPr id="35" name="Shape 33"/>
          <p:cNvSpPr/>
          <p:nvPr/>
        </p:nvSpPr>
        <p:spPr>
          <a:xfrm>
            <a:off x="10985602" y="2857500"/>
            <a:ext cx="733349" cy="286207"/>
          </a:xfrm>
          <a:prstGeom prst="roundRect">
            <a:avLst>
              <a:gd name="adj" fmla="val 49840"/>
            </a:avLst>
          </a:prstGeom>
          <a:solidFill>
            <a:srgbClr val="FEE2E2"/>
          </a:solidFill>
          <a:ln w="12700">
            <a:solidFill>
              <a:srgbClr val="FFFFFF">
                <a:alpha val="0"/>
              </a:srgbClr>
            </a:solidFill>
            <a:prstDash val="solid"/>
          </a:ln>
        </p:spPr>
        <p:txBody>
          <a:bodyPr/>
          <a:lstStyle/>
          <a:p>
            <a:endParaRPr lang="fr-CI"/>
          </a:p>
        </p:txBody>
      </p:sp>
      <p:sp>
        <p:nvSpPr>
          <p:cNvPr id="36" name="Text 34"/>
          <p:cNvSpPr/>
          <p:nvPr/>
        </p:nvSpPr>
        <p:spPr>
          <a:xfrm>
            <a:off x="10985602" y="2857500"/>
            <a:ext cx="7342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91B1B"/>
                </a:solidFill>
                <a:latin typeface="Manrope" pitchFamily="34" charset="0"/>
                <a:ea typeface="Manrope" pitchFamily="34" charset="-122"/>
                <a:cs typeface="Manrope" pitchFamily="34" charset="-120"/>
              </a:rPr>
              <a:t>Critique</a:t>
            </a:r>
            <a:endParaRPr lang="en-US" sz="900" dirty="0"/>
          </a:p>
        </p:txBody>
      </p:sp>
      <p:sp>
        <p:nvSpPr>
          <p:cNvPr id="37" name="Text 35"/>
          <p:cNvSpPr txBox="1"/>
          <p:nvPr/>
        </p:nvSpPr>
        <p:spPr>
          <a:xfrm>
            <a:off x="6762902" y="3238805"/>
            <a:ext cx="4953305" cy="267005"/>
          </a:xfrm>
          <a:prstGeom prst="rect">
            <a:avLst/>
          </a:prstGeom>
          <a:noFill/>
          <a:ln/>
        </p:spPr>
        <p:txBody>
          <a:bodyPr wrap="none" lIns="0" tIns="0" rIns="0" bIns="0" rtlCol="0" anchor="ctr"/>
          <a:lstStyle/>
          <a:p>
            <a:pPr marL="0" indent="0" algn="l">
              <a:buNone/>
            </a:pPr>
            <a:r>
              <a:rPr lang="en-US" sz="1600" b="1" dirty="0">
                <a:solidFill>
                  <a:srgbClr val="1F2937"/>
                </a:solidFill>
                <a:latin typeface="Manrope" pitchFamily="34" charset="0"/>
                <a:ea typeface="Manrope" pitchFamily="34" charset="-122"/>
                <a:cs typeface="Manrope" pitchFamily="34" charset="-120"/>
              </a:rPr>
              <a:t>Connexion utilisateur existant</a:t>
            </a:r>
            <a:endParaRPr lang="en-US" sz="1600" dirty="0"/>
          </a:p>
        </p:txBody>
      </p:sp>
      <p:sp>
        <p:nvSpPr>
          <p:cNvPr id="38" name="Text 36"/>
          <p:cNvSpPr txBox="1"/>
          <p:nvPr/>
        </p:nvSpPr>
        <p:spPr>
          <a:xfrm>
            <a:off x="6762902" y="3557930"/>
            <a:ext cx="4953305"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Service : tous · Profils : tous</a:t>
            </a:r>
            <a:endParaRPr lang="en-US" sz="900" dirty="0"/>
          </a:p>
        </p:txBody>
      </p:sp>
      <p:sp>
        <p:nvSpPr>
          <p:cNvPr id="39" name="Text 37"/>
          <p:cNvSpPr txBox="1"/>
          <p:nvPr/>
        </p:nvSpPr>
        <p:spPr>
          <a:xfrm>
            <a:off x="6762902" y="3881628"/>
            <a:ext cx="4953305" cy="133502"/>
          </a:xfrm>
          <a:prstGeom prst="rect">
            <a:avLst/>
          </a:prstGeom>
          <a:noFill/>
          <a:ln/>
        </p:spPr>
        <p:txBody>
          <a:bodyPr wrap="none" lIns="0" tIns="0" rIns="0" bIns="0" rtlCol="0" anchor="ctr"/>
          <a:lstStyle/>
          <a:p>
            <a:pPr marL="0" indent="0" algn="l">
              <a:buNone/>
            </a:pPr>
            <a:r>
              <a:rPr lang="en-US" sz="800" b="1" kern="0" spc="83" dirty="0">
                <a:solidFill>
                  <a:srgbClr val="6D28D9"/>
                </a:solidFill>
                <a:latin typeface="JetBrains Mono" pitchFamily="34" charset="0"/>
                <a:ea typeface="JetBrains Mono" pitchFamily="34" charset="-122"/>
                <a:cs typeface="JetBrains Mono" pitchFamily="34" charset="-120"/>
              </a:rPr>
              <a:t>OBJECTIF</a:t>
            </a:r>
            <a:endParaRPr lang="en-US" sz="800" dirty="0"/>
          </a:p>
        </p:txBody>
      </p:sp>
      <p:sp>
        <p:nvSpPr>
          <p:cNvPr id="40" name="Text 38"/>
          <p:cNvSpPr txBox="1"/>
          <p:nvPr/>
        </p:nvSpPr>
        <p:spPr>
          <a:xfrm>
            <a:off x="6762902" y="4071823"/>
            <a:ext cx="4953305" cy="362102"/>
          </a:xfrm>
          <a:prstGeom prst="rect">
            <a:avLst/>
          </a:prstGeom>
          <a:noFill/>
          <a:ln/>
        </p:spPr>
        <p:txBody>
          <a:bodyPr wrap="square" lIns="0" tIns="0" rIns="0" bIns="0" rtlCol="0" anchor="ctr"/>
          <a:lstStyle/>
          <a:p>
            <a:pPr marL="0" indent="0" algn="l">
              <a:buNone/>
            </a:pPr>
            <a:r>
              <a:rPr lang="en-US" sz="1000" dirty="0">
                <a:solidFill>
                  <a:srgbClr val="1F2937"/>
                </a:solidFill>
                <a:latin typeface="Manrope" pitchFamily="34" charset="0"/>
                <a:ea typeface="Manrope" pitchFamily="34" charset="-122"/>
                <a:cs typeface="Manrope" pitchFamily="34" charset="-120"/>
              </a:rPr>
              <a:t>Vérifier que les utilisateurs déjà créés ou migrés peuvent se reconnecter sans perte de données.</a:t>
            </a:r>
            <a:endParaRPr lang="en-US" sz="1000" dirty="0"/>
          </a:p>
        </p:txBody>
      </p:sp>
      <p:sp>
        <p:nvSpPr>
          <p:cNvPr id="41" name="Text 39"/>
          <p:cNvSpPr txBox="1"/>
          <p:nvPr/>
        </p:nvSpPr>
        <p:spPr>
          <a:xfrm>
            <a:off x="6762902" y="4567428"/>
            <a:ext cx="4953305" cy="133502"/>
          </a:xfrm>
          <a:prstGeom prst="rect">
            <a:avLst/>
          </a:prstGeom>
          <a:noFill/>
          <a:ln/>
        </p:spPr>
        <p:txBody>
          <a:bodyPr wrap="none" lIns="0" tIns="0" rIns="0" bIns="0" rtlCol="0" anchor="ctr"/>
          <a:lstStyle/>
          <a:p>
            <a:pPr marL="0" indent="0" algn="l">
              <a:buNone/>
            </a:pPr>
            <a:r>
              <a:rPr lang="en-US" sz="800" b="1" kern="0" spc="83" dirty="0">
                <a:solidFill>
                  <a:srgbClr val="6D28D9"/>
                </a:solidFill>
                <a:latin typeface="JetBrains Mono" pitchFamily="34" charset="0"/>
                <a:ea typeface="JetBrains Mono" pitchFamily="34" charset="-122"/>
                <a:cs typeface="JetBrains Mono" pitchFamily="34" charset="-120"/>
              </a:rPr>
              <a:t>ÉTAPES</a:t>
            </a:r>
            <a:endParaRPr lang="en-US" sz="800" dirty="0"/>
          </a:p>
        </p:txBody>
      </p:sp>
      <p:sp>
        <p:nvSpPr>
          <p:cNvPr id="42" name="Text 40"/>
          <p:cNvSpPr txBox="1"/>
          <p:nvPr/>
        </p:nvSpPr>
        <p:spPr>
          <a:xfrm>
            <a:off x="6933895" y="4757623"/>
            <a:ext cx="47823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Ouvrir l'application ou l'interface web</a:t>
            </a:r>
            <a:endParaRPr lang="en-US" sz="900" dirty="0"/>
          </a:p>
        </p:txBody>
      </p:sp>
      <p:sp>
        <p:nvSpPr>
          <p:cNvPr id="43" name="Text 41"/>
          <p:cNvSpPr txBox="1"/>
          <p:nvPr/>
        </p:nvSpPr>
        <p:spPr>
          <a:xfrm>
            <a:off x="6933895" y="4949647"/>
            <a:ext cx="47823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Saisir les identifiants</a:t>
            </a:r>
            <a:endParaRPr lang="en-US" sz="900" dirty="0"/>
          </a:p>
        </p:txBody>
      </p:sp>
      <p:sp>
        <p:nvSpPr>
          <p:cNvPr id="44" name="Text 42"/>
          <p:cNvSpPr txBox="1"/>
          <p:nvPr/>
        </p:nvSpPr>
        <p:spPr>
          <a:xfrm>
            <a:off x="6933895" y="5141671"/>
            <a:ext cx="47823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Valider l'authentification</a:t>
            </a:r>
            <a:endParaRPr lang="en-US" sz="900" dirty="0"/>
          </a:p>
        </p:txBody>
      </p:sp>
      <p:sp>
        <p:nvSpPr>
          <p:cNvPr id="45" name="Text 43"/>
          <p:cNvSpPr txBox="1"/>
          <p:nvPr/>
        </p:nvSpPr>
        <p:spPr>
          <a:xfrm>
            <a:off x="6933895" y="5333695"/>
            <a:ext cx="47823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Accéder au tableau de bord</a:t>
            </a:r>
            <a:endParaRPr lang="en-US" sz="900" dirty="0"/>
          </a:p>
        </p:txBody>
      </p:sp>
      <p:sp>
        <p:nvSpPr>
          <p:cNvPr id="46" name="Text 44"/>
          <p:cNvSpPr txBox="1"/>
          <p:nvPr/>
        </p:nvSpPr>
        <p:spPr>
          <a:xfrm>
            <a:off x="6933895" y="5525719"/>
            <a:ext cx="47823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Vérifier les données du profil</a:t>
            </a:r>
            <a:endParaRPr lang="en-US" sz="900" dirty="0"/>
          </a:p>
        </p:txBody>
      </p:sp>
      <p:sp>
        <p:nvSpPr>
          <p:cNvPr id="47" name="Text 45"/>
          <p:cNvSpPr txBox="1"/>
          <p:nvPr/>
        </p:nvSpPr>
        <p:spPr>
          <a:xfrm>
            <a:off x="6762902" y="5851246"/>
            <a:ext cx="4953305" cy="133502"/>
          </a:xfrm>
          <a:prstGeom prst="rect">
            <a:avLst/>
          </a:prstGeom>
          <a:noFill/>
          <a:ln/>
        </p:spPr>
        <p:txBody>
          <a:bodyPr wrap="none" lIns="0" tIns="0" rIns="0" bIns="0" rtlCol="0" anchor="ctr"/>
          <a:lstStyle/>
          <a:p>
            <a:pPr marL="0" indent="0" algn="l">
              <a:buNone/>
            </a:pPr>
            <a:r>
              <a:rPr lang="en-US" sz="800" b="1" kern="0" spc="83" dirty="0">
                <a:solidFill>
                  <a:srgbClr val="10B981"/>
                </a:solidFill>
                <a:latin typeface="JetBrains Mono" pitchFamily="34" charset="0"/>
                <a:ea typeface="JetBrains Mono" pitchFamily="34" charset="-122"/>
                <a:cs typeface="JetBrains Mono" pitchFamily="34" charset="-120"/>
              </a:rPr>
              <a:t>RÉSULTATS ATTENDUS</a:t>
            </a:r>
            <a:endParaRPr lang="en-US" sz="800" dirty="0"/>
          </a:p>
        </p:txBody>
      </p:sp>
      <p:sp>
        <p:nvSpPr>
          <p:cNvPr id="48" name="Text 46"/>
          <p:cNvSpPr txBox="1"/>
          <p:nvPr/>
        </p:nvSpPr>
        <p:spPr>
          <a:xfrm>
            <a:off x="6762902" y="6041441"/>
            <a:ext cx="4953305" cy="391363"/>
          </a:xfrm>
          <a:prstGeom prst="rect">
            <a:avLst/>
          </a:prstGeom>
          <a:noFill/>
          <a:ln/>
        </p:spPr>
        <p:txBody>
          <a:bodyPr wrap="squar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Connexion réussie · données du profil conservées · aucun doublon · droits correctement appliqués.</a:t>
            </a:r>
            <a:endParaRPr lang="en-US" sz="900" dirty="0"/>
          </a:p>
        </p:txBody>
      </p:sp>
      <p:sp>
        <p:nvSpPr>
          <p:cNvPr id="49" name="Shape 47"/>
          <p:cNvSpPr/>
          <p:nvPr/>
        </p:nvSpPr>
        <p:spPr>
          <a:xfrm>
            <a:off x="6762902" y="6558991"/>
            <a:ext cx="4953305" cy="571500"/>
          </a:xfrm>
          <a:prstGeom prst="roundRect">
            <a:avLst>
              <a:gd name="adj" fmla="val 13280"/>
            </a:avLst>
          </a:prstGeom>
          <a:solidFill>
            <a:srgbClr val="F5F3FF"/>
          </a:solidFill>
          <a:ln w="12700">
            <a:solidFill>
              <a:srgbClr val="FFFFFF">
                <a:alpha val="0"/>
              </a:srgbClr>
            </a:solidFill>
            <a:prstDash val="solid"/>
          </a:ln>
        </p:spPr>
        <p:txBody>
          <a:bodyPr/>
          <a:lstStyle/>
          <a:p>
            <a:endParaRPr lang="fr-CI"/>
          </a:p>
        </p:txBody>
      </p:sp>
      <p:sp>
        <p:nvSpPr>
          <p:cNvPr id="50" name="Text 48"/>
          <p:cNvSpPr txBox="1"/>
          <p:nvPr/>
        </p:nvSpPr>
        <p:spPr>
          <a:xfrm>
            <a:off x="6877202" y="6673291"/>
            <a:ext cx="4724705"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CRITÈRE D'ACCEPTATION</a:t>
            </a:r>
            <a:endParaRPr lang="en-US" sz="800" dirty="0"/>
          </a:p>
        </p:txBody>
      </p:sp>
      <p:sp>
        <p:nvSpPr>
          <p:cNvPr id="51" name="Text 49"/>
          <p:cNvSpPr txBox="1"/>
          <p:nvPr/>
        </p:nvSpPr>
        <p:spPr>
          <a:xfrm>
            <a:off x="6877202" y="6844284"/>
            <a:ext cx="4944161" cy="171907"/>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L'utilisateur existant accède à son profil sans perte de données.</a:t>
            </a:r>
            <a:endParaRPr lang="en-US" sz="900" dirty="0"/>
          </a:p>
        </p:txBody>
      </p:sp>
      <p:sp>
        <p:nvSpPr>
          <p:cNvPr id="52" name="Shape 50"/>
          <p:cNvSpPr/>
          <p:nvPr/>
        </p:nvSpPr>
        <p:spPr>
          <a:xfrm>
            <a:off x="12154205" y="2667305"/>
            <a:ext cx="5429707" cy="6858000"/>
          </a:xfrm>
          <a:prstGeom prst="roundRect">
            <a:avLst>
              <a:gd name="adj" fmla="val 2459"/>
            </a:avLst>
          </a:prstGeom>
          <a:solidFill>
            <a:srgbClr val="1F2937"/>
          </a:solidFill>
          <a:ln w="25400">
            <a:solidFill>
              <a:srgbClr val="6D28D9"/>
            </a:solidFill>
            <a:prstDash val="solid"/>
          </a:ln>
        </p:spPr>
        <p:txBody>
          <a:bodyPr/>
          <a:lstStyle/>
          <a:p>
            <a:endParaRPr lang="fr-CI"/>
          </a:p>
        </p:txBody>
      </p:sp>
      <p:sp>
        <p:nvSpPr>
          <p:cNvPr id="53" name="Text 51"/>
          <p:cNvSpPr txBox="1"/>
          <p:nvPr/>
        </p:nvSpPr>
        <p:spPr>
          <a:xfrm>
            <a:off x="12382805" y="2890418"/>
            <a:ext cx="514807" cy="219456"/>
          </a:xfrm>
          <a:prstGeom prst="rect">
            <a:avLst/>
          </a:prstGeom>
          <a:noFill/>
          <a:ln/>
        </p:spPr>
        <p:txBody>
          <a:bodyPr wrap="none" lIns="0" tIns="0" rIns="0" bIns="0" rtlCol="0" anchor="ctr"/>
          <a:lstStyle/>
          <a:p>
            <a:pPr marL="0" indent="0" algn="l">
              <a:buNone/>
            </a:pPr>
            <a:r>
              <a:rPr lang="en-US" sz="1300" b="1" dirty="0">
                <a:solidFill>
                  <a:srgbClr val="A78BFA"/>
                </a:solidFill>
                <a:latin typeface="JetBrains Mono" pitchFamily="34" charset="0"/>
                <a:ea typeface="JetBrains Mono" pitchFamily="34" charset="-122"/>
                <a:cs typeface="JetBrains Mono" pitchFamily="34" charset="-120"/>
              </a:rPr>
              <a:t>UC-03</a:t>
            </a:r>
            <a:endParaRPr lang="en-US" sz="1300" dirty="0"/>
          </a:p>
        </p:txBody>
      </p:sp>
      <p:sp>
        <p:nvSpPr>
          <p:cNvPr id="54" name="Shape 52"/>
          <p:cNvSpPr/>
          <p:nvPr/>
        </p:nvSpPr>
        <p:spPr>
          <a:xfrm>
            <a:off x="16605504" y="2857500"/>
            <a:ext cx="733349" cy="286207"/>
          </a:xfrm>
          <a:prstGeom prst="roundRect">
            <a:avLst>
              <a:gd name="adj" fmla="val 49840"/>
            </a:avLst>
          </a:prstGeom>
          <a:solidFill>
            <a:srgbClr val="FEE2E2"/>
          </a:solidFill>
          <a:ln w="12700">
            <a:solidFill>
              <a:srgbClr val="FFFFFF">
                <a:alpha val="0"/>
              </a:srgbClr>
            </a:solidFill>
            <a:prstDash val="solid"/>
          </a:ln>
        </p:spPr>
        <p:txBody>
          <a:bodyPr/>
          <a:lstStyle/>
          <a:p>
            <a:endParaRPr lang="fr-CI"/>
          </a:p>
        </p:txBody>
      </p:sp>
      <p:sp>
        <p:nvSpPr>
          <p:cNvPr id="55" name="Text 53"/>
          <p:cNvSpPr/>
          <p:nvPr/>
        </p:nvSpPr>
        <p:spPr>
          <a:xfrm>
            <a:off x="16605504" y="2857500"/>
            <a:ext cx="7342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91B1B"/>
                </a:solidFill>
                <a:latin typeface="Manrope" pitchFamily="34" charset="0"/>
                <a:ea typeface="Manrope" pitchFamily="34" charset="-122"/>
                <a:cs typeface="Manrope" pitchFamily="34" charset="-120"/>
              </a:rPr>
              <a:t>Critique</a:t>
            </a:r>
            <a:endParaRPr lang="en-US" sz="900" dirty="0"/>
          </a:p>
        </p:txBody>
      </p:sp>
      <p:sp>
        <p:nvSpPr>
          <p:cNvPr id="56" name="Text 54"/>
          <p:cNvSpPr txBox="1"/>
          <p:nvPr/>
        </p:nvSpPr>
        <p:spPr>
          <a:xfrm>
            <a:off x="12382805" y="3238805"/>
            <a:ext cx="4953305" cy="286207"/>
          </a:xfrm>
          <a:prstGeom prst="rect">
            <a:avLst/>
          </a:prstGeom>
          <a:noFill/>
          <a:ln/>
        </p:spPr>
        <p:txBody>
          <a:bodyPr wrap="none" lIns="0" tIns="0" rIns="0" bIns="0" rtlCol="0" anchor="ctr"/>
          <a:lstStyle/>
          <a:p>
            <a:pPr marL="0" indent="0" algn="l">
              <a:buNone/>
            </a:pPr>
            <a:r>
              <a:rPr lang="en-US" sz="1600" b="1" dirty="0">
                <a:solidFill>
                  <a:srgbClr val="FFFFFF"/>
                </a:solidFill>
                <a:latin typeface="Manrope" pitchFamily="34" charset="0"/>
                <a:ea typeface="Manrope" pitchFamily="34" charset="-122"/>
                <a:cs typeface="Manrope" pitchFamily="34" charset="-120"/>
              </a:rPr>
              <a:t>Gestion des rôles et droits</a:t>
            </a:r>
            <a:endParaRPr lang="en-US" sz="1600" dirty="0"/>
          </a:p>
        </p:txBody>
      </p:sp>
      <p:sp>
        <p:nvSpPr>
          <p:cNvPr id="57" name="Text 55"/>
          <p:cNvSpPr txBox="1"/>
          <p:nvPr/>
        </p:nvSpPr>
        <p:spPr>
          <a:xfrm>
            <a:off x="12382805" y="3733495"/>
            <a:ext cx="5639105" cy="171907"/>
          </a:xfrm>
          <a:prstGeom prst="rect">
            <a:avLst/>
          </a:prstGeom>
          <a:noFill/>
          <a:ln/>
        </p:spPr>
        <p:txBody>
          <a:bodyPr wrap="none" lIns="0" tIns="0" rIns="0" bIns="0" rtlCol="0" anchor="ctr"/>
          <a:lstStyle/>
          <a:p>
            <a:pPr marL="0" indent="0" algn="l">
              <a:buNone/>
            </a:pPr>
            <a:r>
              <a:rPr lang="en-US" sz="900" dirty="0">
                <a:solidFill>
                  <a:srgbClr val="A78BFA"/>
                </a:solidFill>
                <a:latin typeface="Manrope" pitchFamily="34" charset="0"/>
                <a:ea typeface="Manrope" pitchFamily="34" charset="-122"/>
                <a:cs typeface="Manrope" pitchFamily="34" charset="-120"/>
              </a:rPr>
              <a:t>Service : administration · Profils : central, franchise, partenaire, support, finance</a:t>
            </a:r>
            <a:endParaRPr lang="en-US" sz="900" dirty="0"/>
          </a:p>
        </p:txBody>
      </p:sp>
      <p:sp>
        <p:nvSpPr>
          <p:cNvPr id="58" name="Text 56"/>
          <p:cNvSpPr txBox="1"/>
          <p:nvPr/>
        </p:nvSpPr>
        <p:spPr>
          <a:xfrm>
            <a:off x="12382805" y="4058107"/>
            <a:ext cx="4953305" cy="133502"/>
          </a:xfrm>
          <a:prstGeom prst="rect">
            <a:avLst/>
          </a:prstGeom>
          <a:noFill/>
          <a:ln/>
        </p:spPr>
        <p:txBody>
          <a:bodyPr wrap="none" lIns="0" tIns="0" rIns="0" bIns="0" rtlCol="0" anchor="ctr"/>
          <a:lstStyle/>
          <a:p>
            <a:pPr marL="0" indent="0" algn="l">
              <a:buNone/>
            </a:pPr>
            <a:r>
              <a:rPr lang="en-US" sz="800" b="1" kern="0" spc="83" dirty="0">
                <a:solidFill>
                  <a:srgbClr val="A78BFA"/>
                </a:solidFill>
                <a:latin typeface="JetBrains Mono" pitchFamily="34" charset="0"/>
                <a:ea typeface="JetBrains Mono" pitchFamily="34" charset="-122"/>
                <a:cs typeface="JetBrains Mono" pitchFamily="34" charset="-120"/>
              </a:rPr>
              <a:t>OBJECTIF</a:t>
            </a:r>
            <a:endParaRPr lang="en-US" sz="800" dirty="0"/>
          </a:p>
        </p:txBody>
      </p:sp>
      <p:sp>
        <p:nvSpPr>
          <p:cNvPr id="59" name="Text 57"/>
          <p:cNvSpPr txBox="1"/>
          <p:nvPr/>
        </p:nvSpPr>
        <p:spPr>
          <a:xfrm>
            <a:off x="12382805" y="4248302"/>
            <a:ext cx="5639105" cy="181051"/>
          </a:xfrm>
          <a:prstGeom prst="rect">
            <a:avLst/>
          </a:prstGeom>
          <a:noFill/>
          <a:ln/>
        </p:spPr>
        <p:txBody>
          <a:bodyPr wrap="none" lIns="0" tIns="0" rIns="0" bIns="0" rtlCol="0" anchor="ctr"/>
          <a:lstStyle/>
          <a:p>
            <a:pPr marL="0" indent="0" algn="l">
              <a:buNone/>
            </a:pPr>
            <a:r>
              <a:rPr lang="en-US" sz="1000" dirty="0">
                <a:solidFill>
                  <a:srgbClr val="E5E7EB"/>
                </a:solidFill>
                <a:latin typeface="Manrope" pitchFamily="34" charset="0"/>
                <a:ea typeface="Manrope" pitchFamily="34" charset="-122"/>
                <a:cs typeface="Manrope" pitchFamily="34" charset="-120"/>
              </a:rPr>
              <a:t>Vérifier que chaque profil accède uniquement aux fonctions autorisées.</a:t>
            </a:r>
            <a:endParaRPr lang="en-US" sz="1000" dirty="0"/>
          </a:p>
        </p:txBody>
      </p:sp>
      <p:sp>
        <p:nvSpPr>
          <p:cNvPr id="60" name="Text 58"/>
          <p:cNvSpPr txBox="1"/>
          <p:nvPr/>
        </p:nvSpPr>
        <p:spPr>
          <a:xfrm>
            <a:off x="12382805" y="4562856"/>
            <a:ext cx="4953305" cy="133502"/>
          </a:xfrm>
          <a:prstGeom prst="rect">
            <a:avLst/>
          </a:prstGeom>
          <a:noFill/>
          <a:ln/>
        </p:spPr>
        <p:txBody>
          <a:bodyPr wrap="none" lIns="0" tIns="0" rIns="0" bIns="0" rtlCol="0" anchor="ctr"/>
          <a:lstStyle/>
          <a:p>
            <a:pPr marL="0" indent="0" algn="l">
              <a:buNone/>
            </a:pPr>
            <a:r>
              <a:rPr lang="en-US" sz="800" b="1" kern="0" spc="83" dirty="0">
                <a:solidFill>
                  <a:srgbClr val="A78BFA"/>
                </a:solidFill>
                <a:latin typeface="JetBrains Mono" pitchFamily="34" charset="0"/>
                <a:ea typeface="JetBrains Mono" pitchFamily="34" charset="-122"/>
                <a:cs typeface="JetBrains Mono" pitchFamily="34" charset="-120"/>
              </a:rPr>
              <a:t>ÉTAPES</a:t>
            </a:r>
            <a:endParaRPr lang="en-US" sz="800" dirty="0"/>
          </a:p>
        </p:txBody>
      </p:sp>
      <p:sp>
        <p:nvSpPr>
          <p:cNvPr id="61" name="Text 59"/>
          <p:cNvSpPr txBox="1"/>
          <p:nvPr/>
        </p:nvSpPr>
        <p:spPr>
          <a:xfrm>
            <a:off x="12553798" y="4753051"/>
            <a:ext cx="4782312"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Connexion compte central · vérifier droits globaux</a:t>
            </a:r>
            <a:endParaRPr lang="en-US" sz="900" dirty="0"/>
          </a:p>
        </p:txBody>
      </p:sp>
      <p:sp>
        <p:nvSpPr>
          <p:cNvPr id="62" name="Text 60"/>
          <p:cNvSpPr txBox="1"/>
          <p:nvPr/>
        </p:nvSpPr>
        <p:spPr>
          <a:xfrm>
            <a:off x="12553798" y="4945075"/>
            <a:ext cx="4782312"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Connexion franchise · droits limités à la zone</a:t>
            </a:r>
            <a:endParaRPr lang="en-US" sz="900" dirty="0"/>
          </a:p>
        </p:txBody>
      </p:sp>
      <p:sp>
        <p:nvSpPr>
          <p:cNvPr id="63" name="Text 61"/>
          <p:cNvSpPr txBox="1"/>
          <p:nvPr/>
        </p:nvSpPr>
        <p:spPr>
          <a:xfrm>
            <a:off x="12553798" y="5137099"/>
            <a:ext cx="4782312"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Connexion partenaire · droits limités à sa flotte</a:t>
            </a:r>
            <a:endParaRPr lang="en-US" sz="900" dirty="0"/>
          </a:p>
        </p:txBody>
      </p:sp>
      <p:sp>
        <p:nvSpPr>
          <p:cNvPr id="64" name="Text 62"/>
          <p:cNvSpPr txBox="1"/>
          <p:nvPr/>
        </p:nvSpPr>
        <p:spPr>
          <a:xfrm>
            <a:off x="12553798" y="5329123"/>
            <a:ext cx="4782312"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Connexion support · accès incidents</a:t>
            </a:r>
            <a:endParaRPr lang="en-US" sz="900" dirty="0"/>
          </a:p>
        </p:txBody>
      </p:sp>
      <p:sp>
        <p:nvSpPr>
          <p:cNvPr id="65" name="Text 63"/>
          <p:cNvSpPr txBox="1"/>
          <p:nvPr/>
        </p:nvSpPr>
        <p:spPr>
          <a:xfrm>
            <a:off x="12553798" y="5521147"/>
            <a:ext cx="4782312"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Connexion finance · accès données financières</a:t>
            </a:r>
            <a:endParaRPr lang="en-US" sz="900" dirty="0"/>
          </a:p>
        </p:txBody>
      </p:sp>
      <p:sp>
        <p:nvSpPr>
          <p:cNvPr id="66" name="Text 64"/>
          <p:cNvSpPr txBox="1"/>
          <p:nvPr/>
        </p:nvSpPr>
        <p:spPr>
          <a:xfrm>
            <a:off x="12382805" y="5846674"/>
            <a:ext cx="4953305" cy="133502"/>
          </a:xfrm>
          <a:prstGeom prst="rect">
            <a:avLst/>
          </a:prstGeom>
          <a:noFill/>
          <a:ln/>
        </p:spPr>
        <p:txBody>
          <a:bodyPr wrap="none" lIns="0" tIns="0" rIns="0" bIns="0" rtlCol="0" anchor="ctr"/>
          <a:lstStyle/>
          <a:p>
            <a:pPr marL="0" indent="0" algn="l">
              <a:buNone/>
            </a:pPr>
            <a:r>
              <a:rPr lang="en-US" sz="800" b="1" kern="0" spc="83" dirty="0">
                <a:solidFill>
                  <a:srgbClr val="10B981"/>
                </a:solidFill>
                <a:latin typeface="JetBrains Mono" pitchFamily="34" charset="0"/>
                <a:ea typeface="JetBrains Mono" pitchFamily="34" charset="-122"/>
                <a:cs typeface="JetBrains Mono" pitchFamily="34" charset="-120"/>
              </a:rPr>
              <a:t>RÉSULTATS ATTENDUS</a:t>
            </a:r>
            <a:endParaRPr lang="en-US" sz="800" dirty="0"/>
          </a:p>
        </p:txBody>
      </p:sp>
      <p:sp>
        <p:nvSpPr>
          <p:cNvPr id="67" name="Text 65"/>
          <p:cNvSpPr txBox="1"/>
          <p:nvPr/>
        </p:nvSpPr>
        <p:spPr>
          <a:xfrm>
            <a:off x="12382805" y="6036869"/>
            <a:ext cx="4953305" cy="391363"/>
          </a:xfrm>
          <a:prstGeom prst="rect">
            <a:avLst/>
          </a:prstGeom>
          <a:noFill/>
          <a:ln/>
        </p:spPr>
        <p:txBody>
          <a:bodyPr wrap="squar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Droits cloisonnés · aucun partenaire ne voit les données d'un autre · franchise voit sa zone seulement · central a la vue globale.</a:t>
            </a:r>
            <a:endParaRPr lang="en-US" sz="900" dirty="0"/>
          </a:p>
        </p:txBody>
      </p:sp>
      <p:sp>
        <p:nvSpPr>
          <p:cNvPr id="68" name="Shape 66"/>
          <p:cNvSpPr/>
          <p:nvPr/>
        </p:nvSpPr>
        <p:spPr>
          <a:xfrm>
            <a:off x="12382805" y="6553505"/>
            <a:ext cx="4953305" cy="571500"/>
          </a:xfrm>
          <a:prstGeom prst="roundRect">
            <a:avLst>
              <a:gd name="adj" fmla="val 13280"/>
            </a:avLst>
          </a:prstGeom>
          <a:solidFill>
            <a:srgbClr val="4C1D95"/>
          </a:solidFill>
          <a:ln w="12700">
            <a:solidFill>
              <a:srgbClr val="FFFFFF">
                <a:alpha val="0"/>
              </a:srgbClr>
            </a:solidFill>
            <a:prstDash val="solid"/>
          </a:ln>
        </p:spPr>
        <p:txBody>
          <a:bodyPr/>
          <a:lstStyle/>
          <a:p>
            <a:endParaRPr lang="fr-CI"/>
          </a:p>
        </p:txBody>
      </p:sp>
      <p:sp>
        <p:nvSpPr>
          <p:cNvPr id="69" name="Text 67"/>
          <p:cNvSpPr txBox="1"/>
          <p:nvPr/>
        </p:nvSpPr>
        <p:spPr>
          <a:xfrm>
            <a:off x="12497105" y="6667805"/>
            <a:ext cx="4724705" cy="133502"/>
          </a:xfrm>
          <a:prstGeom prst="rect">
            <a:avLst/>
          </a:prstGeom>
          <a:noFill/>
          <a:ln/>
        </p:spPr>
        <p:txBody>
          <a:bodyPr wrap="none" lIns="0" tIns="0" rIns="0" bIns="0" rtlCol="0" anchor="ctr"/>
          <a:lstStyle/>
          <a:p>
            <a:pPr marL="0" indent="0" algn="l">
              <a:buNone/>
            </a:pPr>
            <a:r>
              <a:rPr lang="en-US" sz="800" b="1" dirty="0">
                <a:solidFill>
                  <a:srgbClr val="C4B5FD"/>
                </a:solidFill>
                <a:latin typeface="JetBrains Mono" pitchFamily="34" charset="0"/>
                <a:ea typeface="JetBrains Mono" pitchFamily="34" charset="-122"/>
                <a:cs typeface="JetBrains Mono" pitchFamily="34" charset="-120"/>
              </a:rPr>
              <a:t>CRITÈRE D'ACCEPTATION</a:t>
            </a:r>
            <a:endParaRPr lang="en-US" sz="800" dirty="0"/>
          </a:p>
        </p:txBody>
      </p:sp>
      <p:sp>
        <p:nvSpPr>
          <p:cNvPr id="70" name="Text 68"/>
          <p:cNvSpPr txBox="1"/>
          <p:nvPr/>
        </p:nvSpPr>
        <p:spPr>
          <a:xfrm>
            <a:off x="12497105" y="6839712"/>
            <a:ext cx="4724705" cy="171907"/>
          </a:xfrm>
          <a:prstGeom prst="rect">
            <a:avLst/>
          </a:prstGeom>
          <a:noFill/>
          <a:ln/>
        </p:spPr>
        <p:txBody>
          <a:bodyPr wrap="non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Aucun profil n'accède à des données non autorisées.</a:t>
            </a:r>
            <a:endParaRPr lang="en-US" sz="900" dirty="0"/>
          </a:p>
        </p:txBody>
      </p:sp>
      <p:sp>
        <p:nvSpPr>
          <p:cNvPr id="71" name="Shape 69"/>
          <p:cNvSpPr/>
          <p:nvPr/>
        </p:nvSpPr>
        <p:spPr>
          <a:xfrm>
            <a:off x="0" y="9791395"/>
            <a:ext cx="18288000" cy="495605"/>
          </a:xfrm>
          <a:prstGeom prst="rect">
            <a:avLst/>
          </a:prstGeom>
          <a:solidFill>
            <a:srgbClr val="FFFFFF"/>
          </a:solidFill>
          <a:ln/>
        </p:spPr>
        <p:txBody>
          <a:bodyPr/>
          <a:lstStyle/>
          <a:p>
            <a:endParaRPr lang="fr-CI"/>
          </a:p>
        </p:txBody>
      </p:sp>
      <p:sp>
        <p:nvSpPr>
          <p:cNvPr id="72" name="Shape 70"/>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73" name="Text 71"/>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74" name="Text 72"/>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30 / 59</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6044062" y="256946"/>
            <a:ext cx="1950415"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UC Transport · B. (1/2)</a:t>
            </a:r>
            <a:endParaRPr lang="en-US" sz="900" dirty="0"/>
          </a:p>
        </p:txBody>
      </p:sp>
      <p:sp>
        <p:nvSpPr>
          <p:cNvPr id="10" name="Text 8"/>
          <p:cNvSpPr txBox="1"/>
          <p:nvPr/>
        </p:nvSpPr>
        <p:spPr>
          <a:xfrm>
            <a:off x="914400" y="1205179"/>
            <a:ext cx="3184855"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B. Transport · VTC — partie 1</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8477281"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UC-T01 · UC-T02 — Demande de course et acceptation chauffeur.</a:t>
            </a:r>
            <a:endParaRPr lang="en-US" sz="3900" dirty="0"/>
          </a:p>
        </p:txBody>
      </p:sp>
      <p:sp>
        <p:nvSpPr>
          <p:cNvPr id="13" name="Shape 11"/>
          <p:cNvSpPr/>
          <p:nvPr/>
        </p:nvSpPr>
        <p:spPr>
          <a:xfrm>
            <a:off x="914400" y="2762402"/>
            <a:ext cx="8191195" cy="6762902"/>
          </a:xfrm>
          <a:prstGeom prst="roundRect">
            <a:avLst>
              <a:gd name="adj" fmla="val 1974"/>
            </a:avLst>
          </a:prstGeom>
          <a:solidFill>
            <a:srgbClr val="FFFFFF"/>
          </a:solidFill>
          <a:ln w="25400">
            <a:solidFill>
              <a:srgbClr val="6D28D9"/>
            </a:solidFill>
            <a:prstDash val="solid"/>
          </a:ln>
        </p:spPr>
        <p:txBody>
          <a:bodyPr/>
          <a:lstStyle/>
          <a:p>
            <a:endParaRPr lang="fr-CI"/>
          </a:p>
        </p:txBody>
      </p:sp>
      <p:sp>
        <p:nvSpPr>
          <p:cNvPr id="14" name="Text 12"/>
          <p:cNvSpPr txBox="1"/>
          <p:nvPr/>
        </p:nvSpPr>
        <p:spPr>
          <a:xfrm>
            <a:off x="1143000" y="2986430"/>
            <a:ext cx="619963" cy="219456"/>
          </a:xfrm>
          <a:prstGeom prst="rect">
            <a:avLst/>
          </a:prstGeom>
          <a:noFill/>
          <a:ln/>
        </p:spPr>
        <p:txBody>
          <a:bodyPr wrap="none" lIns="0" tIns="0" rIns="0" bIns="0" rtlCol="0" anchor="ctr"/>
          <a:lstStyle/>
          <a:p>
            <a:pPr marL="0" indent="0" algn="l">
              <a:buNone/>
            </a:pPr>
            <a:r>
              <a:rPr lang="en-US" sz="1300" b="1" dirty="0">
                <a:solidFill>
                  <a:srgbClr val="6D28D9"/>
                </a:solidFill>
                <a:latin typeface="JetBrains Mono" pitchFamily="34" charset="0"/>
                <a:ea typeface="JetBrains Mono" pitchFamily="34" charset="-122"/>
                <a:cs typeface="JetBrains Mono" pitchFamily="34" charset="-120"/>
              </a:rPr>
              <a:t>UC-T01</a:t>
            </a:r>
            <a:endParaRPr lang="en-US" sz="1300" dirty="0"/>
          </a:p>
        </p:txBody>
      </p:sp>
      <p:sp>
        <p:nvSpPr>
          <p:cNvPr id="15" name="Shape 13"/>
          <p:cNvSpPr/>
          <p:nvPr/>
        </p:nvSpPr>
        <p:spPr>
          <a:xfrm>
            <a:off x="8128102" y="2952598"/>
            <a:ext cx="733349" cy="286207"/>
          </a:xfrm>
          <a:prstGeom prst="roundRect">
            <a:avLst>
              <a:gd name="adj" fmla="val 49840"/>
            </a:avLst>
          </a:prstGeom>
          <a:solidFill>
            <a:srgbClr val="FEE2E2"/>
          </a:solidFill>
          <a:ln w="12700">
            <a:solidFill>
              <a:srgbClr val="FFFFFF">
                <a:alpha val="0"/>
              </a:srgbClr>
            </a:solidFill>
            <a:prstDash val="solid"/>
          </a:ln>
        </p:spPr>
        <p:txBody>
          <a:bodyPr/>
          <a:lstStyle/>
          <a:p>
            <a:endParaRPr lang="fr-CI"/>
          </a:p>
        </p:txBody>
      </p:sp>
      <p:sp>
        <p:nvSpPr>
          <p:cNvPr id="16" name="Text 14"/>
          <p:cNvSpPr/>
          <p:nvPr/>
        </p:nvSpPr>
        <p:spPr>
          <a:xfrm>
            <a:off x="8128102" y="2952598"/>
            <a:ext cx="7342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91B1B"/>
                </a:solidFill>
                <a:latin typeface="Manrope" pitchFamily="34" charset="0"/>
                <a:ea typeface="Manrope" pitchFamily="34" charset="-122"/>
                <a:cs typeface="Manrope" pitchFamily="34" charset="-120"/>
              </a:rPr>
              <a:t>Critique</a:t>
            </a:r>
            <a:endParaRPr lang="en-US" sz="900" dirty="0"/>
          </a:p>
        </p:txBody>
      </p:sp>
      <p:sp>
        <p:nvSpPr>
          <p:cNvPr id="17" name="Text 15"/>
          <p:cNvSpPr txBox="1"/>
          <p:nvPr/>
        </p:nvSpPr>
        <p:spPr>
          <a:xfrm>
            <a:off x="1143000" y="3333902"/>
            <a:ext cx="7715707" cy="286207"/>
          </a:xfrm>
          <a:prstGeom prst="rect">
            <a:avLst/>
          </a:prstGeom>
          <a:noFill/>
          <a:ln/>
        </p:spPr>
        <p:txBody>
          <a:bodyPr wrap="none" lIns="0" tIns="0" rIns="0" bIns="0" rtlCol="0" anchor="ctr"/>
          <a:lstStyle/>
          <a:p>
            <a:pPr marL="0" indent="0" algn="l">
              <a:buNone/>
            </a:pPr>
            <a:r>
              <a:rPr lang="en-US" sz="1800" b="1" dirty="0">
                <a:solidFill>
                  <a:srgbClr val="1F2937"/>
                </a:solidFill>
                <a:latin typeface="Manrope" pitchFamily="34" charset="0"/>
                <a:ea typeface="Manrope" pitchFamily="34" charset="-122"/>
                <a:cs typeface="Manrope" pitchFamily="34" charset="-120"/>
              </a:rPr>
              <a:t>Demande de course client</a:t>
            </a:r>
            <a:endParaRPr lang="en-US" sz="1800" dirty="0"/>
          </a:p>
        </p:txBody>
      </p:sp>
      <p:sp>
        <p:nvSpPr>
          <p:cNvPr id="18" name="Text 16"/>
          <p:cNvSpPr txBox="1"/>
          <p:nvPr/>
        </p:nvSpPr>
        <p:spPr>
          <a:xfrm>
            <a:off x="1143000" y="3676802"/>
            <a:ext cx="7715707"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Service : Transport / Taxi / VTC · Profil : Client</a:t>
            </a:r>
            <a:endParaRPr lang="en-US" sz="900" dirty="0"/>
          </a:p>
        </p:txBody>
      </p:sp>
      <p:sp>
        <p:nvSpPr>
          <p:cNvPr id="19" name="Text 17"/>
          <p:cNvSpPr txBox="1"/>
          <p:nvPr/>
        </p:nvSpPr>
        <p:spPr>
          <a:xfrm>
            <a:off x="1143000" y="4019702"/>
            <a:ext cx="3743554"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OBJECTIF</a:t>
            </a:r>
            <a:endParaRPr lang="en-US" sz="800" dirty="0"/>
          </a:p>
        </p:txBody>
      </p:sp>
      <p:sp>
        <p:nvSpPr>
          <p:cNvPr id="20" name="Text 18"/>
          <p:cNvSpPr txBox="1"/>
          <p:nvPr/>
        </p:nvSpPr>
        <p:spPr>
          <a:xfrm>
            <a:off x="1143000" y="4190695"/>
            <a:ext cx="3743554" cy="342900"/>
          </a:xfrm>
          <a:prstGeom prst="rect">
            <a:avLst/>
          </a:prstGeom>
          <a:noFill/>
          <a:ln/>
        </p:spPr>
        <p:txBody>
          <a:bodyPr wrap="squar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Vérifier qu'un client peut demander une course et que la demande est correctement transmise.</a:t>
            </a:r>
            <a:endParaRPr lang="en-US" sz="900" dirty="0"/>
          </a:p>
        </p:txBody>
      </p:sp>
      <p:sp>
        <p:nvSpPr>
          <p:cNvPr id="21" name="Text 19"/>
          <p:cNvSpPr txBox="1"/>
          <p:nvPr/>
        </p:nvSpPr>
        <p:spPr>
          <a:xfrm>
            <a:off x="5115154" y="4019702"/>
            <a:ext cx="3743554"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PRÉCONDITIONS</a:t>
            </a:r>
            <a:endParaRPr lang="en-US" sz="800" dirty="0"/>
          </a:p>
        </p:txBody>
      </p:sp>
      <p:sp>
        <p:nvSpPr>
          <p:cNvPr id="22" name="Text 20"/>
          <p:cNvSpPr txBox="1"/>
          <p:nvPr/>
        </p:nvSpPr>
        <p:spPr>
          <a:xfrm>
            <a:off x="5115154" y="4190695"/>
            <a:ext cx="3743554" cy="342900"/>
          </a:xfrm>
          <a:prstGeom prst="rect">
            <a:avLst/>
          </a:prstGeom>
          <a:noFill/>
          <a:ln/>
        </p:spPr>
        <p:txBody>
          <a:bodyPr wrap="squar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Client connecté · chauffeurs disponibles · géolocalisation activée · tarifs configurés.</a:t>
            </a:r>
            <a:endParaRPr lang="en-US" sz="900" dirty="0"/>
          </a:p>
        </p:txBody>
      </p:sp>
      <p:sp>
        <p:nvSpPr>
          <p:cNvPr id="23" name="Text 21"/>
          <p:cNvSpPr txBox="1"/>
          <p:nvPr/>
        </p:nvSpPr>
        <p:spPr>
          <a:xfrm>
            <a:off x="1143000" y="4705502"/>
            <a:ext cx="7715707"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ÉTAPES</a:t>
            </a:r>
            <a:endParaRPr lang="en-US" sz="800" dirty="0"/>
          </a:p>
        </p:txBody>
      </p:sp>
      <p:sp>
        <p:nvSpPr>
          <p:cNvPr id="24" name="Text 22"/>
          <p:cNvSpPr txBox="1"/>
          <p:nvPr/>
        </p:nvSpPr>
        <p:spPr>
          <a:xfrm>
            <a:off x="1314907" y="4914900"/>
            <a:ext cx="7543800"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Choisir le service Transport</a:t>
            </a:r>
            <a:endParaRPr lang="en-US" sz="900" dirty="0"/>
          </a:p>
        </p:txBody>
      </p:sp>
      <p:sp>
        <p:nvSpPr>
          <p:cNvPr id="25" name="Text 23"/>
          <p:cNvSpPr txBox="1"/>
          <p:nvPr/>
        </p:nvSpPr>
        <p:spPr>
          <a:xfrm>
            <a:off x="1314907" y="5113325"/>
            <a:ext cx="7543800"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Saisir le point de départ &amp; la destination</a:t>
            </a:r>
            <a:endParaRPr lang="en-US" sz="900" dirty="0"/>
          </a:p>
        </p:txBody>
      </p:sp>
      <p:sp>
        <p:nvSpPr>
          <p:cNvPr id="26" name="Text 24"/>
          <p:cNvSpPr txBox="1"/>
          <p:nvPr/>
        </p:nvSpPr>
        <p:spPr>
          <a:xfrm>
            <a:off x="1314907" y="5310835"/>
            <a:ext cx="7543800"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Choisir une catégorie de véhicule</a:t>
            </a:r>
            <a:endParaRPr lang="en-US" sz="900" dirty="0"/>
          </a:p>
        </p:txBody>
      </p:sp>
      <p:sp>
        <p:nvSpPr>
          <p:cNvPr id="27" name="Text 25"/>
          <p:cNvSpPr txBox="1"/>
          <p:nvPr/>
        </p:nvSpPr>
        <p:spPr>
          <a:xfrm>
            <a:off x="1314907" y="5509260"/>
            <a:ext cx="7543800"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Vérifier l'estimation du prix affichée</a:t>
            </a:r>
            <a:endParaRPr lang="en-US" sz="900" dirty="0"/>
          </a:p>
        </p:txBody>
      </p:sp>
      <p:sp>
        <p:nvSpPr>
          <p:cNvPr id="28" name="Text 26"/>
          <p:cNvSpPr txBox="1"/>
          <p:nvPr/>
        </p:nvSpPr>
        <p:spPr>
          <a:xfrm>
            <a:off x="1314907" y="5707685"/>
            <a:ext cx="7543800"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Confirmer la demande</a:t>
            </a:r>
            <a:endParaRPr lang="en-US" sz="900" dirty="0"/>
          </a:p>
        </p:txBody>
      </p:sp>
      <p:sp>
        <p:nvSpPr>
          <p:cNvPr id="29" name="Text 27"/>
          <p:cNvSpPr txBox="1"/>
          <p:nvPr/>
        </p:nvSpPr>
        <p:spPr>
          <a:xfrm>
            <a:off x="1314907" y="5905195"/>
            <a:ext cx="7543800"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Observer la diffusion aux chauffeurs proches</a:t>
            </a:r>
            <a:endParaRPr lang="en-US" sz="900" dirty="0"/>
          </a:p>
        </p:txBody>
      </p:sp>
      <p:sp>
        <p:nvSpPr>
          <p:cNvPr id="30" name="Text 28"/>
          <p:cNvSpPr txBox="1"/>
          <p:nvPr/>
        </p:nvSpPr>
        <p:spPr>
          <a:xfrm>
            <a:off x="1143000" y="6237122"/>
            <a:ext cx="7715707" cy="133502"/>
          </a:xfrm>
          <a:prstGeom prst="rect">
            <a:avLst/>
          </a:prstGeom>
          <a:noFill/>
          <a:ln/>
        </p:spPr>
        <p:txBody>
          <a:bodyPr wrap="none" lIns="0" tIns="0" rIns="0" bIns="0" rtlCol="0" anchor="ctr"/>
          <a:lstStyle/>
          <a:p>
            <a:pPr marL="0" indent="0" algn="l">
              <a:buNone/>
            </a:pPr>
            <a:r>
              <a:rPr lang="en-US" sz="800" b="1" dirty="0">
                <a:solidFill>
                  <a:srgbClr val="10B981"/>
                </a:solidFill>
                <a:latin typeface="JetBrains Mono" pitchFamily="34" charset="0"/>
                <a:ea typeface="JetBrains Mono" pitchFamily="34" charset="-122"/>
                <a:cs typeface="JetBrains Mono" pitchFamily="34" charset="-120"/>
              </a:rPr>
              <a:t>RÉSULTATS ATTENDUS</a:t>
            </a:r>
            <a:endParaRPr lang="en-US" sz="800" dirty="0"/>
          </a:p>
        </p:txBody>
      </p:sp>
      <p:sp>
        <p:nvSpPr>
          <p:cNvPr id="31" name="Text 29"/>
          <p:cNvSpPr txBox="1"/>
          <p:nvPr/>
        </p:nvSpPr>
        <p:spPr>
          <a:xfrm>
            <a:off x="1143000" y="6408115"/>
            <a:ext cx="8401507" cy="200254"/>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Demande créée · prix estimatif affiché · chauffeurs proches reçoivent la demande · client voit le statut "recherche".</a:t>
            </a:r>
            <a:endParaRPr lang="en-US" sz="900" dirty="0"/>
          </a:p>
        </p:txBody>
      </p:sp>
      <p:sp>
        <p:nvSpPr>
          <p:cNvPr id="32" name="Shape 30"/>
          <p:cNvSpPr/>
          <p:nvPr/>
        </p:nvSpPr>
        <p:spPr>
          <a:xfrm>
            <a:off x="1143000" y="6733642"/>
            <a:ext cx="7715707" cy="571500"/>
          </a:xfrm>
          <a:prstGeom prst="roundRect">
            <a:avLst>
              <a:gd name="adj" fmla="val 13280"/>
            </a:avLst>
          </a:prstGeom>
          <a:solidFill>
            <a:srgbClr val="F5F3FF"/>
          </a:solidFill>
          <a:ln w="12700">
            <a:solidFill>
              <a:srgbClr val="FFFFFF">
                <a:alpha val="0"/>
              </a:srgbClr>
            </a:solidFill>
            <a:prstDash val="solid"/>
          </a:ln>
        </p:spPr>
        <p:txBody>
          <a:bodyPr/>
          <a:lstStyle/>
          <a:p>
            <a:endParaRPr lang="fr-CI"/>
          </a:p>
        </p:txBody>
      </p:sp>
      <p:sp>
        <p:nvSpPr>
          <p:cNvPr id="33" name="Text 31"/>
          <p:cNvSpPr txBox="1"/>
          <p:nvPr/>
        </p:nvSpPr>
        <p:spPr>
          <a:xfrm>
            <a:off x="1257300" y="6847942"/>
            <a:ext cx="7487107"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CRITÈRE D'ACCEPTATION</a:t>
            </a:r>
            <a:endParaRPr lang="en-US" sz="800" dirty="0"/>
          </a:p>
        </p:txBody>
      </p:sp>
      <p:sp>
        <p:nvSpPr>
          <p:cNvPr id="34" name="Text 32"/>
          <p:cNvSpPr txBox="1"/>
          <p:nvPr/>
        </p:nvSpPr>
        <p:spPr>
          <a:xfrm>
            <a:off x="1257300" y="7018934"/>
            <a:ext cx="7487107" cy="171907"/>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La course est créée et transmise sans erreur.</a:t>
            </a:r>
            <a:endParaRPr lang="en-US" sz="900" dirty="0"/>
          </a:p>
        </p:txBody>
      </p:sp>
      <p:sp>
        <p:nvSpPr>
          <p:cNvPr id="35" name="Shape 33"/>
          <p:cNvSpPr/>
          <p:nvPr/>
        </p:nvSpPr>
        <p:spPr>
          <a:xfrm>
            <a:off x="9219895" y="2762402"/>
            <a:ext cx="8191195" cy="6762902"/>
          </a:xfrm>
          <a:prstGeom prst="roundRect">
            <a:avLst>
              <a:gd name="adj" fmla="val 1974"/>
            </a:avLst>
          </a:prstGeom>
          <a:solidFill>
            <a:srgbClr val="1F2937"/>
          </a:solidFill>
          <a:ln w="25400">
            <a:solidFill>
              <a:srgbClr val="6D28D9"/>
            </a:solidFill>
            <a:prstDash val="solid"/>
          </a:ln>
        </p:spPr>
        <p:txBody>
          <a:bodyPr/>
          <a:lstStyle/>
          <a:p>
            <a:endParaRPr lang="fr-CI"/>
          </a:p>
        </p:txBody>
      </p:sp>
      <p:sp>
        <p:nvSpPr>
          <p:cNvPr id="36" name="Text 34"/>
          <p:cNvSpPr txBox="1"/>
          <p:nvPr/>
        </p:nvSpPr>
        <p:spPr>
          <a:xfrm>
            <a:off x="9448495" y="2986430"/>
            <a:ext cx="619963" cy="219456"/>
          </a:xfrm>
          <a:prstGeom prst="rect">
            <a:avLst/>
          </a:prstGeom>
          <a:noFill/>
          <a:ln/>
        </p:spPr>
        <p:txBody>
          <a:bodyPr wrap="none" lIns="0" tIns="0" rIns="0" bIns="0" rtlCol="0" anchor="ctr"/>
          <a:lstStyle/>
          <a:p>
            <a:pPr marL="0" indent="0" algn="l">
              <a:buNone/>
            </a:pPr>
            <a:r>
              <a:rPr lang="en-US" sz="1300" b="1" dirty="0">
                <a:solidFill>
                  <a:srgbClr val="A78BFA"/>
                </a:solidFill>
                <a:latin typeface="JetBrains Mono" pitchFamily="34" charset="0"/>
                <a:ea typeface="JetBrains Mono" pitchFamily="34" charset="-122"/>
                <a:cs typeface="JetBrains Mono" pitchFamily="34" charset="-120"/>
              </a:rPr>
              <a:t>UC-T02</a:t>
            </a:r>
            <a:endParaRPr lang="en-US" sz="1300" dirty="0"/>
          </a:p>
        </p:txBody>
      </p:sp>
      <p:sp>
        <p:nvSpPr>
          <p:cNvPr id="37" name="Shape 35"/>
          <p:cNvSpPr/>
          <p:nvPr/>
        </p:nvSpPr>
        <p:spPr>
          <a:xfrm>
            <a:off x="16433597" y="2952598"/>
            <a:ext cx="733349" cy="286207"/>
          </a:xfrm>
          <a:prstGeom prst="roundRect">
            <a:avLst>
              <a:gd name="adj" fmla="val 49840"/>
            </a:avLst>
          </a:prstGeom>
          <a:solidFill>
            <a:srgbClr val="FEE2E2"/>
          </a:solidFill>
          <a:ln w="12700">
            <a:solidFill>
              <a:srgbClr val="FFFFFF">
                <a:alpha val="0"/>
              </a:srgbClr>
            </a:solidFill>
            <a:prstDash val="solid"/>
          </a:ln>
        </p:spPr>
        <p:txBody>
          <a:bodyPr/>
          <a:lstStyle/>
          <a:p>
            <a:endParaRPr lang="fr-CI"/>
          </a:p>
        </p:txBody>
      </p:sp>
      <p:sp>
        <p:nvSpPr>
          <p:cNvPr id="38" name="Text 36"/>
          <p:cNvSpPr/>
          <p:nvPr/>
        </p:nvSpPr>
        <p:spPr>
          <a:xfrm>
            <a:off x="16433597" y="2952598"/>
            <a:ext cx="7342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91B1B"/>
                </a:solidFill>
                <a:latin typeface="Manrope" pitchFamily="34" charset="0"/>
                <a:ea typeface="Manrope" pitchFamily="34" charset="-122"/>
                <a:cs typeface="Manrope" pitchFamily="34" charset="-120"/>
              </a:rPr>
              <a:t>Critique</a:t>
            </a:r>
            <a:endParaRPr lang="en-US" sz="900" dirty="0"/>
          </a:p>
        </p:txBody>
      </p:sp>
      <p:sp>
        <p:nvSpPr>
          <p:cNvPr id="39" name="Text 37"/>
          <p:cNvSpPr txBox="1"/>
          <p:nvPr/>
        </p:nvSpPr>
        <p:spPr>
          <a:xfrm>
            <a:off x="9448495" y="3333902"/>
            <a:ext cx="7715707" cy="314554"/>
          </a:xfrm>
          <a:prstGeom prst="rect">
            <a:avLst/>
          </a:prstGeom>
          <a:noFill/>
          <a:ln/>
        </p:spPr>
        <p:txBody>
          <a:bodyPr wrap="none" lIns="0" tIns="0" rIns="0" bIns="0" rtlCol="0" anchor="ctr"/>
          <a:lstStyle/>
          <a:p>
            <a:pPr marL="0" indent="0" algn="l">
              <a:buNone/>
            </a:pPr>
            <a:r>
              <a:rPr lang="en-US" sz="1800" b="1" dirty="0">
                <a:solidFill>
                  <a:srgbClr val="FFFFFF"/>
                </a:solidFill>
                <a:latin typeface="Manrope" pitchFamily="34" charset="0"/>
                <a:ea typeface="Manrope" pitchFamily="34" charset="-122"/>
                <a:cs typeface="Manrope" pitchFamily="34" charset="-120"/>
              </a:rPr>
              <a:t>Acceptation de course par chauffeur</a:t>
            </a:r>
            <a:endParaRPr lang="en-US" sz="1800" dirty="0"/>
          </a:p>
        </p:txBody>
      </p:sp>
      <p:sp>
        <p:nvSpPr>
          <p:cNvPr id="40" name="Text 38"/>
          <p:cNvSpPr txBox="1"/>
          <p:nvPr/>
        </p:nvSpPr>
        <p:spPr>
          <a:xfrm>
            <a:off x="9448495" y="3877056"/>
            <a:ext cx="7715707" cy="171907"/>
          </a:xfrm>
          <a:prstGeom prst="rect">
            <a:avLst/>
          </a:prstGeom>
          <a:noFill/>
          <a:ln/>
        </p:spPr>
        <p:txBody>
          <a:bodyPr wrap="none" lIns="0" tIns="0" rIns="0" bIns="0" rtlCol="0" anchor="ctr"/>
          <a:lstStyle/>
          <a:p>
            <a:pPr marL="0" indent="0" algn="l">
              <a:buNone/>
            </a:pPr>
            <a:r>
              <a:rPr lang="en-US" sz="900" dirty="0">
                <a:solidFill>
                  <a:srgbClr val="A78BFA"/>
                </a:solidFill>
                <a:latin typeface="Manrope" pitchFamily="34" charset="0"/>
                <a:ea typeface="Manrope" pitchFamily="34" charset="-122"/>
                <a:cs typeface="Manrope" pitchFamily="34" charset="-120"/>
              </a:rPr>
              <a:t>Service : Transport / Taxi / VTC · Profil : Chauffeur</a:t>
            </a:r>
            <a:endParaRPr lang="en-US" sz="900" dirty="0"/>
          </a:p>
        </p:txBody>
      </p:sp>
      <p:sp>
        <p:nvSpPr>
          <p:cNvPr id="41" name="Text 39"/>
          <p:cNvSpPr txBox="1"/>
          <p:nvPr/>
        </p:nvSpPr>
        <p:spPr>
          <a:xfrm>
            <a:off x="9448495" y="4219956"/>
            <a:ext cx="3743554"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OBJECTIF</a:t>
            </a:r>
            <a:endParaRPr lang="en-US" sz="800" dirty="0"/>
          </a:p>
        </p:txBody>
      </p:sp>
      <p:sp>
        <p:nvSpPr>
          <p:cNvPr id="42" name="Text 40"/>
          <p:cNvSpPr txBox="1"/>
          <p:nvPr/>
        </p:nvSpPr>
        <p:spPr>
          <a:xfrm>
            <a:off x="9448495" y="4390949"/>
            <a:ext cx="3743554" cy="342900"/>
          </a:xfrm>
          <a:prstGeom prst="rect">
            <a:avLst/>
          </a:prstGeom>
          <a:noFill/>
          <a:ln/>
        </p:spPr>
        <p:txBody>
          <a:bodyPr wrap="squar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Vérifier qu'un chauffeur peut accepter une course et que client + back-office voient le même statut.</a:t>
            </a:r>
            <a:endParaRPr lang="en-US" sz="900" dirty="0"/>
          </a:p>
        </p:txBody>
      </p:sp>
      <p:sp>
        <p:nvSpPr>
          <p:cNvPr id="43" name="Text 41"/>
          <p:cNvSpPr txBox="1"/>
          <p:nvPr/>
        </p:nvSpPr>
        <p:spPr>
          <a:xfrm>
            <a:off x="13420649" y="4219956"/>
            <a:ext cx="3743554"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PRÉCONDITIONS</a:t>
            </a:r>
            <a:endParaRPr lang="en-US" sz="800" dirty="0"/>
          </a:p>
        </p:txBody>
      </p:sp>
      <p:sp>
        <p:nvSpPr>
          <p:cNvPr id="44" name="Text 42"/>
          <p:cNvSpPr txBox="1"/>
          <p:nvPr/>
        </p:nvSpPr>
        <p:spPr>
          <a:xfrm>
            <a:off x="13420649" y="4390949"/>
            <a:ext cx="3743554" cy="342900"/>
          </a:xfrm>
          <a:prstGeom prst="rect">
            <a:avLst/>
          </a:prstGeom>
          <a:noFill/>
          <a:ln/>
        </p:spPr>
        <p:txBody>
          <a:bodyPr wrap="squar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Chauffeur validé · en ligne · solde wallet conforme aux règles · demande client disponible.</a:t>
            </a:r>
            <a:endParaRPr lang="en-US" sz="900" dirty="0"/>
          </a:p>
        </p:txBody>
      </p:sp>
      <p:sp>
        <p:nvSpPr>
          <p:cNvPr id="45" name="Text 43"/>
          <p:cNvSpPr txBox="1"/>
          <p:nvPr/>
        </p:nvSpPr>
        <p:spPr>
          <a:xfrm>
            <a:off x="9448495" y="4905756"/>
            <a:ext cx="7715707"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ÉTAPES</a:t>
            </a:r>
            <a:endParaRPr lang="en-US" sz="800" dirty="0"/>
          </a:p>
        </p:txBody>
      </p:sp>
      <p:sp>
        <p:nvSpPr>
          <p:cNvPr id="46" name="Text 44"/>
          <p:cNvSpPr txBox="1"/>
          <p:nvPr/>
        </p:nvSpPr>
        <p:spPr>
          <a:xfrm>
            <a:off x="9620402" y="5115154"/>
            <a:ext cx="75438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Le chauffeur reçoit la demande (notification push)</a:t>
            </a:r>
            <a:endParaRPr lang="en-US" sz="900" dirty="0"/>
          </a:p>
        </p:txBody>
      </p:sp>
      <p:sp>
        <p:nvSpPr>
          <p:cNvPr id="47" name="Text 45"/>
          <p:cNvSpPr txBox="1"/>
          <p:nvPr/>
        </p:nvSpPr>
        <p:spPr>
          <a:xfrm>
            <a:off x="9620402" y="5312664"/>
            <a:ext cx="75438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Il consulte les informations (point de départ, destination, prix)</a:t>
            </a:r>
            <a:endParaRPr lang="en-US" sz="900" dirty="0"/>
          </a:p>
        </p:txBody>
      </p:sp>
      <p:sp>
        <p:nvSpPr>
          <p:cNvPr id="48" name="Text 46"/>
          <p:cNvSpPr txBox="1"/>
          <p:nvPr/>
        </p:nvSpPr>
        <p:spPr>
          <a:xfrm>
            <a:off x="9620402" y="5511089"/>
            <a:ext cx="75438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Il accepte la course</a:t>
            </a:r>
            <a:endParaRPr lang="en-US" sz="900" dirty="0"/>
          </a:p>
        </p:txBody>
      </p:sp>
      <p:sp>
        <p:nvSpPr>
          <p:cNvPr id="49" name="Text 47"/>
          <p:cNvSpPr txBox="1"/>
          <p:nvPr/>
        </p:nvSpPr>
        <p:spPr>
          <a:xfrm>
            <a:off x="9620402" y="5709514"/>
            <a:ext cx="75438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Le client reçoit la confirmation chauffeur</a:t>
            </a:r>
            <a:endParaRPr lang="en-US" sz="900" dirty="0"/>
          </a:p>
        </p:txBody>
      </p:sp>
      <p:sp>
        <p:nvSpPr>
          <p:cNvPr id="50" name="Text 48"/>
          <p:cNvSpPr txBox="1"/>
          <p:nvPr/>
        </p:nvSpPr>
        <p:spPr>
          <a:xfrm>
            <a:off x="9620402" y="5907024"/>
            <a:ext cx="75438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Le chauffeur voit l'itinéraire vers le client</a:t>
            </a:r>
            <a:endParaRPr lang="en-US" sz="900" dirty="0"/>
          </a:p>
        </p:txBody>
      </p:sp>
      <p:sp>
        <p:nvSpPr>
          <p:cNvPr id="51" name="Text 49"/>
          <p:cNvSpPr txBox="1"/>
          <p:nvPr/>
        </p:nvSpPr>
        <p:spPr>
          <a:xfrm>
            <a:off x="9448495" y="6238951"/>
            <a:ext cx="7715707" cy="133502"/>
          </a:xfrm>
          <a:prstGeom prst="rect">
            <a:avLst/>
          </a:prstGeom>
          <a:noFill/>
          <a:ln/>
        </p:spPr>
        <p:txBody>
          <a:bodyPr wrap="none" lIns="0" tIns="0" rIns="0" bIns="0" rtlCol="0" anchor="ctr"/>
          <a:lstStyle/>
          <a:p>
            <a:pPr marL="0" indent="0" algn="l">
              <a:buNone/>
            </a:pPr>
            <a:r>
              <a:rPr lang="en-US" sz="800" b="1" dirty="0">
                <a:solidFill>
                  <a:srgbClr val="10B981"/>
                </a:solidFill>
                <a:latin typeface="JetBrains Mono" pitchFamily="34" charset="0"/>
                <a:ea typeface="JetBrains Mono" pitchFamily="34" charset="-122"/>
                <a:cs typeface="JetBrains Mono" pitchFamily="34" charset="-120"/>
              </a:rPr>
              <a:t>RÉSULTATS ATTENDUS</a:t>
            </a:r>
            <a:endParaRPr lang="en-US" sz="800" dirty="0"/>
          </a:p>
        </p:txBody>
      </p:sp>
      <p:sp>
        <p:nvSpPr>
          <p:cNvPr id="52" name="Text 50"/>
          <p:cNvSpPr txBox="1"/>
          <p:nvPr/>
        </p:nvSpPr>
        <p:spPr>
          <a:xfrm>
            <a:off x="9448495" y="6409944"/>
            <a:ext cx="8401507"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Acceptation enregistrée · statut mis à jour · client informé · chauffeur affecté · course visible au back-office.</a:t>
            </a:r>
            <a:endParaRPr lang="en-US" sz="900" dirty="0"/>
          </a:p>
        </p:txBody>
      </p:sp>
      <p:sp>
        <p:nvSpPr>
          <p:cNvPr id="53" name="Shape 51"/>
          <p:cNvSpPr/>
          <p:nvPr/>
        </p:nvSpPr>
        <p:spPr>
          <a:xfrm>
            <a:off x="9448495" y="6735470"/>
            <a:ext cx="7715707" cy="571500"/>
          </a:xfrm>
          <a:prstGeom prst="roundRect">
            <a:avLst>
              <a:gd name="adj" fmla="val 13280"/>
            </a:avLst>
          </a:prstGeom>
          <a:solidFill>
            <a:srgbClr val="4C1D95"/>
          </a:solidFill>
          <a:ln w="12700">
            <a:solidFill>
              <a:srgbClr val="FFFFFF">
                <a:alpha val="0"/>
              </a:srgbClr>
            </a:solidFill>
            <a:prstDash val="solid"/>
          </a:ln>
        </p:spPr>
        <p:txBody>
          <a:bodyPr/>
          <a:lstStyle/>
          <a:p>
            <a:endParaRPr lang="fr-CI"/>
          </a:p>
        </p:txBody>
      </p:sp>
      <p:sp>
        <p:nvSpPr>
          <p:cNvPr id="54" name="Text 52"/>
          <p:cNvSpPr txBox="1"/>
          <p:nvPr/>
        </p:nvSpPr>
        <p:spPr>
          <a:xfrm>
            <a:off x="9562795" y="6849770"/>
            <a:ext cx="7487107" cy="133502"/>
          </a:xfrm>
          <a:prstGeom prst="rect">
            <a:avLst/>
          </a:prstGeom>
          <a:noFill/>
          <a:ln/>
        </p:spPr>
        <p:txBody>
          <a:bodyPr wrap="none" lIns="0" tIns="0" rIns="0" bIns="0" rtlCol="0" anchor="ctr"/>
          <a:lstStyle/>
          <a:p>
            <a:pPr marL="0" indent="0" algn="l">
              <a:buNone/>
            </a:pPr>
            <a:r>
              <a:rPr lang="en-US" sz="800" b="1" dirty="0">
                <a:solidFill>
                  <a:srgbClr val="C4B5FD"/>
                </a:solidFill>
                <a:latin typeface="JetBrains Mono" pitchFamily="34" charset="0"/>
                <a:ea typeface="JetBrains Mono" pitchFamily="34" charset="-122"/>
                <a:cs typeface="JetBrains Mono" pitchFamily="34" charset="-120"/>
              </a:rPr>
              <a:t>CRITÈRE D'ACCEPTATION</a:t>
            </a:r>
            <a:endParaRPr lang="en-US" sz="800" dirty="0"/>
          </a:p>
        </p:txBody>
      </p:sp>
      <p:sp>
        <p:nvSpPr>
          <p:cNvPr id="55" name="Text 53"/>
          <p:cNvSpPr txBox="1"/>
          <p:nvPr/>
        </p:nvSpPr>
        <p:spPr>
          <a:xfrm>
            <a:off x="9562795" y="7020763"/>
            <a:ext cx="7487107" cy="171907"/>
          </a:xfrm>
          <a:prstGeom prst="rect">
            <a:avLst/>
          </a:prstGeom>
          <a:noFill/>
          <a:ln/>
        </p:spPr>
        <p:txBody>
          <a:bodyPr wrap="non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Client, chauffeur et back-office voient la même course avec le même statut.</a:t>
            </a:r>
            <a:endParaRPr lang="en-US" sz="900" dirty="0"/>
          </a:p>
        </p:txBody>
      </p:sp>
      <p:sp>
        <p:nvSpPr>
          <p:cNvPr id="56" name="Shape 54"/>
          <p:cNvSpPr/>
          <p:nvPr/>
        </p:nvSpPr>
        <p:spPr>
          <a:xfrm>
            <a:off x="0" y="9791395"/>
            <a:ext cx="18288000" cy="495605"/>
          </a:xfrm>
          <a:prstGeom prst="rect">
            <a:avLst/>
          </a:prstGeom>
          <a:solidFill>
            <a:srgbClr val="FFFFFF"/>
          </a:solidFill>
          <a:ln/>
        </p:spPr>
        <p:txBody>
          <a:bodyPr/>
          <a:lstStyle/>
          <a:p>
            <a:endParaRPr lang="fr-CI"/>
          </a:p>
        </p:txBody>
      </p:sp>
      <p:sp>
        <p:nvSpPr>
          <p:cNvPr id="57" name="Shape 55"/>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58" name="Text 56"/>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59" name="Text 57"/>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31 / 59</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6023031" y="256946"/>
            <a:ext cx="1972361"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UC Transport · B. (2/2)</a:t>
            </a:r>
            <a:endParaRPr lang="en-US" sz="900" dirty="0"/>
          </a:p>
        </p:txBody>
      </p:sp>
      <p:sp>
        <p:nvSpPr>
          <p:cNvPr id="10" name="Text 8"/>
          <p:cNvSpPr txBox="1"/>
          <p:nvPr/>
        </p:nvSpPr>
        <p:spPr>
          <a:xfrm>
            <a:off x="914400" y="1205179"/>
            <a:ext cx="3184855"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B. Transport · VTC — partie 2</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6979494"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UC-T03 · UC-T04 · UC-T05 — cycle complet et annulations.</a:t>
            </a:r>
            <a:endParaRPr lang="en-US" sz="3900" dirty="0"/>
          </a:p>
        </p:txBody>
      </p:sp>
      <p:sp>
        <p:nvSpPr>
          <p:cNvPr id="13" name="Shape 11"/>
          <p:cNvSpPr/>
          <p:nvPr/>
        </p:nvSpPr>
        <p:spPr>
          <a:xfrm>
            <a:off x="914400" y="2667305"/>
            <a:ext cx="16497605" cy="3238805"/>
          </a:xfrm>
          <a:prstGeom prst="roundRect">
            <a:avLst>
              <a:gd name="adj" fmla="val 4122"/>
            </a:avLst>
          </a:prstGeom>
          <a:solidFill>
            <a:srgbClr val="FFFFFF"/>
          </a:solidFill>
          <a:ln w="25400">
            <a:solidFill>
              <a:srgbClr val="6D28D9"/>
            </a:solidFill>
            <a:prstDash val="solid"/>
          </a:ln>
        </p:spPr>
        <p:txBody>
          <a:bodyPr/>
          <a:lstStyle/>
          <a:p>
            <a:endParaRPr lang="fr-CI"/>
          </a:p>
        </p:txBody>
      </p:sp>
      <p:sp>
        <p:nvSpPr>
          <p:cNvPr id="14" name="Text 12"/>
          <p:cNvSpPr txBox="1"/>
          <p:nvPr/>
        </p:nvSpPr>
        <p:spPr>
          <a:xfrm>
            <a:off x="1218895" y="2890418"/>
            <a:ext cx="619963" cy="219456"/>
          </a:xfrm>
          <a:prstGeom prst="rect">
            <a:avLst/>
          </a:prstGeom>
          <a:noFill/>
          <a:ln/>
        </p:spPr>
        <p:txBody>
          <a:bodyPr wrap="none" lIns="0" tIns="0" rIns="0" bIns="0" rtlCol="0" anchor="ctr"/>
          <a:lstStyle/>
          <a:p>
            <a:pPr marL="0" indent="0" algn="l">
              <a:buNone/>
            </a:pPr>
            <a:r>
              <a:rPr lang="en-US" sz="1300" b="1" dirty="0">
                <a:solidFill>
                  <a:srgbClr val="6D28D9"/>
                </a:solidFill>
                <a:latin typeface="JetBrains Mono" pitchFamily="34" charset="0"/>
                <a:ea typeface="JetBrains Mono" pitchFamily="34" charset="-122"/>
                <a:cs typeface="JetBrains Mono" pitchFamily="34" charset="-120"/>
              </a:rPr>
              <a:t>UC-T03</a:t>
            </a:r>
            <a:endParaRPr lang="en-US" sz="1300" dirty="0"/>
          </a:p>
        </p:txBody>
      </p:sp>
      <p:sp>
        <p:nvSpPr>
          <p:cNvPr id="15" name="Text 13"/>
          <p:cNvSpPr txBox="1"/>
          <p:nvPr/>
        </p:nvSpPr>
        <p:spPr>
          <a:xfrm>
            <a:off x="1969618" y="2857500"/>
            <a:ext cx="3543300" cy="286207"/>
          </a:xfrm>
          <a:prstGeom prst="rect">
            <a:avLst/>
          </a:prstGeom>
          <a:noFill/>
          <a:ln/>
        </p:spPr>
        <p:txBody>
          <a:bodyPr wrap="none" lIns="0" tIns="0" rIns="0" bIns="0" rtlCol="0" anchor="ctr"/>
          <a:lstStyle/>
          <a:p>
            <a:pPr marL="0" indent="0" algn="l">
              <a:buNone/>
            </a:pPr>
            <a:r>
              <a:rPr lang="en-US" sz="1800" b="1" dirty="0">
                <a:solidFill>
                  <a:srgbClr val="1F2937"/>
                </a:solidFill>
                <a:latin typeface="Manrope" pitchFamily="34" charset="0"/>
                <a:ea typeface="Manrope" pitchFamily="34" charset="-122"/>
                <a:cs typeface="Manrope" pitchFamily="34" charset="-120"/>
              </a:rPr>
              <a:t>Démarrage et fin de course</a:t>
            </a:r>
            <a:endParaRPr lang="en-US" sz="1800" dirty="0"/>
          </a:p>
        </p:txBody>
      </p:sp>
      <p:sp>
        <p:nvSpPr>
          <p:cNvPr id="16" name="Shape 14"/>
          <p:cNvSpPr/>
          <p:nvPr/>
        </p:nvSpPr>
        <p:spPr>
          <a:xfrm>
            <a:off x="16415309" y="2857500"/>
            <a:ext cx="733349" cy="286207"/>
          </a:xfrm>
          <a:prstGeom prst="roundRect">
            <a:avLst>
              <a:gd name="adj" fmla="val 49840"/>
            </a:avLst>
          </a:prstGeom>
          <a:solidFill>
            <a:srgbClr val="FEE2E2"/>
          </a:solidFill>
          <a:ln w="12700">
            <a:solidFill>
              <a:srgbClr val="FFFFFF">
                <a:alpha val="0"/>
              </a:srgbClr>
            </a:solidFill>
            <a:prstDash val="solid"/>
          </a:ln>
        </p:spPr>
        <p:txBody>
          <a:bodyPr/>
          <a:lstStyle/>
          <a:p>
            <a:endParaRPr lang="fr-CI"/>
          </a:p>
        </p:txBody>
      </p:sp>
      <p:sp>
        <p:nvSpPr>
          <p:cNvPr id="17" name="Text 15"/>
          <p:cNvSpPr/>
          <p:nvPr/>
        </p:nvSpPr>
        <p:spPr>
          <a:xfrm>
            <a:off x="16415309" y="2857500"/>
            <a:ext cx="7342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91B1B"/>
                </a:solidFill>
                <a:latin typeface="Manrope" pitchFamily="34" charset="0"/>
                <a:ea typeface="Manrope" pitchFamily="34" charset="-122"/>
                <a:cs typeface="Manrope" pitchFamily="34" charset="-120"/>
              </a:rPr>
              <a:t>Critique</a:t>
            </a:r>
            <a:endParaRPr lang="en-US" sz="900" dirty="0"/>
          </a:p>
        </p:txBody>
      </p:sp>
      <p:sp>
        <p:nvSpPr>
          <p:cNvPr id="18" name="Text 16"/>
          <p:cNvSpPr txBox="1"/>
          <p:nvPr/>
        </p:nvSpPr>
        <p:spPr>
          <a:xfrm>
            <a:off x="1218895" y="3200400"/>
            <a:ext cx="15926105"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Service : Transport / Taxi / VTC · Profils : Client, Chauffeur, Central</a:t>
            </a:r>
            <a:endParaRPr lang="en-US" sz="900" dirty="0"/>
          </a:p>
        </p:txBody>
      </p:sp>
      <p:sp>
        <p:nvSpPr>
          <p:cNvPr id="19" name="Text 17"/>
          <p:cNvSpPr txBox="1"/>
          <p:nvPr/>
        </p:nvSpPr>
        <p:spPr>
          <a:xfrm>
            <a:off x="1218895" y="3543300"/>
            <a:ext cx="7734910"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ÉTAPES — CYCLE COMPLET</a:t>
            </a:r>
            <a:endParaRPr lang="en-US" sz="800" dirty="0"/>
          </a:p>
        </p:txBody>
      </p:sp>
      <p:sp>
        <p:nvSpPr>
          <p:cNvPr id="20" name="Text 18"/>
          <p:cNvSpPr txBox="1"/>
          <p:nvPr/>
        </p:nvSpPr>
        <p:spPr>
          <a:xfrm>
            <a:off x="1390802" y="3752698"/>
            <a:ext cx="3686861"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Le chauffeur arrive au point de départ</a:t>
            </a:r>
            <a:endParaRPr lang="en-US" sz="900" dirty="0"/>
          </a:p>
        </p:txBody>
      </p:sp>
      <p:sp>
        <p:nvSpPr>
          <p:cNvPr id="21" name="Text 19"/>
          <p:cNvSpPr txBox="1"/>
          <p:nvPr/>
        </p:nvSpPr>
        <p:spPr>
          <a:xfrm>
            <a:off x="1390802" y="3951122"/>
            <a:ext cx="3686861"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Il signale son arrivée</a:t>
            </a:r>
            <a:endParaRPr lang="en-US" sz="900" dirty="0"/>
          </a:p>
        </p:txBody>
      </p:sp>
      <p:sp>
        <p:nvSpPr>
          <p:cNvPr id="22" name="Text 20"/>
          <p:cNvSpPr txBox="1"/>
          <p:nvPr/>
        </p:nvSpPr>
        <p:spPr>
          <a:xfrm>
            <a:off x="1390802" y="4148633"/>
            <a:ext cx="3686861"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Le client monte à bord</a:t>
            </a:r>
            <a:endParaRPr lang="en-US" sz="900" dirty="0"/>
          </a:p>
        </p:txBody>
      </p:sp>
      <p:sp>
        <p:nvSpPr>
          <p:cNvPr id="23" name="Text 21"/>
          <p:cNvSpPr txBox="1"/>
          <p:nvPr/>
        </p:nvSpPr>
        <p:spPr>
          <a:xfrm>
            <a:off x="1390802" y="4347058"/>
            <a:ext cx="3686861"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Le chauffeur démarre la course</a:t>
            </a:r>
            <a:endParaRPr lang="en-US" sz="900" dirty="0"/>
          </a:p>
        </p:txBody>
      </p:sp>
      <p:sp>
        <p:nvSpPr>
          <p:cNvPr id="24" name="Text 22"/>
          <p:cNvSpPr txBox="1"/>
          <p:nvPr/>
        </p:nvSpPr>
        <p:spPr>
          <a:xfrm>
            <a:off x="1390802" y="4545482"/>
            <a:ext cx="3686861"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Le trajet est suivi en temps réel</a:t>
            </a:r>
            <a:endParaRPr lang="en-US" sz="900" dirty="0"/>
          </a:p>
        </p:txBody>
      </p:sp>
      <p:sp>
        <p:nvSpPr>
          <p:cNvPr id="25" name="Text 23"/>
          <p:cNvSpPr txBox="1"/>
          <p:nvPr/>
        </p:nvSpPr>
        <p:spPr>
          <a:xfrm>
            <a:off x="5266944" y="3752698"/>
            <a:ext cx="3686861"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Le chauffeur termine la course</a:t>
            </a:r>
            <a:endParaRPr lang="en-US" sz="900" dirty="0"/>
          </a:p>
        </p:txBody>
      </p:sp>
      <p:sp>
        <p:nvSpPr>
          <p:cNvPr id="26" name="Text 24"/>
          <p:cNvSpPr txBox="1"/>
          <p:nvPr/>
        </p:nvSpPr>
        <p:spPr>
          <a:xfrm>
            <a:off x="5266944" y="3951122"/>
            <a:ext cx="3686861"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Le prix final est calculé</a:t>
            </a:r>
            <a:endParaRPr lang="en-US" sz="900" dirty="0"/>
          </a:p>
        </p:txBody>
      </p:sp>
      <p:sp>
        <p:nvSpPr>
          <p:cNvPr id="27" name="Text 25"/>
          <p:cNvSpPr txBox="1"/>
          <p:nvPr/>
        </p:nvSpPr>
        <p:spPr>
          <a:xfrm>
            <a:off x="5266944" y="4148633"/>
            <a:ext cx="3686861"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La commission est calculée &amp; débitée</a:t>
            </a:r>
            <a:endParaRPr lang="en-US" sz="900" dirty="0"/>
          </a:p>
        </p:txBody>
      </p:sp>
      <p:sp>
        <p:nvSpPr>
          <p:cNvPr id="28" name="Text 26"/>
          <p:cNvSpPr txBox="1"/>
          <p:nvPr/>
        </p:nvSpPr>
        <p:spPr>
          <a:xfrm>
            <a:off x="5266944" y="4347058"/>
            <a:ext cx="3686861"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Le wallet est mis à jour</a:t>
            </a:r>
            <a:endParaRPr lang="en-US" sz="900" dirty="0"/>
          </a:p>
        </p:txBody>
      </p:sp>
      <p:sp>
        <p:nvSpPr>
          <p:cNvPr id="29" name="Text 27"/>
          <p:cNvSpPr txBox="1"/>
          <p:nvPr/>
        </p:nvSpPr>
        <p:spPr>
          <a:xfrm>
            <a:off x="5266944" y="4545482"/>
            <a:ext cx="3686861"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La course apparaît dans les historiques</a:t>
            </a:r>
            <a:endParaRPr lang="en-US" sz="900" dirty="0"/>
          </a:p>
        </p:txBody>
      </p:sp>
      <p:sp>
        <p:nvSpPr>
          <p:cNvPr id="30" name="Text 28"/>
          <p:cNvSpPr txBox="1"/>
          <p:nvPr/>
        </p:nvSpPr>
        <p:spPr>
          <a:xfrm>
            <a:off x="9182405" y="3543300"/>
            <a:ext cx="3867912" cy="133502"/>
          </a:xfrm>
          <a:prstGeom prst="rect">
            <a:avLst/>
          </a:prstGeom>
          <a:noFill/>
          <a:ln/>
        </p:spPr>
        <p:txBody>
          <a:bodyPr wrap="none" lIns="0" tIns="0" rIns="0" bIns="0" rtlCol="0" anchor="ctr"/>
          <a:lstStyle/>
          <a:p>
            <a:pPr marL="0" indent="0" algn="l">
              <a:buNone/>
            </a:pPr>
            <a:r>
              <a:rPr lang="en-US" sz="800" b="1" dirty="0">
                <a:solidFill>
                  <a:srgbClr val="10B981"/>
                </a:solidFill>
                <a:latin typeface="JetBrains Mono" pitchFamily="34" charset="0"/>
                <a:ea typeface="JetBrains Mono" pitchFamily="34" charset="-122"/>
                <a:cs typeface="JetBrains Mono" pitchFamily="34" charset="-120"/>
              </a:rPr>
              <a:t>RÉSULTATS ATTENDUS</a:t>
            </a:r>
            <a:endParaRPr lang="en-US" sz="800" dirty="0"/>
          </a:p>
        </p:txBody>
      </p:sp>
      <p:sp>
        <p:nvSpPr>
          <p:cNvPr id="31" name="Text 29"/>
          <p:cNvSpPr txBox="1"/>
          <p:nvPr/>
        </p:nvSpPr>
        <p:spPr>
          <a:xfrm>
            <a:off x="9182405" y="3733495"/>
            <a:ext cx="3867912" cy="342900"/>
          </a:xfrm>
          <a:prstGeom prst="rect">
            <a:avLst/>
          </a:prstGeom>
          <a:noFill/>
          <a:ln/>
        </p:spPr>
        <p:txBody>
          <a:bodyPr wrap="squar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Statuts cohérents · prix correct · commission correcte · wallet à jour · historique client &amp; chauffeur · reporting central.</a:t>
            </a:r>
            <a:endParaRPr lang="en-US" sz="900" dirty="0"/>
          </a:p>
        </p:txBody>
      </p:sp>
      <p:sp>
        <p:nvSpPr>
          <p:cNvPr id="32" name="Text 30"/>
          <p:cNvSpPr txBox="1"/>
          <p:nvPr/>
        </p:nvSpPr>
        <p:spPr>
          <a:xfrm>
            <a:off x="13278002" y="3543300"/>
            <a:ext cx="3867912"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CRITÈRE D'ACCEPTATION</a:t>
            </a:r>
            <a:endParaRPr lang="en-US" sz="800" dirty="0"/>
          </a:p>
        </p:txBody>
      </p:sp>
      <p:sp>
        <p:nvSpPr>
          <p:cNvPr id="33" name="Text 31"/>
          <p:cNvSpPr txBox="1"/>
          <p:nvPr/>
        </p:nvSpPr>
        <p:spPr>
          <a:xfrm>
            <a:off x="13278002" y="3733495"/>
            <a:ext cx="3867912" cy="342900"/>
          </a:xfrm>
          <a:prstGeom prst="rect">
            <a:avLst/>
          </a:prstGeom>
          <a:noFill/>
          <a:ln/>
        </p:spPr>
        <p:txBody>
          <a:bodyPr wrap="squar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Une course complète doit pouvoir être réalisée sans blocage, de l'arrivée chauffeur à l'historique.</a:t>
            </a:r>
            <a:endParaRPr lang="en-US" sz="900" dirty="0"/>
          </a:p>
        </p:txBody>
      </p:sp>
      <p:sp>
        <p:nvSpPr>
          <p:cNvPr id="34" name="Shape 32"/>
          <p:cNvSpPr/>
          <p:nvPr/>
        </p:nvSpPr>
        <p:spPr>
          <a:xfrm>
            <a:off x="914400" y="6096305"/>
            <a:ext cx="8172907" cy="3429000"/>
          </a:xfrm>
          <a:prstGeom prst="roundRect">
            <a:avLst>
              <a:gd name="adj" fmla="val 3893"/>
            </a:avLst>
          </a:prstGeom>
          <a:solidFill>
            <a:srgbClr val="FAFAFC"/>
          </a:solidFill>
          <a:ln w="12700">
            <a:solidFill>
              <a:srgbClr val="E5E7EB"/>
            </a:solidFill>
            <a:prstDash val="solid"/>
          </a:ln>
        </p:spPr>
        <p:txBody>
          <a:bodyPr/>
          <a:lstStyle/>
          <a:p>
            <a:endParaRPr lang="fr-CI"/>
          </a:p>
        </p:txBody>
      </p:sp>
      <p:sp>
        <p:nvSpPr>
          <p:cNvPr id="35" name="Text 33"/>
          <p:cNvSpPr txBox="1"/>
          <p:nvPr/>
        </p:nvSpPr>
        <p:spPr>
          <a:xfrm>
            <a:off x="1218895" y="6329477"/>
            <a:ext cx="553212" cy="200254"/>
          </a:xfrm>
          <a:prstGeom prst="rect">
            <a:avLst/>
          </a:prstGeom>
          <a:noFill/>
          <a:ln/>
        </p:spPr>
        <p:txBody>
          <a:bodyPr wrap="none" lIns="0" tIns="0" rIns="0" bIns="0" rtlCol="0" anchor="ctr"/>
          <a:lstStyle/>
          <a:p>
            <a:pPr marL="0" indent="0" algn="l">
              <a:buNone/>
            </a:pPr>
            <a:r>
              <a:rPr lang="en-US" sz="1200" b="1" dirty="0">
                <a:solidFill>
                  <a:srgbClr val="6D28D9"/>
                </a:solidFill>
                <a:latin typeface="JetBrains Mono" pitchFamily="34" charset="0"/>
                <a:ea typeface="JetBrains Mono" pitchFamily="34" charset="-122"/>
                <a:cs typeface="JetBrains Mono" pitchFamily="34" charset="-120"/>
              </a:rPr>
              <a:t>UC-T04</a:t>
            </a:r>
            <a:endParaRPr lang="en-US" sz="1200" dirty="0"/>
          </a:p>
        </p:txBody>
      </p:sp>
      <p:sp>
        <p:nvSpPr>
          <p:cNvPr id="36" name="Text 34"/>
          <p:cNvSpPr txBox="1"/>
          <p:nvPr/>
        </p:nvSpPr>
        <p:spPr>
          <a:xfrm>
            <a:off x="1901038" y="6310274"/>
            <a:ext cx="1893722" cy="238658"/>
          </a:xfrm>
          <a:prstGeom prst="rect">
            <a:avLst/>
          </a:prstGeom>
          <a:noFill/>
          <a:ln/>
        </p:spPr>
        <p:txBody>
          <a:bodyPr wrap="none" lIns="0" tIns="0" rIns="0" bIns="0" rtlCol="0" anchor="ctr"/>
          <a:lstStyle/>
          <a:p>
            <a:pPr marL="0" indent="0" algn="l">
              <a:buNone/>
            </a:pPr>
            <a:r>
              <a:rPr lang="en-US" sz="1500" b="1" dirty="0">
                <a:solidFill>
                  <a:srgbClr val="1F2937"/>
                </a:solidFill>
                <a:latin typeface="Manrope" pitchFamily="34" charset="0"/>
                <a:ea typeface="Manrope" pitchFamily="34" charset="-122"/>
                <a:cs typeface="Manrope" pitchFamily="34" charset="-120"/>
              </a:rPr>
              <a:t>Annulation client</a:t>
            </a:r>
            <a:endParaRPr lang="en-US" sz="1500" dirty="0"/>
          </a:p>
        </p:txBody>
      </p:sp>
      <p:sp>
        <p:nvSpPr>
          <p:cNvPr id="37" name="Shape 35"/>
          <p:cNvSpPr/>
          <p:nvPr/>
        </p:nvSpPr>
        <p:spPr>
          <a:xfrm>
            <a:off x="8093354" y="6286500"/>
            <a:ext cx="733349" cy="286207"/>
          </a:xfrm>
          <a:prstGeom prst="roundRect">
            <a:avLst>
              <a:gd name="adj" fmla="val 49840"/>
            </a:avLst>
          </a:prstGeom>
          <a:solidFill>
            <a:srgbClr val="FEF3C7"/>
          </a:solidFill>
          <a:ln w="12700">
            <a:solidFill>
              <a:srgbClr val="FFFFFF">
                <a:alpha val="0"/>
              </a:srgbClr>
            </a:solidFill>
            <a:prstDash val="solid"/>
          </a:ln>
        </p:spPr>
        <p:txBody>
          <a:bodyPr/>
          <a:lstStyle/>
          <a:p>
            <a:endParaRPr lang="fr-CI"/>
          </a:p>
        </p:txBody>
      </p:sp>
      <p:sp>
        <p:nvSpPr>
          <p:cNvPr id="38" name="Text 36"/>
          <p:cNvSpPr/>
          <p:nvPr/>
        </p:nvSpPr>
        <p:spPr>
          <a:xfrm>
            <a:off x="8093354" y="6286500"/>
            <a:ext cx="7342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2400E"/>
                </a:solidFill>
                <a:latin typeface="Manrope" pitchFamily="34" charset="0"/>
                <a:ea typeface="Manrope" pitchFamily="34" charset="-122"/>
                <a:cs typeface="Manrope" pitchFamily="34" charset="-120"/>
              </a:rPr>
              <a:t>Majeure</a:t>
            </a:r>
            <a:endParaRPr lang="en-US" sz="900" dirty="0"/>
          </a:p>
        </p:txBody>
      </p:sp>
      <p:sp>
        <p:nvSpPr>
          <p:cNvPr id="39" name="Text 37"/>
          <p:cNvSpPr txBox="1"/>
          <p:nvPr/>
        </p:nvSpPr>
        <p:spPr>
          <a:xfrm>
            <a:off x="1218895" y="6667805"/>
            <a:ext cx="76014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Tester l'annulation d'une course par le client après acceptation chauffeur.</a:t>
            </a:r>
            <a:endParaRPr lang="en-US" sz="900" dirty="0"/>
          </a:p>
        </p:txBody>
      </p:sp>
      <p:sp>
        <p:nvSpPr>
          <p:cNvPr id="40" name="Text 38"/>
          <p:cNvSpPr txBox="1"/>
          <p:nvPr/>
        </p:nvSpPr>
        <p:spPr>
          <a:xfrm>
            <a:off x="1218895" y="6983273"/>
            <a:ext cx="7601407"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ÉTAPES</a:t>
            </a:r>
            <a:endParaRPr lang="en-US" sz="800" dirty="0"/>
          </a:p>
        </p:txBody>
      </p:sp>
      <p:sp>
        <p:nvSpPr>
          <p:cNvPr id="41" name="Text 39"/>
          <p:cNvSpPr txBox="1"/>
          <p:nvPr/>
        </p:nvSpPr>
        <p:spPr>
          <a:xfrm>
            <a:off x="1390802" y="7173468"/>
            <a:ext cx="7429500" cy="191110"/>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Client demande une course</a:t>
            </a:r>
            <a:endParaRPr lang="en-US" sz="900" dirty="0"/>
          </a:p>
        </p:txBody>
      </p:sp>
      <p:sp>
        <p:nvSpPr>
          <p:cNvPr id="42" name="Text 40"/>
          <p:cNvSpPr txBox="1"/>
          <p:nvPr/>
        </p:nvSpPr>
        <p:spPr>
          <a:xfrm>
            <a:off x="1390802" y="7360006"/>
            <a:ext cx="7429500" cy="191110"/>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Un chauffeur accepte</a:t>
            </a:r>
            <a:endParaRPr lang="en-US" sz="900" dirty="0"/>
          </a:p>
        </p:txBody>
      </p:sp>
      <p:sp>
        <p:nvSpPr>
          <p:cNvPr id="43" name="Text 41"/>
          <p:cNvSpPr txBox="1"/>
          <p:nvPr/>
        </p:nvSpPr>
        <p:spPr>
          <a:xfrm>
            <a:off x="1390802" y="7545629"/>
            <a:ext cx="7429500" cy="191110"/>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Le client annule</a:t>
            </a:r>
            <a:endParaRPr lang="en-US" sz="900" dirty="0"/>
          </a:p>
        </p:txBody>
      </p:sp>
      <p:sp>
        <p:nvSpPr>
          <p:cNvPr id="44" name="Text 42"/>
          <p:cNvSpPr txBox="1"/>
          <p:nvPr/>
        </p:nvSpPr>
        <p:spPr>
          <a:xfrm>
            <a:off x="1390802" y="7731252"/>
            <a:ext cx="7429500" cy="191110"/>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Le chauffeur reçoit la notification</a:t>
            </a:r>
            <a:endParaRPr lang="en-US" sz="900" dirty="0"/>
          </a:p>
        </p:txBody>
      </p:sp>
      <p:sp>
        <p:nvSpPr>
          <p:cNvPr id="45" name="Text 43"/>
          <p:cNvSpPr txBox="1"/>
          <p:nvPr/>
        </p:nvSpPr>
        <p:spPr>
          <a:xfrm>
            <a:off x="1390802" y="7916875"/>
            <a:ext cx="7429500" cy="191110"/>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Back-office affiche statut annulé · chauffeur redevient disponible</a:t>
            </a:r>
            <a:endParaRPr lang="en-US" sz="900" dirty="0"/>
          </a:p>
        </p:txBody>
      </p:sp>
      <p:sp>
        <p:nvSpPr>
          <p:cNvPr id="46" name="Shape 44"/>
          <p:cNvSpPr/>
          <p:nvPr/>
        </p:nvSpPr>
        <p:spPr>
          <a:xfrm>
            <a:off x="1218895" y="8197596"/>
            <a:ext cx="7601407" cy="400507"/>
          </a:xfrm>
          <a:prstGeom prst="roundRect">
            <a:avLst>
              <a:gd name="adj" fmla="val 18950"/>
            </a:avLst>
          </a:prstGeom>
          <a:solidFill>
            <a:srgbClr val="FFFFFF"/>
          </a:solidFill>
          <a:ln/>
        </p:spPr>
        <p:txBody>
          <a:bodyPr/>
          <a:lstStyle/>
          <a:p>
            <a:endParaRPr lang="fr-CI"/>
          </a:p>
        </p:txBody>
      </p:sp>
      <p:sp>
        <p:nvSpPr>
          <p:cNvPr id="47" name="Shape 45"/>
          <p:cNvSpPr/>
          <p:nvPr/>
        </p:nvSpPr>
        <p:spPr>
          <a:xfrm>
            <a:off x="1218895" y="8197596"/>
            <a:ext cx="28346" cy="400507"/>
          </a:xfrm>
          <a:prstGeom prst="roundRect">
            <a:avLst>
              <a:gd name="adj" fmla="val 267746"/>
            </a:avLst>
          </a:prstGeom>
          <a:solidFill>
            <a:srgbClr val="10B981"/>
          </a:solidFill>
          <a:ln w="12700">
            <a:solidFill>
              <a:srgbClr val="10B981">
                <a:alpha val="0"/>
              </a:srgbClr>
            </a:solidFill>
            <a:prstDash val="solid"/>
          </a:ln>
        </p:spPr>
        <p:txBody>
          <a:bodyPr/>
          <a:lstStyle/>
          <a:p>
            <a:endParaRPr lang="fr-CI"/>
          </a:p>
        </p:txBody>
      </p:sp>
      <p:sp>
        <p:nvSpPr>
          <p:cNvPr id="48" name="Text 46"/>
          <p:cNvSpPr txBox="1"/>
          <p:nvPr/>
        </p:nvSpPr>
        <p:spPr>
          <a:xfrm>
            <a:off x="1362456" y="8350301"/>
            <a:ext cx="105156" cy="133502"/>
          </a:xfrm>
          <a:prstGeom prst="rect">
            <a:avLst/>
          </a:prstGeom>
          <a:noFill/>
          <a:ln/>
        </p:spPr>
        <p:txBody>
          <a:bodyPr wrap="none" lIns="0" tIns="0" rIns="0" bIns="0" rtlCol="0" anchor="ctr"/>
          <a:lstStyle/>
          <a:p>
            <a:pPr marL="0" indent="0" algn="l">
              <a:buNone/>
            </a:pPr>
            <a:r>
              <a:rPr lang="en-US" sz="800" b="1" dirty="0">
                <a:solidFill>
                  <a:srgbClr val="10B981"/>
                </a:solidFill>
                <a:latin typeface="JetBrains Mono" pitchFamily="34" charset="0"/>
                <a:ea typeface="JetBrains Mono" pitchFamily="34" charset="-122"/>
                <a:cs typeface="JetBrains Mono" pitchFamily="34" charset="-120"/>
              </a:rPr>
              <a:t>→</a:t>
            </a:r>
            <a:endParaRPr lang="en-US" sz="800" dirty="0"/>
          </a:p>
        </p:txBody>
      </p:sp>
      <p:sp>
        <p:nvSpPr>
          <p:cNvPr id="49" name="Text 47"/>
          <p:cNvSpPr txBox="1"/>
          <p:nvPr/>
        </p:nvSpPr>
        <p:spPr>
          <a:xfrm>
            <a:off x="1466698" y="8331098"/>
            <a:ext cx="4200754" cy="162763"/>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Annulation enregistrée · notification envoyée · chauffeur disponible.</a:t>
            </a:r>
            <a:endParaRPr lang="en-US" sz="900" dirty="0"/>
          </a:p>
        </p:txBody>
      </p:sp>
      <p:sp>
        <p:nvSpPr>
          <p:cNvPr id="50" name="Shape 48"/>
          <p:cNvSpPr/>
          <p:nvPr/>
        </p:nvSpPr>
        <p:spPr>
          <a:xfrm>
            <a:off x="9239098" y="6096305"/>
            <a:ext cx="8172907" cy="3429000"/>
          </a:xfrm>
          <a:prstGeom prst="roundRect">
            <a:avLst>
              <a:gd name="adj" fmla="val 3893"/>
            </a:avLst>
          </a:prstGeom>
          <a:solidFill>
            <a:srgbClr val="FAFAFC"/>
          </a:solidFill>
          <a:ln w="12700">
            <a:solidFill>
              <a:srgbClr val="E5E7EB"/>
            </a:solidFill>
            <a:prstDash val="solid"/>
          </a:ln>
        </p:spPr>
        <p:txBody>
          <a:bodyPr/>
          <a:lstStyle/>
          <a:p>
            <a:endParaRPr lang="fr-CI"/>
          </a:p>
        </p:txBody>
      </p:sp>
      <p:sp>
        <p:nvSpPr>
          <p:cNvPr id="51" name="Text 49"/>
          <p:cNvSpPr txBox="1"/>
          <p:nvPr/>
        </p:nvSpPr>
        <p:spPr>
          <a:xfrm>
            <a:off x="9544507" y="6329477"/>
            <a:ext cx="553212" cy="200254"/>
          </a:xfrm>
          <a:prstGeom prst="rect">
            <a:avLst/>
          </a:prstGeom>
          <a:noFill/>
          <a:ln/>
        </p:spPr>
        <p:txBody>
          <a:bodyPr wrap="none" lIns="0" tIns="0" rIns="0" bIns="0" rtlCol="0" anchor="ctr"/>
          <a:lstStyle/>
          <a:p>
            <a:pPr marL="0" indent="0" algn="l">
              <a:buNone/>
            </a:pPr>
            <a:r>
              <a:rPr lang="en-US" sz="1200" b="1" dirty="0">
                <a:solidFill>
                  <a:srgbClr val="6D28D9"/>
                </a:solidFill>
                <a:latin typeface="JetBrains Mono" pitchFamily="34" charset="0"/>
                <a:ea typeface="JetBrains Mono" pitchFamily="34" charset="-122"/>
                <a:cs typeface="JetBrains Mono" pitchFamily="34" charset="-120"/>
              </a:rPr>
              <a:t>UC-T05</a:t>
            </a:r>
            <a:endParaRPr lang="en-US" sz="1200" dirty="0"/>
          </a:p>
        </p:txBody>
      </p:sp>
      <p:sp>
        <p:nvSpPr>
          <p:cNvPr id="52" name="Text 50"/>
          <p:cNvSpPr txBox="1"/>
          <p:nvPr/>
        </p:nvSpPr>
        <p:spPr>
          <a:xfrm>
            <a:off x="10225735" y="6310274"/>
            <a:ext cx="2335378" cy="238658"/>
          </a:xfrm>
          <a:prstGeom prst="rect">
            <a:avLst/>
          </a:prstGeom>
          <a:noFill/>
          <a:ln/>
        </p:spPr>
        <p:txBody>
          <a:bodyPr wrap="none" lIns="0" tIns="0" rIns="0" bIns="0" rtlCol="0" anchor="ctr"/>
          <a:lstStyle/>
          <a:p>
            <a:pPr marL="0" indent="0" algn="l">
              <a:buNone/>
            </a:pPr>
            <a:r>
              <a:rPr lang="en-US" sz="1500" b="1" dirty="0">
                <a:solidFill>
                  <a:srgbClr val="1F2937"/>
                </a:solidFill>
                <a:latin typeface="Manrope" pitchFamily="34" charset="0"/>
                <a:ea typeface="Manrope" pitchFamily="34" charset="-122"/>
                <a:cs typeface="Manrope" pitchFamily="34" charset="-120"/>
              </a:rPr>
              <a:t>Annulation chauffeur</a:t>
            </a:r>
            <a:endParaRPr lang="en-US" sz="1500" dirty="0"/>
          </a:p>
        </p:txBody>
      </p:sp>
      <p:sp>
        <p:nvSpPr>
          <p:cNvPr id="53" name="Shape 51"/>
          <p:cNvSpPr/>
          <p:nvPr/>
        </p:nvSpPr>
        <p:spPr>
          <a:xfrm>
            <a:off x="16418966" y="6286500"/>
            <a:ext cx="733349" cy="286207"/>
          </a:xfrm>
          <a:prstGeom prst="roundRect">
            <a:avLst>
              <a:gd name="adj" fmla="val 49840"/>
            </a:avLst>
          </a:prstGeom>
          <a:solidFill>
            <a:srgbClr val="FEF3C7"/>
          </a:solidFill>
          <a:ln w="12700">
            <a:solidFill>
              <a:srgbClr val="FFFFFF">
                <a:alpha val="0"/>
              </a:srgbClr>
            </a:solidFill>
            <a:prstDash val="solid"/>
          </a:ln>
        </p:spPr>
        <p:txBody>
          <a:bodyPr/>
          <a:lstStyle/>
          <a:p>
            <a:endParaRPr lang="fr-CI"/>
          </a:p>
        </p:txBody>
      </p:sp>
      <p:sp>
        <p:nvSpPr>
          <p:cNvPr id="54" name="Text 52"/>
          <p:cNvSpPr/>
          <p:nvPr/>
        </p:nvSpPr>
        <p:spPr>
          <a:xfrm>
            <a:off x="16418966" y="6286500"/>
            <a:ext cx="7342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2400E"/>
                </a:solidFill>
                <a:latin typeface="Manrope" pitchFamily="34" charset="0"/>
                <a:ea typeface="Manrope" pitchFamily="34" charset="-122"/>
                <a:cs typeface="Manrope" pitchFamily="34" charset="-120"/>
              </a:rPr>
              <a:t>Majeure</a:t>
            </a:r>
            <a:endParaRPr lang="en-US" sz="900" dirty="0"/>
          </a:p>
        </p:txBody>
      </p:sp>
      <p:sp>
        <p:nvSpPr>
          <p:cNvPr id="55" name="Text 53"/>
          <p:cNvSpPr txBox="1"/>
          <p:nvPr/>
        </p:nvSpPr>
        <p:spPr>
          <a:xfrm>
            <a:off x="9544507" y="6667805"/>
            <a:ext cx="76014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Tester l'annulation d'une course par le chauffeur avant arrivée.</a:t>
            </a:r>
            <a:endParaRPr lang="en-US" sz="900" dirty="0"/>
          </a:p>
        </p:txBody>
      </p:sp>
      <p:sp>
        <p:nvSpPr>
          <p:cNvPr id="56" name="Text 54"/>
          <p:cNvSpPr txBox="1"/>
          <p:nvPr/>
        </p:nvSpPr>
        <p:spPr>
          <a:xfrm>
            <a:off x="9544507" y="6983273"/>
            <a:ext cx="7601407"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ÉTAPES</a:t>
            </a:r>
            <a:endParaRPr lang="en-US" sz="800" dirty="0"/>
          </a:p>
        </p:txBody>
      </p:sp>
      <p:sp>
        <p:nvSpPr>
          <p:cNvPr id="57" name="Text 55"/>
          <p:cNvSpPr txBox="1"/>
          <p:nvPr/>
        </p:nvSpPr>
        <p:spPr>
          <a:xfrm>
            <a:off x="9715500" y="7173468"/>
            <a:ext cx="7429500" cy="191110"/>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Le chauffeur accepte une course</a:t>
            </a:r>
            <a:endParaRPr lang="en-US" sz="900" dirty="0"/>
          </a:p>
        </p:txBody>
      </p:sp>
      <p:sp>
        <p:nvSpPr>
          <p:cNvPr id="58" name="Text 56"/>
          <p:cNvSpPr txBox="1"/>
          <p:nvPr/>
        </p:nvSpPr>
        <p:spPr>
          <a:xfrm>
            <a:off x="9715500" y="7360006"/>
            <a:ext cx="7429500" cy="191110"/>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Il annule avant arrivée</a:t>
            </a:r>
            <a:endParaRPr lang="en-US" sz="900" dirty="0"/>
          </a:p>
        </p:txBody>
      </p:sp>
      <p:sp>
        <p:nvSpPr>
          <p:cNvPr id="59" name="Text 57"/>
          <p:cNvSpPr txBox="1"/>
          <p:nvPr/>
        </p:nvSpPr>
        <p:spPr>
          <a:xfrm>
            <a:off x="9715500" y="7545629"/>
            <a:ext cx="7429500" cy="191110"/>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Le client reçoit la notification</a:t>
            </a:r>
            <a:endParaRPr lang="en-US" sz="900" dirty="0"/>
          </a:p>
        </p:txBody>
      </p:sp>
      <p:sp>
        <p:nvSpPr>
          <p:cNvPr id="60" name="Text 58"/>
          <p:cNvSpPr txBox="1"/>
          <p:nvPr/>
        </p:nvSpPr>
        <p:spPr>
          <a:xfrm>
            <a:off x="9715500" y="7731252"/>
            <a:ext cx="7429500" cy="191110"/>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Le système relance ou clôture (selon paramétrage)</a:t>
            </a:r>
            <a:endParaRPr lang="en-US" sz="900" dirty="0"/>
          </a:p>
        </p:txBody>
      </p:sp>
      <p:sp>
        <p:nvSpPr>
          <p:cNvPr id="61" name="Text 59"/>
          <p:cNvSpPr txBox="1"/>
          <p:nvPr/>
        </p:nvSpPr>
        <p:spPr>
          <a:xfrm>
            <a:off x="9715500" y="7916875"/>
            <a:ext cx="7429500" cy="191110"/>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Le back-office conserve la trace</a:t>
            </a:r>
            <a:endParaRPr lang="en-US" sz="900" dirty="0"/>
          </a:p>
        </p:txBody>
      </p:sp>
      <p:sp>
        <p:nvSpPr>
          <p:cNvPr id="62" name="Shape 60"/>
          <p:cNvSpPr/>
          <p:nvPr/>
        </p:nvSpPr>
        <p:spPr>
          <a:xfrm>
            <a:off x="9544507" y="8197596"/>
            <a:ext cx="7601407" cy="400507"/>
          </a:xfrm>
          <a:prstGeom prst="roundRect">
            <a:avLst>
              <a:gd name="adj" fmla="val 18950"/>
            </a:avLst>
          </a:prstGeom>
          <a:solidFill>
            <a:srgbClr val="FFFFFF"/>
          </a:solidFill>
          <a:ln/>
        </p:spPr>
        <p:txBody>
          <a:bodyPr/>
          <a:lstStyle/>
          <a:p>
            <a:endParaRPr lang="fr-CI"/>
          </a:p>
        </p:txBody>
      </p:sp>
      <p:sp>
        <p:nvSpPr>
          <p:cNvPr id="63" name="Shape 61"/>
          <p:cNvSpPr/>
          <p:nvPr/>
        </p:nvSpPr>
        <p:spPr>
          <a:xfrm>
            <a:off x="9544507" y="8197596"/>
            <a:ext cx="28346" cy="400507"/>
          </a:xfrm>
          <a:prstGeom prst="roundRect">
            <a:avLst>
              <a:gd name="adj" fmla="val 267746"/>
            </a:avLst>
          </a:prstGeom>
          <a:solidFill>
            <a:srgbClr val="10B981"/>
          </a:solidFill>
          <a:ln w="12700">
            <a:solidFill>
              <a:srgbClr val="10B981">
                <a:alpha val="0"/>
              </a:srgbClr>
            </a:solidFill>
            <a:prstDash val="solid"/>
          </a:ln>
        </p:spPr>
        <p:txBody>
          <a:bodyPr/>
          <a:lstStyle/>
          <a:p>
            <a:endParaRPr lang="fr-CI"/>
          </a:p>
        </p:txBody>
      </p:sp>
      <p:sp>
        <p:nvSpPr>
          <p:cNvPr id="64" name="Text 62"/>
          <p:cNvSpPr txBox="1"/>
          <p:nvPr/>
        </p:nvSpPr>
        <p:spPr>
          <a:xfrm>
            <a:off x="9687154" y="8350301"/>
            <a:ext cx="105156" cy="133502"/>
          </a:xfrm>
          <a:prstGeom prst="rect">
            <a:avLst/>
          </a:prstGeom>
          <a:noFill/>
          <a:ln/>
        </p:spPr>
        <p:txBody>
          <a:bodyPr wrap="none" lIns="0" tIns="0" rIns="0" bIns="0" rtlCol="0" anchor="ctr"/>
          <a:lstStyle/>
          <a:p>
            <a:pPr marL="0" indent="0" algn="l">
              <a:buNone/>
            </a:pPr>
            <a:r>
              <a:rPr lang="en-US" sz="800" b="1" dirty="0">
                <a:solidFill>
                  <a:srgbClr val="10B981"/>
                </a:solidFill>
                <a:latin typeface="JetBrains Mono" pitchFamily="34" charset="0"/>
                <a:ea typeface="JetBrains Mono" pitchFamily="34" charset="-122"/>
                <a:cs typeface="JetBrains Mono" pitchFamily="34" charset="-120"/>
              </a:rPr>
              <a:t>→</a:t>
            </a:r>
            <a:endParaRPr lang="en-US" sz="800" dirty="0"/>
          </a:p>
        </p:txBody>
      </p:sp>
      <p:sp>
        <p:nvSpPr>
          <p:cNvPr id="65" name="Text 63"/>
          <p:cNvSpPr txBox="1"/>
          <p:nvPr/>
        </p:nvSpPr>
        <p:spPr>
          <a:xfrm>
            <a:off x="9791395" y="8331098"/>
            <a:ext cx="3276295" cy="162763"/>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Client informé · statut cohérent · reporting mis à jour.</a:t>
            </a:r>
            <a:endParaRPr lang="en-US" sz="900" dirty="0"/>
          </a:p>
        </p:txBody>
      </p:sp>
      <p:sp>
        <p:nvSpPr>
          <p:cNvPr id="66" name="Shape 64"/>
          <p:cNvSpPr/>
          <p:nvPr/>
        </p:nvSpPr>
        <p:spPr>
          <a:xfrm>
            <a:off x="0" y="9791395"/>
            <a:ext cx="18288000" cy="495605"/>
          </a:xfrm>
          <a:prstGeom prst="rect">
            <a:avLst/>
          </a:prstGeom>
          <a:solidFill>
            <a:srgbClr val="FFFFFF"/>
          </a:solidFill>
          <a:ln/>
        </p:spPr>
        <p:txBody>
          <a:bodyPr/>
          <a:lstStyle/>
          <a:p>
            <a:endParaRPr lang="fr-CI"/>
          </a:p>
        </p:txBody>
      </p:sp>
      <p:sp>
        <p:nvSpPr>
          <p:cNvPr id="67" name="Shape 65"/>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8" name="Text 66"/>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69" name="Text 67"/>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32 / 59</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6131845" y="256946"/>
            <a:ext cx="1848002"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UC Livraison · C. (1/2)</a:t>
            </a:r>
            <a:endParaRPr lang="en-US" sz="900" dirty="0"/>
          </a:p>
        </p:txBody>
      </p:sp>
      <p:sp>
        <p:nvSpPr>
          <p:cNvPr id="10" name="Text 8"/>
          <p:cNvSpPr txBox="1"/>
          <p:nvPr/>
        </p:nvSpPr>
        <p:spPr>
          <a:xfrm>
            <a:off x="914400" y="1205179"/>
            <a:ext cx="2438705"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C. Livraison — partie 1</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8477281"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UC-L01 · UC-L02 — création de demande et acceptation livreur.</a:t>
            </a:r>
            <a:endParaRPr lang="en-US" sz="3900" dirty="0"/>
          </a:p>
        </p:txBody>
      </p:sp>
      <p:sp>
        <p:nvSpPr>
          <p:cNvPr id="13" name="Shape 11"/>
          <p:cNvSpPr/>
          <p:nvPr/>
        </p:nvSpPr>
        <p:spPr>
          <a:xfrm>
            <a:off x="914400" y="2762402"/>
            <a:ext cx="8191195" cy="6762902"/>
          </a:xfrm>
          <a:prstGeom prst="roundRect">
            <a:avLst>
              <a:gd name="adj" fmla="val 1974"/>
            </a:avLst>
          </a:prstGeom>
          <a:solidFill>
            <a:srgbClr val="FFFFFF"/>
          </a:solidFill>
          <a:ln w="25400">
            <a:solidFill>
              <a:srgbClr val="6D28D9"/>
            </a:solidFill>
            <a:prstDash val="solid"/>
          </a:ln>
        </p:spPr>
        <p:txBody>
          <a:bodyPr/>
          <a:lstStyle/>
          <a:p>
            <a:endParaRPr lang="fr-CI"/>
          </a:p>
        </p:txBody>
      </p:sp>
      <p:sp>
        <p:nvSpPr>
          <p:cNvPr id="14" name="Text 12"/>
          <p:cNvSpPr txBox="1"/>
          <p:nvPr/>
        </p:nvSpPr>
        <p:spPr>
          <a:xfrm>
            <a:off x="1143000" y="2986430"/>
            <a:ext cx="619963" cy="219456"/>
          </a:xfrm>
          <a:prstGeom prst="rect">
            <a:avLst/>
          </a:prstGeom>
          <a:noFill/>
          <a:ln/>
        </p:spPr>
        <p:txBody>
          <a:bodyPr wrap="none" lIns="0" tIns="0" rIns="0" bIns="0" rtlCol="0" anchor="ctr"/>
          <a:lstStyle/>
          <a:p>
            <a:pPr marL="0" indent="0" algn="l">
              <a:buNone/>
            </a:pPr>
            <a:r>
              <a:rPr lang="en-US" sz="1300" b="1" dirty="0">
                <a:solidFill>
                  <a:srgbClr val="6D28D9"/>
                </a:solidFill>
                <a:latin typeface="JetBrains Mono" pitchFamily="34" charset="0"/>
                <a:ea typeface="JetBrains Mono" pitchFamily="34" charset="-122"/>
                <a:cs typeface="JetBrains Mono" pitchFamily="34" charset="-120"/>
              </a:rPr>
              <a:t>UC-L01</a:t>
            </a:r>
            <a:endParaRPr lang="en-US" sz="1300" dirty="0"/>
          </a:p>
        </p:txBody>
      </p:sp>
      <p:sp>
        <p:nvSpPr>
          <p:cNvPr id="15" name="Shape 13"/>
          <p:cNvSpPr/>
          <p:nvPr/>
        </p:nvSpPr>
        <p:spPr>
          <a:xfrm>
            <a:off x="8128102" y="2952598"/>
            <a:ext cx="733349" cy="286207"/>
          </a:xfrm>
          <a:prstGeom prst="roundRect">
            <a:avLst>
              <a:gd name="adj" fmla="val 49840"/>
            </a:avLst>
          </a:prstGeom>
          <a:solidFill>
            <a:srgbClr val="FEE2E2"/>
          </a:solidFill>
          <a:ln w="12700">
            <a:solidFill>
              <a:srgbClr val="FFFFFF">
                <a:alpha val="0"/>
              </a:srgbClr>
            </a:solidFill>
            <a:prstDash val="solid"/>
          </a:ln>
        </p:spPr>
        <p:txBody>
          <a:bodyPr/>
          <a:lstStyle/>
          <a:p>
            <a:endParaRPr lang="fr-CI"/>
          </a:p>
        </p:txBody>
      </p:sp>
      <p:sp>
        <p:nvSpPr>
          <p:cNvPr id="16" name="Text 14"/>
          <p:cNvSpPr/>
          <p:nvPr/>
        </p:nvSpPr>
        <p:spPr>
          <a:xfrm>
            <a:off x="8128102" y="2952598"/>
            <a:ext cx="7342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91B1B"/>
                </a:solidFill>
                <a:latin typeface="Manrope" pitchFamily="34" charset="0"/>
                <a:ea typeface="Manrope" pitchFamily="34" charset="-122"/>
                <a:cs typeface="Manrope" pitchFamily="34" charset="-120"/>
              </a:rPr>
              <a:t>Critique</a:t>
            </a:r>
            <a:endParaRPr lang="en-US" sz="900" dirty="0"/>
          </a:p>
        </p:txBody>
      </p:sp>
      <p:sp>
        <p:nvSpPr>
          <p:cNvPr id="17" name="Text 15"/>
          <p:cNvSpPr txBox="1"/>
          <p:nvPr/>
        </p:nvSpPr>
        <p:spPr>
          <a:xfrm>
            <a:off x="1143000" y="3333902"/>
            <a:ext cx="7715707" cy="286207"/>
          </a:xfrm>
          <a:prstGeom prst="rect">
            <a:avLst/>
          </a:prstGeom>
          <a:noFill/>
          <a:ln/>
        </p:spPr>
        <p:txBody>
          <a:bodyPr wrap="none" lIns="0" tIns="0" rIns="0" bIns="0" rtlCol="0" anchor="ctr"/>
          <a:lstStyle/>
          <a:p>
            <a:pPr marL="0" indent="0" algn="l">
              <a:buNone/>
            </a:pPr>
            <a:r>
              <a:rPr lang="en-US" sz="1800" b="1" dirty="0">
                <a:solidFill>
                  <a:srgbClr val="1F2937"/>
                </a:solidFill>
                <a:latin typeface="Manrope" pitchFamily="34" charset="0"/>
                <a:ea typeface="Manrope" pitchFamily="34" charset="-122"/>
                <a:cs typeface="Manrope" pitchFamily="34" charset="-120"/>
              </a:rPr>
              <a:t>Création d'une demande de livraison</a:t>
            </a:r>
            <a:endParaRPr lang="en-US" sz="1800" dirty="0"/>
          </a:p>
        </p:txBody>
      </p:sp>
      <p:sp>
        <p:nvSpPr>
          <p:cNvPr id="18" name="Text 16"/>
          <p:cNvSpPr txBox="1"/>
          <p:nvPr/>
        </p:nvSpPr>
        <p:spPr>
          <a:xfrm>
            <a:off x="1143000" y="3676802"/>
            <a:ext cx="7715707"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Service : Livraison · Profil : Client</a:t>
            </a:r>
            <a:endParaRPr lang="en-US" sz="900" dirty="0"/>
          </a:p>
        </p:txBody>
      </p:sp>
      <p:sp>
        <p:nvSpPr>
          <p:cNvPr id="19" name="Text 17"/>
          <p:cNvSpPr txBox="1"/>
          <p:nvPr/>
        </p:nvSpPr>
        <p:spPr>
          <a:xfrm>
            <a:off x="1143000" y="4019702"/>
            <a:ext cx="7715707"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OBJECTIF</a:t>
            </a:r>
            <a:endParaRPr lang="en-US" sz="800" dirty="0"/>
          </a:p>
        </p:txBody>
      </p:sp>
      <p:sp>
        <p:nvSpPr>
          <p:cNvPr id="20" name="Text 18"/>
          <p:cNvSpPr txBox="1"/>
          <p:nvPr/>
        </p:nvSpPr>
        <p:spPr>
          <a:xfrm>
            <a:off x="1143000" y="4190695"/>
            <a:ext cx="8275320" cy="181051"/>
          </a:xfrm>
          <a:prstGeom prst="rect">
            <a:avLst/>
          </a:prstGeom>
          <a:noFill/>
          <a:ln/>
        </p:spPr>
        <p:txBody>
          <a:bodyPr wrap="none" lIns="0" tIns="0" rIns="0" bIns="0" rtlCol="0" anchor="ctr"/>
          <a:lstStyle/>
          <a:p>
            <a:pPr marL="0" indent="0" algn="l">
              <a:buNone/>
            </a:pPr>
            <a:r>
              <a:rPr lang="en-US" sz="1000" dirty="0">
                <a:solidFill>
                  <a:srgbClr val="1F2937"/>
                </a:solidFill>
                <a:latin typeface="Manrope" pitchFamily="34" charset="0"/>
                <a:ea typeface="Manrope" pitchFamily="34" charset="-122"/>
                <a:cs typeface="Manrope" pitchFamily="34" charset="-120"/>
              </a:rPr>
              <a:t>Vérifier qu'un client peut créer une demande de livraison et que celle-ci est affectable à un livreur.</a:t>
            </a:r>
            <a:endParaRPr lang="en-US" sz="1000" dirty="0"/>
          </a:p>
        </p:txBody>
      </p:sp>
      <p:sp>
        <p:nvSpPr>
          <p:cNvPr id="21" name="Text 19"/>
          <p:cNvSpPr txBox="1"/>
          <p:nvPr/>
        </p:nvSpPr>
        <p:spPr>
          <a:xfrm>
            <a:off x="1143000" y="4505249"/>
            <a:ext cx="7715707"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PRÉCONDITIONS</a:t>
            </a:r>
            <a:endParaRPr lang="en-US" sz="800" dirty="0"/>
          </a:p>
        </p:txBody>
      </p:sp>
      <p:sp>
        <p:nvSpPr>
          <p:cNvPr id="22" name="Text 20"/>
          <p:cNvSpPr txBox="1"/>
          <p:nvPr/>
        </p:nvSpPr>
        <p:spPr>
          <a:xfrm>
            <a:off x="1143000" y="4677156"/>
            <a:ext cx="7715707" cy="171907"/>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Client connecté · livreurs disponibles · tarification livraison configurée.</a:t>
            </a:r>
            <a:endParaRPr lang="en-US" sz="900" dirty="0"/>
          </a:p>
        </p:txBody>
      </p:sp>
      <p:sp>
        <p:nvSpPr>
          <p:cNvPr id="23" name="Text 21"/>
          <p:cNvSpPr txBox="1"/>
          <p:nvPr/>
        </p:nvSpPr>
        <p:spPr>
          <a:xfrm>
            <a:off x="1143000" y="4981651"/>
            <a:ext cx="7715707"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ÉTAPES</a:t>
            </a:r>
            <a:endParaRPr lang="en-US" sz="800" dirty="0"/>
          </a:p>
        </p:txBody>
      </p:sp>
      <p:sp>
        <p:nvSpPr>
          <p:cNvPr id="24" name="Text 22"/>
          <p:cNvSpPr txBox="1"/>
          <p:nvPr/>
        </p:nvSpPr>
        <p:spPr>
          <a:xfrm>
            <a:off x="1314907" y="5171846"/>
            <a:ext cx="7543800"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Le client choisit le service Livraison</a:t>
            </a:r>
            <a:endParaRPr lang="en-US" sz="900" dirty="0"/>
          </a:p>
        </p:txBody>
      </p:sp>
      <p:sp>
        <p:nvSpPr>
          <p:cNvPr id="25" name="Text 23"/>
          <p:cNvSpPr txBox="1"/>
          <p:nvPr/>
        </p:nvSpPr>
        <p:spPr>
          <a:xfrm>
            <a:off x="1314907" y="5370271"/>
            <a:ext cx="7543800"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Il renseigne l'adresse de récupération</a:t>
            </a:r>
            <a:endParaRPr lang="en-US" sz="900" dirty="0"/>
          </a:p>
        </p:txBody>
      </p:sp>
      <p:sp>
        <p:nvSpPr>
          <p:cNvPr id="26" name="Text 24"/>
          <p:cNvSpPr txBox="1"/>
          <p:nvPr/>
        </p:nvSpPr>
        <p:spPr>
          <a:xfrm>
            <a:off x="1314907" y="5568696"/>
            <a:ext cx="7543800"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Il renseigne l'adresse de livraison</a:t>
            </a:r>
            <a:endParaRPr lang="en-US" sz="900" dirty="0"/>
          </a:p>
        </p:txBody>
      </p:sp>
      <p:sp>
        <p:nvSpPr>
          <p:cNvPr id="27" name="Text 25"/>
          <p:cNvSpPr txBox="1"/>
          <p:nvPr/>
        </p:nvSpPr>
        <p:spPr>
          <a:xfrm>
            <a:off x="1314907" y="5766206"/>
            <a:ext cx="7543800"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Il décrit le colis</a:t>
            </a:r>
            <a:endParaRPr lang="en-US" sz="900" dirty="0"/>
          </a:p>
        </p:txBody>
      </p:sp>
      <p:sp>
        <p:nvSpPr>
          <p:cNvPr id="28" name="Text 26"/>
          <p:cNvSpPr txBox="1"/>
          <p:nvPr/>
        </p:nvSpPr>
        <p:spPr>
          <a:xfrm>
            <a:off x="1314907" y="5964631"/>
            <a:ext cx="7543800"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Il valide la demande</a:t>
            </a:r>
            <a:endParaRPr lang="en-US" sz="900" dirty="0"/>
          </a:p>
        </p:txBody>
      </p:sp>
      <p:sp>
        <p:nvSpPr>
          <p:cNvPr id="29" name="Text 27"/>
          <p:cNvSpPr txBox="1"/>
          <p:nvPr/>
        </p:nvSpPr>
        <p:spPr>
          <a:xfrm>
            <a:off x="1314907" y="6162142"/>
            <a:ext cx="7543800"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Le système affiche une estimation</a:t>
            </a:r>
            <a:endParaRPr lang="en-US" sz="900" dirty="0"/>
          </a:p>
        </p:txBody>
      </p:sp>
      <p:sp>
        <p:nvSpPr>
          <p:cNvPr id="30" name="Text 28"/>
          <p:cNvSpPr txBox="1"/>
          <p:nvPr/>
        </p:nvSpPr>
        <p:spPr>
          <a:xfrm>
            <a:off x="1314907" y="6360566"/>
            <a:ext cx="7543800"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Le client confirme</a:t>
            </a:r>
            <a:endParaRPr lang="en-US" sz="900" dirty="0"/>
          </a:p>
        </p:txBody>
      </p:sp>
      <p:sp>
        <p:nvSpPr>
          <p:cNvPr id="31" name="Text 29"/>
          <p:cNvSpPr txBox="1"/>
          <p:nvPr/>
        </p:nvSpPr>
        <p:spPr>
          <a:xfrm>
            <a:off x="1143000" y="6692494"/>
            <a:ext cx="7715707" cy="133502"/>
          </a:xfrm>
          <a:prstGeom prst="rect">
            <a:avLst/>
          </a:prstGeom>
          <a:noFill/>
          <a:ln/>
        </p:spPr>
        <p:txBody>
          <a:bodyPr wrap="none" lIns="0" tIns="0" rIns="0" bIns="0" rtlCol="0" anchor="ctr"/>
          <a:lstStyle/>
          <a:p>
            <a:pPr marL="0" indent="0" algn="l">
              <a:buNone/>
            </a:pPr>
            <a:r>
              <a:rPr lang="en-US" sz="800" b="1" dirty="0">
                <a:solidFill>
                  <a:srgbClr val="10B981"/>
                </a:solidFill>
                <a:latin typeface="JetBrains Mono" pitchFamily="34" charset="0"/>
                <a:ea typeface="JetBrains Mono" pitchFamily="34" charset="-122"/>
                <a:cs typeface="JetBrains Mono" pitchFamily="34" charset="-120"/>
              </a:rPr>
              <a:t>RÉSULTATS ATTENDUS</a:t>
            </a:r>
            <a:endParaRPr lang="en-US" sz="800" dirty="0"/>
          </a:p>
        </p:txBody>
      </p:sp>
      <p:sp>
        <p:nvSpPr>
          <p:cNvPr id="32" name="Text 30"/>
          <p:cNvSpPr txBox="1"/>
          <p:nvPr/>
        </p:nvSpPr>
        <p:spPr>
          <a:xfrm>
            <a:off x="1143000" y="6863486"/>
            <a:ext cx="7715707" cy="200254"/>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Demande créée · prix estimatif affiché · livreurs notifiés · demande visible au back-office.</a:t>
            </a:r>
            <a:endParaRPr lang="en-US" sz="900" dirty="0"/>
          </a:p>
        </p:txBody>
      </p:sp>
      <p:sp>
        <p:nvSpPr>
          <p:cNvPr id="33" name="Shape 31"/>
          <p:cNvSpPr/>
          <p:nvPr/>
        </p:nvSpPr>
        <p:spPr>
          <a:xfrm>
            <a:off x="1143000" y="7189013"/>
            <a:ext cx="7715707" cy="571500"/>
          </a:xfrm>
          <a:prstGeom prst="roundRect">
            <a:avLst>
              <a:gd name="adj" fmla="val 13280"/>
            </a:avLst>
          </a:prstGeom>
          <a:solidFill>
            <a:srgbClr val="F5F3FF"/>
          </a:solidFill>
          <a:ln w="12700">
            <a:solidFill>
              <a:srgbClr val="FFFFFF">
                <a:alpha val="0"/>
              </a:srgbClr>
            </a:solidFill>
            <a:prstDash val="solid"/>
          </a:ln>
        </p:spPr>
        <p:txBody>
          <a:bodyPr/>
          <a:lstStyle/>
          <a:p>
            <a:endParaRPr lang="fr-CI"/>
          </a:p>
        </p:txBody>
      </p:sp>
      <p:sp>
        <p:nvSpPr>
          <p:cNvPr id="34" name="Text 32"/>
          <p:cNvSpPr txBox="1"/>
          <p:nvPr/>
        </p:nvSpPr>
        <p:spPr>
          <a:xfrm>
            <a:off x="1257300" y="7303313"/>
            <a:ext cx="7487107"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CRITÈRE D'ACCEPTATION</a:t>
            </a:r>
            <a:endParaRPr lang="en-US" sz="800" dirty="0"/>
          </a:p>
        </p:txBody>
      </p:sp>
      <p:sp>
        <p:nvSpPr>
          <p:cNvPr id="35" name="Text 33"/>
          <p:cNvSpPr txBox="1"/>
          <p:nvPr/>
        </p:nvSpPr>
        <p:spPr>
          <a:xfrm>
            <a:off x="1257300" y="7474306"/>
            <a:ext cx="7487107" cy="171907"/>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La demande doit être affectable à un livreur.</a:t>
            </a:r>
            <a:endParaRPr lang="en-US" sz="900" dirty="0"/>
          </a:p>
        </p:txBody>
      </p:sp>
      <p:sp>
        <p:nvSpPr>
          <p:cNvPr id="36" name="Shape 34"/>
          <p:cNvSpPr/>
          <p:nvPr/>
        </p:nvSpPr>
        <p:spPr>
          <a:xfrm>
            <a:off x="9219895" y="2762402"/>
            <a:ext cx="8191195" cy="6762902"/>
          </a:xfrm>
          <a:prstGeom prst="roundRect">
            <a:avLst>
              <a:gd name="adj" fmla="val 1974"/>
            </a:avLst>
          </a:prstGeom>
          <a:solidFill>
            <a:srgbClr val="1F2937"/>
          </a:solidFill>
          <a:ln w="25400">
            <a:solidFill>
              <a:srgbClr val="6D28D9"/>
            </a:solidFill>
            <a:prstDash val="solid"/>
          </a:ln>
        </p:spPr>
        <p:txBody>
          <a:bodyPr/>
          <a:lstStyle/>
          <a:p>
            <a:endParaRPr lang="fr-CI"/>
          </a:p>
        </p:txBody>
      </p:sp>
      <p:sp>
        <p:nvSpPr>
          <p:cNvPr id="37" name="Text 35"/>
          <p:cNvSpPr txBox="1"/>
          <p:nvPr/>
        </p:nvSpPr>
        <p:spPr>
          <a:xfrm>
            <a:off x="9448495" y="2986430"/>
            <a:ext cx="619963" cy="219456"/>
          </a:xfrm>
          <a:prstGeom prst="rect">
            <a:avLst/>
          </a:prstGeom>
          <a:noFill/>
          <a:ln/>
        </p:spPr>
        <p:txBody>
          <a:bodyPr wrap="none" lIns="0" tIns="0" rIns="0" bIns="0" rtlCol="0" anchor="ctr"/>
          <a:lstStyle/>
          <a:p>
            <a:pPr marL="0" indent="0" algn="l">
              <a:buNone/>
            </a:pPr>
            <a:r>
              <a:rPr lang="en-US" sz="1300" b="1" dirty="0">
                <a:solidFill>
                  <a:srgbClr val="A78BFA"/>
                </a:solidFill>
                <a:latin typeface="JetBrains Mono" pitchFamily="34" charset="0"/>
                <a:ea typeface="JetBrains Mono" pitchFamily="34" charset="-122"/>
                <a:cs typeface="JetBrains Mono" pitchFamily="34" charset="-120"/>
              </a:rPr>
              <a:t>UC-L02</a:t>
            </a:r>
            <a:endParaRPr lang="en-US" sz="1300" dirty="0"/>
          </a:p>
        </p:txBody>
      </p:sp>
      <p:sp>
        <p:nvSpPr>
          <p:cNvPr id="38" name="Shape 36"/>
          <p:cNvSpPr/>
          <p:nvPr/>
        </p:nvSpPr>
        <p:spPr>
          <a:xfrm>
            <a:off x="16433597" y="2952598"/>
            <a:ext cx="733349" cy="286207"/>
          </a:xfrm>
          <a:prstGeom prst="roundRect">
            <a:avLst>
              <a:gd name="adj" fmla="val 49840"/>
            </a:avLst>
          </a:prstGeom>
          <a:solidFill>
            <a:srgbClr val="FEE2E2"/>
          </a:solidFill>
          <a:ln w="12700">
            <a:solidFill>
              <a:srgbClr val="FFFFFF">
                <a:alpha val="0"/>
              </a:srgbClr>
            </a:solidFill>
            <a:prstDash val="solid"/>
          </a:ln>
        </p:spPr>
        <p:txBody>
          <a:bodyPr/>
          <a:lstStyle/>
          <a:p>
            <a:endParaRPr lang="fr-CI"/>
          </a:p>
        </p:txBody>
      </p:sp>
      <p:sp>
        <p:nvSpPr>
          <p:cNvPr id="39" name="Text 37"/>
          <p:cNvSpPr/>
          <p:nvPr/>
        </p:nvSpPr>
        <p:spPr>
          <a:xfrm>
            <a:off x="16433597" y="2952598"/>
            <a:ext cx="7342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91B1B"/>
                </a:solidFill>
                <a:latin typeface="Manrope" pitchFamily="34" charset="0"/>
                <a:ea typeface="Manrope" pitchFamily="34" charset="-122"/>
                <a:cs typeface="Manrope" pitchFamily="34" charset="-120"/>
              </a:rPr>
              <a:t>Critique</a:t>
            </a:r>
            <a:endParaRPr lang="en-US" sz="900" dirty="0"/>
          </a:p>
        </p:txBody>
      </p:sp>
      <p:sp>
        <p:nvSpPr>
          <p:cNvPr id="40" name="Text 38"/>
          <p:cNvSpPr txBox="1"/>
          <p:nvPr/>
        </p:nvSpPr>
        <p:spPr>
          <a:xfrm>
            <a:off x="9448495" y="3333902"/>
            <a:ext cx="7715707" cy="314554"/>
          </a:xfrm>
          <a:prstGeom prst="rect">
            <a:avLst/>
          </a:prstGeom>
          <a:noFill/>
          <a:ln/>
        </p:spPr>
        <p:txBody>
          <a:bodyPr wrap="none" lIns="0" tIns="0" rIns="0" bIns="0" rtlCol="0" anchor="ctr"/>
          <a:lstStyle/>
          <a:p>
            <a:pPr marL="0" indent="0" algn="l">
              <a:buNone/>
            </a:pPr>
            <a:r>
              <a:rPr lang="en-US" sz="1800" b="1" dirty="0">
                <a:solidFill>
                  <a:srgbClr val="FFFFFF"/>
                </a:solidFill>
                <a:latin typeface="Manrope" pitchFamily="34" charset="0"/>
                <a:ea typeface="Manrope" pitchFamily="34" charset="-122"/>
                <a:cs typeface="Manrope" pitchFamily="34" charset="-120"/>
              </a:rPr>
              <a:t>Acceptation de livraison par livreur</a:t>
            </a:r>
            <a:endParaRPr lang="en-US" sz="1800" dirty="0"/>
          </a:p>
        </p:txBody>
      </p:sp>
      <p:sp>
        <p:nvSpPr>
          <p:cNvPr id="41" name="Text 39"/>
          <p:cNvSpPr txBox="1"/>
          <p:nvPr/>
        </p:nvSpPr>
        <p:spPr>
          <a:xfrm>
            <a:off x="9448495" y="3877056"/>
            <a:ext cx="7715707" cy="171907"/>
          </a:xfrm>
          <a:prstGeom prst="rect">
            <a:avLst/>
          </a:prstGeom>
          <a:noFill/>
          <a:ln/>
        </p:spPr>
        <p:txBody>
          <a:bodyPr wrap="none" lIns="0" tIns="0" rIns="0" bIns="0" rtlCol="0" anchor="ctr"/>
          <a:lstStyle/>
          <a:p>
            <a:pPr marL="0" indent="0" algn="l">
              <a:buNone/>
            </a:pPr>
            <a:r>
              <a:rPr lang="en-US" sz="900" dirty="0">
                <a:solidFill>
                  <a:srgbClr val="A78BFA"/>
                </a:solidFill>
                <a:latin typeface="Manrope" pitchFamily="34" charset="0"/>
                <a:ea typeface="Manrope" pitchFamily="34" charset="-122"/>
                <a:cs typeface="Manrope" pitchFamily="34" charset="-120"/>
              </a:rPr>
              <a:t>Service : Livraison · Profil : Livreur</a:t>
            </a:r>
            <a:endParaRPr lang="en-US" sz="900" dirty="0"/>
          </a:p>
        </p:txBody>
      </p:sp>
      <p:sp>
        <p:nvSpPr>
          <p:cNvPr id="42" name="Text 40"/>
          <p:cNvSpPr txBox="1"/>
          <p:nvPr/>
        </p:nvSpPr>
        <p:spPr>
          <a:xfrm>
            <a:off x="9448495" y="4219956"/>
            <a:ext cx="7715707"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OBJECTIF</a:t>
            </a:r>
            <a:endParaRPr lang="en-US" sz="800" dirty="0"/>
          </a:p>
        </p:txBody>
      </p:sp>
      <p:sp>
        <p:nvSpPr>
          <p:cNvPr id="43" name="Text 41"/>
          <p:cNvSpPr txBox="1"/>
          <p:nvPr/>
        </p:nvSpPr>
        <p:spPr>
          <a:xfrm>
            <a:off x="9448495" y="4390949"/>
            <a:ext cx="8401507" cy="181051"/>
          </a:xfrm>
          <a:prstGeom prst="rect">
            <a:avLst/>
          </a:prstGeom>
          <a:noFill/>
          <a:ln/>
        </p:spPr>
        <p:txBody>
          <a:bodyPr wrap="none" lIns="0" tIns="0" rIns="0" bIns="0" rtlCol="0" anchor="ctr"/>
          <a:lstStyle/>
          <a:p>
            <a:pPr marL="0" indent="0" algn="l">
              <a:buNone/>
            </a:pPr>
            <a:r>
              <a:rPr lang="en-US" sz="1000" dirty="0">
                <a:solidFill>
                  <a:srgbClr val="E5E7EB"/>
                </a:solidFill>
                <a:latin typeface="Manrope" pitchFamily="34" charset="0"/>
                <a:ea typeface="Manrope" pitchFamily="34" charset="-122"/>
                <a:cs typeface="Manrope" pitchFamily="34" charset="-120"/>
              </a:rPr>
              <a:t>Vérifier qu'un livreur peut accepter une mission de livraison et que client &amp; back-office sont synchronisés.</a:t>
            </a:r>
            <a:endParaRPr lang="en-US" sz="1000" dirty="0"/>
          </a:p>
        </p:txBody>
      </p:sp>
      <p:sp>
        <p:nvSpPr>
          <p:cNvPr id="44" name="Text 42"/>
          <p:cNvSpPr txBox="1"/>
          <p:nvPr/>
        </p:nvSpPr>
        <p:spPr>
          <a:xfrm>
            <a:off x="9448495" y="4705502"/>
            <a:ext cx="7715707"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PRÉCONDITIONS</a:t>
            </a:r>
            <a:endParaRPr lang="en-US" sz="800" dirty="0"/>
          </a:p>
        </p:txBody>
      </p:sp>
      <p:sp>
        <p:nvSpPr>
          <p:cNvPr id="45" name="Text 43"/>
          <p:cNvSpPr txBox="1"/>
          <p:nvPr/>
        </p:nvSpPr>
        <p:spPr>
          <a:xfrm>
            <a:off x="9448495" y="4876495"/>
            <a:ext cx="7715707" cy="171907"/>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Livreur validé · disponible · demande client diffusée.</a:t>
            </a:r>
            <a:endParaRPr lang="en-US" sz="900" dirty="0"/>
          </a:p>
        </p:txBody>
      </p:sp>
      <p:sp>
        <p:nvSpPr>
          <p:cNvPr id="46" name="Text 44"/>
          <p:cNvSpPr txBox="1"/>
          <p:nvPr/>
        </p:nvSpPr>
        <p:spPr>
          <a:xfrm>
            <a:off x="9448495" y="5181905"/>
            <a:ext cx="7715707"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ÉTAPES</a:t>
            </a:r>
            <a:endParaRPr lang="en-US" sz="800" dirty="0"/>
          </a:p>
        </p:txBody>
      </p:sp>
      <p:sp>
        <p:nvSpPr>
          <p:cNvPr id="47" name="Text 45"/>
          <p:cNvSpPr txBox="1"/>
          <p:nvPr/>
        </p:nvSpPr>
        <p:spPr>
          <a:xfrm>
            <a:off x="9620402" y="5372100"/>
            <a:ext cx="75438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Le livreur reçoit la demande</a:t>
            </a:r>
            <a:endParaRPr lang="en-US" sz="900" dirty="0"/>
          </a:p>
        </p:txBody>
      </p:sp>
      <p:sp>
        <p:nvSpPr>
          <p:cNvPr id="48" name="Text 46"/>
          <p:cNvSpPr txBox="1"/>
          <p:nvPr/>
        </p:nvSpPr>
        <p:spPr>
          <a:xfrm>
            <a:off x="9620402" y="5570525"/>
            <a:ext cx="75438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Il consulte les informations (adresses, description, prix)</a:t>
            </a:r>
            <a:endParaRPr lang="en-US" sz="900" dirty="0"/>
          </a:p>
        </p:txBody>
      </p:sp>
      <p:sp>
        <p:nvSpPr>
          <p:cNvPr id="49" name="Text 47"/>
          <p:cNvSpPr txBox="1"/>
          <p:nvPr/>
        </p:nvSpPr>
        <p:spPr>
          <a:xfrm>
            <a:off x="9620402" y="5768035"/>
            <a:ext cx="75438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Il accepte</a:t>
            </a:r>
            <a:endParaRPr lang="en-US" sz="900" dirty="0"/>
          </a:p>
        </p:txBody>
      </p:sp>
      <p:sp>
        <p:nvSpPr>
          <p:cNvPr id="50" name="Text 48"/>
          <p:cNvSpPr txBox="1"/>
          <p:nvPr/>
        </p:nvSpPr>
        <p:spPr>
          <a:xfrm>
            <a:off x="9620402" y="5966460"/>
            <a:ext cx="75438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Le client reçoit la confirmation</a:t>
            </a:r>
            <a:endParaRPr lang="en-US" sz="900" dirty="0"/>
          </a:p>
        </p:txBody>
      </p:sp>
      <p:sp>
        <p:nvSpPr>
          <p:cNvPr id="51" name="Text 49"/>
          <p:cNvSpPr txBox="1"/>
          <p:nvPr/>
        </p:nvSpPr>
        <p:spPr>
          <a:xfrm>
            <a:off x="9620402" y="6164885"/>
            <a:ext cx="75438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Le livreur voit l'itinéraire vers l'expéditeur</a:t>
            </a:r>
            <a:endParaRPr lang="en-US" sz="900" dirty="0"/>
          </a:p>
        </p:txBody>
      </p:sp>
      <p:sp>
        <p:nvSpPr>
          <p:cNvPr id="52" name="Text 50"/>
          <p:cNvSpPr txBox="1"/>
          <p:nvPr/>
        </p:nvSpPr>
        <p:spPr>
          <a:xfrm>
            <a:off x="9448495" y="6495898"/>
            <a:ext cx="7715707" cy="133502"/>
          </a:xfrm>
          <a:prstGeom prst="rect">
            <a:avLst/>
          </a:prstGeom>
          <a:noFill/>
          <a:ln/>
        </p:spPr>
        <p:txBody>
          <a:bodyPr wrap="none" lIns="0" tIns="0" rIns="0" bIns="0" rtlCol="0" anchor="ctr"/>
          <a:lstStyle/>
          <a:p>
            <a:pPr marL="0" indent="0" algn="l">
              <a:buNone/>
            </a:pPr>
            <a:r>
              <a:rPr lang="en-US" sz="800" b="1" dirty="0">
                <a:solidFill>
                  <a:srgbClr val="10B981"/>
                </a:solidFill>
                <a:latin typeface="JetBrains Mono" pitchFamily="34" charset="0"/>
                <a:ea typeface="JetBrains Mono" pitchFamily="34" charset="-122"/>
                <a:cs typeface="JetBrains Mono" pitchFamily="34" charset="-120"/>
              </a:rPr>
              <a:t>RÉSULTATS ATTENDUS</a:t>
            </a:r>
            <a:endParaRPr lang="en-US" sz="800" dirty="0"/>
          </a:p>
        </p:txBody>
      </p:sp>
      <p:sp>
        <p:nvSpPr>
          <p:cNvPr id="53" name="Text 51"/>
          <p:cNvSpPr txBox="1"/>
          <p:nvPr/>
        </p:nvSpPr>
        <p:spPr>
          <a:xfrm>
            <a:off x="9448495" y="6667805"/>
            <a:ext cx="7715707"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Mission affectée · client informé · statut mis à jour · back-office alimenté.</a:t>
            </a:r>
            <a:endParaRPr lang="en-US" sz="900" dirty="0"/>
          </a:p>
        </p:txBody>
      </p:sp>
      <p:sp>
        <p:nvSpPr>
          <p:cNvPr id="54" name="Shape 52"/>
          <p:cNvSpPr/>
          <p:nvPr/>
        </p:nvSpPr>
        <p:spPr>
          <a:xfrm>
            <a:off x="9448495" y="6992417"/>
            <a:ext cx="7715707" cy="571500"/>
          </a:xfrm>
          <a:prstGeom prst="roundRect">
            <a:avLst>
              <a:gd name="adj" fmla="val 13280"/>
            </a:avLst>
          </a:prstGeom>
          <a:solidFill>
            <a:srgbClr val="4C1D95"/>
          </a:solidFill>
          <a:ln w="12700">
            <a:solidFill>
              <a:srgbClr val="FFFFFF">
                <a:alpha val="0"/>
              </a:srgbClr>
            </a:solidFill>
            <a:prstDash val="solid"/>
          </a:ln>
        </p:spPr>
        <p:txBody>
          <a:bodyPr/>
          <a:lstStyle/>
          <a:p>
            <a:endParaRPr lang="fr-CI"/>
          </a:p>
        </p:txBody>
      </p:sp>
      <p:sp>
        <p:nvSpPr>
          <p:cNvPr id="55" name="Text 53"/>
          <p:cNvSpPr txBox="1"/>
          <p:nvPr/>
        </p:nvSpPr>
        <p:spPr>
          <a:xfrm>
            <a:off x="9562795" y="7106717"/>
            <a:ext cx="7487107" cy="133502"/>
          </a:xfrm>
          <a:prstGeom prst="rect">
            <a:avLst/>
          </a:prstGeom>
          <a:noFill/>
          <a:ln/>
        </p:spPr>
        <p:txBody>
          <a:bodyPr wrap="none" lIns="0" tIns="0" rIns="0" bIns="0" rtlCol="0" anchor="ctr"/>
          <a:lstStyle/>
          <a:p>
            <a:pPr marL="0" indent="0" algn="l">
              <a:buNone/>
            </a:pPr>
            <a:r>
              <a:rPr lang="en-US" sz="800" b="1" dirty="0">
                <a:solidFill>
                  <a:srgbClr val="C4B5FD"/>
                </a:solidFill>
                <a:latin typeface="JetBrains Mono" pitchFamily="34" charset="0"/>
                <a:ea typeface="JetBrains Mono" pitchFamily="34" charset="-122"/>
                <a:cs typeface="JetBrains Mono" pitchFamily="34" charset="-120"/>
              </a:rPr>
              <a:t>CRITÈRE D'ACCEPTATION</a:t>
            </a:r>
            <a:endParaRPr lang="en-US" sz="800" dirty="0"/>
          </a:p>
        </p:txBody>
      </p:sp>
      <p:sp>
        <p:nvSpPr>
          <p:cNvPr id="56" name="Text 54"/>
          <p:cNvSpPr txBox="1"/>
          <p:nvPr/>
        </p:nvSpPr>
        <p:spPr>
          <a:xfrm>
            <a:off x="9562795" y="7278624"/>
            <a:ext cx="7487107" cy="171907"/>
          </a:xfrm>
          <a:prstGeom prst="rect">
            <a:avLst/>
          </a:prstGeom>
          <a:noFill/>
          <a:ln/>
        </p:spPr>
        <p:txBody>
          <a:bodyPr wrap="non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La mission est attribuée et synchronisée sur tous les écrans.</a:t>
            </a:r>
            <a:endParaRPr lang="en-US" sz="900" dirty="0"/>
          </a:p>
        </p:txBody>
      </p:sp>
      <p:sp>
        <p:nvSpPr>
          <p:cNvPr id="57" name="Shape 55"/>
          <p:cNvSpPr/>
          <p:nvPr/>
        </p:nvSpPr>
        <p:spPr>
          <a:xfrm>
            <a:off x="0" y="9791395"/>
            <a:ext cx="18288000" cy="495605"/>
          </a:xfrm>
          <a:prstGeom prst="rect">
            <a:avLst/>
          </a:prstGeom>
          <a:solidFill>
            <a:srgbClr val="FFFFFF"/>
          </a:solidFill>
          <a:ln/>
        </p:spPr>
        <p:txBody>
          <a:bodyPr/>
          <a:lstStyle/>
          <a:p>
            <a:endParaRPr lang="fr-CI"/>
          </a:p>
        </p:txBody>
      </p:sp>
      <p:sp>
        <p:nvSpPr>
          <p:cNvPr id="58" name="Shape 56"/>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59" name="Text 57"/>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60" name="Text 58"/>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33 / 59</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6110814" y="256946"/>
            <a:ext cx="1870862"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UC Livraison · C. (2/2)</a:t>
            </a:r>
            <a:endParaRPr lang="en-US" sz="900" dirty="0"/>
          </a:p>
        </p:txBody>
      </p:sp>
      <p:sp>
        <p:nvSpPr>
          <p:cNvPr id="10" name="Text 8"/>
          <p:cNvSpPr txBox="1"/>
          <p:nvPr/>
        </p:nvSpPr>
        <p:spPr>
          <a:xfrm>
            <a:off x="914400" y="1205179"/>
            <a:ext cx="2457907"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C. Livraison — partie 2</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8479110"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UC-L03 · UC-L04 — cycle complet de livraison et gestion de l'échec.</a:t>
            </a:r>
            <a:endParaRPr lang="en-US" sz="3900" dirty="0"/>
          </a:p>
        </p:txBody>
      </p:sp>
      <p:sp>
        <p:nvSpPr>
          <p:cNvPr id="13" name="Shape 11"/>
          <p:cNvSpPr/>
          <p:nvPr/>
        </p:nvSpPr>
        <p:spPr>
          <a:xfrm>
            <a:off x="914400" y="2762402"/>
            <a:ext cx="10477195" cy="6762902"/>
          </a:xfrm>
          <a:prstGeom prst="roundRect">
            <a:avLst>
              <a:gd name="adj" fmla="val 1974"/>
            </a:avLst>
          </a:prstGeom>
          <a:solidFill>
            <a:srgbClr val="FFFFFF"/>
          </a:solidFill>
          <a:ln w="25400">
            <a:solidFill>
              <a:srgbClr val="6D28D9"/>
            </a:solidFill>
            <a:prstDash val="solid"/>
          </a:ln>
        </p:spPr>
        <p:txBody>
          <a:bodyPr/>
          <a:lstStyle/>
          <a:p>
            <a:endParaRPr lang="fr-CI"/>
          </a:p>
        </p:txBody>
      </p:sp>
      <p:sp>
        <p:nvSpPr>
          <p:cNvPr id="14" name="Text 12"/>
          <p:cNvSpPr txBox="1"/>
          <p:nvPr/>
        </p:nvSpPr>
        <p:spPr>
          <a:xfrm>
            <a:off x="1143000" y="2986430"/>
            <a:ext cx="619963" cy="219456"/>
          </a:xfrm>
          <a:prstGeom prst="rect">
            <a:avLst/>
          </a:prstGeom>
          <a:noFill/>
          <a:ln/>
        </p:spPr>
        <p:txBody>
          <a:bodyPr wrap="none" lIns="0" tIns="0" rIns="0" bIns="0" rtlCol="0" anchor="ctr"/>
          <a:lstStyle/>
          <a:p>
            <a:pPr marL="0" indent="0" algn="l">
              <a:buNone/>
            </a:pPr>
            <a:r>
              <a:rPr lang="en-US" sz="1300" b="1" dirty="0">
                <a:solidFill>
                  <a:srgbClr val="6D28D9"/>
                </a:solidFill>
                <a:latin typeface="JetBrains Mono" pitchFamily="34" charset="0"/>
                <a:ea typeface="JetBrains Mono" pitchFamily="34" charset="-122"/>
                <a:cs typeface="JetBrains Mono" pitchFamily="34" charset="-120"/>
              </a:rPr>
              <a:t>UC-L03</a:t>
            </a:r>
            <a:endParaRPr lang="en-US" sz="1300" dirty="0"/>
          </a:p>
        </p:txBody>
      </p:sp>
      <p:sp>
        <p:nvSpPr>
          <p:cNvPr id="15" name="Shape 13"/>
          <p:cNvSpPr/>
          <p:nvPr/>
        </p:nvSpPr>
        <p:spPr>
          <a:xfrm>
            <a:off x="10509199" y="2952598"/>
            <a:ext cx="733349" cy="286207"/>
          </a:xfrm>
          <a:prstGeom prst="roundRect">
            <a:avLst>
              <a:gd name="adj" fmla="val 49840"/>
            </a:avLst>
          </a:prstGeom>
          <a:solidFill>
            <a:srgbClr val="FEE2E2"/>
          </a:solidFill>
          <a:ln w="12700">
            <a:solidFill>
              <a:srgbClr val="FFFFFF">
                <a:alpha val="0"/>
              </a:srgbClr>
            </a:solidFill>
            <a:prstDash val="solid"/>
          </a:ln>
        </p:spPr>
        <p:txBody>
          <a:bodyPr/>
          <a:lstStyle/>
          <a:p>
            <a:endParaRPr lang="fr-CI"/>
          </a:p>
        </p:txBody>
      </p:sp>
      <p:sp>
        <p:nvSpPr>
          <p:cNvPr id="16" name="Text 14"/>
          <p:cNvSpPr/>
          <p:nvPr/>
        </p:nvSpPr>
        <p:spPr>
          <a:xfrm>
            <a:off x="10509199" y="2952598"/>
            <a:ext cx="7342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91B1B"/>
                </a:solidFill>
                <a:latin typeface="Manrope" pitchFamily="34" charset="0"/>
                <a:ea typeface="Manrope" pitchFamily="34" charset="-122"/>
                <a:cs typeface="Manrope" pitchFamily="34" charset="-120"/>
              </a:rPr>
              <a:t>Critique</a:t>
            </a:r>
            <a:endParaRPr lang="en-US" sz="900" dirty="0"/>
          </a:p>
        </p:txBody>
      </p:sp>
      <p:sp>
        <p:nvSpPr>
          <p:cNvPr id="17" name="Text 15"/>
          <p:cNvSpPr txBox="1"/>
          <p:nvPr/>
        </p:nvSpPr>
        <p:spPr>
          <a:xfrm>
            <a:off x="1143000" y="3333902"/>
            <a:ext cx="10096805" cy="286207"/>
          </a:xfrm>
          <a:prstGeom prst="rect">
            <a:avLst/>
          </a:prstGeom>
          <a:noFill/>
          <a:ln/>
        </p:spPr>
        <p:txBody>
          <a:bodyPr wrap="none" lIns="0" tIns="0" rIns="0" bIns="0" rtlCol="0" anchor="ctr"/>
          <a:lstStyle/>
          <a:p>
            <a:pPr marL="0" indent="0" algn="l">
              <a:buNone/>
            </a:pPr>
            <a:r>
              <a:rPr lang="en-US" sz="1800" b="1" dirty="0">
                <a:solidFill>
                  <a:srgbClr val="1F2937"/>
                </a:solidFill>
                <a:latin typeface="Manrope" pitchFamily="34" charset="0"/>
                <a:ea typeface="Manrope" pitchFamily="34" charset="-122"/>
                <a:cs typeface="Manrope" pitchFamily="34" charset="-120"/>
              </a:rPr>
              <a:t>Récupération &amp; livraison du colis</a:t>
            </a:r>
            <a:endParaRPr lang="en-US" sz="1800" dirty="0"/>
          </a:p>
        </p:txBody>
      </p:sp>
      <p:sp>
        <p:nvSpPr>
          <p:cNvPr id="18" name="Text 16"/>
          <p:cNvSpPr txBox="1"/>
          <p:nvPr/>
        </p:nvSpPr>
        <p:spPr>
          <a:xfrm>
            <a:off x="1143000" y="3676802"/>
            <a:ext cx="10096805"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Service : Livraison · Profils : Client, Livreur, Central</a:t>
            </a:r>
            <a:endParaRPr lang="en-US" sz="900" dirty="0"/>
          </a:p>
        </p:txBody>
      </p:sp>
      <p:sp>
        <p:nvSpPr>
          <p:cNvPr id="19" name="Text 17"/>
          <p:cNvSpPr txBox="1"/>
          <p:nvPr/>
        </p:nvSpPr>
        <p:spPr>
          <a:xfrm>
            <a:off x="1143000" y="4019702"/>
            <a:ext cx="10096805"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OBJECTIF</a:t>
            </a:r>
            <a:endParaRPr lang="en-US" sz="800" dirty="0"/>
          </a:p>
        </p:txBody>
      </p:sp>
      <p:sp>
        <p:nvSpPr>
          <p:cNvPr id="20" name="Text 18"/>
          <p:cNvSpPr txBox="1"/>
          <p:nvPr/>
        </p:nvSpPr>
        <p:spPr>
          <a:xfrm>
            <a:off x="1143000" y="4190695"/>
            <a:ext cx="10096805" cy="181051"/>
          </a:xfrm>
          <a:prstGeom prst="rect">
            <a:avLst/>
          </a:prstGeom>
          <a:noFill/>
          <a:ln/>
        </p:spPr>
        <p:txBody>
          <a:bodyPr wrap="none" lIns="0" tIns="0" rIns="0" bIns="0" rtlCol="0" anchor="ctr"/>
          <a:lstStyle/>
          <a:p>
            <a:pPr marL="0" indent="0" algn="l">
              <a:buNone/>
            </a:pPr>
            <a:r>
              <a:rPr lang="en-US" sz="1000" dirty="0">
                <a:solidFill>
                  <a:srgbClr val="1F2937"/>
                </a:solidFill>
                <a:latin typeface="Manrope" pitchFamily="34" charset="0"/>
                <a:ea typeface="Manrope" pitchFamily="34" charset="-122"/>
                <a:cs typeface="Manrope" pitchFamily="34" charset="-120"/>
              </a:rPr>
              <a:t>Vérifier le cycle complet d'une livraison, de la récupération chez l'expéditeur à la confirmation chez le destinataire.</a:t>
            </a:r>
            <a:endParaRPr lang="en-US" sz="1000" dirty="0"/>
          </a:p>
        </p:txBody>
      </p:sp>
      <p:sp>
        <p:nvSpPr>
          <p:cNvPr id="21" name="Text 19"/>
          <p:cNvSpPr txBox="1"/>
          <p:nvPr/>
        </p:nvSpPr>
        <p:spPr>
          <a:xfrm>
            <a:off x="1143000" y="4505249"/>
            <a:ext cx="10096805"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ÉTAPES — CYCLE COMPLET</a:t>
            </a:r>
            <a:endParaRPr lang="en-US" sz="800" dirty="0"/>
          </a:p>
        </p:txBody>
      </p:sp>
      <p:sp>
        <p:nvSpPr>
          <p:cNvPr id="22" name="Text 20"/>
          <p:cNvSpPr txBox="1"/>
          <p:nvPr/>
        </p:nvSpPr>
        <p:spPr>
          <a:xfrm>
            <a:off x="1314907" y="4695444"/>
            <a:ext cx="48106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Le livreur arrive chez l'expéditeur</a:t>
            </a:r>
            <a:endParaRPr lang="en-US" sz="900" dirty="0"/>
          </a:p>
        </p:txBody>
      </p:sp>
      <p:sp>
        <p:nvSpPr>
          <p:cNvPr id="23" name="Text 21"/>
          <p:cNvSpPr txBox="1"/>
          <p:nvPr/>
        </p:nvSpPr>
        <p:spPr>
          <a:xfrm>
            <a:off x="1314907" y="4893869"/>
            <a:ext cx="48106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Il confirme la récupération</a:t>
            </a:r>
            <a:endParaRPr lang="en-US" sz="900" dirty="0"/>
          </a:p>
        </p:txBody>
      </p:sp>
      <p:sp>
        <p:nvSpPr>
          <p:cNvPr id="24" name="Text 22"/>
          <p:cNvSpPr txBox="1"/>
          <p:nvPr/>
        </p:nvSpPr>
        <p:spPr>
          <a:xfrm>
            <a:off x="1314907" y="5092294"/>
            <a:ext cx="48106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Il se rend chez le destinataire</a:t>
            </a:r>
            <a:endParaRPr lang="en-US" sz="900" dirty="0"/>
          </a:p>
        </p:txBody>
      </p:sp>
      <p:sp>
        <p:nvSpPr>
          <p:cNvPr id="25" name="Text 23"/>
          <p:cNvSpPr txBox="1"/>
          <p:nvPr/>
        </p:nvSpPr>
        <p:spPr>
          <a:xfrm>
            <a:off x="1314907" y="5289804"/>
            <a:ext cx="48106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Il confirme la livraison</a:t>
            </a:r>
            <a:endParaRPr lang="en-US" sz="900" dirty="0"/>
          </a:p>
        </p:txBody>
      </p:sp>
      <p:sp>
        <p:nvSpPr>
          <p:cNvPr id="26" name="Text 24"/>
          <p:cNvSpPr txBox="1"/>
          <p:nvPr/>
        </p:nvSpPr>
        <p:spPr>
          <a:xfrm>
            <a:off x="6429146" y="4695444"/>
            <a:ext cx="48106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Le client reçoit la confirmation</a:t>
            </a:r>
            <a:endParaRPr lang="en-US" sz="900" dirty="0"/>
          </a:p>
        </p:txBody>
      </p:sp>
      <p:sp>
        <p:nvSpPr>
          <p:cNvPr id="27" name="Text 25"/>
          <p:cNvSpPr txBox="1"/>
          <p:nvPr/>
        </p:nvSpPr>
        <p:spPr>
          <a:xfrm>
            <a:off x="6429146" y="4893869"/>
            <a:ext cx="48106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Le système clôture la mission</a:t>
            </a:r>
            <a:endParaRPr lang="en-US" sz="900" dirty="0"/>
          </a:p>
        </p:txBody>
      </p:sp>
      <p:sp>
        <p:nvSpPr>
          <p:cNvPr id="28" name="Text 26"/>
          <p:cNvSpPr txBox="1"/>
          <p:nvPr/>
        </p:nvSpPr>
        <p:spPr>
          <a:xfrm>
            <a:off x="6429146" y="5092294"/>
            <a:ext cx="48106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La commission est calculée</a:t>
            </a:r>
            <a:endParaRPr lang="en-US" sz="900" dirty="0"/>
          </a:p>
        </p:txBody>
      </p:sp>
      <p:sp>
        <p:nvSpPr>
          <p:cNvPr id="29" name="Shape 27"/>
          <p:cNvSpPr/>
          <p:nvPr/>
        </p:nvSpPr>
        <p:spPr>
          <a:xfrm>
            <a:off x="1143000" y="5659222"/>
            <a:ext cx="4962449" cy="847649"/>
          </a:xfrm>
          <a:prstGeom prst="roundRect">
            <a:avLst>
              <a:gd name="adj" fmla="val 11219"/>
            </a:avLst>
          </a:prstGeom>
          <a:solidFill>
            <a:srgbClr val="F5F3FF"/>
          </a:solidFill>
          <a:ln w="12700">
            <a:solidFill>
              <a:srgbClr val="FFFFFF">
                <a:alpha val="0"/>
              </a:srgbClr>
            </a:solidFill>
            <a:prstDash val="solid"/>
          </a:ln>
        </p:spPr>
        <p:txBody>
          <a:bodyPr/>
          <a:lstStyle/>
          <a:p>
            <a:endParaRPr lang="fr-CI"/>
          </a:p>
        </p:txBody>
      </p:sp>
      <p:sp>
        <p:nvSpPr>
          <p:cNvPr id="30" name="Text 28"/>
          <p:cNvSpPr txBox="1"/>
          <p:nvPr/>
        </p:nvSpPr>
        <p:spPr>
          <a:xfrm>
            <a:off x="1276502" y="5792724"/>
            <a:ext cx="4696358" cy="133502"/>
          </a:xfrm>
          <a:prstGeom prst="rect">
            <a:avLst/>
          </a:prstGeom>
          <a:noFill/>
          <a:ln/>
        </p:spPr>
        <p:txBody>
          <a:bodyPr wrap="none" lIns="0" tIns="0" rIns="0" bIns="0" rtlCol="0" anchor="ctr"/>
          <a:lstStyle/>
          <a:p>
            <a:pPr marL="0" indent="0" algn="l">
              <a:buNone/>
            </a:pPr>
            <a:r>
              <a:rPr lang="en-US" sz="800" b="1" dirty="0">
                <a:solidFill>
                  <a:srgbClr val="10B981"/>
                </a:solidFill>
                <a:latin typeface="JetBrains Mono" pitchFamily="34" charset="0"/>
                <a:ea typeface="JetBrains Mono" pitchFamily="34" charset="-122"/>
                <a:cs typeface="JetBrains Mono" pitchFamily="34" charset="-120"/>
              </a:rPr>
              <a:t>RÉSULTATS ATTENDUS</a:t>
            </a:r>
            <a:endParaRPr lang="en-US" sz="800" dirty="0"/>
          </a:p>
        </p:txBody>
      </p:sp>
      <p:sp>
        <p:nvSpPr>
          <p:cNvPr id="31" name="Text 29"/>
          <p:cNvSpPr txBox="1"/>
          <p:nvPr/>
        </p:nvSpPr>
        <p:spPr>
          <a:xfrm>
            <a:off x="1276502" y="5983834"/>
            <a:ext cx="4696358" cy="391363"/>
          </a:xfrm>
          <a:prstGeom prst="rect">
            <a:avLst/>
          </a:prstGeom>
          <a:noFill/>
          <a:ln/>
        </p:spPr>
        <p:txBody>
          <a:bodyPr wrap="squar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Statuts cohérents · livraison clôturée · historique disponible · commission calculée · reporting mis à jour.</a:t>
            </a:r>
            <a:endParaRPr lang="en-US" sz="900" dirty="0"/>
          </a:p>
        </p:txBody>
      </p:sp>
      <p:sp>
        <p:nvSpPr>
          <p:cNvPr id="32" name="Shape 30"/>
          <p:cNvSpPr/>
          <p:nvPr/>
        </p:nvSpPr>
        <p:spPr>
          <a:xfrm>
            <a:off x="6277356" y="5659222"/>
            <a:ext cx="4962449" cy="847649"/>
          </a:xfrm>
          <a:prstGeom prst="roundRect">
            <a:avLst>
              <a:gd name="adj" fmla="val 11219"/>
            </a:avLst>
          </a:prstGeom>
          <a:solidFill>
            <a:srgbClr val="1F2937"/>
          </a:solidFill>
          <a:ln w="12700">
            <a:solidFill>
              <a:srgbClr val="FFFFFF">
                <a:alpha val="0"/>
              </a:srgbClr>
            </a:solidFill>
            <a:prstDash val="solid"/>
          </a:ln>
        </p:spPr>
        <p:txBody>
          <a:bodyPr/>
          <a:lstStyle/>
          <a:p>
            <a:endParaRPr lang="fr-CI"/>
          </a:p>
        </p:txBody>
      </p:sp>
      <p:sp>
        <p:nvSpPr>
          <p:cNvPr id="33" name="Text 31"/>
          <p:cNvSpPr txBox="1"/>
          <p:nvPr/>
        </p:nvSpPr>
        <p:spPr>
          <a:xfrm>
            <a:off x="6409944" y="5792724"/>
            <a:ext cx="4696358"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CRITÈRE D'ACCEPTATION</a:t>
            </a:r>
            <a:endParaRPr lang="en-US" sz="800" dirty="0"/>
          </a:p>
        </p:txBody>
      </p:sp>
      <p:sp>
        <p:nvSpPr>
          <p:cNvPr id="34" name="Text 32"/>
          <p:cNvSpPr txBox="1"/>
          <p:nvPr/>
        </p:nvSpPr>
        <p:spPr>
          <a:xfrm>
            <a:off x="6409944" y="5983834"/>
            <a:ext cx="4696358" cy="391363"/>
          </a:xfrm>
          <a:prstGeom prst="rect">
            <a:avLst/>
          </a:prstGeom>
          <a:noFill/>
          <a:ln/>
        </p:spPr>
        <p:txBody>
          <a:bodyPr wrap="squar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Une livraison complète peut être réalisée de bout en bout sans intervention manuelle.</a:t>
            </a:r>
            <a:endParaRPr lang="en-US" sz="900" dirty="0"/>
          </a:p>
        </p:txBody>
      </p:sp>
      <p:sp>
        <p:nvSpPr>
          <p:cNvPr id="35" name="Text 33"/>
          <p:cNvSpPr txBox="1"/>
          <p:nvPr/>
        </p:nvSpPr>
        <p:spPr>
          <a:xfrm>
            <a:off x="1143000" y="6672377"/>
            <a:ext cx="10096805" cy="133502"/>
          </a:xfrm>
          <a:prstGeom prst="rect">
            <a:avLst/>
          </a:prstGeom>
          <a:noFill/>
          <a:ln/>
        </p:spPr>
        <p:txBody>
          <a:bodyPr wrap="none" lIns="0" tIns="0" rIns="0" bIns="0" rtlCol="0" anchor="ctr"/>
          <a:lstStyle/>
          <a:p>
            <a:pPr marL="0" indent="0" algn="l">
              <a:buNone/>
            </a:pPr>
            <a:r>
              <a:rPr lang="en-US" sz="800" b="1" kern="0" spc="83" dirty="0">
                <a:solidFill>
                  <a:srgbClr val="6D28D9"/>
                </a:solidFill>
                <a:latin typeface="JetBrains Mono" pitchFamily="34" charset="0"/>
                <a:ea typeface="JetBrains Mono" pitchFamily="34" charset="-122"/>
                <a:cs typeface="JetBrains Mono" pitchFamily="34" charset="-120"/>
              </a:rPr>
              <a:t>FOCUS — PREUVE DE LIVRAISON</a:t>
            </a:r>
            <a:endParaRPr lang="en-US" sz="800" dirty="0"/>
          </a:p>
        </p:txBody>
      </p:sp>
      <p:sp>
        <p:nvSpPr>
          <p:cNvPr id="36" name="Text 34"/>
          <p:cNvSpPr txBox="1"/>
          <p:nvPr/>
        </p:nvSpPr>
        <p:spPr>
          <a:xfrm>
            <a:off x="1143000" y="6862572"/>
            <a:ext cx="10782605"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Si une preuve de livraison (photo, signature, code) est implémentée, elle est testée séparément en variante du cycle nominal. La preuve est stockée dans la table Documents.</a:t>
            </a:r>
            <a:endParaRPr lang="en-US" sz="900" dirty="0"/>
          </a:p>
        </p:txBody>
      </p:sp>
      <p:sp>
        <p:nvSpPr>
          <p:cNvPr id="37" name="Shape 35"/>
          <p:cNvSpPr/>
          <p:nvPr/>
        </p:nvSpPr>
        <p:spPr>
          <a:xfrm>
            <a:off x="11505895" y="2762402"/>
            <a:ext cx="5905195" cy="6762902"/>
          </a:xfrm>
          <a:prstGeom prst="roundRect">
            <a:avLst>
              <a:gd name="adj" fmla="val 2261"/>
            </a:avLst>
          </a:prstGeom>
          <a:solidFill>
            <a:srgbClr val="FEF3C7"/>
          </a:solidFill>
          <a:ln w="25400">
            <a:solidFill>
              <a:srgbClr val="F59E0B"/>
            </a:solidFill>
            <a:prstDash val="solid"/>
          </a:ln>
        </p:spPr>
        <p:txBody>
          <a:bodyPr/>
          <a:lstStyle/>
          <a:p>
            <a:endParaRPr lang="fr-CI"/>
          </a:p>
        </p:txBody>
      </p:sp>
      <p:sp>
        <p:nvSpPr>
          <p:cNvPr id="38" name="Text 36"/>
          <p:cNvSpPr txBox="1"/>
          <p:nvPr/>
        </p:nvSpPr>
        <p:spPr>
          <a:xfrm>
            <a:off x="11734495" y="2986430"/>
            <a:ext cx="619963" cy="219456"/>
          </a:xfrm>
          <a:prstGeom prst="rect">
            <a:avLst/>
          </a:prstGeom>
          <a:noFill/>
          <a:ln/>
        </p:spPr>
        <p:txBody>
          <a:bodyPr wrap="none" lIns="0" tIns="0" rIns="0" bIns="0" rtlCol="0" anchor="ctr"/>
          <a:lstStyle/>
          <a:p>
            <a:pPr marL="0" indent="0" algn="l">
              <a:buNone/>
            </a:pPr>
            <a:r>
              <a:rPr lang="en-US" sz="1300" b="1" dirty="0">
                <a:solidFill>
                  <a:srgbClr val="92400E"/>
                </a:solidFill>
                <a:latin typeface="JetBrains Mono" pitchFamily="34" charset="0"/>
                <a:ea typeface="JetBrains Mono" pitchFamily="34" charset="-122"/>
                <a:cs typeface="JetBrains Mono" pitchFamily="34" charset="-120"/>
              </a:rPr>
              <a:t>UC-L04</a:t>
            </a:r>
            <a:endParaRPr lang="en-US" sz="1300" dirty="0"/>
          </a:p>
        </p:txBody>
      </p:sp>
      <p:sp>
        <p:nvSpPr>
          <p:cNvPr id="39" name="Shape 37"/>
          <p:cNvSpPr/>
          <p:nvPr/>
        </p:nvSpPr>
        <p:spPr>
          <a:xfrm>
            <a:off x="16533266" y="2952598"/>
            <a:ext cx="733349" cy="286207"/>
          </a:xfrm>
          <a:prstGeom prst="roundRect">
            <a:avLst>
              <a:gd name="adj" fmla="val 49840"/>
            </a:avLst>
          </a:prstGeom>
          <a:solidFill>
            <a:srgbClr val="FEF3C7"/>
          </a:solidFill>
          <a:ln w="12700">
            <a:solidFill>
              <a:srgbClr val="FFFFFF">
                <a:alpha val="0"/>
              </a:srgbClr>
            </a:solidFill>
            <a:prstDash val="solid"/>
          </a:ln>
        </p:spPr>
        <p:txBody>
          <a:bodyPr/>
          <a:lstStyle/>
          <a:p>
            <a:endParaRPr lang="fr-CI"/>
          </a:p>
        </p:txBody>
      </p:sp>
      <p:sp>
        <p:nvSpPr>
          <p:cNvPr id="40" name="Text 38"/>
          <p:cNvSpPr/>
          <p:nvPr/>
        </p:nvSpPr>
        <p:spPr>
          <a:xfrm>
            <a:off x="16533266" y="2952598"/>
            <a:ext cx="7342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2400E"/>
                </a:solidFill>
                <a:latin typeface="Manrope" pitchFamily="34" charset="0"/>
                <a:ea typeface="Manrope" pitchFamily="34" charset="-122"/>
                <a:cs typeface="Manrope" pitchFamily="34" charset="-120"/>
              </a:rPr>
              <a:t>Majeure</a:t>
            </a:r>
            <a:endParaRPr lang="en-US" sz="900" dirty="0"/>
          </a:p>
        </p:txBody>
      </p:sp>
      <p:sp>
        <p:nvSpPr>
          <p:cNvPr id="41" name="Text 39"/>
          <p:cNvSpPr txBox="1"/>
          <p:nvPr/>
        </p:nvSpPr>
        <p:spPr>
          <a:xfrm>
            <a:off x="11734495" y="3333902"/>
            <a:ext cx="5524805" cy="267005"/>
          </a:xfrm>
          <a:prstGeom prst="rect">
            <a:avLst/>
          </a:prstGeom>
          <a:noFill/>
          <a:ln/>
        </p:spPr>
        <p:txBody>
          <a:bodyPr wrap="none" lIns="0" tIns="0" rIns="0" bIns="0" rtlCol="0" anchor="ctr"/>
          <a:lstStyle/>
          <a:p>
            <a:pPr marL="0" indent="0" algn="l">
              <a:buNone/>
            </a:pPr>
            <a:r>
              <a:rPr lang="en-US" sz="1600" b="1" dirty="0">
                <a:solidFill>
                  <a:srgbClr val="1F2937"/>
                </a:solidFill>
                <a:latin typeface="Manrope" pitchFamily="34" charset="0"/>
                <a:ea typeface="Manrope" pitchFamily="34" charset="-122"/>
                <a:cs typeface="Manrope" pitchFamily="34" charset="-120"/>
              </a:rPr>
              <a:t>Livraison échouée</a:t>
            </a:r>
            <a:endParaRPr lang="en-US" sz="1600" dirty="0"/>
          </a:p>
        </p:txBody>
      </p:sp>
      <p:sp>
        <p:nvSpPr>
          <p:cNvPr id="42" name="Text 40"/>
          <p:cNvSpPr txBox="1"/>
          <p:nvPr/>
        </p:nvSpPr>
        <p:spPr>
          <a:xfrm>
            <a:off x="11734495" y="3653028"/>
            <a:ext cx="5524805" cy="171907"/>
          </a:xfrm>
          <a:prstGeom prst="rect">
            <a:avLst/>
          </a:prstGeom>
          <a:noFill/>
          <a:ln/>
        </p:spPr>
        <p:txBody>
          <a:bodyPr wrap="none" lIns="0" tIns="0" rIns="0" bIns="0" rtlCol="0" anchor="ctr"/>
          <a:lstStyle/>
          <a:p>
            <a:pPr marL="0" indent="0" algn="l">
              <a:buNone/>
            </a:pPr>
            <a:r>
              <a:rPr lang="en-US" sz="900" dirty="0">
                <a:solidFill>
                  <a:srgbClr val="92400E"/>
                </a:solidFill>
                <a:latin typeface="Manrope" pitchFamily="34" charset="0"/>
                <a:ea typeface="Manrope" pitchFamily="34" charset="-122"/>
                <a:cs typeface="Manrope" pitchFamily="34" charset="-120"/>
              </a:rPr>
              <a:t>Cas non nominal — destinataire absent.</a:t>
            </a:r>
            <a:endParaRPr lang="en-US" sz="900" dirty="0"/>
          </a:p>
        </p:txBody>
      </p:sp>
      <p:sp>
        <p:nvSpPr>
          <p:cNvPr id="43" name="Text 41"/>
          <p:cNvSpPr txBox="1"/>
          <p:nvPr/>
        </p:nvSpPr>
        <p:spPr>
          <a:xfrm>
            <a:off x="11734495" y="3995928"/>
            <a:ext cx="5524805" cy="133502"/>
          </a:xfrm>
          <a:prstGeom prst="rect">
            <a:avLst/>
          </a:prstGeom>
          <a:noFill/>
          <a:ln/>
        </p:spPr>
        <p:txBody>
          <a:bodyPr wrap="none" lIns="0" tIns="0" rIns="0" bIns="0" rtlCol="0" anchor="ctr"/>
          <a:lstStyle/>
          <a:p>
            <a:pPr marL="0" indent="0" algn="l">
              <a:buNone/>
            </a:pPr>
            <a:r>
              <a:rPr lang="en-US" sz="800" b="1" dirty="0">
                <a:solidFill>
                  <a:srgbClr val="92400E"/>
                </a:solidFill>
                <a:latin typeface="JetBrains Mono" pitchFamily="34" charset="0"/>
                <a:ea typeface="JetBrains Mono" pitchFamily="34" charset="-122"/>
                <a:cs typeface="JetBrains Mono" pitchFamily="34" charset="-120"/>
              </a:rPr>
              <a:t>OBJECTIF</a:t>
            </a:r>
            <a:endParaRPr lang="en-US" sz="800" dirty="0"/>
          </a:p>
        </p:txBody>
      </p:sp>
      <p:sp>
        <p:nvSpPr>
          <p:cNvPr id="44" name="Text 42"/>
          <p:cNvSpPr txBox="1"/>
          <p:nvPr/>
        </p:nvSpPr>
        <p:spPr>
          <a:xfrm>
            <a:off x="11734495" y="4166921"/>
            <a:ext cx="6210605" cy="171907"/>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Tester le cas où une livraison ne peut pas être finalisée et la prise en charge support.</a:t>
            </a:r>
            <a:endParaRPr lang="en-US" sz="900" dirty="0"/>
          </a:p>
        </p:txBody>
      </p:sp>
      <p:sp>
        <p:nvSpPr>
          <p:cNvPr id="45" name="Text 43"/>
          <p:cNvSpPr txBox="1"/>
          <p:nvPr/>
        </p:nvSpPr>
        <p:spPr>
          <a:xfrm>
            <a:off x="11734495" y="4472330"/>
            <a:ext cx="5524805" cy="133502"/>
          </a:xfrm>
          <a:prstGeom prst="rect">
            <a:avLst/>
          </a:prstGeom>
          <a:noFill/>
          <a:ln/>
        </p:spPr>
        <p:txBody>
          <a:bodyPr wrap="none" lIns="0" tIns="0" rIns="0" bIns="0" rtlCol="0" anchor="ctr"/>
          <a:lstStyle/>
          <a:p>
            <a:pPr marL="0" indent="0" algn="l">
              <a:buNone/>
            </a:pPr>
            <a:r>
              <a:rPr lang="en-US" sz="800" b="1" dirty="0">
                <a:solidFill>
                  <a:srgbClr val="92400E"/>
                </a:solidFill>
                <a:latin typeface="JetBrains Mono" pitchFamily="34" charset="0"/>
                <a:ea typeface="JetBrains Mono" pitchFamily="34" charset="-122"/>
                <a:cs typeface="JetBrains Mono" pitchFamily="34" charset="-120"/>
              </a:rPr>
              <a:t>ÉTAPES</a:t>
            </a:r>
            <a:endParaRPr lang="en-US" sz="800" dirty="0"/>
          </a:p>
        </p:txBody>
      </p:sp>
      <p:sp>
        <p:nvSpPr>
          <p:cNvPr id="46" name="Text 44"/>
          <p:cNvSpPr txBox="1"/>
          <p:nvPr/>
        </p:nvSpPr>
        <p:spPr>
          <a:xfrm>
            <a:off x="11906402" y="4662526"/>
            <a:ext cx="53538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Le livreur accepte une mission</a:t>
            </a:r>
            <a:endParaRPr lang="en-US" sz="900" dirty="0"/>
          </a:p>
        </p:txBody>
      </p:sp>
      <p:sp>
        <p:nvSpPr>
          <p:cNvPr id="47" name="Text 45"/>
          <p:cNvSpPr txBox="1"/>
          <p:nvPr/>
        </p:nvSpPr>
        <p:spPr>
          <a:xfrm>
            <a:off x="11906402" y="4854550"/>
            <a:ext cx="53538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Il récupère le colis</a:t>
            </a:r>
            <a:endParaRPr lang="en-US" sz="900" dirty="0"/>
          </a:p>
        </p:txBody>
      </p:sp>
      <p:sp>
        <p:nvSpPr>
          <p:cNvPr id="48" name="Text 46"/>
          <p:cNvSpPr txBox="1"/>
          <p:nvPr/>
        </p:nvSpPr>
        <p:spPr>
          <a:xfrm>
            <a:off x="11906402" y="5046574"/>
            <a:ext cx="53538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Le destinataire est indisponible</a:t>
            </a:r>
            <a:endParaRPr lang="en-US" sz="900" dirty="0"/>
          </a:p>
        </p:txBody>
      </p:sp>
      <p:sp>
        <p:nvSpPr>
          <p:cNvPr id="49" name="Text 47"/>
          <p:cNvSpPr txBox="1"/>
          <p:nvPr/>
        </p:nvSpPr>
        <p:spPr>
          <a:xfrm>
            <a:off x="11906402" y="5238598"/>
            <a:ext cx="53538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Le livreur signale l'échec dans l'app</a:t>
            </a:r>
            <a:endParaRPr lang="en-US" sz="900" dirty="0"/>
          </a:p>
        </p:txBody>
      </p:sp>
      <p:sp>
        <p:nvSpPr>
          <p:cNvPr id="50" name="Text 48"/>
          <p:cNvSpPr txBox="1"/>
          <p:nvPr/>
        </p:nvSpPr>
        <p:spPr>
          <a:xfrm>
            <a:off x="11906402" y="5430622"/>
            <a:ext cx="53538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Le support est alerté en temps réel</a:t>
            </a:r>
            <a:endParaRPr lang="en-US" sz="900" dirty="0"/>
          </a:p>
        </p:txBody>
      </p:sp>
      <p:sp>
        <p:nvSpPr>
          <p:cNvPr id="51" name="Text 49"/>
          <p:cNvSpPr txBox="1"/>
          <p:nvPr/>
        </p:nvSpPr>
        <p:spPr>
          <a:xfrm>
            <a:off x="11906402" y="5622646"/>
            <a:ext cx="53538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Le back-office affiche le statut "livraison échouée"</a:t>
            </a:r>
            <a:endParaRPr lang="en-US" sz="900" dirty="0"/>
          </a:p>
        </p:txBody>
      </p:sp>
      <p:sp>
        <p:nvSpPr>
          <p:cNvPr id="52" name="Shape 50"/>
          <p:cNvSpPr/>
          <p:nvPr/>
        </p:nvSpPr>
        <p:spPr>
          <a:xfrm>
            <a:off x="11734495" y="5985662"/>
            <a:ext cx="5524805" cy="847649"/>
          </a:xfrm>
          <a:prstGeom prst="roundRect">
            <a:avLst>
              <a:gd name="adj" fmla="val 11219"/>
            </a:avLst>
          </a:prstGeom>
          <a:solidFill>
            <a:srgbClr val="FFFFFF"/>
          </a:solidFill>
          <a:ln/>
        </p:spPr>
        <p:txBody>
          <a:bodyPr/>
          <a:lstStyle/>
          <a:p>
            <a:endParaRPr lang="fr-CI"/>
          </a:p>
        </p:txBody>
      </p:sp>
      <p:sp>
        <p:nvSpPr>
          <p:cNvPr id="53" name="Shape 51"/>
          <p:cNvSpPr/>
          <p:nvPr/>
        </p:nvSpPr>
        <p:spPr>
          <a:xfrm>
            <a:off x="11734495" y="5985662"/>
            <a:ext cx="38405" cy="847649"/>
          </a:xfrm>
          <a:prstGeom prst="roundRect">
            <a:avLst>
              <a:gd name="adj" fmla="val 247618"/>
            </a:avLst>
          </a:prstGeom>
          <a:solidFill>
            <a:srgbClr val="F59E0B"/>
          </a:solidFill>
          <a:ln w="12700">
            <a:solidFill>
              <a:srgbClr val="F59E0B">
                <a:alpha val="0"/>
              </a:srgbClr>
            </a:solidFill>
            <a:prstDash val="solid"/>
          </a:ln>
        </p:spPr>
        <p:txBody>
          <a:bodyPr/>
          <a:lstStyle/>
          <a:p>
            <a:endParaRPr lang="fr-CI"/>
          </a:p>
        </p:txBody>
      </p:sp>
      <p:sp>
        <p:nvSpPr>
          <p:cNvPr id="54" name="Text 52"/>
          <p:cNvSpPr txBox="1"/>
          <p:nvPr/>
        </p:nvSpPr>
        <p:spPr>
          <a:xfrm>
            <a:off x="11906402" y="6119165"/>
            <a:ext cx="5220310" cy="133502"/>
          </a:xfrm>
          <a:prstGeom prst="rect">
            <a:avLst/>
          </a:prstGeom>
          <a:noFill/>
          <a:ln/>
        </p:spPr>
        <p:txBody>
          <a:bodyPr wrap="none" lIns="0" tIns="0" rIns="0" bIns="0" rtlCol="0" anchor="ctr"/>
          <a:lstStyle/>
          <a:p>
            <a:pPr marL="0" indent="0" algn="l">
              <a:buNone/>
            </a:pPr>
            <a:r>
              <a:rPr lang="en-US" sz="800" b="1" dirty="0">
                <a:solidFill>
                  <a:srgbClr val="92400E"/>
                </a:solidFill>
                <a:latin typeface="JetBrains Mono" pitchFamily="34" charset="0"/>
                <a:ea typeface="JetBrains Mono" pitchFamily="34" charset="-122"/>
                <a:cs typeface="JetBrains Mono" pitchFamily="34" charset="-120"/>
              </a:rPr>
              <a:t>RÉSULTATS ATTENDUS</a:t>
            </a:r>
            <a:endParaRPr lang="en-US" sz="800" dirty="0"/>
          </a:p>
        </p:txBody>
      </p:sp>
      <p:sp>
        <p:nvSpPr>
          <p:cNvPr id="55" name="Text 53"/>
          <p:cNvSpPr txBox="1"/>
          <p:nvPr/>
        </p:nvSpPr>
        <p:spPr>
          <a:xfrm>
            <a:off x="11906402" y="6309360"/>
            <a:ext cx="5220310" cy="391363"/>
          </a:xfrm>
          <a:prstGeom prst="rect">
            <a:avLst/>
          </a:prstGeom>
          <a:noFill/>
          <a:ln/>
        </p:spPr>
        <p:txBody>
          <a:bodyPr wrap="squar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Incident enregistré · statut clair · support informé · historique conservé · reprogrammation possible.</a:t>
            </a:r>
            <a:endParaRPr lang="en-US" sz="900" dirty="0"/>
          </a:p>
        </p:txBody>
      </p:sp>
      <p:sp>
        <p:nvSpPr>
          <p:cNvPr id="56" name="Shape 54"/>
          <p:cNvSpPr/>
          <p:nvPr/>
        </p:nvSpPr>
        <p:spPr>
          <a:xfrm>
            <a:off x="11734495" y="6960413"/>
            <a:ext cx="5524805" cy="562356"/>
          </a:xfrm>
          <a:prstGeom prst="roundRect">
            <a:avLst>
              <a:gd name="adj" fmla="val 13496"/>
            </a:avLst>
          </a:prstGeom>
          <a:solidFill>
            <a:srgbClr val="1F2937"/>
          </a:solidFill>
          <a:ln w="12700">
            <a:solidFill>
              <a:srgbClr val="FFFFFF">
                <a:alpha val="0"/>
              </a:srgbClr>
            </a:solidFill>
            <a:prstDash val="solid"/>
          </a:ln>
        </p:spPr>
        <p:txBody>
          <a:bodyPr/>
          <a:lstStyle/>
          <a:p>
            <a:endParaRPr lang="fr-CI"/>
          </a:p>
        </p:txBody>
      </p:sp>
      <p:sp>
        <p:nvSpPr>
          <p:cNvPr id="57" name="Text 55"/>
          <p:cNvSpPr txBox="1"/>
          <p:nvPr/>
        </p:nvSpPr>
        <p:spPr>
          <a:xfrm>
            <a:off x="11848795" y="7074713"/>
            <a:ext cx="5296205"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CRITÈRE</a:t>
            </a:r>
            <a:endParaRPr lang="en-US" sz="800" dirty="0"/>
          </a:p>
        </p:txBody>
      </p:sp>
      <p:sp>
        <p:nvSpPr>
          <p:cNvPr id="58" name="Text 56"/>
          <p:cNvSpPr txBox="1"/>
          <p:nvPr/>
        </p:nvSpPr>
        <p:spPr>
          <a:xfrm>
            <a:off x="11848795" y="7245706"/>
            <a:ext cx="5296205" cy="162763"/>
          </a:xfrm>
          <a:prstGeom prst="rect">
            <a:avLst/>
          </a:prstGeom>
          <a:noFill/>
          <a:ln/>
        </p:spPr>
        <p:txBody>
          <a:bodyPr wrap="non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Le cas d'échec n'entraîne aucune perte de colis ni de transaction.</a:t>
            </a:r>
            <a:endParaRPr lang="en-US" sz="900" dirty="0"/>
          </a:p>
        </p:txBody>
      </p:sp>
      <p:sp>
        <p:nvSpPr>
          <p:cNvPr id="59" name="Shape 57"/>
          <p:cNvSpPr/>
          <p:nvPr/>
        </p:nvSpPr>
        <p:spPr>
          <a:xfrm>
            <a:off x="0" y="9791395"/>
            <a:ext cx="18288000" cy="495605"/>
          </a:xfrm>
          <a:prstGeom prst="rect">
            <a:avLst/>
          </a:prstGeom>
          <a:solidFill>
            <a:srgbClr val="FFFFFF"/>
          </a:solidFill>
          <a:ln/>
        </p:spPr>
        <p:txBody>
          <a:bodyPr/>
          <a:lstStyle/>
          <a:p>
            <a:endParaRPr lang="fr-CI"/>
          </a:p>
        </p:txBody>
      </p:sp>
      <p:sp>
        <p:nvSpPr>
          <p:cNvPr id="60" name="Shape 58"/>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1" name="Text 59"/>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62" name="Text 60"/>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34 / 59</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6882567" y="256946"/>
            <a:ext cx="1121054"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UC Fret · D.</a:t>
            </a:r>
            <a:endParaRPr lang="en-US" sz="900" dirty="0"/>
          </a:p>
        </p:txBody>
      </p:sp>
      <p:sp>
        <p:nvSpPr>
          <p:cNvPr id="10" name="Text 8"/>
          <p:cNvSpPr txBox="1"/>
          <p:nvPr/>
        </p:nvSpPr>
        <p:spPr>
          <a:xfrm>
            <a:off x="914400" y="1205179"/>
            <a:ext cx="1677010"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D. Fret urbain</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6193110" cy="1095451"/>
          </a:xfrm>
          <a:prstGeom prst="rect">
            <a:avLst/>
          </a:prstGeom>
          <a:noFill/>
          <a:ln/>
        </p:spPr>
        <p:txBody>
          <a:bodyPr wrap="squar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UC-F01 · UC-F02 — réception &amp; devis partenaire, puis affectation chauffeur.</a:t>
            </a:r>
            <a:endParaRPr lang="en-US" sz="3900" dirty="0"/>
          </a:p>
        </p:txBody>
      </p:sp>
      <p:sp>
        <p:nvSpPr>
          <p:cNvPr id="13" name="Shape 11"/>
          <p:cNvSpPr/>
          <p:nvPr/>
        </p:nvSpPr>
        <p:spPr>
          <a:xfrm>
            <a:off x="914400" y="2762402"/>
            <a:ext cx="8191195" cy="6762902"/>
          </a:xfrm>
          <a:prstGeom prst="roundRect">
            <a:avLst>
              <a:gd name="adj" fmla="val 1974"/>
            </a:avLst>
          </a:prstGeom>
          <a:solidFill>
            <a:srgbClr val="FFFFFF"/>
          </a:solidFill>
          <a:ln w="25400">
            <a:solidFill>
              <a:srgbClr val="6D28D9"/>
            </a:solidFill>
            <a:prstDash val="solid"/>
          </a:ln>
        </p:spPr>
        <p:txBody>
          <a:bodyPr/>
          <a:lstStyle/>
          <a:p>
            <a:endParaRPr lang="fr-CI"/>
          </a:p>
        </p:txBody>
      </p:sp>
      <p:sp>
        <p:nvSpPr>
          <p:cNvPr id="14" name="Text 12"/>
          <p:cNvSpPr txBox="1"/>
          <p:nvPr/>
        </p:nvSpPr>
        <p:spPr>
          <a:xfrm>
            <a:off x="1143000" y="2986430"/>
            <a:ext cx="619963" cy="219456"/>
          </a:xfrm>
          <a:prstGeom prst="rect">
            <a:avLst/>
          </a:prstGeom>
          <a:noFill/>
          <a:ln/>
        </p:spPr>
        <p:txBody>
          <a:bodyPr wrap="none" lIns="0" tIns="0" rIns="0" bIns="0" rtlCol="0" anchor="ctr"/>
          <a:lstStyle/>
          <a:p>
            <a:pPr marL="0" indent="0" algn="l">
              <a:buNone/>
            </a:pPr>
            <a:r>
              <a:rPr lang="en-US" sz="1300" b="1" dirty="0">
                <a:solidFill>
                  <a:srgbClr val="6D28D9"/>
                </a:solidFill>
                <a:latin typeface="JetBrains Mono" pitchFamily="34" charset="0"/>
                <a:ea typeface="JetBrains Mono" pitchFamily="34" charset="-122"/>
                <a:cs typeface="JetBrains Mono" pitchFamily="34" charset="-120"/>
              </a:rPr>
              <a:t>UC-F01</a:t>
            </a:r>
            <a:endParaRPr lang="en-US" sz="1300" dirty="0"/>
          </a:p>
        </p:txBody>
      </p:sp>
      <p:sp>
        <p:nvSpPr>
          <p:cNvPr id="15" name="Shape 13"/>
          <p:cNvSpPr/>
          <p:nvPr/>
        </p:nvSpPr>
        <p:spPr>
          <a:xfrm>
            <a:off x="8131759" y="2952598"/>
            <a:ext cx="733349" cy="286207"/>
          </a:xfrm>
          <a:prstGeom prst="roundRect">
            <a:avLst>
              <a:gd name="adj" fmla="val 49840"/>
            </a:avLst>
          </a:prstGeom>
          <a:solidFill>
            <a:srgbClr val="FEF3C7"/>
          </a:solidFill>
          <a:ln w="12700">
            <a:solidFill>
              <a:srgbClr val="FFFFFF">
                <a:alpha val="0"/>
              </a:srgbClr>
            </a:solidFill>
            <a:prstDash val="solid"/>
          </a:ln>
        </p:spPr>
        <p:txBody>
          <a:bodyPr/>
          <a:lstStyle/>
          <a:p>
            <a:endParaRPr lang="fr-CI"/>
          </a:p>
        </p:txBody>
      </p:sp>
      <p:sp>
        <p:nvSpPr>
          <p:cNvPr id="16" name="Text 14"/>
          <p:cNvSpPr/>
          <p:nvPr/>
        </p:nvSpPr>
        <p:spPr>
          <a:xfrm>
            <a:off x="8131759" y="2952598"/>
            <a:ext cx="7342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2400E"/>
                </a:solidFill>
                <a:latin typeface="Manrope" pitchFamily="34" charset="0"/>
                <a:ea typeface="Manrope" pitchFamily="34" charset="-122"/>
                <a:cs typeface="Manrope" pitchFamily="34" charset="-120"/>
              </a:rPr>
              <a:t>Majeure</a:t>
            </a:r>
            <a:endParaRPr lang="en-US" sz="900" dirty="0"/>
          </a:p>
        </p:txBody>
      </p:sp>
      <p:sp>
        <p:nvSpPr>
          <p:cNvPr id="17" name="Text 15"/>
          <p:cNvSpPr txBox="1"/>
          <p:nvPr/>
        </p:nvSpPr>
        <p:spPr>
          <a:xfrm>
            <a:off x="1143000" y="3333902"/>
            <a:ext cx="7715707" cy="286207"/>
          </a:xfrm>
          <a:prstGeom prst="rect">
            <a:avLst/>
          </a:prstGeom>
          <a:noFill/>
          <a:ln/>
        </p:spPr>
        <p:txBody>
          <a:bodyPr wrap="none" lIns="0" tIns="0" rIns="0" bIns="0" rtlCol="0" anchor="ctr"/>
          <a:lstStyle/>
          <a:p>
            <a:pPr marL="0" indent="0" algn="l">
              <a:buNone/>
            </a:pPr>
            <a:r>
              <a:rPr lang="en-US" sz="1800" b="1" dirty="0">
                <a:solidFill>
                  <a:srgbClr val="1F2937"/>
                </a:solidFill>
                <a:latin typeface="Manrope" pitchFamily="34" charset="0"/>
                <a:ea typeface="Manrope" pitchFamily="34" charset="-122"/>
                <a:cs typeface="Manrope" pitchFamily="34" charset="-120"/>
              </a:rPr>
              <a:t>Création demande &amp; réception partenaire</a:t>
            </a:r>
            <a:endParaRPr lang="en-US" sz="1800" dirty="0"/>
          </a:p>
        </p:txBody>
      </p:sp>
      <p:sp>
        <p:nvSpPr>
          <p:cNvPr id="18" name="Text 16"/>
          <p:cNvSpPr txBox="1"/>
          <p:nvPr/>
        </p:nvSpPr>
        <p:spPr>
          <a:xfrm>
            <a:off x="1143000" y="3676802"/>
            <a:ext cx="7715707"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Service : Fret urbain · Profils : Client, Partenaire fret</a:t>
            </a:r>
            <a:endParaRPr lang="en-US" sz="900" dirty="0"/>
          </a:p>
        </p:txBody>
      </p:sp>
      <p:sp>
        <p:nvSpPr>
          <p:cNvPr id="19" name="Text 17"/>
          <p:cNvSpPr txBox="1"/>
          <p:nvPr/>
        </p:nvSpPr>
        <p:spPr>
          <a:xfrm>
            <a:off x="1143000" y="4019702"/>
            <a:ext cx="7715707"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OBJECTIF</a:t>
            </a:r>
            <a:endParaRPr lang="en-US" sz="800" dirty="0"/>
          </a:p>
        </p:txBody>
      </p:sp>
      <p:sp>
        <p:nvSpPr>
          <p:cNvPr id="20" name="Text 18"/>
          <p:cNvSpPr txBox="1"/>
          <p:nvPr/>
        </p:nvSpPr>
        <p:spPr>
          <a:xfrm>
            <a:off x="1143000" y="4190695"/>
            <a:ext cx="7715707" cy="362102"/>
          </a:xfrm>
          <a:prstGeom prst="rect">
            <a:avLst/>
          </a:prstGeom>
          <a:noFill/>
          <a:ln/>
        </p:spPr>
        <p:txBody>
          <a:bodyPr wrap="square" lIns="0" tIns="0" rIns="0" bIns="0" rtlCol="0" anchor="ctr"/>
          <a:lstStyle/>
          <a:p>
            <a:pPr marL="0" indent="0" algn="l">
              <a:buNone/>
            </a:pPr>
            <a:r>
              <a:rPr lang="en-US" sz="1000" dirty="0">
                <a:solidFill>
                  <a:srgbClr val="1F2937"/>
                </a:solidFill>
                <a:latin typeface="Manrope" pitchFamily="34" charset="0"/>
                <a:ea typeface="Manrope" pitchFamily="34" charset="-122"/>
                <a:cs typeface="Manrope" pitchFamily="34" charset="-120"/>
              </a:rPr>
              <a:t>Vérifier que la demande de fret du client est </a:t>
            </a:r>
            <a:r>
              <a:rPr lang="en-US" sz="1000" b="1" dirty="0">
                <a:solidFill>
                  <a:srgbClr val="1F2937"/>
                </a:solidFill>
                <a:latin typeface="Manrope" pitchFamily="34" charset="0"/>
                <a:ea typeface="Manrope" pitchFamily="34" charset="-122"/>
                <a:cs typeface="Manrope" pitchFamily="34" charset="-120"/>
              </a:rPr>
              <a:t>reçue par le partenaire</a:t>
            </a:r>
            <a:r>
              <a:rPr lang="en-US" sz="1000" dirty="0">
                <a:solidFill>
                  <a:srgbClr val="1F2937"/>
                </a:solidFill>
                <a:latin typeface="Manrope" pitchFamily="34" charset="0"/>
                <a:ea typeface="Manrope" pitchFamily="34" charset="-122"/>
                <a:cs typeface="Manrope" pitchFamily="34" charset="-120"/>
              </a:rPr>
              <a:t> (jamais directement par un chauffeur) et qu'elle apparaît dans son tableau de bord pour traitement.</a:t>
            </a:r>
            <a:endParaRPr lang="en-US" sz="1000" dirty="0"/>
          </a:p>
        </p:txBody>
      </p:sp>
      <p:sp>
        <p:nvSpPr>
          <p:cNvPr id="21" name="Text 19"/>
          <p:cNvSpPr txBox="1"/>
          <p:nvPr/>
        </p:nvSpPr>
        <p:spPr>
          <a:xfrm>
            <a:off x="1143000" y="4686300"/>
            <a:ext cx="7715707"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ÉTAPES</a:t>
            </a:r>
            <a:endParaRPr lang="en-US" sz="800" dirty="0"/>
          </a:p>
        </p:txBody>
      </p:sp>
      <p:sp>
        <p:nvSpPr>
          <p:cNvPr id="22" name="Text 20"/>
          <p:cNvSpPr txBox="1"/>
          <p:nvPr/>
        </p:nvSpPr>
        <p:spPr>
          <a:xfrm>
            <a:off x="1314907" y="4876495"/>
            <a:ext cx="7543800"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Le client choisit le service Fret</a:t>
            </a:r>
            <a:endParaRPr lang="en-US" sz="900" dirty="0"/>
          </a:p>
        </p:txBody>
      </p:sp>
      <p:sp>
        <p:nvSpPr>
          <p:cNvPr id="23" name="Text 21"/>
          <p:cNvSpPr txBox="1"/>
          <p:nvPr/>
        </p:nvSpPr>
        <p:spPr>
          <a:xfrm>
            <a:off x="1314907" y="5068519"/>
            <a:ext cx="7543800"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Il indique type de marchandise, volume / poids, type véhicule requis</a:t>
            </a:r>
            <a:endParaRPr lang="en-US" sz="900" dirty="0"/>
          </a:p>
        </p:txBody>
      </p:sp>
      <p:sp>
        <p:nvSpPr>
          <p:cNvPr id="24" name="Text 22"/>
          <p:cNvSpPr txBox="1"/>
          <p:nvPr/>
        </p:nvSpPr>
        <p:spPr>
          <a:xfrm>
            <a:off x="1314907" y="5260543"/>
            <a:ext cx="7543800"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Il renseigne l'adresse d'enlèvement et l'adresse de livraison</a:t>
            </a:r>
            <a:endParaRPr lang="en-US" sz="900" dirty="0"/>
          </a:p>
        </p:txBody>
      </p:sp>
      <p:sp>
        <p:nvSpPr>
          <p:cNvPr id="25" name="Text 23"/>
          <p:cNvSpPr txBox="1"/>
          <p:nvPr/>
        </p:nvSpPr>
        <p:spPr>
          <a:xfrm>
            <a:off x="1314907" y="5452567"/>
            <a:ext cx="7543800"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Il valide la demande — </a:t>
            </a:r>
            <a:r>
              <a:rPr lang="en-US" sz="900" b="1" dirty="0">
                <a:solidFill>
                  <a:srgbClr val="4B5563"/>
                </a:solidFill>
                <a:latin typeface="Manrope" pitchFamily="34" charset="0"/>
                <a:ea typeface="Manrope" pitchFamily="34" charset="-122"/>
                <a:cs typeface="Manrope" pitchFamily="34" charset="-120"/>
              </a:rPr>
              <a:t>aucune estimation automatique affichée</a:t>
            </a:r>
            <a:r>
              <a:rPr lang="en-US" sz="900" dirty="0">
                <a:solidFill>
                  <a:srgbClr val="4B5563"/>
                </a:solidFill>
                <a:latin typeface="Manrope" pitchFamily="34" charset="0"/>
                <a:ea typeface="Manrope" pitchFamily="34" charset="-122"/>
                <a:cs typeface="Manrope" pitchFamily="34" charset="-120"/>
              </a:rPr>
              <a:t> (le prix dépendra du devis partenaire)</a:t>
            </a:r>
            <a:endParaRPr lang="en-US" sz="900" dirty="0"/>
          </a:p>
        </p:txBody>
      </p:sp>
      <p:sp>
        <p:nvSpPr>
          <p:cNvPr id="26" name="Text 24"/>
          <p:cNvSpPr txBox="1"/>
          <p:nvPr/>
        </p:nvSpPr>
        <p:spPr>
          <a:xfrm>
            <a:off x="1314907" y="5644591"/>
            <a:ext cx="7543800"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La demande est routée au(x) </a:t>
            </a:r>
            <a:r>
              <a:rPr lang="en-US" sz="900" b="1" dirty="0">
                <a:solidFill>
                  <a:srgbClr val="4B5563"/>
                </a:solidFill>
                <a:latin typeface="Manrope" pitchFamily="34" charset="0"/>
                <a:ea typeface="Manrope" pitchFamily="34" charset="-122"/>
                <a:cs typeface="Manrope" pitchFamily="34" charset="-120"/>
              </a:rPr>
              <a:t>partenaire(s) fret de la zone</a:t>
            </a:r>
            <a:endParaRPr lang="en-US" sz="900" dirty="0"/>
          </a:p>
        </p:txBody>
      </p:sp>
      <p:sp>
        <p:nvSpPr>
          <p:cNvPr id="27" name="Text 25"/>
          <p:cNvSpPr txBox="1"/>
          <p:nvPr/>
        </p:nvSpPr>
        <p:spPr>
          <a:xfrm>
            <a:off x="1314907" y="5836615"/>
            <a:ext cx="7543800"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Le partenaire reçoit une notification &amp; voit la demande dans son back-office</a:t>
            </a:r>
            <a:endParaRPr lang="en-US" sz="900" dirty="0"/>
          </a:p>
        </p:txBody>
      </p:sp>
      <p:sp>
        <p:nvSpPr>
          <p:cNvPr id="28" name="Text 26"/>
          <p:cNvSpPr txBox="1"/>
          <p:nvPr/>
        </p:nvSpPr>
        <p:spPr>
          <a:xfrm>
            <a:off x="1143000" y="6162142"/>
            <a:ext cx="7715707" cy="133502"/>
          </a:xfrm>
          <a:prstGeom prst="rect">
            <a:avLst/>
          </a:prstGeom>
          <a:noFill/>
          <a:ln/>
        </p:spPr>
        <p:txBody>
          <a:bodyPr wrap="none" lIns="0" tIns="0" rIns="0" bIns="0" rtlCol="0" anchor="ctr"/>
          <a:lstStyle/>
          <a:p>
            <a:pPr marL="0" indent="0" algn="l">
              <a:buNone/>
            </a:pPr>
            <a:r>
              <a:rPr lang="en-US" sz="800" b="1" dirty="0">
                <a:solidFill>
                  <a:srgbClr val="10B981"/>
                </a:solidFill>
                <a:latin typeface="JetBrains Mono" pitchFamily="34" charset="0"/>
                <a:ea typeface="JetBrains Mono" pitchFamily="34" charset="-122"/>
                <a:cs typeface="JetBrains Mono" pitchFamily="34" charset="-120"/>
              </a:rPr>
              <a:t>RÉSULTATS ATTENDUS</a:t>
            </a:r>
            <a:endParaRPr lang="en-US" sz="800" dirty="0"/>
          </a:p>
        </p:txBody>
      </p:sp>
      <p:sp>
        <p:nvSpPr>
          <p:cNvPr id="29" name="Text 27"/>
          <p:cNvSpPr txBox="1"/>
          <p:nvPr/>
        </p:nvSpPr>
        <p:spPr>
          <a:xfrm>
            <a:off x="1143000" y="6333134"/>
            <a:ext cx="8401507" cy="200254"/>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Demande créée · client en statut "en attente de devis" · partenaire(s) notifié(s) · demande visible au back-office central.</a:t>
            </a:r>
            <a:endParaRPr lang="en-US" sz="900" dirty="0"/>
          </a:p>
        </p:txBody>
      </p:sp>
      <p:sp>
        <p:nvSpPr>
          <p:cNvPr id="30" name="Shape 28"/>
          <p:cNvSpPr/>
          <p:nvPr/>
        </p:nvSpPr>
        <p:spPr>
          <a:xfrm>
            <a:off x="1143000" y="6658661"/>
            <a:ext cx="7715707" cy="571500"/>
          </a:xfrm>
          <a:prstGeom prst="roundRect">
            <a:avLst>
              <a:gd name="adj" fmla="val 13280"/>
            </a:avLst>
          </a:prstGeom>
          <a:solidFill>
            <a:srgbClr val="F5F3FF"/>
          </a:solidFill>
          <a:ln w="12700">
            <a:solidFill>
              <a:srgbClr val="FFFFFF">
                <a:alpha val="0"/>
              </a:srgbClr>
            </a:solidFill>
            <a:prstDash val="solid"/>
          </a:ln>
        </p:spPr>
        <p:txBody>
          <a:bodyPr/>
          <a:lstStyle/>
          <a:p>
            <a:endParaRPr lang="fr-CI"/>
          </a:p>
        </p:txBody>
      </p:sp>
      <p:sp>
        <p:nvSpPr>
          <p:cNvPr id="31" name="Text 29"/>
          <p:cNvSpPr txBox="1"/>
          <p:nvPr/>
        </p:nvSpPr>
        <p:spPr>
          <a:xfrm>
            <a:off x="1257300" y="6772961"/>
            <a:ext cx="7487107"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CRITÈRE D'ACCEPTATION</a:t>
            </a:r>
            <a:endParaRPr lang="en-US" sz="800" dirty="0"/>
          </a:p>
        </p:txBody>
      </p:sp>
      <p:sp>
        <p:nvSpPr>
          <p:cNvPr id="32" name="Text 30"/>
          <p:cNvSpPr txBox="1"/>
          <p:nvPr/>
        </p:nvSpPr>
        <p:spPr>
          <a:xfrm>
            <a:off x="1257300" y="6944868"/>
            <a:ext cx="8172907" cy="171907"/>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Aucune demande de fret ne doit être diffusée directement aux chauffeurs avant validation et devis du partenaire.</a:t>
            </a:r>
            <a:endParaRPr lang="en-US" sz="900" dirty="0"/>
          </a:p>
        </p:txBody>
      </p:sp>
      <p:sp>
        <p:nvSpPr>
          <p:cNvPr id="33" name="Shape 31"/>
          <p:cNvSpPr/>
          <p:nvPr/>
        </p:nvSpPr>
        <p:spPr>
          <a:xfrm>
            <a:off x="9219895" y="2762402"/>
            <a:ext cx="8191195" cy="6762902"/>
          </a:xfrm>
          <a:prstGeom prst="roundRect">
            <a:avLst>
              <a:gd name="adj" fmla="val 1974"/>
            </a:avLst>
          </a:prstGeom>
          <a:solidFill>
            <a:srgbClr val="1F2937"/>
          </a:solidFill>
          <a:ln w="25400">
            <a:solidFill>
              <a:srgbClr val="6D28D9"/>
            </a:solidFill>
            <a:prstDash val="solid"/>
          </a:ln>
        </p:spPr>
        <p:txBody>
          <a:bodyPr/>
          <a:lstStyle/>
          <a:p>
            <a:endParaRPr lang="fr-CI"/>
          </a:p>
        </p:txBody>
      </p:sp>
      <p:sp>
        <p:nvSpPr>
          <p:cNvPr id="34" name="Text 32"/>
          <p:cNvSpPr txBox="1"/>
          <p:nvPr/>
        </p:nvSpPr>
        <p:spPr>
          <a:xfrm>
            <a:off x="9448495" y="2986430"/>
            <a:ext cx="619963" cy="219456"/>
          </a:xfrm>
          <a:prstGeom prst="rect">
            <a:avLst/>
          </a:prstGeom>
          <a:noFill/>
          <a:ln/>
        </p:spPr>
        <p:txBody>
          <a:bodyPr wrap="none" lIns="0" tIns="0" rIns="0" bIns="0" rtlCol="0" anchor="ctr"/>
          <a:lstStyle/>
          <a:p>
            <a:pPr marL="0" indent="0" algn="l">
              <a:buNone/>
            </a:pPr>
            <a:r>
              <a:rPr lang="en-US" sz="1300" b="1" dirty="0">
                <a:solidFill>
                  <a:srgbClr val="A78BFA"/>
                </a:solidFill>
                <a:latin typeface="JetBrains Mono" pitchFamily="34" charset="0"/>
                <a:ea typeface="JetBrains Mono" pitchFamily="34" charset="-122"/>
                <a:cs typeface="JetBrains Mono" pitchFamily="34" charset="-120"/>
              </a:rPr>
              <a:t>UC-F02</a:t>
            </a:r>
            <a:endParaRPr lang="en-US" sz="1300" dirty="0"/>
          </a:p>
        </p:txBody>
      </p:sp>
      <p:sp>
        <p:nvSpPr>
          <p:cNvPr id="35" name="Shape 33"/>
          <p:cNvSpPr/>
          <p:nvPr/>
        </p:nvSpPr>
        <p:spPr>
          <a:xfrm>
            <a:off x="16437254" y="2952598"/>
            <a:ext cx="733349" cy="286207"/>
          </a:xfrm>
          <a:prstGeom prst="roundRect">
            <a:avLst>
              <a:gd name="adj" fmla="val 49840"/>
            </a:avLst>
          </a:prstGeom>
          <a:solidFill>
            <a:srgbClr val="FEF3C7"/>
          </a:solidFill>
          <a:ln w="12700">
            <a:solidFill>
              <a:srgbClr val="FFFFFF">
                <a:alpha val="0"/>
              </a:srgbClr>
            </a:solidFill>
            <a:prstDash val="solid"/>
          </a:ln>
        </p:spPr>
        <p:txBody>
          <a:bodyPr/>
          <a:lstStyle/>
          <a:p>
            <a:endParaRPr lang="fr-CI"/>
          </a:p>
        </p:txBody>
      </p:sp>
      <p:sp>
        <p:nvSpPr>
          <p:cNvPr id="36" name="Text 34"/>
          <p:cNvSpPr/>
          <p:nvPr/>
        </p:nvSpPr>
        <p:spPr>
          <a:xfrm>
            <a:off x="16437254" y="2952598"/>
            <a:ext cx="7342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2400E"/>
                </a:solidFill>
                <a:latin typeface="Manrope" pitchFamily="34" charset="0"/>
                <a:ea typeface="Manrope" pitchFamily="34" charset="-122"/>
                <a:cs typeface="Manrope" pitchFamily="34" charset="-120"/>
              </a:rPr>
              <a:t>Majeure</a:t>
            </a:r>
            <a:endParaRPr lang="en-US" sz="900" dirty="0"/>
          </a:p>
        </p:txBody>
      </p:sp>
      <p:sp>
        <p:nvSpPr>
          <p:cNvPr id="37" name="Text 35"/>
          <p:cNvSpPr txBox="1"/>
          <p:nvPr/>
        </p:nvSpPr>
        <p:spPr>
          <a:xfrm>
            <a:off x="9448495" y="3333902"/>
            <a:ext cx="7715707" cy="314554"/>
          </a:xfrm>
          <a:prstGeom prst="rect">
            <a:avLst/>
          </a:prstGeom>
          <a:noFill/>
          <a:ln/>
        </p:spPr>
        <p:txBody>
          <a:bodyPr wrap="none" lIns="0" tIns="0" rIns="0" bIns="0" rtlCol="0" anchor="ctr"/>
          <a:lstStyle/>
          <a:p>
            <a:pPr marL="0" indent="0" algn="l">
              <a:buNone/>
            </a:pPr>
            <a:r>
              <a:rPr lang="en-US" sz="1800" b="1" dirty="0">
                <a:solidFill>
                  <a:srgbClr val="FFFFFF"/>
                </a:solidFill>
                <a:latin typeface="Manrope" pitchFamily="34" charset="0"/>
                <a:ea typeface="Manrope" pitchFamily="34" charset="-122"/>
                <a:cs typeface="Manrope" pitchFamily="34" charset="-120"/>
              </a:rPr>
              <a:t>Devis partenaire &amp; affectation chauffeur</a:t>
            </a:r>
            <a:endParaRPr lang="en-US" sz="1800" dirty="0"/>
          </a:p>
        </p:txBody>
      </p:sp>
      <p:sp>
        <p:nvSpPr>
          <p:cNvPr id="38" name="Text 36"/>
          <p:cNvSpPr txBox="1"/>
          <p:nvPr/>
        </p:nvSpPr>
        <p:spPr>
          <a:xfrm>
            <a:off x="9448495" y="3877056"/>
            <a:ext cx="7715707" cy="171907"/>
          </a:xfrm>
          <a:prstGeom prst="rect">
            <a:avLst/>
          </a:prstGeom>
          <a:noFill/>
          <a:ln/>
        </p:spPr>
        <p:txBody>
          <a:bodyPr wrap="none" lIns="0" tIns="0" rIns="0" bIns="0" rtlCol="0" anchor="ctr"/>
          <a:lstStyle/>
          <a:p>
            <a:pPr marL="0" indent="0" algn="l">
              <a:buNone/>
            </a:pPr>
            <a:r>
              <a:rPr lang="en-US" sz="900" dirty="0">
                <a:solidFill>
                  <a:srgbClr val="A78BFA"/>
                </a:solidFill>
                <a:latin typeface="Manrope" pitchFamily="34" charset="0"/>
                <a:ea typeface="Manrope" pitchFamily="34" charset="-122"/>
                <a:cs typeface="Manrope" pitchFamily="34" charset="-120"/>
              </a:rPr>
              <a:t>Service : Fret urbain · Profils : Partenaire, Client, Chauffeur de la flotte</a:t>
            </a:r>
            <a:endParaRPr lang="en-US" sz="900" dirty="0"/>
          </a:p>
        </p:txBody>
      </p:sp>
      <p:sp>
        <p:nvSpPr>
          <p:cNvPr id="39" name="Text 37"/>
          <p:cNvSpPr txBox="1"/>
          <p:nvPr/>
        </p:nvSpPr>
        <p:spPr>
          <a:xfrm>
            <a:off x="9448495" y="4219956"/>
            <a:ext cx="7715707"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OBJECTIF</a:t>
            </a:r>
            <a:endParaRPr lang="en-US" sz="800" dirty="0"/>
          </a:p>
        </p:txBody>
      </p:sp>
      <p:sp>
        <p:nvSpPr>
          <p:cNvPr id="40" name="Text 38"/>
          <p:cNvSpPr txBox="1"/>
          <p:nvPr/>
        </p:nvSpPr>
        <p:spPr>
          <a:xfrm>
            <a:off x="9448495" y="4390949"/>
            <a:ext cx="8401507" cy="181051"/>
          </a:xfrm>
          <a:prstGeom prst="rect">
            <a:avLst/>
          </a:prstGeom>
          <a:noFill/>
          <a:ln/>
        </p:spPr>
        <p:txBody>
          <a:bodyPr wrap="none" lIns="0" tIns="0" rIns="0" bIns="0" rtlCol="0" anchor="ctr"/>
          <a:lstStyle/>
          <a:p>
            <a:pPr marL="0" indent="0" algn="l">
              <a:buNone/>
            </a:pPr>
            <a:r>
              <a:rPr lang="en-US" sz="1000" dirty="0">
                <a:solidFill>
                  <a:srgbClr val="E5E7EB"/>
                </a:solidFill>
                <a:latin typeface="Manrope" pitchFamily="34" charset="0"/>
                <a:ea typeface="Manrope" pitchFamily="34" charset="-122"/>
                <a:cs typeface="Manrope" pitchFamily="34" charset="-120"/>
              </a:rPr>
              <a:t>Vérifier le circuit complet : traitement partenaire, envoi devis, acceptation client, affectation chauffeur, démarrage mission.</a:t>
            </a:r>
            <a:endParaRPr lang="en-US" sz="1000" dirty="0"/>
          </a:p>
        </p:txBody>
      </p:sp>
      <p:sp>
        <p:nvSpPr>
          <p:cNvPr id="41" name="Text 39"/>
          <p:cNvSpPr txBox="1"/>
          <p:nvPr/>
        </p:nvSpPr>
        <p:spPr>
          <a:xfrm>
            <a:off x="9448495" y="4705502"/>
            <a:ext cx="7715707"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ÉTAPES</a:t>
            </a:r>
            <a:endParaRPr lang="en-US" sz="800" dirty="0"/>
          </a:p>
        </p:txBody>
      </p:sp>
      <p:sp>
        <p:nvSpPr>
          <p:cNvPr id="42" name="Text 40"/>
          <p:cNvSpPr txBox="1"/>
          <p:nvPr/>
        </p:nvSpPr>
        <p:spPr>
          <a:xfrm>
            <a:off x="9620402" y="4895698"/>
            <a:ext cx="75438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Le partenaire consulte la demande dans son back-office</a:t>
            </a:r>
            <a:endParaRPr lang="en-US" sz="900" dirty="0"/>
          </a:p>
        </p:txBody>
      </p:sp>
      <p:sp>
        <p:nvSpPr>
          <p:cNvPr id="43" name="Text 41"/>
          <p:cNvSpPr txBox="1"/>
          <p:nvPr/>
        </p:nvSpPr>
        <p:spPr>
          <a:xfrm>
            <a:off x="9620402" y="5094122"/>
            <a:ext cx="75438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Il analyse : type marchandise, distance, véhicule disponible, calendrier</a:t>
            </a:r>
            <a:endParaRPr lang="en-US" sz="900" dirty="0"/>
          </a:p>
        </p:txBody>
      </p:sp>
      <p:sp>
        <p:nvSpPr>
          <p:cNvPr id="44" name="Text 42"/>
          <p:cNvSpPr txBox="1"/>
          <p:nvPr/>
        </p:nvSpPr>
        <p:spPr>
          <a:xfrm>
            <a:off x="9620402" y="5291633"/>
            <a:ext cx="75438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Il saisit le </a:t>
            </a:r>
            <a:r>
              <a:rPr lang="en-US" sz="900" b="1" dirty="0">
                <a:solidFill>
                  <a:srgbClr val="FFFFFF"/>
                </a:solidFill>
                <a:latin typeface="Manrope" pitchFamily="34" charset="0"/>
                <a:ea typeface="Manrope" pitchFamily="34" charset="-122"/>
                <a:cs typeface="Manrope" pitchFamily="34" charset="-120"/>
              </a:rPr>
              <a:t>devis</a:t>
            </a:r>
            <a:r>
              <a:rPr lang="en-US" sz="900" dirty="0">
                <a:solidFill>
                  <a:srgbClr val="C4B5FD"/>
                </a:solidFill>
                <a:latin typeface="Manrope" pitchFamily="34" charset="0"/>
                <a:ea typeface="Manrope" pitchFamily="34" charset="-122"/>
                <a:cs typeface="Manrope" pitchFamily="34" charset="-120"/>
              </a:rPr>
              <a:t> (prix, délai, conditions) et l'envoie au client</a:t>
            </a:r>
            <a:endParaRPr lang="en-US" sz="900" dirty="0"/>
          </a:p>
        </p:txBody>
      </p:sp>
      <p:sp>
        <p:nvSpPr>
          <p:cNvPr id="45" name="Text 43"/>
          <p:cNvSpPr txBox="1"/>
          <p:nvPr/>
        </p:nvSpPr>
        <p:spPr>
          <a:xfrm>
            <a:off x="9620402" y="5490058"/>
            <a:ext cx="75438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Le client reçoit le devis (notification + détail) et l'accepte ou refuse</a:t>
            </a:r>
            <a:endParaRPr lang="en-US" sz="900" dirty="0"/>
          </a:p>
        </p:txBody>
      </p:sp>
      <p:sp>
        <p:nvSpPr>
          <p:cNvPr id="46" name="Text 44"/>
          <p:cNvSpPr txBox="1"/>
          <p:nvPr/>
        </p:nvSpPr>
        <p:spPr>
          <a:xfrm>
            <a:off x="9620402" y="5688482"/>
            <a:ext cx="75438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Si accepté : le partenaire affecte un chauffeur de sa flotte</a:t>
            </a:r>
            <a:endParaRPr lang="en-US" sz="900" dirty="0"/>
          </a:p>
        </p:txBody>
      </p:sp>
      <p:sp>
        <p:nvSpPr>
          <p:cNvPr id="47" name="Text 45"/>
          <p:cNvSpPr txBox="1"/>
          <p:nvPr/>
        </p:nvSpPr>
        <p:spPr>
          <a:xfrm>
            <a:off x="9620402" y="5885993"/>
            <a:ext cx="75438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Le chauffeur reçoit la mission &amp; accepte</a:t>
            </a:r>
            <a:endParaRPr lang="en-US" sz="900" dirty="0"/>
          </a:p>
        </p:txBody>
      </p:sp>
      <p:sp>
        <p:nvSpPr>
          <p:cNvPr id="48" name="Text 46"/>
          <p:cNvSpPr txBox="1"/>
          <p:nvPr/>
        </p:nvSpPr>
        <p:spPr>
          <a:xfrm>
            <a:off x="9620402" y="6084418"/>
            <a:ext cx="75438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Le suivi mission démarre ; clôture &amp; commission à la fin</a:t>
            </a:r>
            <a:endParaRPr lang="en-US" sz="900" dirty="0"/>
          </a:p>
        </p:txBody>
      </p:sp>
      <p:sp>
        <p:nvSpPr>
          <p:cNvPr id="49" name="Text 47"/>
          <p:cNvSpPr txBox="1"/>
          <p:nvPr/>
        </p:nvSpPr>
        <p:spPr>
          <a:xfrm>
            <a:off x="9448495" y="6415430"/>
            <a:ext cx="7715707" cy="133502"/>
          </a:xfrm>
          <a:prstGeom prst="rect">
            <a:avLst/>
          </a:prstGeom>
          <a:noFill/>
          <a:ln/>
        </p:spPr>
        <p:txBody>
          <a:bodyPr wrap="none" lIns="0" tIns="0" rIns="0" bIns="0" rtlCol="0" anchor="ctr"/>
          <a:lstStyle/>
          <a:p>
            <a:pPr marL="0" indent="0" algn="l">
              <a:buNone/>
            </a:pPr>
            <a:r>
              <a:rPr lang="en-US" sz="800" b="1" dirty="0">
                <a:solidFill>
                  <a:srgbClr val="10B981"/>
                </a:solidFill>
                <a:latin typeface="JetBrains Mono" pitchFamily="34" charset="0"/>
                <a:ea typeface="JetBrains Mono" pitchFamily="34" charset="-122"/>
                <a:cs typeface="JetBrains Mono" pitchFamily="34" charset="-120"/>
              </a:rPr>
              <a:t>RÉSULTATS ATTENDUS</a:t>
            </a:r>
            <a:endParaRPr lang="en-US" sz="800" dirty="0"/>
          </a:p>
        </p:txBody>
      </p:sp>
      <p:sp>
        <p:nvSpPr>
          <p:cNvPr id="50" name="Text 48"/>
          <p:cNvSpPr txBox="1"/>
          <p:nvPr/>
        </p:nvSpPr>
        <p:spPr>
          <a:xfrm>
            <a:off x="9448495" y="6587338"/>
            <a:ext cx="7715707" cy="391363"/>
          </a:xfrm>
          <a:prstGeom prst="rect">
            <a:avLst/>
          </a:prstGeom>
          <a:noFill/>
          <a:ln/>
        </p:spPr>
        <p:txBody>
          <a:bodyPr wrap="squar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Devis enregistré · client notifié · acceptation tracée · chauffeur affecté uniquement après acceptation · véhicule conforme au besoin · reporting OK.</a:t>
            </a:r>
            <a:endParaRPr lang="en-US" sz="900" dirty="0"/>
          </a:p>
        </p:txBody>
      </p:sp>
      <p:sp>
        <p:nvSpPr>
          <p:cNvPr id="51" name="Shape 49"/>
          <p:cNvSpPr/>
          <p:nvPr/>
        </p:nvSpPr>
        <p:spPr>
          <a:xfrm>
            <a:off x="9448495" y="7103974"/>
            <a:ext cx="7715707" cy="743407"/>
          </a:xfrm>
          <a:prstGeom prst="roundRect">
            <a:avLst>
              <a:gd name="adj" fmla="val 10209"/>
            </a:avLst>
          </a:prstGeom>
          <a:solidFill>
            <a:srgbClr val="4C1D95"/>
          </a:solidFill>
          <a:ln w="12700">
            <a:solidFill>
              <a:srgbClr val="FFFFFF">
                <a:alpha val="0"/>
              </a:srgbClr>
            </a:solidFill>
            <a:prstDash val="solid"/>
          </a:ln>
        </p:spPr>
        <p:txBody>
          <a:bodyPr/>
          <a:lstStyle/>
          <a:p>
            <a:endParaRPr lang="fr-CI"/>
          </a:p>
        </p:txBody>
      </p:sp>
      <p:sp>
        <p:nvSpPr>
          <p:cNvPr id="52" name="Text 50"/>
          <p:cNvSpPr txBox="1"/>
          <p:nvPr/>
        </p:nvSpPr>
        <p:spPr>
          <a:xfrm>
            <a:off x="9562795" y="7218274"/>
            <a:ext cx="7487107" cy="133502"/>
          </a:xfrm>
          <a:prstGeom prst="rect">
            <a:avLst/>
          </a:prstGeom>
          <a:noFill/>
          <a:ln/>
        </p:spPr>
        <p:txBody>
          <a:bodyPr wrap="none" lIns="0" tIns="0" rIns="0" bIns="0" rtlCol="0" anchor="ctr"/>
          <a:lstStyle/>
          <a:p>
            <a:pPr marL="0" indent="0" algn="l">
              <a:buNone/>
            </a:pPr>
            <a:r>
              <a:rPr lang="en-US" sz="800" b="1" dirty="0">
                <a:solidFill>
                  <a:srgbClr val="C4B5FD"/>
                </a:solidFill>
                <a:latin typeface="JetBrains Mono" pitchFamily="34" charset="0"/>
                <a:ea typeface="JetBrains Mono" pitchFamily="34" charset="-122"/>
                <a:cs typeface="JetBrains Mono" pitchFamily="34" charset="-120"/>
              </a:rPr>
              <a:t>CRITÈRE D'ACCEPTATION</a:t>
            </a:r>
            <a:endParaRPr lang="en-US" sz="800" dirty="0"/>
          </a:p>
        </p:txBody>
      </p:sp>
      <p:sp>
        <p:nvSpPr>
          <p:cNvPr id="53" name="Text 51"/>
          <p:cNvSpPr txBox="1"/>
          <p:nvPr/>
        </p:nvSpPr>
        <p:spPr>
          <a:xfrm>
            <a:off x="9562795" y="7390181"/>
            <a:ext cx="7487107" cy="342900"/>
          </a:xfrm>
          <a:prstGeom prst="rect">
            <a:avLst/>
          </a:prstGeom>
          <a:noFill/>
          <a:ln/>
        </p:spPr>
        <p:txBody>
          <a:bodyPr wrap="squar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Aucune affectation possible avant acceptation du devis par le client. Le chauffeur affecté appartient obligatoirement à la flotte du partenaire émetteur.</a:t>
            </a:r>
            <a:endParaRPr lang="en-US" sz="900" dirty="0"/>
          </a:p>
        </p:txBody>
      </p:sp>
      <p:sp>
        <p:nvSpPr>
          <p:cNvPr id="54" name="Shape 52"/>
          <p:cNvSpPr/>
          <p:nvPr/>
        </p:nvSpPr>
        <p:spPr>
          <a:xfrm>
            <a:off x="0" y="9791395"/>
            <a:ext cx="18288000" cy="495605"/>
          </a:xfrm>
          <a:prstGeom prst="rect">
            <a:avLst/>
          </a:prstGeom>
          <a:solidFill>
            <a:srgbClr val="FFFFFF"/>
          </a:solidFill>
          <a:ln/>
        </p:spPr>
        <p:txBody>
          <a:bodyPr/>
          <a:lstStyle/>
          <a:p>
            <a:endParaRPr lang="fr-CI"/>
          </a:p>
        </p:txBody>
      </p:sp>
      <p:sp>
        <p:nvSpPr>
          <p:cNvPr id="55" name="Shape 53"/>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56" name="Text 54"/>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57" name="Text 55"/>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35 / 59</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6540582" y="256946"/>
            <a:ext cx="1509674"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UC Location · E.</a:t>
            </a:r>
            <a:endParaRPr lang="en-US" sz="900" dirty="0"/>
          </a:p>
        </p:txBody>
      </p:sp>
      <p:sp>
        <p:nvSpPr>
          <p:cNvPr id="10" name="Text 8"/>
          <p:cNvSpPr txBox="1"/>
          <p:nvPr/>
        </p:nvSpPr>
        <p:spPr>
          <a:xfrm>
            <a:off x="914400" y="1205179"/>
            <a:ext cx="2677363"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E. Location de véhicules</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6193110" cy="1095451"/>
          </a:xfrm>
          <a:prstGeom prst="rect">
            <a:avLst/>
          </a:prstGeom>
          <a:noFill/>
          <a:ln/>
        </p:spPr>
        <p:txBody>
          <a:bodyPr wrap="squar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UC-LO01 · UC-LO02 — demande et validation d'une réservation de location.</a:t>
            </a:r>
            <a:endParaRPr lang="en-US" sz="3900" dirty="0"/>
          </a:p>
        </p:txBody>
      </p:sp>
      <p:sp>
        <p:nvSpPr>
          <p:cNvPr id="13" name="Shape 11"/>
          <p:cNvSpPr/>
          <p:nvPr/>
        </p:nvSpPr>
        <p:spPr>
          <a:xfrm>
            <a:off x="914400" y="2762402"/>
            <a:ext cx="8191195" cy="6762902"/>
          </a:xfrm>
          <a:prstGeom prst="roundRect">
            <a:avLst>
              <a:gd name="adj" fmla="val 1974"/>
            </a:avLst>
          </a:prstGeom>
          <a:solidFill>
            <a:srgbClr val="FFFFFF"/>
          </a:solidFill>
          <a:ln w="25400">
            <a:solidFill>
              <a:srgbClr val="6D28D9"/>
            </a:solidFill>
            <a:prstDash val="solid"/>
          </a:ln>
        </p:spPr>
        <p:txBody>
          <a:bodyPr/>
          <a:lstStyle/>
          <a:p>
            <a:endParaRPr lang="fr-CI"/>
          </a:p>
        </p:txBody>
      </p:sp>
      <p:sp>
        <p:nvSpPr>
          <p:cNvPr id="14" name="Text 12"/>
          <p:cNvSpPr txBox="1"/>
          <p:nvPr/>
        </p:nvSpPr>
        <p:spPr>
          <a:xfrm>
            <a:off x="1143000" y="2986430"/>
            <a:ext cx="724205" cy="219456"/>
          </a:xfrm>
          <a:prstGeom prst="rect">
            <a:avLst/>
          </a:prstGeom>
          <a:noFill/>
          <a:ln/>
        </p:spPr>
        <p:txBody>
          <a:bodyPr wrap="none" lIns="0" tIns="0" rIns="0" bIns="0" rtlCol="0" anchor="ctr"/>
          <a:lstStyle/>
          <a:p>
            <a:pPr marL="0" indent="0" algn="l">
              <a:buNone/>
            </a:pPr>
            <a:r>
              <a:rPr lang="en-US" sz="1300" b="1" dirty="0">
                <a:solidFill>
                  <a:srgbClr val="6D28D9"/>
                </a:solidFill>
                <a:latin typeface="JetBrains Mono" pitchFamily="34" charset="0"/>
                <a:ea typeface="JetBrains Mono" pitchFamily="34" charset="-122"/>
                <a:cs typeface="JetBrains Mono" pitchFamily="34" charset="-120"/>
              </a:rPr>
              <a:t>UC-LO01</a:t>
            </a:r>
            <a:endParaRPr lang="en-US" sz="1300" dirty="0"/>
          </a:p>
        </p:txBody>
      </p:sp>
      <p:sp>
        <p:nvSpPr>
          <p:cNvPr id="15" name="Shape 13"/>
          <p:cNvSpPr/>
          <p:nvPr/>
        </p:nvSpPr>
        <p:spPr>
          <a:xfrm>
            <a:off x="8131759" y="2952598"/>
            <a:ext cx="733349" cy="286207"/>
          </a:xfrm>
          <a:prstGeom prst="roundRect">
            <a:avLst>
              <a:gd name="adj" fmla="val 49840"/>
            </a:avLst>
          </a:prstGeom>
          <a:solidFill>
            <a:srgbClr val="FEF3C7"/>
          </a:solidFill>
          <a:ln w="12700">
            <a:solidFill>
              <a:srgbClr val="FFFFFF">
                <a:alpha val="0"/>
              </a:srgbClr>
            </a:solidFill>
            <a:prstDash val="solid"/>
          </a:ln>
        </p:spPr>
        <p:txBody>
          <a:bodyPr/>
          <a:lstStyle/>
          <a:p>
            <a:endParaRPr lang="fr-CI"/>
          </a:p>
        </p:txBody>
      </p:sp>
      <p:sp>
        <p:nvSpPr>
          <p:cNvPr id="16" name="Text 14"/>
          <p:cNvSpPr/>
          <p:nvPr/>
        </p:nvSpPr>
        <p:spPr>
          <a:xfrm>
            <a:off x="8131759" y="2952598"/>
            <a:ext cx="7342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2400E"/>
                </a:solidFill>
                <a:latin typeface="Manrope" pitchFamily="34" charset="0"/>
                <a:ea typeface="Manrope" pitchFamily="34" charset="-122"/>
                <a:cs typeface="Manrope" pitchFamily="34" charset="-120"/>
              </a:rPr>
              <a:t>Majeure</a:t>
            </a:r>
            <a:endParaRPr lang="en-US" sz="900" dirty="0"/>
          </a:p>
        </p:txBody>
      </p:sp>
      <p:sp>
        <p:nvSpPr>
          <p:cNvPr id="17" name="Text 15"/>
          <p:cNvSpPr txBox="1"/>
          <p:nvPr/>
        </p:nvSpPr>
        <p:spPr>
          <a:xfrm>
            <a:off x="1143000" y="3333902"/>
            <a:ext cx="7715707" cy="286207"/>
          </a:xfrm>
          <a:prstGeom prst="rect">
            <a:avLst/>
          </a:prstGeom>
          <a:noFill/>
          <a:ln/>
        </p:spPr>
        <p:txBody>
          <a:bodyPr wrap="none" lIns="0" tIns="0" rIns="0" bIns="0" rtlCol="0" anchor="ctr"/>
          <a:lstStyle/>
          <a:p>
            <a:pPr marL="0" indent="0" algn="l">
              <a:buNone/>
            </a:pPr>
            <a:r>
              <a:rPr lang="en-US" sz="1800" b="1" dirty="0">
                <a:solidFill>
                  <a:srgbClr val="1F2937"/>
                </a:solidFill>
                <a:latin typeface="Manrope" pitchFamily="34" charset="0"/>
                <a:ea typeface="Manrope" pitchFamily="34" charset="-122"/>
                <a:cs typeface="Manrope" pitchFamily="34" charset="-120"/>
              </a:rPr>
              <a:t>Demande de location de véhicule</a:t>
            </a:r>
            <a:endParaRPr lang="en-US" sz="1800" dirty="0"/>
          </a:p>
        </p:txBody>
      </p:sp>
      <p:sp>
        <p:nvSpPr>
          <p:cNvPr id="18" name="Text 16"/>
          <p:cNvSpPr txBox="1"/>
          <p:nvPr/>
        </p:nvSpPr>
        <p:spPr>
          <a:xfrm>
            <a:off x="1143000" y="3676802"/>
            <a:ext cx="7715707"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Service : Location · Profil : Client</a:t>
            </a:r>
            <a:endParaRPr lang="en-US" sz="900" dirty="0"/>
          </a:p>
        </p:txBody>
      </p:sp>
      <p:sp>
        <p:nvSpPr>
          <p:cNvPr id="19" name="Text 17"/>
          <p:cNvSpPr txBox="1"/>
          <p:nvPr/>
        </p:nvSpPr>
        <p:spPr>
          <a:xfrm>
            <a:off x="1143000" y="4019702"/>
            <a:ext cx="7715707"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OBJECTIF</a:t>
            </a:r>
            <a:endParaRPr lang="en-US" sz="800" dirty="0"/>
          </a:p>
        </p:txBody>
      </p:sp>
      <p:sp>
        <p:nvSpPr>
          <p:cNvPr id="20" name="Text 18"/>
          <p:cNvSpPr txBox="1"/>
          <p:nvPr/>
        </p:nvSpPr>
        <p:spPr>
          <a:xfrm>
            <a:off x="1143000" y="4190695"/>
            <a:ext cx="7715707" cy="181051"/>
          </a:xfrm>
          <a:prstGeom prst="rect">
            <a:avLst/>
          </a:prstGeom>
          <a:noFill/>
          <a:ln/>
        </p:spPr>
        <p:txBody>
          <a:bodyPr wrap="none" lIns="0" tIns="0" rIns="0" bIns="0" rtlCol="0" anchor="ctr"/>
          <a:lstStyle/>
          <a:p>
            <a:pPr marL="0" indent="0" algn="l">
              <a:buNone/>
            </a:pPr>
            <a:r>
              <a:rPr lang="en-US" sz="1000" dirty="0">
                <a:solidFill>
                  <a:srgbClr val="1F2937"/>
                </a:solidFill>
                <a:latin typeface="Manrope" pitchFamily="34" charset="0"/>
                <a:ea typeface="Manrope" pitchFamily="34" charset="-122"/>
                <a:cs typeface="Manrope" pitchFamily="34" charset="-120"/>
              </a:rPr>
              <a:t>Vérifier qu'un client peut faire une demande de location avec ou sans chauffeur.</a:t>
            </a:r>
            <a:endParaRPr lang="en-US" sz="1000" dirty="0"/>
          </a:p>
        </p:txBody>
      </p:sp>
      <p:sp>
        <p:nvSpPr>
          <p:cNvPr id="21" name="Text 19"/>
          <p:cNvSpPr txBox="1"/>
          <p:nvPr/>
        </p:nvSpPr>
        <p:spPr>
          <a:xfrm>
            <a:off x="1143000" y="4505249"/>
            <a:ext cx="7715707"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ÉTAPES</a:t>
            </a:r>
            <a:endParaRPr lang="en-US" sz="800" dirty="0"/>
          </a:p>
        </p:txBody>
      </p:sp>
      <p:sp>
        <p:nvSpPr>
          <p:cNvPr id="22" name="Text 20"/>
          <p:cNvSpPr txBox="1"/>
          <p:nvPr/>
        </p:nvSpPr>
        <p:spPr>
          <a:xfrm>
            <a:off x="1314907" y="4695444"/>
            <a:ext cx="7543800"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Le client choisit le service Location</a:t>
            </a:r>
            <a:endParaRPr lang="en-US" sz="900" dirty="0"/>
          </a:p>
        </p:txBody>
      </p:sp>
      <p:sp>
        <p:nvSpPr>
          <p:cNvPr id="23" name="Text 21"/>
          <p:cNvSpPr txBox="1"/>
          <p:nvPr/>
        </p:nvSpPr>
        <p:spPr>
          <a:xfrm>
            <a:off x="1314907" y="4893869"/>
            <a:ext cx="7543800"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Il choisit le type de véhicule</a:t>
            </a:r>
            <a:endParaRPr lang="en-US" sz="900" dirty="0"/>
          </a:p>
        </p:txBody>
      </p:sp>
      <p:sp>
        <p:nvSpPr>
          <p:cNvPr id="24" name="Text 22"/>
          <p:cNvSpPr txBox="1"/>
          <p:nvPr/>
        </p:nvSpPr>
        <p:spPr>
          <a:xfrm>
            <a:off x="1314907" y="5092294"/>
            <a:ext cx="7543800"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Il choisit la période</a:t>
            </a:r>
            <a:endParaRPr lang="en-US" sz="900" dirty="0"/>
          </a:p>
        </p:txBody>
      </p:sp>
      <p:sp>
        <p:nvSpPr>
          <p:cNvPr id="25" name="Text 23"/>
          <p:cNvSpPr txBox="1"/>
          <p:nvPr/>
        </p:nvSpPr>
        <p:spPr>
          <a:xfrm>
            <a:off x="1314907" y="5289804"/>
            <a:ext cx="7543800"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Il indique avec ou sans chauffeur</a:t>
            </a:r>
            <a:endParaRPr lang="en-US" sz="900" dirty="0"/>
          </a:p>
        </p:txBody>
      </p:sp>
      <p:sp>
        <p:nvSpPr>
          <p:cNvPr id="26" name="Text 24"/>
          <p:cNvSpPr txBox="1"/>
          <p:nvPr/>
        </p:nvSpPr>
        <p:spPr>
          <a:xfrm>
            <a:off x="1314907" y="5488229"/>
            <a:ext cx="7543800"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Il valide la demande</a:t>
            </a:r>
            <a:endParaRPr lang="en-US" sz="900" dirty="0"/>
          </a:p>
        </p:txBody>
      </p:sp>
      <p:sp>
        <p:nvSpPr>
          <p:cNvPr id="27" name="Text 25"/>
          <p:cNvSpPr txBox="1"/>
          <p:nvPr/>
        </p:nvSpPr>
        <p:spPr>
          <a:xfrm>
            <a:off x="1314907" y="5686654"/>
            <a:ext cx="7543800"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Le système enregistre la demande</a:t>
            </a:r>
            <a:endParaRPr lang="en-US" sz="900" dirty="0"/>
          </a:p>
        </p:txBody>
      </p:sp>
      <p:sp>
        <p:nvSpPr>
          <p:cNvPr id="28" name="Text 26"/>
          <p:cNvSpPr txBox="1"/>
          <p:nvPr/>
        </p:nvSpPr>
        <p:spPr>
          <a:xfrm>
            <a:off x="1314907" y="5884164"/>
            <a:ext cx="7543800"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Le partenaire ou central reçoit la demande</a:t>
            </a:r>
            <a:endParaRPr lang="en-US" sz="900" dirty="0"/>
          </a:p>
        </p:txBody>
      </p:sp>
      <p:sp>
        <p:nvSpPr>
          <p:cNvPr id="29" name="Text 27"/>
          <p:cNvSpPr txBox="1"/>
          <p:nvPr/>
        </p:nvSpPr>
        <p:spPr>
          <a:xfrm>
            <a:off x="1143000" y="6216091"/>
            <a:ext cx="7715707" cy="133502"/>
          </a:xfrm>
          <a:prstGeom prst="rect">
            <a:avLst/>
          </a:prstGeom>
          <a:noFill/>
          <a:ln/>
        </p:spPr>
        <p:txBody>
          <a:bodyPr wrap="none" lIns="0" tIns="0" rIns="0" bIns="0" rtlCol="0" anchor="ctr"/>
          <a:lstStyle/>
          <a:p>
            <a:pPr marL="0" indent="0" algn="l">
              <a:buNone/>
            </a:pPr>
            <a:r>
              <a:rPr lang="en-US" sz="800" b="1" dirty="0">
                <a:solidFill>
                  <a:srgbClr val="10B981"/>
                </a:solidFill>
                <a:latin typeface="JetBrains Mono" pitchFamily="34" charset="0"/>
                <a:ea typeface="JetBrains Mono" pitchFamily="34" charset="-122"/>
                <a:cs typeface="JetBrains Mono" pitchFamily="34" charset="-120"/>
              </a:rPr>
              <a:t>RÉSULTATS ATTENDUS</a:t>
            </a:r>
            <a:endParaRPr lang="en-US" sz="800" dirty="0"/>
          </a:p>
        </p:txBody>
      </p:sp>
      <p:sp>
        <p:nvSpPr>
          <p:cNvPr id="30" name="Text 28"/>
          <p:cNvSpPr txBox="1"/>
          <p:nvPr/>
        </p:nvSpPr>
        <p:spPr>
          <a:xfrm>
            <a:off x="1143000" y="6387084"/>
            <a:ext cx="7715707" cy="200254"/>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Demande enregistrée · disponibilité vérifiable · notification envoyée · statut visible.</a:t>
            </a:r>
            <a:endParaRPr lang="en-US" sz="900" dirty="0"/>
          </a:p>
        </p:txBody>
      </p:sp>
      <p:sp>
        <p:nvSpPr>
          <p:cNvPr id="31" name="Shape 29"/>
          <p:cNvSpPr/>
          <p:nvPr/>
        </p:nvSpPr>
        <p:spPr>
          <a:xfrm>
            <a:off x="1143000" y="6712610"/>
            <a:ext cx="7715707" cy="571500"/>
          </a:xfrm>
          <a:prstGeom prst="roundRect">
            <a:avLst>
              <a:gd name="adj" fmla="val 13280"/>
            </a:avLst>
          </a:prstGeom>
          <a:solidFill>
            <a:srgbClr val="F5F3FF"/>
          </a:solidFill>
          <a:ln w="12700">
            <a:solidFill>
              <a:srgbClr val="FFFFFF">
                <a:alpha val="0"/>
              </a:srgbClr>
            </a:solidFill>
            <a:prstDash val="solid"/>
          </a:ln>
        </p:spPr>
        <p:txBody>
          <a:bodyPr/>
          <a:lstStyle/>
          <a:p>
            <a:endParaRPr lang="fr-CI"/>
          </a:p>
        </p:txBody>
      </p:sp>
      <p:sp>
        <p:nvSpPr>
          <p:cNvPr id="32" name="Text 30"/>
          <p:cNvSpPr txBox="1"/>
          <p:nvPr/>
        </p:nvSpPr>
        <p:spPr>
          <a:xfrm>
            <a:off x="1257300" y="6826910"/>
            <a:ext cx="7487107"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CRITÈRE D'ACCEPTATION</a:t>
            </a:r>
            <a:endParaRPr lang="en-US" sz="800" dirty="0"/>
          </a:p>
        </p:txBody>
      </p:sp>
      <p:sp>
        <p:nvSpPr>
          <p:cNvPr id="33" name="Text 31"/>
          <p:cNvSpPr txBox="1"/>
          <p:nvPr/>
        </p:nvSpPr>
        <p:spPr>
          <a:xfrm>
            <a:off x="1257300" y="6997903"/>
            <a:ext cx="7487107" cy="171907"/>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La demande est routée correctement vers le partenaire propriétaire du véhicule.</a:t>
            </a:r>
            <a:endParaRPr lang="en-US" sz="900" dirty="0"/>
          </a:p>
        </p:txBody>
      </p:sp>
      <p:sp>
        <p:nvSpPr>
          <p:cNvPr id="34" name="Shape 32"/>
          <p:cNvSpPr/>
          <p:nvPr/>
        </p:nvSpPr>
        <p:spPr>
          <a:xfrm>
            <a:off x="9219895" y="2762402"/>
            <a:ext cx="8191195" cy="6762902"/>
          </a:xfrm>
          <a:prstGeom prst="roundRect">
            <a:avLst>
              <a:gd name="adj" fmla="val 1974"/>
            </a:avLst>
          </a:prstGeom>
          <a:solidFill>
            <a:srgbClr val="1F2937"/>
          </a:solidFill>
          <a:ln w="25400">
            <a:solidFill>
              <a:srgbClr val="6D28D9"/>
            </a:solidFill>
            <a:prstDash val="solid"/>
          </a:ln>
        </p:spPr>
        <p:txBody>
          <a:bodyPr/>
          <a:lstStyle/>
          <a:p>
            <a:endParaRPr lang="fr-CI"/>
          </a:p>
        </p:txBody>
      </p:sp>
      <p:sp>
        <p:nvSpPr>
          <p:cNvPr id="35" name="Text 33"/>
          <p:cNvSpPr txBox="1"/>
          <p:nvPr/>
        </p:nvSpPr>
        <p:spPr>
          <a:xfrm>
            <a:off x="9448495" y="2986430"/>
            <a:ext cx="724205" cy="219456"/>
          </a:xfrm>
          <a:prstGeom prst="rect">
            <a:avLst/>
          </a:prstGeom>
          <a:noFill/>
          <a:ln/>
        </p:spPr>
        <p:txBody>
          <a:bodyPr wrap="none" lIns="0" tIns="0" rIns="0" bIns="0" rtlCol="0" anchor="ctr"/>
          <a:lstStyle/>
          <a:p>
            <a:pPr marL="0" indent="0" algn="l">
              <a:buNone/>
            </a:pPr>
            <a:r>
              <a:rPr lang="en-US" sz="1300" b="1" dirty="0">
                <a:solidFill>
                  <a:srgbClr val="A78BFA"/>
                </a:solidFill>
                <a:latin typeface="JetBrains Mono" pitchFamily="34" charset="0"/>
                <a:ea typeface="JetBrains Mono" pitchFamily="34" charset="-122"/>
                <a:cs typeface="JetBrains Mono" pitchFamily="34" charset="-120"/>
              </a:rPr>
              <a:t>UC-LO02</a:t>
            </a:r>
            <a:endParaRPr lang="en-US" sz="1300" dirty="0"/>
          </a:p>
        </p:txBody>
      </p:sp>
      <p:sp>
        <p:nvSpPr>
          <p:cNvPr id="36" name="Shape 34"/>
          <p:cNvSpPr/>
          <p:nvPr/>
        </p:nvSpPr>
        <p:spPr>
          <a:xfrm>
            <a:off x="16437254" y="2952598"/>
            <a:ext cx="733349" cy="286207"/>
          </a:xfrm>
          <a:prstGeom prst="roundRect">
            <a:avLst>
              <a:gd name="adj" fmla="val 49840"/>
            </a:avLst>
          </a:prstGeom>
          <a:solidFill>
            <a:srgbClr val="FEF3C7"/>
          </a:solidFill>
          <a:ln w="12700">
            <a:solidFill>
              <a:srgbClr val="FFFFFF">
                <a:alpha val="0"/>
              </a:srgbClr>
            </a:solidFill>
            <a:prstDash val="solid"/>
          </a:ln>
        </p:spPr>
        <p:txBody>
          <a:bodyPr/>
          <a:lstStyle/>
          <a:p>
            <a:endParaRPr lang="fr-CI"/>
          </a:p>
        </p:txBody>
      </p:sp>
      <p:sp>
        <p:nvSpPr>
          <p:cNvPr id="37" name="Text 35"/>
          <p:cNvSpPr/>
          <p:nvPr/>
        </p:nvSpPr>
        <p:spPr>
          <a:xfrm>
            <a:off x="16437254" y="2952598"/>
            <a:ext cx="7342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2400E"/>
                </a:solidFill>
                <a:latin typeface="Manrope" pitchFamily="34" charset="0"/>
                <a:ea typeface="Manrope" pitchFamily="34" charset="-122"/>
                <a:cs typeface="Manrope" pitchFamily="34" charset="-120"/>
              </a:rPr>
              <a:t>Majeure</a:t>
            </a:r>
            <a:endParaRPr lang="en-US" sz="900" dirty="0"/>
          </a:p>
        </p:txBody>
      </p:sp>
      <p:sp>
        <p:nvSpPr>
          <p:cNvPr id="38" name="Text 36"/>
          <p:cNvSpPr txBox="1"/>
          <p:nvPr/>
        </p:nvSpPr>
        <p:spPr>
          <a:xfrm>
            <a:off x="9448495" y="3333902"/>
            <a:ext cx="7715707" cy="314554"/>
          </a:xfrm>
          <a:prstGeom prst="rect">
            <a:avLst/>
          </a:prstGeom>
          <a:noFill/>
          <a:ln/>
        </p:spPr>
        <p:txBody>
          <a:bodyPr wrap="none" lIns="0" tIns="0" rIns="0" bIns="0" rtlCol="0" anchor="ctr"/>
          <a:lstStyle/>
          <a:p>
            <a:pPr marL="0" indent="0" algn="l">
              <a:buNone/>
            </a:pPr>
            <a:r>
              <a:rPr lang="en-US" sz="1800" b="1" dirty="0">
                <a:solidFill>
                  <a:srgbClr val="FFFFFF"/>
                </a:solidFill>
                <a:latin typeface="Manrope" pitchFamily="34" charset="0"/>
                <a:ea typeface="Manrope" pitchFamily="34" charset="-122"/>
                <a:cs typeface="Manrope" pitchFamily="34" charset="-120"/>
              </a:rPr>
              <a:t>Validation d'une demande de location</a:t>
            </a:r>
            <a:endParaRPr lang="en-US" sz="1800" dirty="0"/>
          </a:p>
        </p:txBody>
      </p:sp>
      <p:sp>
        <p:nvSpPr>
          <p:cNvPr id="39" name="Text 37"/>
          <p:cNvSpPr txBox="1"/>
          <p:nvPr/>
        </p:nvSpPr>
        <p:spPr>
          <a:xfrm>
            <a:off x="9448495" y="3877056"/>
            <a:ext cx="7715707" cy="171907"/>
          </a:xfrm>
          <a:prstGeom prst="rect">
            <a:avLst/>
          </a:prstGeom>
          <a:noFill/>
          <a:ln/>
        </p:spPr>
        <p:txBody>
          <a:bodyPr wrap="none" lIns="0" tIns="0" rIns="0" bIns="0" rtlCol="0" anchor="ctr"/>
          <a:lstStyle/>
          <a:p>
            <a:pPr marL="0" indent="0" algn="l">
              <a:buNone/>
            </a:pPr>
            <a:r>
              <a:rPr lang="en-US" sz="900" dirty="0">
                <a:solidFill>
                  <a:srgbClr val="A78BFA"/>
                </a:solidFill>
                <a:latin typeface="Manrope" pitchFamily="34" charset="0"/>
                <a:ea typeface="Manrope" pitchFamily="34" charset="-122"/>
                <a:cs typeface="Manrope" pitchFamily="34" charset="-120"/>
              </a:rPr>
              <a:t>Service : Location · Profils : Partenaire, Central, Client</a:t>
            </a:r>
            <a:endParaRPr lang="en-US" sz="900" dirty="0"/>
          </a:p>
        </p:txBody>
      </p:sp>
      <p:sp>
        <p:nvSpPr>
          <p:cNvPr id="40" name="Text 38"/>
          <p:cNvSpPr txBox="1"/>
          <p:nvPr/>
        </p:nvSpPr>
        <p:spPr>
          <a:xfrm>
            <a:off x="9448495" y="4219956"/>
            <a:ext cx="7715707"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OBJECTIF</a:t>
            </a:r>
            <a:endParaRPr lang="en-US" sz="800" dirty="0"/>
          </a:p>
        </p:txBody>
      </p:sp>
      <p:sp>
        <p:nvSpPr>
          <p:cNvPr id="41" name="Text 39"/>
          <p:cNvSpPr txBox="1"/>
          <p:nvPr/>
        </p:nvSpPr>
        <p:spPr>
          <a:xfrm>
            <a:off x="9448495" y="4390949"/>
            <a:ext cx="7715707" cy="181051"/>
          </a:xfrm>
          <a:prstGeom prst="rect">
            <a:avLst/>
          </a:prstGeom>
          <a:noFill/>
          <a:ln/>
        </p:spPr>
        <p:txBody>
          <a:bodyPr wrap="none" lIns="0" tIns="0" rIns="0" bIns="0" rtlCol="0" anchor="ctr"/>
          <a:lstStyle/>
          <a:p>
            <a:pPr marL="0" indent="0" algn="l">
              <a:buNone/>
            </a:pPr>
            <a:r>
              <a:rPr lang="en-US" sz="1000" dirty="0">
                <a:solidFill>
                  <a:srgbClr val="E5E7EB"/>
                </a:solidFill>
                <a:latin typeface="Manrope" pitchFamily="34" charset="0"/>
                <a:ea typeface="Manrope" pitchFamily="34" charset="-122"/>
                <a:cs typeface="Manrope" pitchFamily="34" charset="-120"/>
              </a:rPr>
              <a:t>Tester la validation d'une location par le central ou le partenaire propriétaire.</a:t>
            </a:r>
            <a:endParaRPr lang="en-US" sz="1000" dirty="0"/>
          </a:p>
        </p:txBody>
      </p:sp>
      <p:sp>
        <p:nvSpPr>
          <p:cNvPr id="42" name="Text 40"/>
          <p:cNvSpPr txBox="1"/>
          <p:nvPr/>
        </p:nvSpPr>
        <p:spPr>
          <a:xfrm>
            <a:off x="9448495" y="4705502"/>
            <a:ext cx="7715707"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ÉTAPES</a:t>
            </a:r>
            <a:endParaRPr lang="en-US" sz="800" dirty="0"/>
          </a:p>
        </p:txBody>
      </p:sp>
      <p:sp>
        <p:nvSpPr>
          <p:cNvPr id="43" name="Text 41"/>
          <p:cNvSpPr txBox="1"/>
          <p:nvPr/>
        </p:nvSpPr>
        <p:spPr>
          <a:xfrm>
            <a:off x="9620402" y="4895698"/>
            <a:ext cx="75438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Le partenaire consulte la demande</a:t>
            </a:r>
            <a:endParaRPr lang="en-US" sz="900" dirty="0"/>
          </a:p>
        </p:txBody>
      </p:sp>
      <p:sp>
        <p:nvSpPr>
          <p:cNvPr id="44" name="Text 42"/>
          <p:cNvSpPr txBox="1"/>
          <p:nvPr/>
        </p:nvSpPr>
        <p:spPr>
          <a:xfrm>
            <a:off x="9620402" y="5094122"/>
            <a:ext cx="75438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Il vérifie la disponibilité du véhicule</a:t>
            </a:r>
            <a:endParaRPr lang="en-US" sz="900" dirty="0"/>
          </a:p>
        </p:txBody>
      </p:sp>
      <p:sp>
        <p:nvSpPr>
          <p:cNvPr id="45" name="Text 43"/>
          <p:cNvSpPr txBox="1"/>
          <p:nvPr/>
        </p:nvSpPr>
        <p:spPr>
          <a:xfrm>
            <a:off x="9620402" y="5291633"/>
            <a:ext cx="75438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Il accepte ou rejette</a:t>
            </a:r>
            <a:endParaRPr lang="en-US" sz="900" dirty="0"/>
          </a:p>
        </p:txBody>
      </p:sp>
      <p:sp>
        <p:nvSpPr>
          <p:cNvPr id="46" name="Text 44"/>
          <p:cNvSpPr txBox="1"/>
          <p:nvPr/>
        </p:nvSpPr>
        <p:spPr>
          <a:xfrm>
            <a:off x="9620402" y="5490058"/>
            <a:ext cx="75438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Le client est informé</a:t>
            </a:r>
            <a:endParaRPr lang="en-US" sz="900" dirty="0"/>
          </a:p>
        </p:txBody>
      </p:sp>
      <p:sp>
        <p:nvSpPr>
          <p:cNvPr id="47" name="Text 45"/>
          <p:cNvSpPr txBox="1"/>
          <p:nvPr/>
        </p:nvSpPr>
        <p:spPr>
          <a:xfrm>
            <a:off x="9620402" y="5688482"/>
            <a:ext cx="75438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Le statut est mis à jour</a:t>
            </a:r>
            <a:endParaRPr lang="en-US" sz="900" dirty="0"/>
          </a:p>
        </p:txBody>
      </p:sp>
      <p:sp>
        <p:nvSpPr>
          <p:cNvPr id="48" name="Text 46"/>
          <p:cNvSpPr txBox="1"/>
          <p:nvPr/>
        </p:nvSpPr>
        <p:spPr>
          <a:xfrm>
            <a:off x="9448495" y="6019495"/>
            <a:ext cx="7715707" cy="133502"/>
          </a:xfrm>
          <a:prstGeom prst="rect">
            <a:avLst/>
          </a:prstGeom>
          <a:noFill/>
          <a:ln/>
        </p:spPr>
        <p:txBody>
          <a:bodyPr wrap="none" lIns="0" tIns="0" rIns="0" bIns="0" rtlCol="0" anchor="ctr"/>
          <a:lstStyle/>
          <a:p>
            <a:pPr marL="0" indent="0" algn="l">
              <a:buNone/>
            </a:pPr>
            <a:r>
              <a:rPr lang="en-US" sz="800" b="1" dirty="0">
                <a:solidFill>
                  <a:srgbClr val="10B981"/>
                </a:solidFill>
                <a:latin typeface="JetBrains Mono" pitchFamily="34" charset="0"/>
                <a:ea typeface="JetBrains Mono" pitchFamily="34" charset="-122"/>
                <a:cs typeface="JetBrains Mono" pitchFamily="34" charset="-120"/>
              </a:rPr>
              <a:t>RÉSULTATS ATTENDUS</a:t>
            </a:r>
            <a:endParaRPr lang="en-US" sz="800" dirty="0"/>
          </a:p>
        </p:txBody>
      </p:sp>
      <p:sp>
        <p:nvSpPr>
          <p:cNvPr id="49" name="Text 47"/>
          <p:cNvSpPr txBox="1"/>
          <p:nvPr/>
        </p:nvSpPr>
        <p:spPr>
          <a:xfrm>
            <a:off x="9448495" y="6191402"/>
            <a:ext cx="7715707"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Validation possible · client notifié · véhicule réservé · reporting mis à jour.</a:t>
            </a:r>
            <a:endParaRPr lang="en-US" sz="900" dirty="0"/>
          </a:p>
        </p:txBody>
      </p:sp>
      <p:sp>
        <p:nvSpPr>
          <p:cNvPr id="50" name="Shape 48"/>
          <p:cNvSpPr/>
          <p:nvPr/>
        </p:nvSpPr>
        <p:spPr>
          <a:xfrm>
            <a:off x="9448495" y="6516014"/>
            <a:ext cx="7715707" cy="571500"/>
          </a:xfrm>
          <a:prstGeom prst="roundRect">
            <a:avLst>
              <a:gd name="adj" fmla="val 13280"/>
            </a:avLst>
          </a:prstGeom>
          <a:solidFill>
            <a:srgbClr val="4C1D95"/>
          </a:solidFill>
          <a:ln w="12700">
            <a:solidFill>
              <a:srgbClr val="FFFFFF">
                <a:alpha val="0"/>
              </a:srgbClr>
            </a:solidFill>
            <a:prstDash val="solid"/>
          </a:ln>
        </p:spPr>
        <p:txBody>
          <a:bodyPr/>
          <a:lstStyle/>
          <a:p>
            <a:endParaRPr lang="fr-CI"/>
          </a:p>
        </p:txBody>
      </p:sp>
      <p:sp>
        <p:nvSpPr>
          <p:cNvPr id="51" name="Text 49"/>
          <p:cNvSpPr txBox="1"/>
          <p:nvPr/>
        </p:nvSpPr>
        <p:spPr>
          <a:xfrm>
            <a:off x="9562795" y="6630314"/>
            <a:ext cx="7487107" cy="133502"/>
          </a:xfrm>
          <a:prstGeom prst="rect">
            <a:avLst/>
          </a:prstGeom>
          <a:noFill/>
          <a:ln/>
        </p:spPr>
        <p:txBody>
          <a:bodyPr wrap="none" lIns="0" tIns="0" rIns="0" bIns="0" rtlCol="0" anchor="ctr"/>
          <a:lstStyle/>
          <a:p>
            <a:pPr marL="0" indent="0" algn="l">
              <a:buNone/>
            </a:pPr>
            <a:r>
              <a:rPr lang="en-US" sz="800" b="1" dirty="0">
                <a:solidFill>
                  <a:srgbClr val="C4B5FD"/>
                </a:solidFill>
                <a:latin typeface="JetBrains Mono" pitchFamily="34" charset="0"/>
                <a:ea typeface="JetBrains Mono" pitchFamily="34" charset="-122"/>
                <a:cs typeface="JetBrains Mono" pitchFamily="34" charset="-120"/>
              </a:rPr>
              <a:t>CRITÈRE D'ACCEPTATION</a:t>
            </a:r>
            <a:endParaRPr lang="en-US" sz="800" dirty="0"/>
          </a:p>
        </p:txBody>
      </p:sp>
      <p:sp>
        <p:nvSpPr>
          <p:cNvPr id="52" name="Text 50"/>
          <p:cNvSpPr txBox="1"/>
          <p:nvPr/>
        </p:nvSpPr>
        <p:spPr>
          <a:xfrm>
            <a:off x="9562795" y="6802222"/>
            <a:ext cx="7487107" cy="171907"/>
          </a:xfrm>
          <a:prstGeom prst="rect">
            <a:avLst/>
          </a:prstGeom>
          <a:noFill/>
          <a:ln/>
        </p:spPr>
        <p:txBody>
          <a:bodyPr wrap="non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Le véhicule est bloqué dans le calendrier dès la validation, pas de double réservation possible.</a:t>
            </a:r>
            <a:endParaRPr lang="en-US" sz="900" dirty="0"/>
          </a:p>
        </p:txBody>
      </p:sp>
      <p:sp>
        <p:nvSpPr>
          <p:cNvPr id="53" name="Shape 51"/>
          <p:cNvSpPr/>
          <p:nvPr/>
        </p:nvSpPr>
        <p:spPr>
          <a:xfrm>
            <a:off x="0" y="9791395"/>
            <a:ext cx="18288000" cy="495605"/>
          </a:xfrm>
          <a:prstGeom prst="rect">
            <a:avLst/>
          </a:prstGeom>
          <a:solidFill>
            <a:srgbClr val="FFFFFF"/>
          </a:solidFill>
          <a:ln/>
        </p:spPr>
        <p:txBody>
          <a:bodyPr/>
          <a:lstStyle/>
          <a:p>
            <a:endParaRPr lang="fr-CI"/>
          </a:p>
        </p:txBody>
      </p:sp>
      <p:sp>
        <p:nvSpPr>
          <p:cNvPr id="54" name="Shape 52"/>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55" name="Text 53"/>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56" name="Text 54"/>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36 / 59</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6295522" y="256946"/>
            <a:ext cx="1655064"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UC Finance · F. (1/2)</a:t>
            </a:r>
            <a:endParaRPr lang="en-US" sz="900" dirty="0"/>
          </a:p>
        </p:txBody>
      </p:sp>
      <p:sp>
        <p:nvSpPr>
          <p:cNvPr id="10" name="Text 8"/>
          <p:cNvSpPr txBox="1"/>
          <p:nvPr/>
        </p:nvSpPr>
        <p:spPr>
          <a:xfrm>
            <a:off x="914400" y="1205179"/>
            <a:ext cx="4785055"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F. Wallet, commissions &amp; recettes — partie 1</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7578426"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UC-FIN01 · UC-FIN02 — recharge wallet et débit commission.</a:t>
            </a:r>
            <a:endParaRPr lang="en-US" sz="3900" dirty="0"/>
          </a:p>
        </p:txBody>
      </p:sp>
      <p:sp>
        <p:nvSpPr>
          <p:cNvPr id="13" name="Shape 11"/>
          <p:cNvSpPr/>
          <p:nvPr/>
        </p:nvSpPr>
        <p:spPr>
          <a:xfrm>
            <a:off x="914400" y="2762402"/>
            <a:ext cx="8191195" cy="6762902"/>
          </a:xfrm>
          <a:prstGeom prst="roundRect">
            <a:avLst>
              <a:gd name="adj" fmla="val 1974"/>
            </a:avLst>
          </a:prstGeom>
          <a:solidFill>
            <a:srgbClr val="FFFFFF"/>
          </a:solidFill>
          <a:ln w="25400">
            <a:solidFill>
              <a:srgbClr val="6D28D9"/>
            </a:solidFill>
            <a:prstDash val="solid"/>
          </a:ln>
        </p:spPr>
        <p:txBody>
          <a:bodyPr/>
          <a:lstStyle/>
          <a:p>
            <a:endParaRPr lang="fr-CI"/>
          </a:p>
        </p:txBody>
      </p:sp>
      <p:sp>
        <p:nvSpPr>
          <p:cNvPr id="14" name="Text 12"/>
          <p:cNvSpPr txBox="1"/>
          <p:nvPr/>
        </p:nvSpPr>
        <p:spPr>
          <a:xfrm>
            <a:off x="1143000" y="2986430"/>
            <a:ext cx="829361" cy="219456"/>
          </a:xfrm>
          <a:prstGeom prst="rect">
            <a:avLst/>
          </a:prstGeom>
          <a:noFill/>
          <a:ln/>
        </p:spPr>
        <p:txBody>
          <a:bodyPr wrap="none" lIns="0" tIns="0" rIns="0" bIns="0" rtlCol="0" anchor="ctr"/>
          <a:lstStyle/>
          <a:p>
            <a:pPr marL="0" indent="0" algn="l">
              <a:buNone/>
            </a:pPr>
            <a:r>
              <a:rPr lang="en-US" sz="1300" b="1" dirty="0">
                <a:solidFill>
                  <a:srgbClr val="6D28D9"/>
                </a:solidFill>
                <a:latin typeface="JetBrains Mono" pitchFamily="34" charset="0"/>
                <a:ea typeface="JetBrains Mono" pitchFamily="34" charset="-122"/>
                <a:cs typeface="JetBrains Mono" pitchFamily="34" charset="-120"/>
              </a:rPr>
              <a:t>UC-FIN01</a:t>
            </a:r>
            <a:endParaRPr lang="en-US" sz="1300" dirty="0"/>
          </a:p>
        </p:txBody>
      </p:sp>
      <p:sp>
        <p:nvSpPr>
          <p:cNvPr id="15" name="Shape 13"/>
          <p:cNvSpPr/>
          <p:nvPr/>
        </p:nvSpPr>
        <p:spPr>
          <a:xfrm>
            <a:off x="8128102" y="2952598"/>
            <a:ext cx="733349" cy="286207"/>
          </a:xfrm>
          <a:prstGeom prst="roundRect">
            <a:avLst>
              <a:gd name="adj" fmla="val 49840"/>
            </a:avLst>
          </a:prstGeom>
          <a:solidFill>
            <a:srgbClr val="FEE2E2"/>
          </a:solidFill>
          <a:ln w="12700">
            <a:solidFill>
              <a:srgbClr val="FFFFFF">
                <a:alpha val="0"/>
              </a:srgbClr>
            </a:solidFill>
            <a:prstDash val="solid"/>
          </a:ln>
        </p:spPr>
        <p:txBody>
          <a:bodyPr/>
          <a:lstStyle/>
          <a:p>
            <a:endParaRPr lang="fr-CI"/>
          </a:p>
        </p:txBody>
      </p:sp>
      <p:sp>
        <p:nvSpPr>
          <p:cNvPr id="16" name="Text 14"/>
          <p:cNvSpPr/>
          <p:nvPr/>
        </p:nvSpPr>
        <p:spPr>
          <a:xfrm>
            <a:off x="8128102" y="2952598"/>
            <a:ext cx="7342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91B1B"/>
                </a:solidFill>
                <a:latin typeface="Manrope" pitchFamily="34" charset="0"/>
                <a:ea typeface="Manrope" pitchFamily="34" charset="-122"/>
                <a:cs typeface="Manrope" pitchFamily="34" charset="-120"/>
              </a:rPr>
              <a:t>Critique</a:t>
            </a:r>
            <a:endParaRPr lang="en-US" sz="900" dirty="0"/>
          </a:p>
        </p:txBody>
      </p:sp>
      <p:sp>
        <p:nvSpPr>
          <p:cNvPr id="17" name="Text 15"/>
          <p:cNvSpPr txBox="1"/>
          <p:nvPr/>
        </p:nvSpPr>
        <p:spPr>
          <a:xfrm>
            <a:off x="1143000" y="3333902"/>
            <a:ext cx="7715707" cy="286207"/>
          </a:xfrm>
          <a:prstGeom prst="rect">
            <a:avLst/>
          </a:prstGeom>
          <a:noFill/>
          <a:ln/>
        </p:spPr>
        <p:txBody>
          <a:bodyPr wrap="none" lIns="0" tIns="0" rIns="0" bIns="0" rtlCol="0" anchor="ctr"/>
          <a:lstStyle/>
          <a:p>
            <a:pPr marL="0" indent="0" algn="l">
              <a:buNone/>
            </a:pPr>
            <a:r>
              <a:rPr lang="en-US" sz="1800" b="1" dirty="0">
                <a:solidFill>
                  <a:srgbClr val="1F2937"/>
                </a:solidFill>
                <a:latin typeface="Manrope" pitchFamily="34" charset="0"/>
                <a:ea typeface="Manrope" pitchFamily="34" charset="-122"/>
                <a:cs typeface="Manrope" pitchFamily="34" charset="-120"/>
              </a:rPr>
              <a:t>Recharge wallet chauffeur / livreur</a:t>
            </a:r>
            <a:endParaRPr lang="en-US" sz="1800" dirty="0"/>
          </a:p>
        </p:txBody>
      </p:sp>
      <p:sp>
        <p:nvSpPr>
          <p:cNvPr id="18" name="Text 16"/>
          <p:cNvSpPr txBox="1"/>
          <p:nvPr/>
        </p:nvSpPr>
        <p:spPr>
          <a:xfrm>
            <a:off x="1143000" y="3676802"/>
            <a:ext cx="7715707"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Service : Finance · Profils : Chauffeur, Livreur, Partenaire, Franchise, Central</a:t>
            </a:r>
            <a:endParaRPr lang="en-US" sz="900" dirty="0"/>
          </a:p>
        </p:txBody>
      </p:sp>
      <p:sp>
        <p:nvSpPr>
          <p:cNvPr id="19" name="Text 17"/>
          <p:cNvSpPr txBox="1"/>
          <p:nvPr/>
        </p:nvSpPr>
        <p:spPr>
          <a:xfrm>
            <a:off x="1143000" y="4019702"/>
            <a:ext cx="7715707"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OBJECTIF</a:t>
            </a:r>
            <a:endParaRPr lang="en-US" sz="800" dirty="0"/>
          </a:p>
        </p:txBody>
      </p:sp>
      <p:sp>
        <p:nvSpPr>
          <p:cNvPr id="20" name="Text 18"/>
          <p:cNvSpPr txBox="1"/>
          <p:nvPr/>
        </p:nvSpPr>
        <p:spPr>
          <a:xfrm>
            <a:off x="1143000" y="4190695"/>
            <a:ext cx="7715707" cy="181051"/>
          </a:xfrm>
          <a:prstGeom prst="rect">
            <a:avLst/>
          </a:prstGeom>
          <a:noFill/>
          <a:ln/>
        </p:spPr>
        <p:txBody>
          <a:bodyPr wrap="none" lIns="0" tIns="0" rIns="0" bIns="0" rtlCol="0" anchor="ctr"/>
          <a:lstStyle/>
          <a:p>
            <a:pPr marL="0" indent="0" algn="l">
              <a:buNone/>
            </a:pPr>
            <a:r>
              <a:rPr lang="en-US" sz="1000" dirty="0">
                <a:solidFill>
                  <a:srgbClr val="1F2937"/>
                </a:solidFill>
                <a:latin typeface="Manrope" pitchFamily="34" charset="0"/>
                <a:ea typeface="Manrope" pitchFamily="34" charset="-122"/>
                <a:cs typeface="Manrope" pitchFamily="34" charset="-120"/>
              </a:rPr>
              <a:t>Vérifier les </a:t>
            </a:r>
            <a:r>
              <a:rPr lang="en-US" sz="1000" b="1" dirty="0">
                <a:solidFill>
                  <a:srgbClr val="1F2937"/>
                </a:solidFill>
                <a:latin typeface="Manrope" pitchFamily="34" charset="0"/>
                <a:ea typeface="Manrope" pitchFamily="34" charset="-122"/>
                <a:cs typeface="Manrope" pitchFamily="34" charset="-120"/>
              </a:rPr>
              <a:t>3 voies d'alimentation</a:t>
            </a:r>
            <a:r>
              <a:rPr lang="en-US" sz="1000" dirty="0">
                <a:solidFill>
                  <a:srgbClr val="1F2937"/>
                </a:solidFill>
                <a:latin typeface="Manrope" pitchFamily="34" charset="0"/>
                <a:ea typeface="Manrope" pitchFamily="34" charset="-122"/>
                <a:cs typeface="Manrope" pitchFamily="34" charset="-120"/>
              </a:rPr>
              <a:t> du wallet chauffeur / livreur. Le central ne recharge PAS.</a:t>
            </a:r>
            <a:endParaRPr lang="en-US" sz="1000" dirty="0"/>
          </a:p>
        </p:txBody>
      </p:sp>
      <p:sp>
        <p:nvSpPr>
          <p:cNvPr id="21" name="Text 19"/>
          <p:cNvSpPr txBox="1"/>
          <p:nvPr/>
        </p:nvSpPr>
        <p:spPr>
          <a:xfrm>
            <a:off x="1143000" y="4505249"/>
            <a:ext cx="7715707"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ÉTAPES — TESTER LES 3 VOIES</a:t>
            </a:r>
            <a:endParaRPr lang="en-US" sz="800" dirty="0"/>
          </a:p>
        </p:txBody>
      </p:sp>
      <p:sp>
        <p:nvSpPr>
          <p:cNvPr id="22" name="Text 20"/>
          <p:cNvSpPr txBox="1"/>
          <p:nvPr/>
        </p:nvSpPr>
        <p:spPr>
          <a:xfrm>
            <a:off x="1314907" y="4695444"/>
            <a:ext cx="8229600" cy="200254"/>
          </a:xfrm>
          <a:prstGeom prst="rect">
            <a:avLst/>
          </a:prstGeom>
          <a:noFill/>
          <a:ln/>
        </p:spPr>
        <p:txBody>
          <a:bodyPr wrap="none" lIns="0" tIns="0" rIns="0" bIns="0" rtlCol="0" anchor="ctr"/>
          <a:lstStyle/>
          <a:p>
            <a:pPr marL="0" indent="0" algn="l">
              <a:buNone/>
            </a:pPr>
            <a:r>
              <a:rPr lang="en-US" sz="900" b="1" dirty="0">
                <a:solidFill>
                  <a:srgbClr val="4B5563"/>
                </a:solidFill>
                <a:latin typeface="Manrope" pitchFamily="34" charset="0"/>
                <a:ea typeface="Manrope" pitchFamily="34" charset="-122"/>
                <a:cs typeface="Manrope" pitchFamily="34" charset="-120"/>
              </a:rPr>
              <a:t>Voie 1 — Auto-recharge chauffeur</a:t>
            </a:r>
            <a:r>
              <a:rPr lang="en-US" sz="900" dirty="0">
                <a:solidFill>
                  <a:srgbClr val="4B5563"/>
                </a:solidFill>
                <a:latin typeface="Manrope" pitchFamily="34" charset="0"/>
                <a:ea typeface="Manrope" pitchFamily="34" charset="-122"/>
                <a:cs typeface="Manrope" pitchFamily="34" charset="-120"/>
              </a:rPr>
              <a:t> : le chauffeur ouvre son wallet, choisit le montant, paie en mobile money, valide.</a:t>
            </a:r>
            <a:endParaRPr lang="en-US" sz="900" dirty="0"/>
          </a:p>
        </p:txBody>
      </p:sp>
      <p:sp>
        <p:nvSpPr>
          <p:cNvPr id="23" name="Text 21"/>
          <p:cNvSpPr txBox="1"/>
          <p:nvPr/>
        </p:nvSpPr>
        <p:spPr>
          <a:xfrm>
            <a:off x="1314907" y="4887468"/>
            <a:ext cx="8229600" cy="200254"/>
          </a:xfrm>
          <a:prstGeom prst="rect">
            <a:avLst/>
          </a:prstGeom>
          <a:noFill/>
          <a:ln/>
        </p:spPr>
        <p:txBody>
          <a:bodyPr wrap="none" lIns="0" tIns="0" rIns="0" bIns="0" rtlCol="0" anchor="ctr"/>
          <a:lstStyle/>
          <a:p>
            <a:pPr marL="0" indent="0" algn="l">
              <a:buNone/>
            </a:pPr>
            <a:r>
              <a:rPr lang="en-US" sz="900" b="1" dirty="0">
                <a:solidFill>
                  <a:srgbClr val="4B5563"/>
                </a:solidFill>
                <a:latin typeface="Manrope" pitchFamily="34" charset="0"/>
                <a:ea typeface="Manrope" pitchFamily="34" charset="-122"/>
                <a:cs typeface="Manrope" pitchFamily="34" charset="-120"/>
              </a:rPr>
              <a:t>Voie 2.a — Recharge wallet partenaire (Mobile Money)</a:t>
            </a:r>
            <a:r>
              <a:rPr lang="en-US" sz="900" dirty="0">
                <a:solidFill>
                  <a:srgbClr val="4B5563"/>
                </a:solidFill>
                <a:latin typeface="Manrope" pitchFamily="34" charset="0"/>
                <a:ea typeface="Manrope" pitchFamily="34" charset="-122"/>
                <a:cs typeface="Manrope" pitchFamily="34" charset="-120"/>
              </a:rPr>
              <a:t> : le partenaire crédite son propre wallet via Orange/MTN/Moov/Wave.</a:t>
            </a:r>
            <a:endParaRPr lang="en-US" sz="900" dirty="0"/>
          </a:p>
        </p:txBody>
      </p:sp>
      <p:sp>
        <p:nvSpPr>
          <p:cNvPr id="24" name="Text 22"/>
          <p:cNvSpPr txBox="1"/>
          <p:nvPr/>
        </p:nvSpPr>
        <p:spPr>
          <a:xfrm>
            <a:off x="1314907" y="5079492"/>
            <a:ext cx="7692847" cy="200254"/>
          </a:xfrm>
          <a:prstGeom prst="rect">
            <a:avLst/>
          </a:prstGeom>
          <a:noFill/>
          <a:ln/>
        </p:spPr>
        <p:txBody>
          <a:bodyPr wrap="none" lIns="0" tIns="0" rIns="0" bIns="0" rtlCol="0" anchor="ctr"/>
          <a:lstStyle/>
          <a:p>
            <a:pPr marL="0" indent="0" algn="l">
              <a:buNone/>
            </a:pPr>
            <a:r>
              <a:rPr lang="en-US" sz="900" b="1" dirty="0">
                <a:solidFill>
                  <a:srgbClr val="4B5563"/>
                </a:solidFill>
                <a:latin typeface="Manrope" pitchFamily="34" charset="0"/>
                <a:ea typeface="Manrope" pitchFamily="34" charset="-122"/>
                <a:cs typeface="Manrope" pitchFamily="34" charset="-120"/>
              </a:rPr>
              <a:t>Voie 2.b — Recharge wallet partenaire (Carte bancaire)</a:t>
            </a:r>
            <a:r>
              <a:rPr lang="en-US" sz="900" dirty="0">
                <a:solidFill>
                  <a:srgbClr val="4B5563"/>
                </a:solidFill>
                <a:latin typeface="Manrope" pitchFamily="34" charset="0"/>
                <a:ea typeface="Manrope" pitchFamily="34" charset="-122"/>
                <a:cs typeface="Manrope" pitchFamily="34" charset="-120"/>
              </a:rPr>
              <a:t> : le partenaire crédite son wallet via CB/Visa.</a:t>
            </a:r>
            <a:endParaRPr lang="en-US" sz="900" dirty="0"/>
          </a:p>
        </p:txBody>
      </p:sp>
      <p:sp>
        <p:nvSpPr>
          <p:cNvPr id="25" name="Text 23"/>
          <p:cNvSpPr txBox="1"/>
          <p:nvPr/>
        </p:nvSpPr>
        <p:spPr>
          <a:xfrm>
            <a:off x="1314907" y="5271516"/>
            <a:ext cx="7543800" cy="391363"/>
          </a:xfrm>
          <a:prstGeom prst="rect">
            <a:avLst/>
          </a:prstGeom>
          <a:noFill/>
          <a:ln/>
        </p:spPr>
        <p:txBody>
          <a:bodyPr wrap="square" lIns="0" tIns="0" rIns="0" bIns="0" rtlCol="0" anchor="ctr"/>
          <a:lstStyle/>
          <a:p>
            <a:pPr marL="0" indent="0" algn="l">
              <a:buNone/>
            </a:pPr>
            <a:r>
              <a:rPr lang="en-US" sz="900" b="1" dirty="0">
                <a:solidFill>
                  <a:srgbClr val="4B5563"/>
                </a:solidFill>
                <a:latin typeface="Manrope" pitchFamily="34" charset="0"/>
                <a:ea typeface="Manrope" pitchFamily="34" charset="-122"/>
                <a:cs typeface="Manrope" pitchFamily="34" charset="-120"/>
              </a:rPr>
              <a:t>Voie 2.c — Cascade partenaire → chauffeur</a:t>
            </a:r>
            <a:r>
              <a:rPr lang="en-US" sz="900" dirty="0">
                <a:solidFill>
                  <a:srgbClr val="4B5563"/>
                </a:solidFill>
                <a:latin typeface="Manrope" pitchFamily="34" charset="0"/>
                <a:ea typeface="Manrope" pitchFamily="34" charset="-122"/>
                <a:cs typeface="Manrope" pitchFamily="34" charset="-120"/>
              </a:rPr>
              <a:t> : le partenaire sélectionne un de ses chauffeurs et transfère un montant depuis son wallet. Pur transfert interne, aucun mobile money sollicité.</a:t>
            </a:r>
            <a:endParaRPr lang="en-US" sz="900" dirty="0"/>
          </a:p>
        </p:txBody>
      </p:sp>
      <p:sp>
        <p:nvSpPr>
          <p:cNvPr id="26" name="Text 24"/>
          <p:cNvSpPr txBox="1"/>
          <p:nvPr/>
        </p:nvSpPr>
        <p:spPr>
          <a:xfrm>
            <a:off x="1314907" y="5655564"/>
            <a:ext cx="7543800" cy="391363"/>
          </a:xfrm>
          <a:prstGeom prst="rect">
            <a:avLst/>
          </a:prstGeom>
          <a:noFill/>
          <a:ln/>
        </p:spPr>
        <p:txBody>
          <a:bodyPr wrap="square" lIns="0" tIns="0" rIns="0" bIns="0" rtlCol="0" anchor="ctr"/>
          <a:lstStyle/>
          <a:p>
            <a:pPr marL="0" indent="0" algn="l">
              <a:buNone/>
            </a:pPr>
            <a:r>
              <a:rPr lang="en-US" sz="900" b="1" dirty="0">
                <a:solidFill>
                  <a:srgbClr val="4B5563"/>
                </a:solidFill>
                <a:latin typeface="Manrope" pitchFamily="34" charset="0"/>
                <a:ea typeface="Manrope" pitchFamily="34" charset="-122"/>
                <a:cs typeface="Manrope" pitchFamily="34" charset="-120"/>
              </a:rPr>
              <a:t>Voie 3 — Bonus franchise (automatique)</a:t>
            </a:r>
            <a:r>
              <a:rPr lang="en-US" sz="900" dirty="0">
                <a:solidFill>
                  <a:srgbClr val="4B5563"/>
                </a:solidFill>
                <a:latin typeface="Manrope" pitchFamily="34" charset="0"/>
                <a:ea typeface="Manrope" pitchFamily="34" charset="-122"/>
                <a:cs typeface="Manrope" pitchFamily="34" charset="-120"/>
              </a:rPr>
              <a:t> : en fin de période, la franchise applique son moteur de bonus. Les chauffeurs éligibles voient leur wallet crédité automatiquement (voir UC-FR02).</a:t>
            </a:r>
            <a:endParaRPr lang="en-US" sz="900" dirty="0"/>
          </a:p>
        </p:txBody>
      </p:sp>
      <p:sp>
        <p:nvSpPr>
          <p:cNvPr id="27" name="Text 25"/>
          <p:cNvSpPr txBox="1"/>
          <p:nvPr/>
        </p:nvSpPr>
        <p:spPr>
          <a:xfrm>
            <a:off x="1143000" y="6173114"/>
            <a:ext cx="7715707" cy="133502"/>
          </a:xfrm>
          <a:prstGeom prst="rect">
            <a:avLst/>
          </a:prstGeom>
          <a:noFill/>
          <a:ln/>
        </p:spPr>
        <p:txBody>
          <a:bodyPr wrap="none" lIns="0" tIns="0" rIns="0" bIns="0" rtlCol="0" anchor="ctr"/>
          <a:lstStyle/>
          <a:p>
            <a:pPr marL="0" indent="0" algn="l">
              <a:buNone/>
            </a:pPr>
            <a:r>
              <a:rPr lang="en-US" sz="800" b="1" dirty="0">
                <a:solidFill>
                  <a:srgbClr val="10B981"/>
                </a:solidFill>
                <a:latin typeface="JetBrains Mono" pitchFamily="34" charset="0"/>
                <a:ea typeface="JetBrains Mono" pitchFamily="34" charset="-122"/>
                <a:cs typeface="JetBrains Mono" pitchFamily="34" charset="-120"/>
              </a:rPr>
              <a:t>RÉSULTATS ATTENDUS</a:t>
            </a:r>
            <a:endParaRPr lang="en-US" sz="800" dirty="0"/>
          </a:p>
        </p:txBody>
      </p:sp>
      <p:sp>
        <p:nvSpPr>
          <p:cNvPr id="28" name="Text 26"/>
          <p:cNvSpPr txBox="1"/>
          <p:nvPr/>
        </p:nvSpPr>
        <p:spPr>
          <a:xfrm>
            <a:off x="1143000" y="6344107"/>
            <a:ext cx="7715707" cy="391363"/>
          </a:xfrm>
          <a:prstGeom prst="rect">
            <a:avLst/>
          </a:prstGeom>
          <a:noFill/>
          <a:ln/>
        </p:spPr>
        <p:txBody>
          <a:bodyPr wrap="squar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Chaque voie crédite correctement le wallet cible · historique trace l'initiateur · cohérence débit/crédit partenaire→chauffeur · bonus franchise crédité sans intervention manuelle.</a:t>
            </a:r>
            <a:endParaRPr lang="en-US" sz="900" dirty="0"/>
          </a:p>
        </p:txBody>
      </p:sp>
      <p:sp>
        <p:nvSpPr>
          <p:cNvPr id="29" name="Shape 27"/>
          <p:cNvSpPr/>
          <p:nvPr/>
        </p:nvSpPr>
        <p:spPr>
          <a:xfrm>
            <a:off x="1143000" y="6861658"/>
            <a:ext cx="7715707" cy="571500"/>
          </a:xfrm>
          <a:prstGeom prst="roundRect">
            <a:avLst>
              <a:gd name="adj" fmla="val 13280"/>
            </a:avLst>
          </a:prstGeom>
          <a:solidFill>
            <a:srgbClr val="FEE2E2"/>
          </a:solidFill>
          <a:ln/>
        </p:spPr>
        <p:txBody>
          <a:bodyPr/>
          <a:lstStyle/>
          <a:p>
            <a:endParaRPr lang="fr-CI"/>
          </a:p>
        </p:txBody>
      </p:sp>
      <p:sp>
        <p:nvSpPr>
          <p:cNvPr id="30" name="Shape 28"/>
          <p:cNvSpPr/>
          <p:nvPr/>
        </p:nvSpPr>
        <p:spPr>
          <a:xfrm>
            <a:off x="1143000" y="6861658"/>
            <a:ext cx="28346" cy="571500"/>
          </a:xfrm>
          <a:prstGeom prst="roundRect">
            <a:avLst>
              <a:gd name="adj" fmla="val 267746"/>
            </a:avLst>
          </a:prstGeom>
          <a:solidFill>
            <a:srgbClr val="EF4444"/>
          </a:solidFill>
          <a:ln w="12700">
            <a:solidFill>
              <a:srgbClr val="EF4444">
                <a:alpha val="0"/>
              </a:srgbClr>
            </a:solidFill>
            <a:prstDash val="solid"/>
          </a:ln>
        </p:spPr>
        <p:txBody>
          <a:bodyPr/>
          <a:lstStyle/>
          <a:p>
            <a:endParaRPr lang="fr-CI"/>
          </a:p>
        </p:txBody>
      </p:sp>
      <p:sp>
        <p:nvSpPr>
          <p:cNvPr id="31" name="Text 29"/>
          <p:cNvSpPr txBox="1"/>
          <p:nvPr/>
        </p:nvSpPr>
        <p:spPr>
          <a:xfrm>
            <a:off x="1285646" y="6975958"/>
            <a:ext cx="7458761" cy="133502"/>
          </a:xfrm>
          <a:prstGeom prst="rect">
            <a:avLst/>
          </a:prstGeom>
          <a:noFill/>
          <a:ln/>
        </p:spPr>
        <p:txBody>
          <a:bodyPr wrap="none" lIns="0" tIns="0" rIns="0" bIns="0" rtlCol="0" anchor="ctr"/>
          <a:lstStyle/>
          <a:p>
            <a:pPr marL="0" indent="0" algn="l">
              <a:buNone/>
            </a:pPr>
            <a:r>
              <a:rPr lang="en-US" sz="800" b="1" dirty="0">
                <a:solidFill>
                  <a:srgbClr val="991B1B"/>
                </a:solidFill>
                <a:latin typeface="JetBrains Mono" pitchFamily="34" charset="0"/>
                <a:ea typeface="JetBrains Mono" pitchFamily="34" charset="-122"/>
                <a:cs typeface="JetBrains Mono" pitchFamily="34" charset="-120"/>
              </a:rPr>
              <a:t>RÈGLE STRICTE</a:t>
            </a:r>
            <a:endParaRPr lang="en-US" sz="800" dirty="0"/>
          </a:p>
        </p:txBody>
      </p:sp>
      <p:sp>
        <p:nvSpPr>
          <p:cNvPr id="32" name="Text 30"/>
          <p:cNvSpPr txBox="1"/>
          <p:nvPr/>
        </p:nvSpPr>
        <p:spPr>
          <a:xfrm>
            <a:off x="1285646" y="7146950"/>
            <a:ext cx="7840980" cy="171907"/>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Aucune action de recharge ne doit être disponible depuis l'interface centrale. Test négatif obligatoire.</a:t>
            </a:r>
            <a:endParaRPr lang="en-US" sz="900" dirty="0"/>
          </a:p>
        </p:txBody>
      </p:sp>
      <p:sp>
        <p:nvSpPr>
          <p:cNvPr id="33" name="Shape 31"/>
          <p:cNvSpPr/>
          <p:nvPr/>
        </p:nvSpPr>
        <p:spPr>
          <a:xfrm>
            <a:off x="9219895" y="2762402"/>
            <a:ext cx="8191195" cy="6762902"/>
          </a:xfrm>
          <a:prstGeom prst="roundRect">
            <a:avLst>
              <a:gd name="adj" fmla="val 1974"/>
            </a:avLst>
          </a:prstGeom>
          <a:solidFill>
            <a:srgbClr val="1F2937"/>
          </a:solidFill>
          <a:ln w="25400">
            <a:solidFill>
              <a:srgbClr val="6D28D9"/>
            </a:solidFill>
            <a:prstDash val="solid"/>
          </a:ln>
        </p:spPr>
        <p:txBody>
          <a:bodyPr/>
          <a:lstStyle/>
          <a:p>
            <a:endParaRPr lang="fr-CI"/>
          </a:p>
        </p:txBody>
      </p:sp>
      <p:sp>
        <p:nvSpPr>
          <p:cNvPr id="34" name="Text 32"/>
          <p:cNvSpPr txBox="1"/>
          <p:nvPr/>
        </p:nvSpPr>
        <p:spPr>
          <a:xfrm>
            <a:off x="9448495" y="2986430"/>
            <a:ext cx="829361" cy="219456"/>
          </a:xfrm>
          <a:prstGeom prst="rect">
            <a:avLst/>
          </a:prstGeom>
          <a:noFill/>
          <a:ln/>
        </p:spPr>
        <p:txBody>
          <a:bodyPr wrap="none" lIns="0" tIns="0" rIns="0" bIns="0" rtlCol="0" anchor="ctr"/>
          <a:lstStyle/>
          <a:p>
            <a:pPr marL="0" indent="0" algn="l">
              <a:buNone/>
            </a:pPr>
            <a:r>
              <a:rPr lang="en-US" sz="1300" b="1" dirty="0">
                <a:solidFill>
                  <a:srgbClr val="A78BFA"/>
                </a:solidFill>
                <a:latin typeface="JetBrains Mono" pitchFamily="34" charset="0"/>
                <a:ea typeface="JetBrains Mono" pitchFamily="34" charset="-122"/>
                <a:cs typeface="JetBrains Mono" pitchFamily="34" charset="-120"/>
              </a:rPr>
              <a:t>UC-FIN02</a:t>
            </a:r>
            <a:endParaRPr lang="en-US" sz="1300" dirty="0"/>
          </a:p>
        </p:txBody>
      </p:sp>
      <p:sp>
        <p:nvSpPr>
          <p:cNvPr id="35" name="Shape 33"/>
          <p:cNvSpPr/>
          <p:nvPr/>
        </p:nvSpPr>
        <p:spPr>
          <a:xfrm>
            <a:off x="16433597" y="2952598"/>
            <a:ext cx="733349" cy="286207"/>
          </a:xfrm>
          <a:prstGeom prst="roundRect">
            <a:avLst>
              <a:gd name="adj" fmla="val 49840"/>
            </a:avLst>
          </a:prstGeom>
          <a:solidFill>
            <a:srgbClr val="FEE2E2"/>
          </a:solidFill>
          <a:ln w="12700">
            <a:solidFill>
              <a:srgbClr val="FFFFFF">
                <a:alpha val="0"/>
              </a:srgbClr>
            </a:solidFill>
            <a:prstDash val="solid"/>
          </a:ln>
        </p:spPr>
        <p:txBody>
          <a:bodyPr/>
          <a:lstStyle/>
          <a:p>
            <a:endParaRPr lang="fr-CI"/>
          </a:p>
        </p:txBody>
      </p:sp>
      <p:sp>
        <p:nvSpPr>
          <p:cNvPr id="36" name="Text 34"/>
          <p:cNvSpPr/>
          <p:nvPr/>
        </p:nvSpPr>
        <p:spPr>
          <a:xfrm>
            <a:off x="16433597" y="2952598"/>
            <a:ext cx="7342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91B1B"/>
                </a:solidFill>
                <a:latin typeface="Manrope" pitchFamily="34" charset="0"/>
                <a:ea typeface="Manrope" pitchFamily="34" charset="-122"/>
                <a:cs typeface="Manrope" pitchFamily="34" charset="-120"/>
              </a:rPr>
              <a:t>Critique</a:t>
            </a:r>
            <a:endParaRPr lang="en-US" sz="900" dirty="0"/>
          </a:p>
        </p:txBody>
      </p:sp>
      <p:sp>
        <p:nvSpPr>
          <p:cNvPr id="37" name="Text 35"/>
          <p:cNvSpPr txBox="1"/>
          <p:nvPr/>
        </p:nvSpPr>
        <p:spPr>
          <a:xfrm>
            <a:off x="9448495" y="3333902"/>
            <a:ext cx="7715707" cy="314554"/>
          </a:xfrm>
          <a:prstGeom prst="rect">
            <a:avLst/>
          </a:prstGeom>
          <a:noFill/>
          <a:ln/>
        </p:spPr>
        <p:txBody>
          <a:bodyPr wrap="none" lIns="0" tIns="0" rIns="0" bIns="0" rtlCol="0" anchor="ctr"/>
          <a:lstStyle/>
          <a:p>
            <a:pPr marL="0" indent="0" algn="l">
              <a:buNone/>
            </a:pPr>
            <a:r>
              <a:rPr lang="en-US" sz="1800" b="1" dirty="0">
                <a:solidFill>
                  <a:srgbClr val="FFFFFF"/>
                </a:solidFill>
                <a:latin typeface="Manrope" pitchFamily="34" charset="0"/>
                <a:ea typeface="Manrope" pitchFamily="34" charset="-122"/>
                <a:cs typeface="Manrope" pitchFamily="34" charset="-120"/>
              </a:rPr>
              <a:t>Débit de commission après course</a:t>
            </a:r>
            <a:endParaRPr lang="en-US" sz="1800" dirty="0"/>
          </a:p>
        </p:txBody>
      </p:sp>
      <p:sp>
        <p:nvSpPr>
          <p:cNvPr id="38" name="Text 36"/>
          <p:cNvSpPr txBox="1"/>
          <p:nvPr/>
        </p:nvSpPr>
        <p:spPr>
          <a:xfrm>
            <a:off x="9448495" y="3877056"/>
            <a:ext cx="7715707" cy="171907"/>
          </a:xfrm>
          <a:prstGeom prst="rect">
            <a:avLst/>
          </a:prstGeom>
          <a:noFill/>
          <a:ln/>
        </p:spPr>
        <p:txBody>
          <a:bodyPr wrap="none" lIns="0" tIns="0" rIns="0" bIns="0" rtlCol="0" anchor="ctr"/>
          <a:lstStyle/>
          <a:p>
            <a:pPr marL="0" indent="0" algn="l">
              <a:buNone/>
            </a:pPr>
            <a:r>
              <a:rPr lang="en-US" sz="900" dirty="0">
                <a:solidFill>
                  <a:srgbClr val="A78BFA"/>
                </a:solidFill>
                <a:latin typeface="Manrope" pitchFamily="34" charset="0"/>
                <a:ea typeface="Manrope" pitchFamily="34" charset="-122"/>
                <a:cs typeface="Manrope" pitchFamily="34" charset="-120"/>
              </a:rPr>
              <a:t>Service : Finance · Profils : Chauffeur, Plateforme, Central</a:t>
            </a:r>
            <a:endParaRPr lang="en-US" sz="900" dirty="0"/>
          </a:p>
        </p:txBody>
      </p:sp>
      <p:sp>
        <p:nvSpPr>
          <p:cNvPr id="39" name="Text 37"/>
          <p:cNvSpPr txBox="1"/>
          <p:nvPr/>
        </p:nvSpPr>
        <p:spPr>
          <a:xfrm>
            <a:off x="9448495" y="4219956"/>
            <a:ext cx="7715707"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OBJECTIF</a:t>
            </a:r>
            <a:endParaRPr lang="en-US" sz="800" dirty="0"/>
          </a:p>
        </p:txBody>
      </p:sp>
      <p:sp>
        <p:nvSpPr>
          <p:cNvPr id="40" name="Text 38"/>
          <p:cNvSpPr txBox="1"/>
          <p:nvPr/>
        </p:nvSpPr>
        <p:spPr>
          <a:xfrm>
            <a:off x="9448495" y="4390949"/>
            <a:ext cx="8401507" cy="181051"/>
          </a:xfrm>
          <a:prstGeom prst="rect">
            <a:avLst/>
          </a:prstGeom>
          <a:noFill/>
          <a:ln/>
        </p:spPr>
        <p:txBody>
          <a:bodyPr wrap="none" lIns="0" tIns="0" rIns="0" bIns="0" rtlCol="0" anchor="ctr"/>
          <a:lstStyle/>
          <a:p>
            <a:pPr marL="0" indent="0" algn="l">
              <a:buNone/>
            </a:pPr>
            <a:r>
              <a:rPr lang="en-US" sz="1000" dirty="0">
                <a:solidFill>
                  <a:srgbClr val="E5E7EB"/>
                </a:solidFill>
                <a:latin typeface="Manrope" pitchFamily="34" charset="0"/>
                <a:ea typeface="Manrope" pitchFamily="34" charset="-122"/>
                <a:cs typeface="Manrope" pitchFamily="34" charset="-120"/>
              </a:rPr>
              <a:t>Vérifier que la commission plateforme est calculée et débitée correctement du wallet chauffeur après chaque course.</a:t>
            </a:r>
            <a:endParaRPr lang="en-US" sz="1000" dirty="0"/>
          </a:p>
        </p:txBody>
      </p:sp>
      <p:sp>
        <p:nvSpPr>
          <p:cNvPr id="41" name="Text 39"/>
          <p:cNvSpPr txBox="1"/>
          <p:nvPr/>
        </p:nvSpPr>
        <p:spPr>
          <a:xfrm>
            <a:off x="9448495" y="4705502"/>
            <a:ext cx="7715707"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ÉTAPES</a:t>
            </a:r>
            <a:endParaRPr lang="en-US" sz="800" dirty="0"/>
          </a:p>
        </p:txBody>
      </p:sp>
      <p:sp>
        <p:nvSpPr>
          <p:cNvPr id="42" name="Text 40"/>
          <p:cNvSpPr txBox="1"/>
          <p:nvPr/>
        </p:nvSpPr>
        <p:spPr>
          <a:xfrm>
            <a:off x="9620402" y="4895698"/>
            <a:ext cx="75438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Un chauffeur réalise une course</a:t>
            </a:r>
            <a:endParaRPr lang="en-US" sz="900" dirty="0"/>
          </a:p>
        </p:txBody>
      </p:sp>
      <p:sp>
        <p:nvSpPr>
          <p:cNvPr id="43" name="Text 41"/>
          <p:cNvSpPr txBox="1"/>
          <p:nvPr/>
        </p:nvSpPr>
        <p:spPr>
          <a:xfrm>
            <a:off x="9620402" y="5094122"/>
            <a:ext cx="75438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Le client paie le chauffeur</a:t>
            </a:r>
            <a:endParaRPr lang="en-US" sz="900" dirty="0"/>
          </a:p>
        </p:txBody>
      </p:sp>
      <p:sp>
        <p:nvSpPr>
          <p:cNvPr id="44" name="Text 42"/>
          <p:cNvSpPr txBox="1"/>
          <p:nvPr/>
        </p:nvSpPr>
        <p:spPr>
          <a:xfrm>
            <a:off x="9620402" y="5291633"/>
            <a:ext cx="75438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La plateforme calcule la commission selon le taux paramétré</a:t>
            </a:r>
            <a:endParaRPr lang="en-US" sz="900" dirty="0"/>
          </a:p>
        </p:txBody>
      </p:sp>
      <p:sp>
        <p:nvSpPr>
          <p:cNvPr id="45" name="Text 43"/>
          <p:cNvSpPr txBox="1"/>
          <p:nvPr/>
        </p:nvSpPr>
        <p:spPr>
          <a:xfrm>
            <a:off x="9620402" y="5490058"/>
            <a:ext cx="75438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Le wallet chauffeur est débité</a:t>
            </a:r>
            <a:endParaRPr lang="en-US" sz="900" dirty="0"/>
          </a:p>
        </p:txBody>
      </p:sp>
      <p:sp>
        <p:nvSpPr>
          <p:cNvPr id="46" name="Text 44"/>
          <p:cNvSpPr txBox="1"/>
          <p:nvPr/>
        </p:nvSpPr>
        <p:spPr>
          <a:xfrm>
            <a:off x="9620402" y="5688482"/>
            <a:ext cx="75438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Le reporting financier est mis à jour</a:t>
            </a:r>
            <a:endParaRPr lang="en-US" sz="900" dirty="0"/>
          </a:p>
        </p:txBody>
      </p:sp>
      <p:sp>
        <p:nvSpPr>
          <p:cNvPr id="47" name="Text 45"/>
          <p:cNvSpPr txBox="1"/>
          <p:nvPr/>
        </p:nvSpPr>
        <p:spPr>
          <a:xfrm>
            <a:off x="9448495" y="6019495"/>
            <a:ext cx="7715707" cy="133502"/>
          </a:xfrm>
          <a:prstGeom prst="rect">
            <a:avLst/>
          </a:prstGeom>
          <a:noFill/>
          <a:ln/>
        </p:spPr>
        <p:txBody>
          <a:bodyPr wrap="none" lIns="0" tIns="0" rIns="0" bIns="0" rtlCol="0" anchor="ctr"/>
          <a:lstStyle/>
          <a:p>
            <a:pPr marL="0" indent="0" algn="l">
              <a:buNone/>
            </a:pPr>
            <a:r>
              <a:rPr lang="en-US" sz="800" b="1" dirty="0">
                <a:solidFill>
                  <a:srgbClr val="10B981"/>
                </a:solidFill>
                <a:latin typeface="JetBrains Mono" pitchFamily="34" charset="0"/>
                <a:ea typeface="JetBrains Mono" pitchFamily="34" charset="-122"/>
                <a:cs typeface="JetBrains Mono" pitchFamily="34" charset="-120"/>
              </a:rPr>
              <a:t>RÉSULTATS ATTENDUS</a:t>
            </a:r>
            <a:endParaRPr lang="en-US" sz="800" dirty="0"/>
          </a:p>
        </p:txBody>
      </p:sp>
      <p:sp>
        <p:nvSpPr>
          <p:cNvPr id="48" name="Text 46"/>
          <p:cNvSpPr txBox="1"/>
          <p:nvPr/>
        </p:nvSpPr>
        <p:spPr>
          <a:xfrm>
            <a:off x="9448495" y="6191402"/>
            <a:ext cx="7715707" cy="391363"/>
          </a:xfrm>
          <a:prstGeom prst="rect">
            <a:avLst/>
          </a:prstGeom>
          <a:noFill/>
          <a:ln/>
        </p:spPr>
        <p:txBody>
          <a:bodyPr wrap="squar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Recette chauffeur distincte de la commission plateforme · commission selon le taux paramétré · solde wallet exact · historique disponible.</a:t>
            </a:r>
            <a:endParaRPr lang="en-US" sz="900" dirty="0"/>
          </a:p>
        </p:txBody>
      </p:sp>
      <p:sp>
        <p:nvSpPr>
          <p:cNvPr id="49" name="Shape 47"/>
          <p:cNvSpPr/>
          <p:nvPr/>
        </p:nvSpPr>
        <p:spPr>
          <a:xfrm>
            <a:off x="9448495" y="6708038"/>
            <a:ext cx="7715707" cy="571500"/>
          </a:xfrm>
          <a:prstGeom prst="roundRect">
            <a:avLst>
              <a:gd name="adj" fmla="val 13280"/>
            </a:avLst>
          </a:prstGeom>
          <a:solidFill>
            <a:srgbClr val="4C1D95"/>
          </a:solidFill>
          <a:ln w="12700">
            <a:solidFill>
              <a:srgbClr val="FFFFFF">
                <a:alpha val="0"/>
              </a:srgbClr>
            </a:solidFill>
            <a:prstDash val="solid"/>
          </a:ln>
        </p:spPr>
        <p:txBody>
          <a:bodyPr/>
          <a:lstStyle/>
          <a:p>
            <a:endParaRPr lang="fr-CI"/>
          </a:p>
        </p:txBody>
      </p:sp>
      <p:sp>
        <p:nvSpPr>
          <p:cNvPr id="50" name="Text 48"/>
          <p:cNvSpPr txBox="1"/>
          <p:nvPr/>
        </p:nvSpPr>
        <p:spPr>
          <a:xfrm>
            <a:off x="9562795" y="6822338"/>
            <a:ext cx="7487107" cy="133502"/>
          </a:xfrm>
          <a:prstGeom prst="rect">
            <a:avLst/>
          </a:prstGeom>
          <a:noFill/>
          <a:ln/>
        </p:spPr>
        <p:txBody>
          <a:bodyPr wrap="none" lIns="0" tIns="0" rIns="0" bIns="0" rtlCol="0" anchor="ctr"/>
          <a:lstStyle/>
          <a:p>
            <a:pPr marL="0" indent="0" algn="l">
              <a:buNone/>
            </a:pPr>
            <a:r>
              <a:rPr lang="en-US" sz="800" b="1" dirty="0">
                <a:solidFill>
                  <a:srgbClr val="C4B5FD"/>
                </a:solidFill>
                <a:latin typeface="JetBrains Mono" pitchFamily="34" charset="0"/>
                <a:ea typeface="JetBrains Mono" pitchFamily="34" charset="-122"/>
                <a:cs typeface="JetBrains Mono" pitchFamily="34" charset="-120"/>
              </a:rPr>
              <a:t>CRITÈRE D'ACCEPTATION</a:t>
            </a:r>
            <a:endParaRPr lang="en-US" sz="800" dirty="0"/>
          </a:p>
        </p:txBody>
      </p:sp>
      <p:sp>
        <p:nvSpPr>
          <p:cNvPr id="51" name="Text 49"/>
          <p:cNvSpPr txBox="1"/>
          <p:nvPr/>
        </p:nvSpPr>
        <p:spPr>
          <a:xfrm>
            <a:off x="9562795" y="6994246"/>
            <a:ext cx="7487107" cy="171907"/>
          </a:xfrm>
          <a:prstGeom prst="rect">
            <a:avLst/>
          </a:prstGeom>
          <a:noFill/>
          <a:ln/>
        </p:spPr>
        <p:txBody>
          <a:bodyPr wrap="non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Aucune confusion entre recette course, recharge wallet et commission plateforme dans les rapports.</a:t>
            </a:r>
            <a:endParaRPr lang="en-US" sz="900" dirty="0"/>
          </a:p>
        </p:txBody>
      </p:sp>
      <p:sp>
        <p:nvSpPr>
          <p:cNvPr id="52" name="Shape 50"/>
          <p:cNvSpPr/>
          <p:nvPr/>
        </p:nvSpPr>
        <p:spPr>
          <a:xfrm>
            <a:off x="0" y="9791395"/>
            <a:ext cx="18288000" cy="495605"/>
          </a:xfrm>
          <a:prstGeom prst="rect">
            <a:avLst/>
          </a:prstGeom>
          <a:solidFill>
            <a:srgbClr val="FFFFFF"/>
          </a:solidFill>
          <a:ln/>
        </p:spPr>
        <p:txBody>
          <a:bodyPr/>
          <a:lstStyle/>
          <a:p>
            <a:endParaRPr lang="fr-CI"/>
          </a:p>
        </p:txBody>
      </p:sp>
      <p:sp>
        <p:nvSpPr>
          <p:cNvPr id="53" name="Shape 51"/>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54" name="Text 52"/>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55" name="Text 53"/>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37 / 59</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6274491" y="256946"/>
            <a:ext cx="1677924"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UC Finance · F. (2/2)</a:t>
            </a:r>
            <a:endParaRPr lang="en-US" sz="900" dirty="0"/>
          </a:p>
        </p:txBody>
      </p:sp>
      <p:sp>
        <p:nvSpPr>
          <p:cNvPr id="10" name="Text 8"/>
          <p:cNvSpPr txBox="1"/>
          <p:nvPr/>
        </p:nvSpPr>
        <p:spPr>
          <a:xfrm>
            <a:off x="914400" y="1205179"/>
            <a:ext cx="4785055"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F. Wallet, commissions &amp; recettes — partie 2</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8479110"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UC-FIN03 · UC-FIN04 — répartition financière et solde insuffisant.</a:t>
            </a:r>
            <a:endParaRPr lang="en-US" sz="3900" dirty="0"/>
          </a:p>
        </p:txBody>
      </p:sp>
      <p:sp>
        <p:nvSpPr>
          <p:cNvPr id="13" name="Shape 11"/>
          <p:cNvSpPr/>
          <p:nvPr/>
        </p:nvSpPr>
        <p:spPr>
          <a:xfrm>
            <a:off x="914400" y="2762402"/>
            <a:ext cx="10858500" cy="6762902"/>
          </a:xfrm>
          <a:prstGeom prst="roundRect">
            <a:avLst>
              <a:gd name="adj" fmla="val 1974"/>
            </a:avLst>
          </a:prstGeom>
          <a:solidFill>
            <a:srgbClr val="FFFFFF"/>
          </a:solidFill>
          <a:ln w="25400">
            <a:solidFill>
              <a:srgbClr val="6D28D9"/>
            </a:solidFill>
            <a:prstDash val="solid"/>
          </a:ln>
        </p:spPr>
        <p:txBody>
          <a:bodyPr/>
          <a:lstStyle/>
          <a:p>
            <a:endParaRPr lang="fr-CI"/>
          </a:p>
        </p:txBody>
      </p:sp>
      <p:sp>
        <p:nvSpPr>
          <p:cNvPr id="14" name="Text 12"/>
          <p:cNvSpPr txBox="1"/>
          <p:nvPr/>
        </p:nvSpPr>
        <p:spPr>
          <a:xfrm>
            <a:off x="1143000" y="2986430"/>
            <a:ext cx="829361" cy="219456"/>
          </a:xfrm>
          <a:prstGeom prst="rect">
            <a:avLst/>
          </a:prstGeom>
          <a:noFill/>
          <a:ln/>
        </p:spPr>
        <p:txBody>
          <a:bodyPr wrap="none" lIns="0" tIns="0" rIns="0" bIns="0" rtlCol="0" anchor="ctr"/>
          <a:lstStyle/>
          <a:p>
            <a:pPr marL="0" indent="0" algn="l">
              <a:buNone/>
            </a:pPr>
            <a:r>
              <a:rPr lang="en-US" sz="1300" b="1" dirty="0">
                <a:solidFill>
                  <a:srgbClr val="6D28D9"/>
                </a:solidFill>
                <a:latin typeface="JetBrains Mono" pitchFamily="34" charset="0"/>
                <a:ea typeface="JetBrains Mono" pitchFamily="34" charset="-122"/>
                <a:cs typeface="JetBrains Mono" pitchFamily="34" charset="-120"/>
              </a:rPr>
              <a:t>UC-FIN03</a:t>
            </a:r>
            <a:endParaRPr lang="en-US" sz="1300" dirty="0"/>
          </a:p>
        </p:txBody>
      </p:sp>
      <p:sp>
        <p:nvSpPr>
          <p:cNvPr id="15" name="Shape 13"/>
          <p:cNvSpPr/>
          <p:nvPr/>
        </p:nvSpPr>
        <p:spPr>
          <a:xfrm>
            <a:off x="10795406" y="2952598"/>
            <a:ext cx="733349" cy="286207"/>
          </a:xfrm>
          <a:prstGeom prst="roundRect">
            <a:avLst>
              <a:gd name="adj" fmla="val 49840"/>
            </a:avLst>
          </a:prstGeom>
          <a:solidFill>
            <a:srgbClr val="FEE2E2"/>
          </a:solidFill>
          <a:ln w="12700">
            <a:solidFill>
              <a:srgbClr val="FFFFFF">
                <a:alpha val="0"/>
              </a:srgbClr>
            </a:solidFill>
            <a:prstDash val="solid"/>
          </a:ln>
        </p:spPr>
        <p:txBody>
          <a:bodyPr/>
          <a:lstStyle/>
          <a:p>
            <a:endParaRPr lang="fr-CI"/>
          </a:p>
        </p:txBody>
      </p:sp>
      <p:sp>
        <p:nvSpPr>
          <p:cNvPr id="16" name="Text 14"/>
          <p:cNvSpPr/>
          <p:nvPr/>
        </p:nvSpPr>
        <p:spPr>
          <a:xfrm>
            <a:off x="10795406" y="2952598"/>
            <a:ext cx="7342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91B1B"/>
                </a:solidFill>
                <a:latin typeface="Manrope" pitchFamily="34" charset="0"/>
                <a:ea typeface="Manrope" pitchFamily="34" charset="-122"/>
                <a:cs typeface="Manrope" pitchFamily="34" charset="-120"/>
              </a:rPr>
              <a:t>Critique</a:t>
            </a:r>
            <a:endParaRPr lang="en-US" sz="900" dirty="0"/>
          </a:p>
        </p:txBody>
      </p:sp>
      <p:sp>
        <p:nvSpPr>
          <p:cNvPr id="17" name="Text 15"/>
          <p:cNvSpPr txBox="1"/>
          <p:nvPr/>
        </p:nvSpPr>
        <p:spPr>
          <a:xfrm>
            <a:off x="1143000" y="3333902"/>
            <a:ext cx="10383012" cy="286207"/>
          </a:xfrm>
          <a:prstGeom prst="rect">
            <a:avLst/>
          </a:prstGeom>
          <a:noFill/>
          <a:ln/>
        </p:spPr>
        <p:txBody>
          <a:bodyPr wrap="none" lIns="0" tIns="0" rIns="0" bIns="0" rtlCol="0" anchor="ctr"/>
          <a:lstStyle/>
          <a:p>
            <a:pPr marL="0" indent="0" algn="l">
              <a:buNone/>
            </a:pPr>
            <a:r>
              <a:rPr lang="en-US" sz="1800" b="1" dirty="0">
                <a:solidFill>
                  <a:srgbClr val="1F2937"/>
                </a:solidFill>
                <a:latin typeface="Manrope" pitchFamily="34" charset="0"/>
                <a:ea typeface="Manrope" pitchFamily="34" charset="-122"/>
                <a:cs typeface="Manrope" pitchFamily="34" charset="-120"/>
              </a:rPr>
              <a:t>Répartition plateforme / partenaire / franchise / central</a:t>
            </a:r>
            <a:endParaRPr lang="en-US" sz="1800" dirty="0"/>
          </a:p>
        </p:txBody>
      </p:sp>
      <p:sp>
        <p:nvSpPr>
          <p:cNvPr id="18" name="Text 16"/>
          <p:cNvSpPr txBox="1"/>
          <p:nvPr/>
        </p:nvSpPr>
        <p:spPr>
          <a:xfrm>
            <a:off x="1143000" y="3676802"/>
            <a:ext cx="10383012"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Vérifier la logique de répartition financière du modèle UPJUNOO PRO</a:t>
            </a:r>
            <a:endParaRPr lang="en-US" sz="900" dirty="0"/>
          </a:p>
        </p:txBody>
      </p:sp>
      <p:pic>
        <p:nvPicPr>
          <p:cNvPr id="19" name="Image 0" descr="gen-dedup-b647b0d209d396d8be072d069ca090e5.jpg"/>
          <p:cNvPicPr>
            <a:picLocks noChangeAspect="1"/>
          </p:cNvPicPr>
          <p:nvPr/>
        </p:nvPicPr>
        <p:blipFill>
          <a:blip r:embed="rId2"/>
          <a:srcRect l="-30680" r="-30680"/>
          <a:stretch/>
        </p:blipFill>
        <p:spPr>
          <a:xfrm>
            <a:off x="1143000" y="4095598"/>
            <a:ext cx="10382098" cy="3619195"/>
          </a:xfrm>
          <a:prstGeom prst="rect">
            <a:avLst/>
          </a:prstGeom>
        </p:spPr>
      </p:pic>
      <p:sp>
        <p:nvSpPr>
          <p:cNvPr id="20" name="Text 17"/>
          <p:cNvSpPr txBox="1"/>
          <p:nvPr/>
        </p:nvSpPr>
        <p:spPr>
          <a:xfrm>
            <a:off x="1143000" y="7905902"/>
            <a:ext cx="5077663"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ÉTAPES</a:t>
            </a:r>
            <a:endParaRPr lang="en-US" sz="800" dirty="0"/>
          </a:p>
        </p:txBody>
      </p:sp>
      <p:sp>
        <p:nvSpPr>
          <p:cNvPr id="21" name="Text 18"/>
          <p:cNvSpPr txBox="1"/>
          <p:nvPr/>
        </p:nvSpPr>
        <p:spPr>
          <a:xfrm>
            <a:off x="1314907" y="8096098"/>
            <a:ext cx="4905756"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Course par chauffeur rattaché partenaire</a:t>
            </a:r>
            <a:endParaRPr lang="en-US" sz="900" dirty="0"/>
          </a:p>
        </p:txBody>
      </p:sp>
      <p:sp>
        <p:nvSpPr>
          <p:cNvPr id="22" name="Text 19"/>
          <p:cNvSpPr txBox="1"/>
          <p:nvPr/>
        </p:nvSpPr>
        <p:spPr>
          <a:xfrm>
            <a:off x="1314907" y="8268005"/>
            <a:ext cx="4905756"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Vérifier la commission plateforme</a:t>
            </a:r>
            <a:endParaRPr lang="en-US" sz="900" dirty="0"/>
          </a:p>
        </p:txBody>
      </p:sp>
      <p:sp>
        <p:nvSpPr>
          <p:cNvPr id="23" name="Text 20"/>
          <p:cNvSpPr txBox="1"/>
          <p:nvPr/>
        </p:nvSpPr>
        <p:spPr>
          <a:xfrm>
            <a:off x="1314907" y="8438998"/>
            <a:ext cx="4905756"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Vérifier les parts partenaire / franchise / central</a:t>
            </a:r>
            <a:endParaRPr lang="en-US" sz="900" dirty="0"/>
          </a:p>
        </p:txBody>
      </p:sp>
      <p:sp>
        <p:nvSpPr>
          <p:cNvPr id="24" name="Text 21"/>
          <p:cNvSpPr txBox="1"/>
          <p:nvPr/>
        </p:nvSpPr>
        <p:spPr>
          <a:xfrm>
            <a:off x="1314907" y="8610905"/>
            <a:ext cx="4905756"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Consulter le reporting financier</a:t>
            </a:r>
            <a:endParaRPr lang="en-US" sz="900" dirty="0"/>
          </a:p>
        </p:txBody>
      </p:sp>
      <p:sp>
        <p:nvSpPr>
          <p:cNvPr id="25" name="Text 22"/>
          <p:cNvSpPr txBox="1"/>
          <p:nvPr/>
        </p:nvSpPr>
        <p:spPr>
          <a:xfrm>
            <a:off x="6448349" y="7905902"/>
            <a:ext cx="5077663" cy="133502"/>
          </a:xfrm>
          <a:prstGeom prst="rect">
            <a:avLst/>
          </a:prstGeom>
          <a:noFill/>
          <a:ln/>
        </p:spPr>
        <p:txBody>
          <a:bodyPr wrap="none" lIns="0" tIns="0" rIns="0" bIns="0" rtlCol="0" anchor="ctr"/>
          <a:lstStyle/>
          <a:p>
            <a:pPr marL="0" indent="0" algn="l">
              <a:buNone/>
            </a:pPr>
            <a:r>
              <a:rPr lang="en-US" sz="800" b="1" dirty="0">
                <a:solidFill>
                  <a:srgbClr val="10B981"/>
                </a:solidFill>
                <a:latin typeface="JetBrains Mono" pitchFamily="34" charset="0"/>
                <a:ea typeface="JetBrains Mono" pitchFamily="34" charset="-122"/>
                <a:cs typeface="JetBrains Mono" pitchFamily="34" charset="-120"/>
              </a:rPr>
              <a:t>CRITÈRE</a:t>
            </a:r>
            <a:endParaRPr lang="en-US" sz="800" dirty="0"/>
          </a:p>
        </p:txBody>
      </p:sp>
      <p:sp>
        <p:nvSpPr>
          <p:cNvPr id="26" name="Text 23"/>
          <p:cNvSpPr txBox="1"/>
          <p:nvPr/>
        </p:nvSpPr>
        <p:spPr>
          <a:xfrm>
            <a:off x="6448349" y="8096098"/>
            <a:ext cx="5077663" cy="342900"/>
          </a:xfrm>
          <a:prstGeom prst="rect">
            <a:avLst/>
          </a:prstGeom>
          <a:noFill/>
          <a:ln/>
        </p:spPr>
        <p:txBody>
          <a:bodyPr wrap="squar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Les parts sont correctement calculées et tracées · les rapports affichent les bonnes répartitions · aucune confusion recette/recharge/commission.</a:t>
            </a:r>
            <a:endParaRPr lang="en-US" sz="900" dirty="0"/>
          </a:p>
        </p:txBody>
      </p:sp>
      <p:sp>
        <p:nvSpPr>
          <p:cNvPr id="27" name="Shape 24"/>
          <p:cNvSpPr/>
          <p:nvPr/>
        </p:nvSpPr>
        <p:spPr>
          <a:xfrm>
            <a:off x="11887200" y="2762402"/>
            <a:ext cx="5524805" cy="6762902"/>
          </a:xfrm>
          <a:prstGeom prst="roundRect">
            <a:avLst>
              <a:gd name="adj" fmla="val 2416"/>
            </a:avLst>
          </a:prstGeom>
          <a:solidFill>
            <a:srgbClr val="FEE2E2"/>
          </a:solidFill>
          <a:ln w="25400">
            <a:solidFill>
              <a:srgbClr val="EF4444"/>
            </a:solidFill>
            <a:prstDash val="solid"/>
          </a:ln>
        </p:spPr>
        <p:txBody>
          <a:bodyPr/>
          <a:lstStyle/>
          <a:p>
            <a:endParaRPr lang="fr-CI"/>
          </a:p>
        </p:txBody>
      </p:sp>
      <p:sp>
        <p:nvSpPr>
          <p:cNvPr id="28" name="Text 25"/>
          <p:cNvSpPr txBox="1"/>
          <p:nvPr/>
        </p:nvSpPr>
        <p:spPr>
          <a:xfrm>
            <a:off x="12115800" y="2986430"/>
            <a:ext cx="829361" cy="219456"/>
          </a:xfrm>
          <a:prstGeom prst="rect">
            <a:avLst/>
          </a:prstGeom>
          <a:noFill/>
          <a:ln/>
        </p:spPr>
        <p:txBody>
          <a:bodyPr wrap="none" lIns="0" tIns="0" rIns="0" bIns="0" rtlCol="0" anchor="ctr"/>
          <a:lstStyle/>
          <a:p>
            <a:pPr marL="0" indent="0" algn="l">
              <a:buNone/>
            </a:pPr>
            <a:r>
              <a:rPr lang="en-US" sz="1300" b="1" dirty="0">
                <a:solidFill>
                  <a:srgbClr val="991B1B"/>
                </a:solidFill>
                <a:latin typeface="JetBrains Mono" pitchFamily="34" charset="0"/>
                <a:ea typeface="JetBrains Mono" pitchFamily="34" charset="-122"/>
                <a:cs typeface="JetBrains Mono" pitchFamily="34" charset="-120"/>
              </a:rPr>
              <a:t>UC-FIN04</a:t>
            </a:r>
            <a:endParaRPr lang="en-US" sz="1300" dirty="0"/>
          </a:p>
        </p:txBody>
      </p:sp>
      <p:sp>
        <p:nvSpPr>
          <p:cNvPr id="29" name="Shape 26"/>
          <p:cNvSpPr/>
          <p:nvPr/>
        </p:nvSpPr>
        <p:spPr>
          <a:xfrm>
            <a:off x="16529609" y="2952598"/>
            <a:ext cx="733349" cy="286207"/>
          </a:xfrm>
          <a:prstGeom prst="roundRect">
            <a:avLst>
              <a:gd name="adj" fmla="val 49840"/>
            </a:avLst>
          </a:prstGeom>
          <a:solidFill>
            <a:srgbClr val="FEE2E2"/>
          </a:solidFill>
          <a:ln w="12700">
            <a:solidFill>
              <a:srgbClr val="FFFFFF">
                <a:alpha val="0"/>
              </a:srgbClr>
            </a:solidFill>
            <a:prstDash val="solid"/>
          </a:ln>
        </p:spPr>
        <p:txBody>
          <a:bodyPr/>
          <a:lstStyle/>
          <a:p>
            <a:endParaRPr lang="fr-CI"/>
          </a:p>
        </p:txBody>
      </p:sp>
      <p:sp>
        <p:nvSpPr>
          <p:cNvPr id="30" name="Text 27"/>
          <p:cNvSpPr/>
          <p:nvPr/>
        </p:nvSpPr>
        <p:spPr>
          <a:xfrm>
            <a:off x="16529609" y="2952598"/>
            <a:ext cx="7342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91B1B"/>
                </a:solidFill>
                <a:latin typeface="Manrope" pitchFamily="34" charset="0"/>
                <a:ea typeface="Manrope" pitchFamily="34" charset="-122"/>
                <a:cs typeface="Manrope" pitchFamily="34" charset="-120"/>
              </a:rPr>
              <a:t>Critique</a:t>
            </a:r>
            <a:endParaRPr lang="en-US" sz="900" dirty="0"/>
          </a:p>
        </p:txBody>
      </p:sp>
      <p:sp>
        <p:nvSpPr>
          <p:cNvPr id="31" name="Text 28"/>
          <p:cNvSpPr txBox="1"/>
          <p:nvPr/>
        </p:nvSpPr>
        <p:spPr>
          <a:xfrm>
            <a:off x="12115800" y="3333902"/>
            <a:ext cx="5143500" cy="267005"/>
          </a:xfrm>
          <a:prstGeom prst="rect">
            <a:avLst/>
          </a:prstGeom>
          <a:noFill/>
          <a:ln/>
        </p:spPr>
        <p:txBody>
          <a:bodyPr wrap="none" lIns="0" tIns="0" rIns="0" bIns="0" rtlCol="0" anchor="ctr"/>
          <a:lstStyle/>
          <a:p>
            <a:pPr marL="0" indent="0" algn="l">
              <a:buNone/>
            </a:pPr>
            <a:r>
              <a:rPr lang="en-US" sz="1600" b="1" dirty="0">
                <a:solidFill>
                  <a:srgbClr val="1F2937"/>
                </a:solidFill>
                <a:latin typeface="Manrope" pitchFamily="34" charset="0"/>
                <a:ea typeface="Manrope" pitchFamily="34" charset="-122"/>
                <a:cs typeface="Manrope" pitchFamily="34" charset="-120"/>
              </a:rPr>
              <a:t>Solde insuffisant</a:t>
            </a:r>
            <a:endParaRPr lang="en-US" sz="1600" dirty="0"/>
          </a:p>
        </p:txBody>
      </p:sp>
      <p:sp>
        <p:nvSpPr>
          <p:cNvPr id="32" name="Text 29"/>
          <p:cNvSpPr txBox="1"/>
          <p:nvPr/>
        </p:nvSpPr>
        <p:spPr>
          <a:xfrm>
            <a:off x="12115800" y="3653028"/>
            <a:ext cx="5143500" cy="171907"/>
          </a:xfrm>
          <a:prstGeom prst="rect">
            <a:avLst/>
          </a:prstGeom>
          <a:noFill/>
          <a:ln/>
        </p:spPr>
        <p:txBody>
          <a:bodyPr wrap="none" lIns="0" tIns="0" rIns="0" bIns="0" rtlCol="0" anchor="ctr"/>
          <a:lstStyle/>
          <a:p>
            <a:pPr marL="0" indent="0" algn="l">
              <a:buNone/>
            </a:pPr>
            <a:r>
              <a:rPr lang="en-US" sz="900" dirty="0">
                <a:solidFill>
                  <a:srgbClr val="991B1B"/>
                </a:solidFill>
                <a:latin typeface="Manrope" pitchFamily="34" charset="0"/>
                <a:ea typeface="Manrope" pitchFamily="34" charset="-122"/>
                <a:cs typeface="Manrope" pitchFamily="34" charset="-120"/>
              </a:rPr>
              <a:t>Cas non nominal — bloquant pour exploitation</a:t>
            </a:r>
            <a:endParaRPr lang="en-US" sz="900" dirty="0"/>
          </a:p>
        </p:txBody>
      </p:sp>
      <p:sp>
        <p:nvSpPr>
          <p:cNvPr id="33" name="Text 30"/>
          <p:cNvSpPr txBox="1"/>
          <p:nvPr/>
        </p:nvSpPr>
        <p:spPr>
          <a:xfrm>
            <a:off x="12115800" y="3995928"/>
            <a:ext cx="5143500" cy="133502"/>
          </a:xfrm>
          <a:prstGeom prst="rect">
            <a:avLst/>
          </a:prstGeom>
          <a:noFill/>
          <a:ln/>
        </p:spPr>
        <p:txBody>
          <a:bodyPr wrap="none" lIns="0" tIns="0" rIns="0" bIns="0" rtlCol="0" anchor="ctr"/>
          <a:lstStyle/>
          <a:p>
            <a:pPr marL="0" indent="0" algn="l">
              <a:buNone/>
            </a:pPr>
            <a:r>
              <a:rPr lang="en-US" sz="800" b="1" dirty="0">
                <a:solidFill>
                  <a:srgbClr val="991B1B"/>
                </a:solidFill>
                <a:latin typeface="JetBrains Mono" pitchFamily="34" charset="0"/>
                <a:ea typeface="JetBrains Mono" pitchFamily="34" charset="-122"/>
                <a:cs typeface="JetBrains Mono" pitchFamily="34" charset="-120"/>
              </a:rPr>
              <a:t>OBJECTIF</a:t>
            </a:r>
            <a:endParaRPr lang="en-US" sz="800" dirty="0"/>
          </a:p>
        </p:txBody>
      </p:sp>
      <p:sp>
        <p:nvSpPr>
          <p:cNvPr id="34" name="Text 31"/>
          <p:cNvSpPr txBox="1"/>
          <p:nvPr/>
        </p:nvSpPr>
        <p:spPr>
          <a:xfrm>
            <a:off x="12115800" y="4166921"/>
            <a:ext cx="5143500" cy="342900"/>
          </a:xfrm>
          <a:prstGeom prst="rect">
            <a:avLst/>
          </a:prstGeom>
          <a:noFill/>
          <a:ln/>
        </p:spPr>
        <p:txBody>
          <a:bodyPr wrap="squar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Vérifier le comportement plateforme quand le solde chauffeur est insuffisant pour accepter une course.</a:t>
            </a:r>
            <a:endParaRPr lang="en-US" sz="900" dirty="0"/>
          </a:p>
        </p:txBody>
      </p:sp>
      <p:sp>
        <p:nvSpPr>
          <p:cNvPr id="35" name="Text 32"/>
          <p:cNvSpPr txBox="1"/>
          <p:nvPr/>
        </p:nvSpPr>
        <p:spPr>
          <a:xfrm>
            <a:off x="12115800" y="4643323"/>
            <a:ext cx="5143500" cy="133502"/>
          </a:xfrm>
          <a:prstGeom prst="rect">
            <a:avLst/>
          </a:prstGeom>
          <a:noFill/>
          <a:ln/>
        </p:spPr>
        <p:txBody>
          <a:bodyPr wrap="none" lIns="0" tIns="0" rIns="0" bIns="0" rtlCol="0" anchor="ctr"/>
          <a:lstStyle/>
          <a:p>
            <a:pPr marL="0" indent="0" algn="l">
              <a:buNone/>
            </a:pPr>
            <a:r>
              <a:rPr lang="en-US" sz="800" b="1" dirty="0">
                <a:solidFill>
                  <a:srgbClr val="991B1B"/>
                </a:solidFill>
                <a:latin typeface="JetBrains Mono" pitchFamily="34" charset="0"/>
                <a:ea typeface="JetBrains Mono" pitchFamily="34" charset="-122"/>
                <a:cs typeface="JetBrains Mono" pitchFamily="34" charset="-120"/>
              </a:rPr>
              <a:t>ÉTAPES</a:t>
            </a:r>
            <a:endParaRPr lang="en-US" sz="800" dirty="0"/>
          </a:p>
        </p:txBody>
      </p:sp>
      <p:sp>
        <p:nvSpPr>
          <p:cNvPr id="36" name="Text 33"/>
          <p:cNvSpPr txBox="1"/>
          <p:nvPr/>
        </p:nvSpPr>
        <p:spPr>
          <a:xfrm>
            <a:off x="12287707" y="4833518"/>
            <a:ext cx="4972507" cy="181051"/>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Créer un chauffeur avec solde faible</a:t>
            </a:r>
            <a:endParaRPr lang="en-US" sz="900" dirty="0"/>
          </a:p>
        </p:txBody>
      </p:sp>
      <p:sp>
        <p:nvSpPr>
          <p:cNvPr id="37" name="Text 34"/>
          <p:cNvSpPr txBox="1"/>
          <p:nvPr/>
        </p:nvSpPr>
        <p:spPr>
          <a:xfrm>
            <a:off x="12287707" y="5010912"/>
            <a:ext cx="4972507" cy="181051"/>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Le mettre en ligne</a:t>
            </a:r>
            <a:endParaRPr lang="en-US" sz="900" dirty="0"/>
          </a:p>
        </p:txBody>
      </p:sp>
      <p:sp>
        <p:nvSpPr>
          <p:cNvPr id="38" name="Text 35"/>
          <p:cNvSpPr txBox="1"/>
          <p:nvPr/>
        </p:nvSpPr>
        <p:spPr>
          <a:xfrm>
            <a:off x="12287707" y="5188306"/>
            <a:ext cx="4972507" cy="181051"/>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Tenter d'accepter une course</a:t>
            </a:r>
            <a:endParaRPr lang="en-US" sz="900" dirty="0"/>
          </a:p>
        </p:txBody>
      </p:sp>
      <p:sp>
        <p:nvSpPr>
          <p:cNvPr id="39" name="Text 36"/>
          <p:cNvSpPr txBox="1"/>
          <p:nvPr/>
        </p:nvSpPr>
        <p:spPr>
          <a:xfrm>
            <a:off x="12287707" y="5365699"/>
            <a:ext cx="4972507" cy="181051"/>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Vérifier le message d'alerte / blocage</a:t>
            </a:r>
            <a:endParaRPr lang="en-US" sz="900" dirty="0"/>
          </a:p>
        </p:txBody>
      </p:sp>
      <p:sp>
        <p:nvSpPr>
          <p:cNvPr id="40" name="Text 37"/>
          <p:cNvSpPr txBox="1"/>
          <p:nvPr/>
        </p:nvSpPr>
        <p:spPr>
          <a:xfrm>
            <a:off x="12287707" y="5542178"/>
            <a:ext cx="4972507" cy="181051"/>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Effectuer une recharge (par n'importe quelle voie)</a:t>
            </a:r>
            <a:endParaRPr lang="en-US" sz="900" dirty="0"/>
          </a:p>
        </p:txBody>
      </p:sp>
      <p:sp>
        <p:nvSpPr>
          <p:cNvPr id="41" name="Text 38"/>
          <p:cNvSpPr txBox="1"/>
          <p:nvPr/>
        </p:nvSpPr>
        <p:spPr>
          <a:xfrm>
            <a:off x="12287707" y="5719572"/>
            <a:ext cx="4972507" cy="181051"/>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Réessayer d'accepter</a:t>
            </a:r>
            <a:endParaRPr lang="en-US" sz="900" dirty="0"/>
          </a:p>
        </p:txBody>
      </p:sp>
      <p:sp>
        <p:nvSpPr>
          <p:cNvPr id="42" name="Shape 39"/>
          <p:cNvSpPr/>
          <p:nvPr/>
        </p:nvSpPr>
        <p:spPr>
          <a:xfrm>
            <a:off x="12115800" y="6048756"/>
            <a:ext cx="5143500" cy="761695"/>
          </a:xfrm>
          <a:prstGeom prst="roundRect">
            <a:avLst>
              <a:gd name="adj" fmla="val 12485"/>
            </a:avLst>
          </a:prstGeom>
          <a:solidFill>
            <a:srgbClr val="FFFFFF"/>
          </a:solidFill>
          <a:ln/>
        </p:spPr>
        <p:txBody>
          <a:bodyPr/>
          <a:lstStyle/>
          <a:p>
            <a:endParaRPr lang="fr-CI"/>
          </a:p>
        </p:txBody>
      </p:sp>
      <p:sp>
        <p:nvSpPr>
          <p:cNvPr id="43" name="Shape 40"/>
          <p:cNvSpPr/>
          <p:nvPr/>
        </p:nvSpPr>
        <p:spPr>
          <a:xfrm>
            <a:off x="12115800" y="6048756"/>
            <a:ext cx="38405" cy="761695"/>
          </a:xfrm>
          <a:prstGeom prst="roundRect">
            <a:avLst>
              <a:gd name="adj" fmla="val 247618"/>
            </a:avLst>
          </a:prstGeom>
          <a:solidFill>
            <a:srgbClr val="EF4444"/>
          </a:solidFill>
          <a:ln w="12700">
            <a:solidFill>
              <a:srgbClr val="EF4444">
                <a:alpha val="0"/>
              </a:srgbClr>
            </a:solidFill>
            <a:prstDash val="solid"/>
          </a:ln>
        </p:spPr>
        <p:txBody>
          <a:bodyPr/>
          <a:lstStyle/>
          <a:p>
            <a:endParaRPr lang="fr-CI"/>
          </a:p>
        </p:txBody>
      </p:sp>
      <p:sp>
        <p:nvSpPr>
          <p:cNvPr id="44" name="Text 41"/>
          <p:cNvSpPr txBox="1"/>
          <p:nvPr/>
        </p:nvSpPr>
        <p:spPr>
          <a:xfrm>
            <a:off x="12268505" y="6163056"/>
            <a:ext cx="4877410" cy="133502"/>
          </a:xfrm>
          <a:prstGeom prst="rect">
            <a:avLst/>
          </a:prstGeom>
          <a:noFill/>
          <a:ln/>
        </p:spPr>
        <p:txBody>
          <a:bodyPr wrap="none" lIns="0" tIns="0" rIns="0" bIns="0" rtlCol="0" anchor="ctr"/>
          <a:lstStyle/>
          <a:p>
            <a:pPr marL="0" indent="0" algn="l">
              <a:buNone/>
            </a:pPr>
            <a:r>
              <a:rPr lang="en-US" sz="800" b="1" dirty="0">
                <a:solidFill>
                  <a:srgbClr val="991B1B"/>
                </a:solidFill>
                <a:latin typeface="JetBrains Mono" pitchFamily="34" charset="0"/>
                <a:ea typeface="JetBrains Mono" pitchFamily="34" charset="-122"/>
                <a:cs typeface="JetBrains Mono" pitchFamily="34" charset="-120"/>
              </a:rPr>
              <a:t>RÉSULTATS ATTENDUS</a:t>
            </a:r>
            <a:endParaRPr lang="en-US" sz="800" dirty="0"/>
          </a:p>
        </p:txBody>
      </p:sp>
      <p:sp>
        <p:nvSpPr>
          <p:cNvPr id="45" name="Text 42"/>
          <p:cNvSpPr txBox="1"/>
          <p:nvPr/>
        </p:nvSpPr>
        <p:spPr>
          <a:xfrm>
            <a:off x="12268505" y="6354166"/>
            <a:ext cx="4877410" cy="342900"/>
          </a:xfrm>
          <a:prstGeom prst="rect">
            <a:avLst/>
          </a:prstGeom>
          <a:noFill/>
          <a:ln/>
        </p:spPr>
        <p:txBody>
          <a:bodyPr wrap="squar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Chauffeur alerté ou bloqué selon les règles · recharge permet la reprise d'activité immédiate · solde fiable · historique complet.</a:t>
            </a:r>
            <a:endParaRPr lang="en-US" sz="900" dirty="0"/>
          </a:p>
        </p:txBody>
      </p:sp>
      <p:sp>
        <p:nvSpPr>
          <p:cNvPr id="46" name="Shape 43"/>
          <p:cNvSpPr/>
          <p:nvPr/>
        </p:nvSpPr>
        <p:spPr>
          <a:xfrm>
            <a:off x="12115800" y="6943954"/>
            <a:ext cx="5143500" cy="562356"/>
          </a:xfrm>
          <a:prstGeom prst="roundRect">
            <a:avLst>
              <a:gd name="adj" fmla="val 13496"/>
            </a:avLst>
          </a:prstGeom>
          <a:solidFill>
            <a:srgbClr val="1F2937"/>
          </a:solidFill>
          <a:ln w="12700">
            <a:solidFill>
              <a:srgbClr val="FFFFFF">
                <a:alpha val="0"/>
              </a:srgbClr>
            </a:solidFill>
            <a:prstDash val="solid"/>
          </a:ln>
        </p:spPr>
        <p:txBody>
          <a:bodyPr/>
          <a:lstStyle/>
          <a:p>
            <a:endParaRPr lang="fr-CI"/>
          </a:p>
        </p:txBody>
      </p:sp>
      <p:sp>
        <p:nvSpPr>
          <p:cNvPr id="47" name="Text 44"/>
          <p:cNvSpPr txBox="1"/>
          <p:nvPr/>
        </p:nvSpPr>
        <p:spPr>
          <a:xfrm>
            <a:off x="12230100" y="7058254"/>
            <a:ext cx="4914900"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CRITÈRE</a:t>
            </a:r>
            <a:endParaRPr lang="en-US" sz="800" dirty="0"/>
          </a:p>
        </p:txBody>
      </p:sp>
      <p:sp>
        <p:nvSpPr>
          <p:cNvPr id="48" name="Text 45"/>
          <p:cNvSpPr txBox="1"/>
          <p:nvPr/>
        </p:nvSpPr>
        <p:spPr>
          <a:xfrm>
            <a:off x="12230100" y="7230161"/>
            <a:ext cx="4914900" cy="162763"/>
          </a:xfrm>
          <a:prstGeom prst="rect">
            <a:avLst/>
          </a:prstGeom>
          <a:noFill/>
          <a:ln/>
        </p:spPr>
        <p:txBody>
          <a:bodyPr wrap="non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Aucune course ne peut être acceptée avec un solde insuffisant.</a:t>
            </a:r>
            <a:endParaRPr lang="en-US" sz="900" dirty="0"/>
          </a:p>
        </p:txBody>
      </p:sp>
      <p:sp>
        <p:nvSpPr>
          <p:cNvPr id="49" name="Shape 46"/>
          <p:cNvSpPr/>
          <p:nvPr/>
        </p:nvSpPr>
        <p:spPr>
          <a:xfrm>
            <a:off x="0" y="9791395"/>
            <a:ext cx="18288000" cy="495605"/>
          </a:xfrm>
          <a:prstGeom prst="rect">
            <a:avLst/>
          </a:prstGeom>
          <a:solidFill>
            <a:srgbClr val="FFFFFF"/>
          </a:solidFill>
          <a:ln/>
        </p:spPr>
        <p:txBody>
          <a:bodyPr/>
          <a:lstStyle/>
          <a:p>
            <a:endParaRPr lang="fr-CI"/>
          </a:p>
        </p:txBody>
      </p:sp>
      <p:sp>
        <p:nvSpPr>
          <p:cNvPr id="50" name="Shape 47"/>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51" name="Text 48"/>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52" name="Text 49"/>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38 / 59</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6295522" y="256946"/>
            <a:ext cx="1781251"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UC Partenaires · G.</a:t>
            </a:r>
            <a:endParaRPr lang="en-US" sz="900" dirty="0"/>
          </a:p>
        </p:txBody>
      </p:sp>
      <p:sp>
        <p:nvSpPr>
          <p:cNvPr id="10" name="Text 8"/>
          <p:cNvSpPr txBox="1"/>
          <p:nvPr/>
        </p:nvSpPr>
        <p:spPr>
          <a:xfrm>
            <a:off x="914400" y="1205179"/>
            <a:ext cx="1733702"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G. Partenaires</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6193110" cy="1095451"/>
          </a:xfrm>
          <a:prstGeom prst="rect">
            <a:avLst/>
          </a:prstGeom>
          <a:noFill/>
          <a:ln/>
        </p:spPr>
        <p:txBody>
          <a:bodyPr wrap="squar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UC-P01 · UC-P02 — création / validation et rattachement chauffeur+véhicule.</a:t>
            </a:r>
            <a:endParaRPr lang="en-US" sz="3900" dirty="0"/>
          </a:p>
        </p:txBody>
      </p:sp>
      <p:sp>
        <p:nvSpPr>
          <p:cNvPr id="13" name="Shape 11"/>
          <p:cNvSpPr/>
          <p:nvPr/>
        </p:nvSpPr>
        <p:spPr>
          <a:xfrm>
            <a:off x="914400" y="2762402"/>
            <a:ext cx="8191195" cy="6762902"/>
          </a:xfrm>
          <a:prstGeom prst="roundRect">
            <a:avLst>
              <a:gd name="adj" fmla="val 1974"/>
            </a:avLst>
          </a:prstGeom>
          <a:solidFill>
            <a:srgbClr val="FFFFFF"/>
          </a:solidFill>
          <a:ln w="25400">
            <a:solidFill>
              <a:srgbClr val="6D28D9"/>
            </a:solidFill>
            <a:prstDash val="solid"/>
          </a:ln>
        </p:spPr>
        <p:txBody>
          <a:bodyPr/>
          <a:lstStyle/>
          <a:p>
            <a:endParaRPr lang="fr-CI"/>
          </a:p>
        </p:txBody>
      </p:sp>
      <p:sp>
        <p:nvSpPr>
          <p:cNvPr id="14" name="Text 12"/>
          <p:cNvSpPr txBox="1"/>
          <p:nvPr/>
        </p:nvSpPr>
        <p:spPr>
          <a:xfrm>
            <a:off x="1143000" y="2986430"/>
            <a:ext cx="619963" cy="219456"/>
          </a:xfrm>
          <a:prstGeom prst="rect">
            <a:avLst/>
          </a:prstGeom>
          <a:noFill/>
          <a:ln/>
        </p:spPr>
        <p:txBody>
          <a:bodyPr wrap="none" lIns="0" tIns="0" rIns="0" bIns="0" rtlCol="0" anchor="ctr"/>
          <a:lstStyle/>
          <a:p>
            <a:pPr marL="0" indent="0" algn="l">
              <a:buNone/>
            </a:pPr>
            <a:r>
              <a:rPr lang="en-US" sz="1300" b="1" dirty="0">
                <a:solidFill>
                  <a:srgbClr val="6D28D9"/>
                </a:solidFill>
                <a:latin typeface="JetBrains Mono" pitchFamily="34" charset="0"/>
                <a:ea typeface="JetBrains Mono" pitchFamily="34" charset="-122"/>
                <a:cs typeface="JetBrains Mono" pitchFamily="34" charset="-120"/>
              </a:rPr>
              <a:t>UC-P01</a:t>
            </a:r>
            <a:endParaRPr lang="en-US" sz="1300" dirty="0"/>
          </a:p>
        </p:txBody>
      </p:sp>
      <p:sp>
        <p:nvSpPr>
          <p:cNvPr id="15" name="Shape 13"/>
          <p:cNvSpPr/>
          <p:nvPr/>
        </p:nvSpPr>
        <p:spPr>
          <a:xfrm>
            <a:off x="8131759" y="2952598"/>
            <a:ext cx="733349" cy="286207"/>
          </a:xfrm>
          <a:prstGeom prst="roundRect">
            <a:avLst>
              <a:gd name="adj" fmla="val 49840"/>
            </a:avLst>
          </a:prstGeom>
          <a:solidFill>
            <a:srgbClr val="FEF3C7"/>
          </a:solidFill>
          <a:ln w="12700">
            <a:solidFill>
              <a:srgbClr val="FFFFFF">
                <a:alpha val="0"/>
              </a:srgbClr>
            </a:solidFill>
            <a:prstDash val="solid"/>
          </a:ln>
        </p:spPr>
        <p:txBody>
          <a:bodyPr/>
          <a:lstStyle/>
          <a:p>
            <a:endParaRPr lang="fr-CI"/>
          </a:p>
        </p:txBody>
      </p:sp>
      <p:sp>
        <p:nvSpPr>
          <p:cNvPr id="16" name="Text 14"/>
          <p:cNvSpPr/>
          <p:nvPr/>
        </p:nvSpPr>
        <p:spPr>
          <a:xfrm>
            <a:off x="8131759" y="2952598"/>
            <a:ext cx="7342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2400E"/>
                </a:solidFill>
                <a:latin typeface="Manrope" pitchFamily="34" charset="0"/>
                <a:ea typeface="Manrope" pitchFamily="34" charset="-122"/>
                <a:cs typeface="Manrope" pitchFamily="34" charset="-120"/>
              </a:rPr>
              <a:t>Majeure</a:t>
            </a:r>
            <a:endParaRPr lang="en-US" sz="900" dirty="0"/>
          </a:p>
        </p:txBody>
      </p:sp>
      <p:sp>
        <p:nvSpPr>
          <p:cNvPr id="17" name="Text 15"/>
          <p:cNvSpPr txBox="1"/>
          <p:nvPr/>
        </p:nvSpPr>
        <p:spPr>
          <a:xfrm>
            <a:off x="1143000" y="3333902"/>
            <a:ext cx="7715707" cy="286207"/>
          </a:xfrm>
          <a:prstGeom prst="rect">
            <a:avLst/>
          </a:prstGeom>
          <a:noFill/>
          <a:ln/>
        </p:spPr>
        <p:txBody>
          <a:bodyPr wrap="none" lIns="0" tIns="0" rIns="0" bIns="0" rtlCol="0" anchor="ctr"/>
          <a:lstStyle/>
          <a:p>
            <a:pPr marL="0" indent="0" algn="l">
              <a:buNone/>
            </a:pPr>
            <a:r>
              <a:rPr lang="en-US" sz="1800" b="1" dirty="0">
                <a:solidFill>
                  <a:srgbClr val="1F2937"/>
                </a:solidFill>
                <a:latin typeface="Manrope" pitchFamily="34" charset="0"/>
                <a:ea typeface="Manrope" pitchFamily="34" charset="-122"/>
                <a:cs typeface="Manrope" pitchFamily="34" charset="-120"/>
              </a:rPr>
              <a:t>Création &amp; validation partenaire</a:t>
            </a:r>
            <a:endParaRPr lang="en-US" sz="1800" dirty="0"/>
          </a:p>
        </p:txBody>
      </p:sp>
      <p:sp>
        <p:nvSpPr>
          <p:cNvPr id="18" name="Text 16"/>
          <p:cNvSpPr txBox="1"/>
          <p:nvPr/>
        </p:nvSpPr>
        <p:spPr>
          <a:xfrm>
            <a:off x="1143000" y="3676802"/>
            <a:ext cx="7715707"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Service : Administration · Profils : Central, Partenaire</a:t>
            </a:r>
            <a:endParaRPr lang="en-US" sz="900" dirty="0"/>
          </a:p>
        </p:txBody>
      </p:sp>
      <p:sp>
        <p:nvSpPr>
          <p:cNvPr id="19" name="Text 17"/>
          <p:cNvSpPr txBox="1"/>
          <p:nvPr/>
        </p:nvSpPr>
        <p:spPr>
          <a:xfrm>
            <a:off x="1143000" y="4019702"/>
            <a:ext cx="7715707"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OBJECTIF</a:t>
            </a:r>
            <a:endParaRPr lang="en-US" sz="800" dirty="0"/>
          </a:p>
        </p:txBody>
      </p:sp>
      <p:sp>
        <p:nvSpPr>
          <p:cNvPr id="20" name="Text 18"/>
          <p:cNvSpPr txBox="1"/>
          <p:nvPr/>
        </p:nvSpPr>
        <p:spPr>
          <a:xfrm>
            <a:off x="1143000" y="4190695"/>
            <a:ext cx="7715707" cy="181051"/>
          </a:xfrm>
          <a:prstGeom prst="rect">
            <a:avLst/>
          </a:prstGeom>
          <a:noFill/>
          <a:ln/>
        </p:spPr>
        <p:txBody>
          <a:bodyPr wrap="none" lIns="0" tIns="0" rIns="0" bIns="0" rtlCol="0" anchor="ctr"/>
          <a:lstStyle/>
          <a:p>
            <a:pPr marL="0" indent="0" algn="l">
              <a:buNone/>
            </a:pPr>
            <a:r>
              <a:rPr lang="en-US" sz="1000" dirty="0">
                <a:solidFill>
                  <a:srgbClr val="1F2937"/>
                </a:solidFill>
                <a:latin typeface="Manrope" pitchFamily="34" charset="0"/>
                <a:ea typeface="Manrope" pitchFamily="34" charset="-122"/>
                <a:cs typeface="Manrope" pitchFamily="34" charset="-120"/>
              </a:rPr>
              <a:t>Tester la création d'un partenaire et sa validation par le central.</a:t>
            </a:r>
            <a:endParaRPr lang="en-US" sz="1000" dirty="0"/>
          </a:p>
        </p:txBody>
      </p:sp>
      <p:sp>
        <p:nvSpPr>
          <p:cNvPr id="21" name="Text 19"/>
          <p:cNvSpPr txBox="1"/>
          <p:nvPr/>
        </p:nvSpPr>
        <p:spPr>
          <a:xfrm>
            <a:off x="1143000" y="4505249"/>
            <a:ext cx="7715707"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ÉTAPES</a:t>
            </a:r>
            <a:endParaRPr lang="en-US" sz="800" dirty="0"/>
          </a:p>
        </p:txBody>
      </p:sp>
      <p:sp>
        <p:nvSpPr>
          <p:cNvPr id="22" name="Text 20"/>
          <p:cNvSpPr txBox="1"/>
          <p:nvPr/>
        </p:nvSpPr>
        <p:spPr>
          <a:xfrm>
            <a:off x="1314907" y="4695444"/>
            <a:ext cx="7543800"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Créer un compte partenaire</a:t>
            </a:r>
            <a:endParaRPr lang="en-US" sz="900" dirty="0"/>
          </a:p>
        </p:txBody>
      </p:sp>
      <p:sp>
        <p:nvSpPr>
          <p:cNvPr id="23" name="Text 21"/>
          <p:cNvSpPr txBox="1"/>
          <p:nvPr/>
        </p:nvSpPr>
        <p:spPr>
          <a:xfrm>
            <a:off x="1314907" y="4893869"/>
            <a:ext cx="7543800"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Ajouter les informations entreprise / propriétaire</a:t>
            </a:r>
            <a:endParaRPr lang="en-US" sz="900" dirty="0"/>
          </a:p>
        </p:txBody>
      </p:sp>
      <p:sp>
        <p:nvSpPr>
          <p:cNvPr id="24" name="Text 22"/>
          <p:cNvSpPr txBox="1"/>
          <p:nvPr/>
        </p:nvSpPr>
        <p:spPr>
          <a:xfrm>
            <a:off x="1314907" y="5092294"/>
            <a:ext cx="7543800"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Soumettre les documents (KBIS, identité, autorisations)</a:t>
            </a:r>
            <a:endParaRPr lang="en-US" sz="900" dirty="0"/>
          </a:p>
        </p:txBody>
      </p:sp>
      <p:sp>
        <p:nvSpPr>
          <p:cNvPr id="25" name="Text 23"/>
          <p:cNvSpPr txBox="1"/>
          <p:nvPr/>
        </p:nvSpPr>
        <p:spPr>
          <a:xfrm>
            <a:off x="1314907" y="5289804"/>
            <a:ext cx="7543800"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Valider depuis le central</a:t>
            </a:r>
            <a:endParaRPr lang="en-US" sz="900" dirty="0"/>
          </a:p>
        </p:txBody>
      </p:sp>
      <p:sp>
        <p:nvSpPr>
          <p:cNvPr id="26" name="Text 24"/>
          <p:cNvSpPr txBox="1"/>
          <p:nvPr/>
        </p:nvSpPr>
        <p:spPr>
          <a:xfrm>
            <a:off x="1314907" y="5488229"/>
            <a:ext cx="7543800"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Vérifier l'accès partenaire au back-office</a:t>
            </a:r>
            <a:endParaRPr lang="en-US" sz="900" dirty="0"/>
          </a:p>
        </p:txBody>
      </p:sp>
      <p:sp>
        <p:nvSpPr>
          <p:cNvPr id="27" name="Text 25"/>
          <p:cNvSpPr txBox="1"/>
          <p:nvPr/>
        </p:nvSpPr>
        <p:spPr>
          <a:xfrm>
            <a:off x="1143000" y="5819242"/>
            <a:ext cx="7715707" cy="133502"/>
          </a:xfrm>
          <a:prstGeom prst="rect">
            <a:avLst/>
          </a:prstGeom>
          <a:noFill/>
          <a:ln/>
        </p:spPr>
        <p:txBody>
          <a:bodyPr wrap="none" lIns="0" tIns="0" rIns="0" bIns="0" rtlCol="0" anchor="ctr"/>
          <a:lstStyle/>
          <a:p>
            <a:pPr marL="0" indent="0" algn="l">
              <a:buNone/>
            </a:pPr>
            <a:r>
              <a:rPr lang="en-US" sz="800" b="1" dirty="0">
                <a:solidFill>
                  <a:srgbClr val="10B981"/>
                </a:solidFill>
                <a:latin typeface="JetBrains Mono" pitchFamily="34" charset="0"/>
                <a:ea typeface="JetBrains Mono" pitchFamily="34" charset="-122"/>
                <a:cs typeface="JetBrains Mono" pitchFamily="34" charset="-120"/>
              </a:rPr>
              <a:t>RÉSULTATS ATTENDUS</a:t>
            </a:r>
            <a:endParaRPr lang="en-US" sz="800" dirty="0"/>
          </a:p>
        </p:txBody>
      </p:sp>
      <p:sp>
        <p:nvSpPr>
          <p:cNvPr id="28" name="Text 26"/>
          <p:cNvSpPr txBox="1"/>
          <p:nvPr/>
        </p:nvSpPr>
        <p:spPr>
          <a:xfrm>
            <a:off x="1143000" y="5991149"/>
            <a:ext cx="7715707" cy="200254"/>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Compte partenaire créé · statut visible · accès fonctionnel · données visibles au central.</a:t>
            </a:r>
            <a:endParaRPr lang="en-US" sz="900" dirty="0"/>
          </a:p>
        </p:txBody>
      </p:sp>
      <p:sp>
        <p:nvSpPr>
          <p:cNvPr id="29" name="Shape 27"/>
          <p:cNvSpPr/>
          <p:nvPr/>
        </p:nvSpPr>
        <p:spPr>
          <a:xfrm>
            <a:off x="1143000" y="6316675"/>
            <a:ext cx="7715707" cy="571500"/>
          </a:xfrm>
          <a:prstGeom prst="roundRect">
            <a:avLst>
              <a:gd name="adj" fmla="val 13280"/>
            </a:avLst>
          </a:prstGeom>
          <a:solidFill>
            <a:srgbClr val="F5F3FF"/>
          </a:solidFill>
          <a:ln w="12700">
            <a:solidFill>
              <a:srgbClr val="FFFFFF">
                <a:alpha val="0"/>
              </a:srgbClr>
            </a:solidFill>
            <a:prstDash val="solid"/>
          </a:ln>
        </p:spPr>
        <p:txBody>
          <a:bodyPr/>
          <a:lstStyle/>
          <a:p>
            <a:endParaRPr lang="fr-CI"/>
          </a:p>
        </p:txBody>
      </p:sp>
      <p:sp>
        <p:nvSpPr>
          <p:cNvPr id="30" name="Text 28"/>
          <p:cNvSpPr txBox="1"/>
          <p:nvPr/>
        </p:nvSpPr>
        <p:spPr>
          <a:xfrm>
            <a:off x="1257300" y="6430975"/>
            <a:ext cx="7487107"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CRITÈRE D'ACCEPTATION</a:t>
            </a:r>
            <a:endParaRPr lang="en-US" sz="800" dirty="0"/>
          </a:p>
        </p:txBody>
      </p:sp>
      <p:sp>
        <p:nvSpPr>
          <p:cNvPr id="31" name="Text 29"/>
          <p:cNvSpPr txBox="1"/>
          <p:nvPr/>
        </p:nvSpPr>
        <p:spPr>
          <a:xfrm>
            <a:off x="1257300" y="6601968"/>
            <a:ext cx="7487107" cy="171907"/>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Le partenaire accède à son espace dès validation, avec son périmètre cloisonné.</a:t>
            </a:r>
            <a:endParaRPr lang="en-US" sz="900" dirty="0"/>
          </a:p>
        </p:txBody>
      </p:sp>
      <p:sp>
        <p:nvSpPr>
          <p:cNvPr id="32" name="Shape 30"/>
          <p:cNvSpPr/>
          <p:nvPr/>
        </p:nvSpPr>
        <p:spPr>
          <a:xfrm>
            <a:off x="9219895" y="2762402"/>
            <a:ext cx="8191195" cy="6762902"/>
          </a:xfrm>
          <a:prstGeom prst="roundRect">
            <a:avLst>
              <a:gd name="adj" fmla="val 1974"/>
            </a:avLst>
          </a:prstGeom>
          <a:solidFill>
            <a:srgbClr val="1F2937"/>
          </a:solidFill>
          <a:ln w="25400">
            <a:solidFill>
              <a:srgbClr val="6D28D9"/>
            </a:solidFill>
            <a:prstDash val="solid"/>
          </a:ln>
        </p:spPr>
        <p:txBody>
          <a:bodyPr/>
          <a:lstStyle/>
          <a:p>
            <a:endParaRPr lang="fr-CI"/>
          </a:p>
        </p:txBody>
      </p:sp>
      <p:sp>
        <p:nvSpPr>
          <p:cNvPr id="33" name="Text 31"/>
          <p:cNvSpPr txBox="1"/>
          <p:nvPr/>
        </p:nvSpPr>
        <p:spPr>
          <a:xfrm>
            <a:off x="9448495" y="2986430"/>
            <a:ext cx="619963" cy="219456"/>
          </a:xfrm>
          <a:prstGeom prst="rect">
            <a:avLst/>
          </a:prstGeom>
          <a:noFill/>
          <a:ln/>
        </p:spPr>
        <p:txBody>
          <a:bodyPr wrap="none" lIns="0" tIns="0" rIns="0" bIns="0" rtlCol="0" anchor="ctr"/>
          <a:lstStyle/>
          <a:p>
            <a:pPr marL="0" indent="0" algn="l">
              <a:buNone/>
            </a:pPr>
            <a:r>
              <a:rPr lang="en-US" sz="1300" b="1" dirty="0">
                <a:solidFill>
                  <a:srgbClr val="A78BFA"/>
                </a:solidFill>
                <a:latin typeface="JetBrains Mono" pitchFamily="34" charset="0"/>
                <a:ea typeface="JetBrains Mono" pitchFamily="34" charset="-122"/>
                <a:cs typeface="JetBrains Mono" pitchFamily="34" charset="-120"/>
              </a:rPr>
              <a:t>UC-P02</a:t>
            </a:r>
            <a:endParaRPr lang="en-US" sz="1300" dirty="0"/>
          </a:p>
        </p:txBody>
      </p:sp>
      <p:sp>
        <p:nvSpPr>
          <p:cNvPr id="34" name="Shape 32"/>
          <p:cNvSpPr/>
          <p:nvPr/>
        </p:nvSpPr>
        <p:spPr>
          <a:xfrm>
            <a:off x="16433597" y="2952598"/>
            <a:ext cx="733349" cy="286207"/>
          </a:xfrm>
          <a:prstGeom prst="roundRect">
            <a:avLst>
              <a:gd name="adj" fmla="val 49840"/>
            </a:avLst>
          </a:prstGeom>
          <a:solidFill>
            <a:srgbClr val="FEE2E2"/>
          </a:solidFill>
          <a:ln w="12700">
            <a:solidFill>
              <a:srgbClr val="FFFFFF">
                <a:alpha val="0"/>
              </a:srgbClr>
            </a:solidFill>
            <a:prstDash val="solid"/>
          </a:ln>
        </p:spPr>
        <p:txBody>
          <a:bodyPr/>
          <a:lstStyle/>
          <a:p>
            <a:endParaRPr lang="fr-CI"/>
          </a:p>
        </p:txBody>
      </p:sp>
      <p:sp>
        <p:nvSpPr>
          <p:cNvPr id="35" name="Text 33"/>
          <p:cNvSpPr/>
          <p:nvPr/>
        </p:nvSpPr>
        <p:spPr>
          <a:xfrm>
            <a:off x="16433597" y="2952598"/>
            <a:ext cx="7342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91B1B"/>
                </a:solidFill>
                <a:latin typeface="Manrope" pitchFamily="34" charset="0"/>
                <a:ea typeface="Manrope" pitchFamily="34" charset="-122"/>
                <a:cs typeface="Manrope" pitchFamily="34" charset="-120"/>
              </a:rPr>
              <a:t>Critique</a:t>
            </a:r>
            <a:endParaRPr lang="en-US" sz="900" dirty="0"/>
          </a:p>
        </p:txBody>
      </p:sp>
      <p:sp>
        <p:nvSpPr>
          <p:cNvPr id="36" name="Text 34"/>
          <p:cNvSpPr txBox="1"/>
          <p:nvPr/>
        </p:nvSpPr>
        <p:spPr>
          <a:xfrm>
            <a:off x="9448495" y="3333902"/>
            <a:ext cx="7715707" cy="314554"/>
          </a:xfrm>
          <a:prstGeom prst="rect">
            <a:avLst/>
          </a:prstGeom>
          <a:noFill/>
          <a:ln/>
        </p:spPr>
        <p:txBody>
          <a:bodyPr wrap="none" lIns="0" tIns="0" rIns="0" bIns="0" rtlCol="0" anchor="ctr"/>
          <a:lstStyle/>
          <a:p>
            <a:pPr marL="0" indent="0" algn="l">
              <a:buNone/>
            </a:pPr>
            <a:r>
              <a:rPr lang="en-US" sz="1800" b="1" dirty="0">
                <a:solidFill>
                  <a:srgbClr val="FFFFFF"/>
                </a:solidFill>
                <a:latin typeface="Manrope" pitchFamily="34" charset="0"/>
                <a:ea typeface="Manrope" pitchFamily="34" charset="-122"/>
                <a:cs typeface="Manrope" pitchFamily="34" charset="-120"/>
              </a:rPr>
              <a:t>Rattachement chauffeur / véhicule</a:t>
            </a:r>
            <a:endParaRPr lang="en-US" sz="1800" dirty="0"/>
          </a:p>
        </p:txBody>
      </p:sp>
      <p:sp>
        <p:nvSpPr>
          <p:cNvPr id="37" name="Text 35"/>
          <p:cNvSpPr txBox="1"/>
          <p:nvPr/>
        </p:nvSpPr>
        <p:spPr>
          <a:xfrm>
            <a:off x="9448495" y="3877056"/>
            <a:ext cx="7715707" cy="171907"/>
          </a:xfrm>
          <a:prstGeom prst="rect">
            <a:avLst/>
          </a:prstGeom>
          <a:noFill/>
          <a:ln/>
        </p:spPr>
        <p:txBody>
          <a:bodyPr wrap="none" lIns="0" tIns="0" rIns="0" bIns="0" rtlCol="0" anchor="ctr"/>
          <a:lstStyle/>
          <a:p>
            <a:pPr marL="0" indent="0" algn="l">
              <a:buNone/>
            </a:pPr>
            <a:r>
              <a:rPr lang="en-US" sz="900" dirty="0">
                <a:solidFill>
                  <a:srgbClr val="A78BFA"/>
                </a:solidFill>
                <a:latin typeface="Manrope" pitchFamily="34" charset="0"/>
                <a:ea typeface="Manrope" pitchFamily="34" charset="-122"/>
                <a:cs typeface="Manrope" pitchFamily="34" charset="-120"/>
              </a:rPr>
              <a:t>Service : Administration · Profil : Partenaire</a:t>
            </a:r>
            <a:endParaRPr lang="en-US" sz="900" dirty="0"/>
          </a:p>
        </p:txBody>
      </p:sp>
      <p:sp>
        <p:nvSpPr>
          <p:cNvPr id="38" name="Text 36"/>
          <p:cNvSpPr txBox="1"/>
          <p:nvPr/>
        </p:nvSpPr>
        <p:spPr>
          <a:xfrm>
            <a:off x="9448495" y="4219956"/>
            <a:ext cx="7715707"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OBJECTIF</a:t>
            </a:r>
            <a:endParaRPr lang="en-US" sz="800" dirty="0"/>
          </a:p>
        </p:txBody>
      </p:sp>
      <p:sp>
        <p:nvSpPr>
          <p:cNvPr id="39" name="Text 37"/>
          <p:cNvSpPr txBox="1"/>
          <p:nvPr/>
        </p:nvSpPr>
        <p:spPr>
          <a:xfrm>
            <a:off x="9448495" y="4390949"/>
            <a:ext cx="7715707" cy="362102"/>
          </a:xfrm>
          <a:prstGeom prst="rect">
            <a:avLst/>
          </a:prstGeom>
          <a:noFill/>
          <a:ln/>
        </p:spPr>
        <p:txBody>
          <a:bodyPr wrap="square" lIns="0" tIns="0" rIns="0" bIns="0" rtlCol="0" anchor="ctr"/>
          <a:lstStyle/>
          <a:p>
            <a:pPr marL="0" indent="0" algn="l">
              <a:buNone/>
            </a:pPr>
            <a:r>
              <a:rPr lang="en-US" sz="1000" dirty="0">
                <a:solidFill>
                  <a:srgbClr val="E5E7EB"/>
                </a:solidFill>
                <a:latin typeface="Manrope" pitchFamily="34" charset="0"/>
                <a:ea typeface="Manrope" pitchFamily="34" charset="-122"/>
                <a:cs typeface="Manrope" pitchFamily="34" charset="-120"/>
              </a:rPr>
              <a:t>Vérifier qu'un partenaire peut rattacher ses chauffeurs et véhicules — et que les données restent cloisonnées entre partenaires.</a:t>
            </a:r>
            <a:endParaRPr lang="en-US" sz="1000" dirty="0"/>
          </a:p>
        </p:txBody>
      </p:sp>
      <p:sp>
        <p:nvSpPr>
          <p:cNvPr id="40" name="Text 38"/>
          <p:cNvSpPr txBox="1"/>
          <p:nvPr/>
        </p:nvSpPr>
        <p:spPr>
          <a:xfrm>
            <a:off x="9448495" y="4886554"/>
            <a:ext cx="7715707"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ÉTAPES</a:t>
            </a:r>
            <a:endParaRPr lang="en-US" sz="800" dirty="0"/>
          </a:p>
        </p:txBody>
      </p:sp>
      <p:sp>
        <p:nvSpPr>
          <p:cNvPr id="41" name="Text 39"/>
          <p:cNvSpPr txBox="1"/>
          <p:nvPr/>
        </p:nvSpPr>
        <p:spPr>
          <a:xfrm>
            <a:off x="9620402" y="5076749"/>
            <a:ext cx="75438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Sélectionner un partenaire (admin / central)</a:t>
            </a:r>
            <a:endParaRPr lang="en-US" sz="900" dirty="0"/>
          </a:p>
        </p:txBody>
      </p:sp>
      <p:sp>
        <p:nvSpPr>
          <p:cNvPr id="42" name="Text 40"/>
          <p:cNvSpPr txBox="1"/>
          <p:nvPr/>
        </p:nvSpPr>
        <p:spPr>
          <a:xfrm>
            <a:off x="9620402" y="5275174"/>
            <a:ext cx="75438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Rattacher des chauffeurs au partenaire</a:t>
            </a:r>
            <a:endParaRPr lang="en-US" sz="900" dirty="0"/>
          </a:p>
        </p:txBody>
      </p:sp>
      <p:sp>
        <p:nvSpPr>
          <p:cNvPr id="43" name="Text 41"/>
          <p:cNvSpPr txBox="1"/>
          <p:nvPr/>
        </p:nvSpPr>
        <p:spPr>
          <a:xfrm>
            <a:off x="9620402" y="5472684"/>
            <a:ext cx="75438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Rattacher des véhicules au partenaire</a:t>
            </a:r>
            <a:endParaRPr lang="en-US" sz="900" dirty="0"/>
          </a:p>
        </p:txBody>
      </p:sp>
      <p:sp>
        <p:nvSpPr>
          <p:cNvPr id="44" name="Text 42"/>
          <p:cNvSpPr txBox="1"/>
          <p:nvPr/>
        </p:nvSpPr>
        <p:spPr>
          <a:xfrm>
            <a:off x="9620402" y="5671109"/>
            <a:ext cx="75438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Réaliser des courses avec ces chauffeurs</a:t>
            </a:r>
            <a:endParaRPr lang="en-US" sz="900" dirty="0"/>
          </a:p>
        </p:txBody>
      </p:sp>
      <p:sp>
        <p:nvSpPr>
          <p:cNvPr id="45" name="Text 43"/>
          <p:cNvSpPr txBox="1"/>
          <p:nvPr/>
        </p:nvSpPr>
        <p:spPr>
          <a:xfrm>
            <a:off x="9620402" y="5869534"/>
            <a:ext cx="75438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Vérifier le reporting partenaire</a:t>
            </a:r>
            <a:endParaRPr lang="en-US" sz="900" dirty="0"/>
          </a:p>
        </p:txBody>
      </p:sp>
      <p:sp>
        <p:nvSpPr>
          <p:cNvPr id="46" name="Text 44"/>
          <p:cNvSpPr txBox="1"/>
          <p:nvPr/>
        </p:nvSpPr>
        <p:spPr>
          <a:xfrm>
            <a:off x="9620402" y="6067044"/>
            <a:ext cx="75438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Vérifier qu'un autre partenaire ne voit pas ces données</a:t>
            </a:r>
            <a:endParaRPr lang="en-US" sz="900" dirty="0"/>
          </a:p>
        </p:txBody>
      </p:sp>
      <p:sp>
        <p:nvSpPr>
          <p:cNvPr id="47" name="Text 45"/>
          <p:cNvSpPr txBox="1"/>
          <p:nvPr/>
        </p:nvSpPr>
        <p:spPr>
          <a:xfrm>
            <a:off x="9448495" y="6398971"/>
            <a:ext cx="7715707" cy="133502"/>
          </a:xfrm>
          <a:prstGeom prst="rect">
            <a:avLst/>
          </a:prstGeom>
          <a:noFill/>
          <a:ln/>
        </p:spPr>
        <p:txBody>
          <a:bodyPr wrap="none" lIns="0" tIns="0" rIns="0" bIns="0" rtlCol="0" anchor="ctr"/>
          <a:lstStyle/>
          <a:p>
            <a:pPr marL="0" indent="0" algn="l">
              <a:buNone/>
            </a:pPr>
            <a:r>
              <a:rPr lang="en-US" sz="800" b="1" dirty="0">
                <a:solidFill>
                  <a:srgbClr val="10B981"/>
                </a:solidFill>
                <a:latin typeface="JetBrains Mono" pitchFamily="34" charset="0"/>
                <a:ea typeface="JetBrains Mono" pitchFamily="34" charset="-122"/>
                <a:cs typeface="JetBrains Mono" pitchFamily="34" charset="-120"/>
              </a:rPr>
              <a:t>RÉSULTATS ATTENDUS</a:t>
            </a:r>
            <a:endParaRPr lang="en-US" sz="800" dirty="0"/>
          </a:p>
        </p:txBody>
      </p:sp>
      <p:sp>
        <p:nvSpPr>
          <p:cNvPr id="48" name="Text 46"/>
          <p:cNvSpPr txBox="1"/>
          <p:nvPr/>
        </p:nvSpPr>
        <p:spPr>
          <a:xfrm>
            <a:off x="9448495" y="6569964"/>
            <a:ext cx="8401507"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Rattachement correct · activité visible côté partenaire · aucun mélange de données entre partenaires · reporting cohérent.</a:t>
            </a:r>
            <a:endParaRPr lang="en-US" sz="900" dirty="0"/>
          </a:p>
        </p:txBody>
      </p:sp>
      <p:sp>
        <p:nvSpPr>
          <p:cNvPr id="49" name="Shape 47"/>
          <p:cNvSpPr/>
          <p:nvPr/>
        </p:nvSpPr>
        <p:spPr>
          <a:xfrm>
            <a:off x="9448495" y="6895490"/>
            <a:ext cx="7715707" cy="571500"/>
          </a:xfrm>
          <a:prstGeom prst="roundRect">
            <a:avLst>
              <a:gd name="adj" fmla="val 13280"/>
            </a:avLst>
          </a:prstGeom>
          <a:solidFill>
            <a:srgbClr val="4C1D95"/>
          </a:solidFill>
          <a:ln w="12700">
            <a:solidFill>
              <a:srgbClr val="FFFFFF">
                <a:alpha val="0"/>
              </a:srgbClr>
            </a:solidFill>
            <a:prstDash val="solid"/>
          </a:ln>
        </p:spPr>
        <p:txBody>
          <a:bodyPr/>
          <a:lstStyle/>
          <a:p>
            <a:endParaRPr lang="fr-CI"/>
          </a:p>
        </p:txBody>
      </p:sp>
      <p:sp>
        <p:nvSpPr>
          <p:cNvPr id="50" name="Text 48"/>
          <p:cNvSpPr txBox="1"/>
          <p:nvPr/>
        </p:nvSpPr>
        <p:spPr>
          <a:xfrm>
            <a:off x="9562795" y="7009790"/>
            <a:ext cx="7487107" cy="133502"/>
          </a:xfrm>
          <a:prstGeom prst="rect">
            <a:avLst/>
          </a:prstGeom>
          <a:noFill/>
          <a:ln/>
        </p:spPr>
        <p:txBody>
          <a:bodyPr wrap="none" lIns="0" tIns="0" rIns="0" bIns="0" rtlCol="0" anchor="ctr"/>
          <a:lstStyle/>
          <a:p>
            <a:pPr marL="0" indent="0" algn="l">
              <a:buNone/>
            </a:pPr>
            <a:r>
              <a:rPr lang="en-US" sz="800" b="1" dirty="0">
                <a:solidFill>
                  <a:srgbClr val="C4B5FD"/>
                </a:solidFill>
                <a:latin typeface="JetBrains Mono" pitchFamily="34" charset="0"/>
                <a:ea typeface="JetBrains Mono" pitchFamily="34" charset="-122"/>
                <a:cs typeface="JetBrains Mono" pitchFamily="34" charset="-120"/>
              </a:rPr>
              <a:t>CRITÈRE D'ACCEPTATION</a:t>
            </a:r>
            <a:endParaRPr lang="en-US" sz="800" dirty="0"/>
          </a:p>
        </p:txBody>
      </p:sp>
      <p:sp>
        <p:nvSpPr>
          <p:cNvPr id="51" name="Text 49"/>
          <p:cNvSpPr txBox="1"/>
          <p:nvPr/>
        </p:nvSpPr>
        <p:spPr>
          <a:xfrm>
            <a:off x="9562795" y="7180783"/>
            <a:ext cx="8172907" cy="171907"/>
          </a:xfrm>
          <a:prstGeom prst="rect">
            <a:avLst/>
          </a:prstGeom>
          <a:noFill/>
          <a:ln/>
        </p:spPr>
        <p:txBody>
          <a:bodyPr wrap="non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Cloisonnement strict des données — un partenaire ne voit pas la flotte d'un autre, même au sein de la même franchise.</a:t>
            </a:r>
            <a:endParaRPr lang="en-US" sz="900" dirty="0"/>
          </a:p>
        </p:txBody>
      </p:sp>
      <p:sp>
        <p:nvSpPr>
          <p:cNvPr id="52" name="Shape 50"/>
          <p:cNvSpPr/>
          <p:nvPr/>
        </p:nvSpPr>
        <p:spPr>
          <a:xfrm>
            <a:off x="0" y="9791395"/>
            <a:ext cx="18288000" cy="495605"/>
          </a:xfrm>
          <a:prstGeom prst="rect">
            <a:avLst/>
          </a:prstGeom>
          <a:solidFill>
            <a:srgbClr val="FFFFFF"/>
          </a:solidFill>
          <a:ln/>
        </p:spPr>
        <p:txBody>
          <a:bodyPr/>
          <a:lstStyle/>
          <a:p>
            <a:endParaRPr lang="fr-CI"/>
          </a:p>
        </p:txBody>
      </p:sp>
      <p:sp>
        <p:nvSpPr>
          <p:cNvPr id="53" name="Shape 51"/>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54" name="Text 52"/>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55" name="Text 53"/>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39 / 59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6444570" y="256946"/>
            <a:ext cx="1607515"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UC Franchise · H.</a:t>
            </a:r>
            <a:endParaRPr lang="en-US" sz="900" dirty="0"/>
          </a:p>
        </p:txBody>
      </p:sp>
      <p:sp>
        <p:nvSpPr>
          <p:cNvPr id="10" name="Text 8"/>
          <p:cNvSpPr txBox="1"/>
          <p:nvPr/>
        </p:nvSpPr>
        <p:spPr>
          <a:xfrm>
            <a:off x="914400" y="1205179"/>
            <a:ext cx="1543507"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H. Franchise</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7878349"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UC-FR01 — supervision d'une zone franchise &amp; cloisonnement.</a:t>
            </a:r>
            <a:endParaRPr lang="en-US" sz="3900" dirty="0"/>
          </a:p>
        </p:txBody>
      </p:sp>
      <p:sp>
        <p:nvSpPr>
          <p:cNvPr id="13" name="Shape 11"/>
          <p:cNvSpPr/>
          <p:nvPr/>
        </p:nvSpPr>
        <p:spPr>
          <a:xfrm>
            <a:off x="914400" y="2762402"/>
            <a:ext cx="10763402" cy="6762902"/>
          </a:xfrm>
          <a:prstGeom prst="roundRect">
            <a:avLst>
              <a:gd name="adj" fmla="val 1974"/>
            </a:avLst>
          </a:prstGeom>
          <a:solidFill>
            <a:srgbClr val="FFFFFF"/>
          </a:solidFill>
          <a:ln w="25400">
            <a:solidFill>
              <a:srgbClr val="6D28D9"/>
            </a:solidFill>
            <a:prstDash val="solid"/>
          </a:ln>
        </p:spPr>
        <p:txBody>
          <a:bodyPr/>
          <a:lstStyle/>
          <a:p>
            <a:endParaRPr lang="fr-CI"/>
          </a:p>
        </p:txBody>
      </p:sp>
      <p:sp>
        <p:nvSpPr>
          <p:cNvPr id="14" name="Text 12"/>
          <p:cNvSpPr txBox="1"/>
          <p:nvPr/>
        </p:nvSpPr>
        <p:spPr>
          <a:xfrm>
            <a:off x="1218895" y="2986430"/>
            <a:ext cx="724205" cy="219456"/>
          </a:xfrm>
          <a:prstGeom prst="rect">
            <a:avLst/>
          </a:prstGeom>
          <a:noFill/>
          <a:ln/>
        </p:spPr>
        <p:txBody>
          <a:bodyPr wrap="none" lIns="0" tIns="0" rIns="0" bIns="0" rtlCol="0" anchor="ctr"/>
          <a:lstStyle/>
          <a:p>
            <a:pPr marL="0" indent="0" algn="l">
              <a:buNone/>
            </a:pPr>
            <a:r>
              <a:rPr lang="en-US" sz="1300" b="1" dirty="0">
                <a:solidFill>
                  <a:srgbClr val="6D28D9"/>
                </a:solidFill>
                <a:latin typeface="JetBrains Mono" pitchFamily="34" charset="0"/>
                <a:ea typeface="JetBrains Mono" pitchFamily="34" charset="-122"/>
                <a:cs typeface="JetBrains Mono" pitchFamily="34" charset="-120"/>
              </a:rPr>
              <a:t>UC-FR01</a:t>
            </a:r>
            <a:endParaRPr lang="en-US" sz="1300" dirty="0"/>
          </a:p>
        </p:txBody>
      </p:sp>
      <p:sp>
        <p:nvSpPr>
          <p:cNvPr id="15" name="Shape 13"/>
          <p:cNvSpPr/>
          <p:nvPr/>
        </p:nvSpPr>
        <p:spPr>
          <a:xfrm>
            <a:off x="10681106" y="2952598"/>
            <a:ext cx="733349" cy="286207"/>
          </a:xfrm>
          <a:prstGeom prst="roundRect">
            <a:avLst>
              <a:gd name="adj" fmla="val 49840"/>
            </a:avLst>
          </a:prstGeom>
          <a:solidFill>
            <a:srgbClr val="FEE2E2"/>
          </a:solidFill>
          <a:ln w="12700">
            <a:solidFill>
              <a:srgbClr val="FFFFFF">
                <a:alpha val="0"/>
              </a:srgbClr>
            </a:solidFill>
            <a:prstDash val="solid"/>
          </a:ln>
        </p:spPr>
        <p:txBody>
          <a:bodyPr/>
          <a:lstStyle/>
          <a:p>
            <a:endParaRPr lang="fr-CI"/>
          </a:p>
        </p:txBody>
      </p:sp>
      <p:sp>
        <p:nvSpPr>
          <p:cNvPr id="16" name="Text 14"/>
          <p:cNvSpPr/>
          <p:nvPr/>
        </p:nvSpPr>
        <p:spPr>
          <a:xfrm>
            <a:off x="10681106" y="2952598"/>
            <a:ext cx="7342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91B1B"/>
                </a:solidFill>
                <a:latin typeface="Manrope" pitchFamily="34" charset="0"/>
                <a:ea typeface="Manrope" pitchFamily="34" charset="-122"/>
                <a:cs typeface="Manrope" pitchFamily="34" charset="-120"/>
              </a:rPr>
              <a:t>Critique</a:t>
            </a:r>
            <a:endParaRPr lang="en-US" sz="900" dirty="0"/>
          </a:p>
        </p:txBody>
      </p:sp>
      <p:sp>
        <p:nvSpPr>
          <p:cNvPr id="17" name="Text 15"/>
          <p:cNvSpPr txBox="1"/>
          <p:nvPr/>
        </p:nvSpPr>
        <p:spPr>
          <a:xfrm>
            <a:off x="1218895" y="3333902"/>
            <a:ext cx="10191902" cy="314554"/>
          </a:xfrm>
          <a:prstGeom prst="rect">
            <a:avLst/>
          </a:prstGeom>
          <a:noFill/>
          <a:ln/>
        </p:spPr>
        <p:txBody>
          <a:bodyPr wrap="none" lIns="0" tIns="0" rIns="0" bIns="0" rtlCol="0" anchor="ctr"/>
          <a:lstStyle/>
          <a:p>
            <a:pPr marL="0" indent="0" algn="l">
              <a:buNone/>
            </a:pPr>
            <a:r>
              <a:rPr lang="en-US" sz="1900" b="1" dirty="0">
                <a:solidFill>
                  <a:srgbClr val="1F2937"/>
                </a:solidFill>
                <a:latin typeface="Manrope" pitchFamily="34" charset="0"/>
                <a:ea typeface="Manrope" pitchFamily="34" charset="-122"/>
                <a:cs typeface="Manrope" pitchFamily="34" charset="-120"/>
              </a:rPr>
              <a:t>Supervision d'une zone franchise</a:t>
            </a:r>
            <a:endParaRPr lang="en-US" sz="1900" dirty="0"/>
          </a:p>
        </p:txBody>
      </p:sp>
      <p:sp>
        <p:nvSpPr>
          <p:cNvPr id="18" name="Text 16"/>
          <p:cNvSpPr txBox="1"/>
          <p:nvPr/>
        </p:nvSpPr>
        <p:spPr>
          <a:xfrm>
            <a:off x="1218895" y="3700577"/>
            <a:ext cx="10191902"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Service : Franchise · Profil : Franchise</a:t>
            </a:r>
            <a:endParaRPr lang="en-US" sz="900" dirty="0"/>
          </a:p>
        </p:txBody>
      </p:sp>
      <p:sp>
        <p:nvSpPr>
          <p:cNvPr id="19" name="Text 17"/>
          <p:cNvSpPr txBox="1"/>
          <p:nvPr/>
        </p:nvSpPr>
        <p:spPr>
          <a:xfrm>
            <a:off x="1218895" y="4100170"/>
            <a:ext cx="4981651"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OBJECTIF</a:t>
            </a:r>
            <a:endParaRPr lang="en-US" sz="800" dirty="0"/>
          </a:p>
        </p:txBody>
      </p:sp>
      <p:sp>
        <p:nvSpPr>
          <p:cNvPr id="20" name="Text 18"/>
          <p:cNvSpPr txBox="1"/>
          <p:nvPr/>
        </p:nvSpPr>
        <p:spPr>
          <a:xfrm>
            <a:off x="1218895" y="4291279"/>
            <a:ext cx="4981651" cy="629107"/>
          </a:xfrm>
          <a:prstGeom prst="rect">
            <a:avLst/>
          </a:prstGeom>
          <a:noFill/>
          <a:ln/>
        </p:spPr>
        <p:txBody>
          <a:bodyPr wrap="square" lIns="0" tIns="0" rIns="0" bIns="0" rtlCol="0" anchor="ctr"/>
          <a:lstStyle/>
          <a:p>
            <a:pPr marL="0" indent="0" algn="l">
              <a:buNone/>
            </a:pPr>
            <a:r>
              <a:rPr lang="en-US" sz="1000" dirty="0">
                <a:solidFill>
                  <a:srgbClr val="1F2937"/>
                </a:solidFill>
                <a:latin typeface="Manrope" pitchFamily="34" charset="0"/>
                <a:ea typeface="Manrope" pitchFamily="34" charset="-122"/>
                <a:cs typeface="Manrope" pitchFamily="34" charset="-120"/>
              </a:rPr>
              <a:t>Vérifier que la franchise suit uniquement son périmètre géographique, sans accès aux autres zones, et que ses indicateurs sont cohérents avec l'activité terrain.</a:t>
            </a:r>
            <a:endParaRPr lang="en-US" sz="1000" dirty="0"/>
          </a:p>
        </p:txBody>
      </p:sp>
      <p:sp>
        <p:nvSpPr>
          <p:cNvPr id="21" name="Text 19"/>
          <p:cNvSpPr txBox="1"/>
          <p:nvPr/>
        </p:nvSpPr>
        <p:spPr>
          <a:xfrm>
            <a:off x="1218895" y="5101438"/>
            <a:ext cx="4981651"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PRÉCONDITIONS</a:t>
            </a:r>
            <a:endParaRPr lang="en-US" sz="800" dirty="0"/>
          </a:p>
        </p:txBody>
      </p:sp>
      <p:sp>
        <p:nvSpPr>
          <p:cNvPr id="22" name="Text 20"/>
          <p:cNvSpPr txBox="1"/>
          <p:nvPr/>
        </p:nvSpPr>
        <p:spPr>
          <a:xfrm>
            <a:off x="1218895" y="5310835"/>
            <a:ext cx="4981651"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Franchise pilote créée et validée</a:t>
            </a:r>
            <a:endParaRPr lang="en-US" sz="900" dirty="0"/>
          </a:p>
        </p:txBody>
      </p:sp>
      <p:sp>
        <p:nvSpPr>
          <p:cNvPr id="23" name="Text 21"/>
          <p:cNvSpPr txBox="1"/>
          <p:nvPr/>
        </p:nvSpPr>
        <p:spPr>
          <a:xfrm>
            <a:off x="1218895" y="5509260"/>
            <a:ext cx="4981651"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Zone configurée (Abidjan principale)</a:t>
            </a:r>
            <a:endParaRPr lang="en-US" sz="900" dirty="0"/>
          </a:p>
        </p:txBody>
      </p:sp>
      <p:sp>
        <p:nvSpPr>
          <p:cNvPr id="24" name="Text 22"/>
          <p:cNvSpPr txBox="1"/>
          <p:nvPr/>
        </p:nvSpPr>
        <p:spPr>
          <a:xfrm>
            <a:off x="1218895" y="5706770"/>
            <a:ext cx="4981651"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Partenaires &amp; chauffeurs rattachés à la zone</a:t>
            </a:r>
            <a:endParaRPr lang="en-US" sz="900" dirty="0"/>
          </a:p>
        </p:txBody>
      </p:sp>
      <p:sp>
        <p:nvSpPr>
          <p:cNvPr id="25" name="Text 23"/>
          <p:cNvSpPr txBox="1"/>
          <p:nvPr/>
        </p:nvSpPr>
        <p:spPr>
          <a:xfrm>
            <a:off x="1218895" y="5905195"/>
            <a:ext cx="4981651"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Données d'activité existantes</a:t>
            </a:r>
            <a:endParaRPr lang="en-US" sz="900" dirty="0"/>
          </a:p>
        </p:txBody>
      </p:sp>
      <p:sp>
        <p:nvSpPr>
          <p:cNvPr id="26" name="Text 24"/>
          <p:cNvSpPr txBox="1"/>
          <p:nvPr/>
        </p:nvSpPr>
        <p:spPr>
          <a:xfrm>
            <a:off x="1218895" y="6293815"/>
            <a:ext cx="4981651"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ÉTAPES</a:t>
            </a:r>
            <a:endParaRPr lang="en-US" sz="800" dirty="0"/>
          </a:p>
        </p:txBody>
      </p:sp>
      <p:sp>
        <p:nvSpPr>
          <p:cNvPr id="27" name="Text 25"/>
          <p:cNvSpPr txBox="1"/>
          <p:nvPr/>
        </p:nvSpPr>
        <p:spPr>
          <a:xfrm>
            <a:off x="1390802" y="6503213"/>
            <a:ext cx="48106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Se connecter avec un compte franchise</a:t>
            </a:r>
            <a:endParaRPr lang="en-US" sz="900" dirty="0"/>
          </a:p>
        </p:txBody>
      </p:sp>
      <p:sp>
        <p:nvSpPr>
          <p:cNvPr id="28" name="Text 26"/>
          <p:cNvSpPr txBox="1"/>
          <p:nvPr/>
        </p:nvSpPr>
        <p:spPr>
          <a:xfrm>
            <a:off x="1390802" y="6701638"/>
            <a:ext cx="48106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Consulter les partenaires rattachés</a:t>
            </a:r>
            <a:endParaRPr lang="en-US" sz="900" dirty="0"/>
          </a:p>
        </p:txBody>
      </p:sp>
      <p:sp>
        <p:nvSpPr>
          <p:cNvPr id="29" name="Text 27"/>
          <p:cNvSpPr txBox="1"/>
          <p:nvPr/>
        </p:nvSpPr>
        <p:spPr>
          <a:xfrm>
            <a:off x="1390802" y="6899148"/>
            <a:ext cx="48106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Consulter les chauffeurs &amp; livreurs</a:t>
            </a:r>
            <a:endParaRPr lang="en-US" sz="900" dirty="0"/>
          </a:p>
        </p:txBody>
      </p:sp>
      <p:sp>
        <p:nvSpPr>
          <p:cNvPr id="30" name="Text 28"/>
          <p:cNvSpPr txBox="1"/>
          <p:nvPr/>
        </p:nvSpPr>
        <p:spPr>
          <a:xfrm>
            <a:off x="1390802" y="7097573"/>
            <a:ext cx="48106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Consulter les courses</a:t>
            </a:r>
            <a:endParaRPr lang="en-US" sz="900" dirty="0"/>
          </a:p>
        </p:txBody>
      </p:sp>
      <p:sp>
        <p:nvSpPr>
          <p:cNvPr id="31" name="Text 29"/>
          <p:cNvSpPr txBox="1"/>
          <p:nvPr/>
        </p:nvSpPr>
        <p:spPr>
          <a:xfrm>
            <a:off x="1390802" y="7295998"/>
            <a:ext cx="48106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Consulter les commissions</a:t>
            </a:r>
            <a:endParaRPr lang="en-US" sz="900" dirty="0"/>
          </a:p>
        </p:txBody>
      </p:sp>
      <p:sp>
        <p:nvSpPr>
          <p:cNvPr id="32" name="Text 30"/>
          <p:cNvSpPr txBox="1"/>
          <p:nvPr/>
        </p:nvSpPr>
        <p:spPr>
          <a:xfrm>
            <a:off x="1390802" y="7493508"/>
            <a:ext cx="48106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Exporter un rapport (CSV / Excel)</a:t>
            </a:r>
            <a:endParaRPr lang="en-US" sz="900" dirty="0"/>
          </a:p>
        </p:txBody>
      </p:sp>
      <p:sp>
        <p:nvSpPr>
          <p:cNvPr id="33" name="Text 31"/>
          <p:cNvSpPr txBox="1"/>
          <p:nvPr/>
        </p:nvSpPr>
        <p:spPr>
          <a:xfrm>
            <a:off x="1390802" y="7691933"/>
            <a:ext cx="48106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Tenter d'accéder à une autre franchise (test négatif)</a:t>
            </a:r>
            <a:endParaRPr lang="en-US" sz="900" dirty="0"/>
          </a:p>
        </p:txBody>
      </p:sp>
      <p:sp>
        <p:nvSpPr>
          <p:cNvPr id="34" name="Shape 32"/>
          <p:cNvSpPr/>
          <p:nvPr/>
        </p:nvSpPr>
        <p:spPr>
          <a:xfrm>
            <a:off x="6429146" y="4100170"/>
            <a:ext cx="4981651" cy="1686154"/>
          </a:xfrm>
          <a:prstGeom prst="roundRect">
            <a:avLst>
              <a:gd name="adj" fmla="val 6779"/>
            </a:avLst>
          </a:prstGeom>
          <a:solidFill>
            <a:srgbClr val="F5F3FF"/>
          </a:solidFill>
          <a:ln w="12700">
            <a:solidFill>
              <a:srgbClr val="DDD6FE"/>
            </a:solidFill>
            <a:prstDash val="solid"/>
          </a:ln>
        </p:spPr>
        <p:txBody>
          <a:bodyPr/>
          <a:lstStyle/>
          <a:p>
            <a:endParaRPr lang="fr-CI"/>
          </a:p>
        </p:txBody>
      </p:sp>
      <p:sp>
        <p:nvSpPr>
          <p:cNvPr id="35" name="Text 33"/>
          <p:cNvSpPr txBox="1"/>
          <p:nvPr/>
        </p:nvSpPr>
        <p:spPr>
          <a:xfrm>
            <a:off x="6610198" y="4281221"/>
            <a:ext cx="4620463" cy="133502"/>
          </a:xfrm>
          <a:prstGeom prst="rect">
            <a:avLst/>
          </a:prstGeom>
          <a:noFill/>
          <a:ln/>
        </p:spPr>
        <p:txBody>
          <a:bodyPr wrap="none" lIns="0" tIns="0" rIns="0" bIns="0" rtlCol="0" anchor="ctr"/>
          <a:lstStyle/>
          <a:p>
            <a:pPr marL="0" indent="0" algn="l">
              <a:buNone/>
            </a:pPr>
            <a:r>
              <a:rPr lang="en-US" sz="800" b="1" dirty="0">
                <a:solidFill>
                  <a:srgbClr val="10B981"/>
                </a:solidFill>
                <a:latin typeface="JetBrains Mono" pitchFamily="34" charset="0"/>
                <a:ea typeface="JetBrains Mono" pitchFamily="34" charset="-122"/>
                <a:cs typeface="JetBrains Mono" pitchFamily="34" charset="-120"/>
              </a:rPr>
              <a:t>RÉSULTATS ATTENDUS</a:t>
            </a:r>
            <a:endParaRPr lang="en-US" sz="800" dirty="0"/>
          </a:p>
        </p:txBody>
      </p:sp>
      <p:sp>
        <p:nvSpPr>
          <p:cNvPr id="36" name="Text 34"/>
          <p:cNvSpPr txBox="1"/>
          <p:nvPr/>
        </p:nvSpPr>
        <p:spPr>
          <a:xfrm>
            <a:off x="6610198" y="4529023"/>
            <a:ext cx="4620463" cy="219456"/>
          </a:xfrm>
          <a:prstGeom prst="rect">
            <a:avLst/>
          </a:prstGeom>
          <a:noFill/>
          <a:ln/>
        </p:spPr>
        <p:txBody>
          <a:bodyPr wrap="none" lIns="0" tIns="0" rIns="0" bIns="0" rtlCol="0" anchor="ctr"/>
          <a:lstStyle/>
          <a:p>
            <a:pPr marL="0" indent="0" algn="l">
              <a:buNone/>
            </a:pPr>
            <a:r>
              <a:rPr lang="en-US" sz="1000" dirty="0">
                <a:solidFill>
                  <a:srgbClr val="1F2937"/>
                </a:solidFill>
                <a:latin typeface="Manrope" pitchFamily="34" charset="0"/>
                <a:ea typeface="Manrope" pitchFamily="34" charset="-122"/>
                <a:cs typeface="Manrope" pitchFamily="34" charset="-120"/>
              </a:rPr>
              <a:t>✓ La franchise voit uniquement sa zone</a:t>
            </a:r>
            <a:endParaRPr lang="en-US" sz="1000" dirty="0"/>
          </a:p>
        </p:txBody>
      </p:sp>
      <p:sp>
        <p:nvSpPr>
          <p:cNvPr id="37" name="Text 35"/>
          <p:cNvSpPr txBox="1"/>
          <p:nvPr/>
        </p:nvSpPr>
        <p:spPr>
          <a:xfrm>
            <a:off x="6610198" y="4742993"/>
            <a:ext cx="4620463" cy="219456"/>
          </a:xfrm>
          <a:prstGeom prst="rect">
            <a:avLst/>
          </a:prstGeom>
          <a:noFill/>
          <a:ln/>
        </p:spPr>
        <p:txBody>
          <a:bodyPr wrap="none" lIns="0" tIns="0" rIns="0" bIns="0" rtlCol="0" anchor="ctr"/>
          <a:lstStyle/>
          <a:p>
            <a:pPr marL="0" indent="0" algn="l">
              <a:buNone/>
            </a:pPr>
            <a:r>
              <a:rPr lang="en-US" sz="1000" dirty="0">
                <a:solidFill>
                  <a:srgbClr val="1F2937"/>
                </a:solidFill>
                <a:latin typeface="Manrope" pitchFamily="34" charset="0"/>
                <a:ea typeface="Manrope" pitchFamily="34" charset="-122"/>
                <a:cs typeface="Manrope" pitchFamily="34" charset="-120"/>
              </a:rPr>
              <a:t>✓ Les données sont cohérentes avec le terrain</a:t>
            </a:r>
            <a:endParaRPr lang="en-US" sz="1000" dirty="0"/>
          </a:p>
        </p:txBody>
      </p:sp>
      <p:sp>
        <p:nvSpPr>
          <p:cNvPr id="38" name="Text 36"/>
          <p:cNvSpPr txBox="1"/>
          <p:nvPr/>
        </p:nvSpPr>
        <p:spPr>
          <a:xfrm>
            <a:off x="6610198" y="4956048"/>
            <a:ext cx="4620463" cy="219456"/>
          </a:xfrm>
          <a:prstGeom prst="rect">
            <a:avLst/>
          </a:prstGeom>
          <a:noFill/>
          <a:ln/>
        </p:spPr>
        <p:txBody>
          <a:bodyPr wrap="none" lIns="0" tIns="0" rIns="0" bIns="0" rtlCol="0" anchor="ctr"/>
          <a:lstStyle/>
          <a:p>
            <a:pPr marL="0" indent="0" algn="l">
              <a:buNone/>
            </a:pPr>
            <a:r>
              <a:rPr lang="en-US" sz="1000" dirty="0">
                <a:solidFill>
                  <a:srgbClr val="1F2937"/>
                </a:solidFill>
                <a:latin typeface="Manrope" pitchFamily="34" charset="0"/>
                <a:ea typeface="Manrope" pitchFamily="34" charset="-122"/>
                <a:cs typeface="Manrope" pitchFamily="34" charset="-120"/>
              </a:rPr>
              <a:t>✓ Les indicateurs sont disponibles en temps réel</a:t>
            </a:r>
            <a:endParaRPr lang="en-US" sz="1000" dirty="0"/>
          </a:p>
        </p:txBody>
      </p:sp>
      <p:sp>
        <p:nvSpPr>
          <p:cNvPr id="39" name="Text 37"/>
          <p:cNvSpPr txBox="1"/>
          <p:nvPr/>
        </p:nvSpPr>
        <p:spPr>
          <a:xfrm>
            <a:off x="6610198" y="5169103"/>
            <a:ext cx="4620463" cy="219456"/>
          </a:xfrm>
          <a:prstGeom prst="rect">
            <a:avLst/>
          </a:prstGeom>
          <a:noFill/>
          <a:ln/>
        </p:spPr>
        <p:txBody>
          <a:bodyPr wrap="none" lIns="0" tIns="0" rIns="0" bIns="0" rtlCol="0" anchor="ctr"/>
          <a:lstStyle/>
          <a:p>
            <a:pPr marL="0" indent="0" algn="l">
              <a:buNone/>
            </a:pPr>
            <a:r>
              <a:rPr lang="en-US" sz="1000" dirty="0">
                <a:solidFill>
                  <a:srgbClr val="1F2937"/>
                </a:solidFill>
                <a:latin typeface="Manrope" pitchFamily="34" charset="0"/>
                <a:ea typeface="Manrope" pitchFamily="34" charset="-122"/>
                <a:cs typeface="Manrope" pitchFamily="34" charset="-120"/>
              </a:rPr>
              <a:t>✓ Les exports sont exploitables</a:t>
            </a:r>
            <a:endParaRPr lang="en-US" sz="1000" dirty="0"/>
          </a:p>
        </p:txBody>
      </p:sp>
      <p:sp>
        <p:nvSpPr>
          <p:cNvPr id="40" name="Text 38"/>
          <p:cNvSpPr txBox="1"/>
          <p:nvPr/>
        </p:nvSpPr>
        <p:spPr>
          <a:xfrm>
            <a:off x="6610198" y="5383073"/>
            <a:ext cx="4620463" cy="219456"/>
          </a:xfrm>
          <a:prstGeom prst="rect">
            <a:avLst/>
          </a:prstGeom>
          <a:noFill/>
          <a:ln/>
        </p:spPr>
        <p:txBody>
          <a:bodyPr wrap="none" lIns="0" tIns="0" rIns="0" bIns="0" rtlCol="0" anchor="ctr"/>
          <a:lstStyle/>
          <a:p>
            <a:pPr marL="0" indent="0" algn="l">
              <a:buNone/>
            </a:pPr>
            <a:r>
              <a:rPr lang="en-US" sz="1000" dirty="0">
                <a:solidFill>
                  <a:srgbClr val="1F2937"/>
                </a:solidFill>
                <a:latin typeface="Manrope" pitchFamily="34" charset="0"/>
                <a:ea typeface="Manrope" pitchFamily="34" charset="-122"/>
                <a:cs typeface="Manrope" pitchFamily="34" charset="-120"/>
              </a:rPr>
              <a:t>✓ Aucun accès aux autres franchises possible</a:t>
            </a:r>
            <a:endParaRPr lang="en-US" sz="1000" dirty="0"/>
          </a:p>
        </p:txBody>
      </p:sp>
      <p:sp>
        <p:nvSpPr>
          <p:cNvPr id="41" name="Shape 39"/>
          <p:cNvSpPr/>
          <p:nvPr/>
        </p:nvSpPr>
        <p:spPr>
          <a:xfrm>
            <a:off x="6429146" y="5949086"/>
            <a:ext cx="4981651" cy="990295"/>
          </a:xfrm>
          <a:prstGeom prst="roundRect">
            <a:avLst>
              <a:gd name="adj" fmla="val 11542"/>
            </a:avLst>
          </a:prstGeom>
          <a:solidFill>
            <a:srgbClr val="1F2937"/>
          </a:solidFill>
          <a:ln w="12700">
            <a:solidFill>
              <a:srgbClr val="FFFFFF">
                <a:alpha val="0"/>
              </a:srgbClr>
            </a:solidFill>
            <a:prstDash val="solid"/>
          </a:ln>
        </p:spPr>
        <p:txBody>
          <a:bodyPr/>
          <a:lstStyle/>
          <a:p>
            <a:endParaRPr lang="fr-CI"/>
          </a:p>
        </p:txBody>
      </p:sp>
      <p:sp>
        <p:nvSpPr>
          <p:cNvPr id="42" name="Text 40"/>
          <p:cNvSpPr txBox="1"/>
          <p:nvPr/>
        </p:nvSpPr>
        <p:spPr>
          <a:xfrm>
            <a:off x="6601054" y="6120079"/>
            <a:ext cx="4638751"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CRITÈRE D'ACCEPTATION</a:t>
            </a:r>
            <a:endParaRPr lang="en-US" sz="800" dirty="0"/>
          </a:p>
        </p:txBody>
      </p:sp>
      <p:sp>
        <p:nvSpPr>
          <p:cNvPr id="43" name="Text 41"/>
          <p:cNvSpPr txBox="1"/>
          <p:nvPr/>
        </p:nvSpPr>
        <p:spPr>
          <a:xfrm>
            <a:off x="6601054" y="6348679"/>
            <a:ext cx="4638751" cy="419710"/>
          </a:xfrm>
          <a:prstGeom prst="rect">
            <a:avLst/>
          </a:prstGeom>
          <a:noFill/>
          <a:ln/>
        </p:spPr>
        <p:txBody>
          <a:bodyPr wrap="square" lIns="0" tIns="0" rIns="0" bIns="0" rtlCol="0" anchor="ctr"/>
          <a:lstStyle/>
          <a:p>
            <a:pPr marL="0" indent="0" algn="l">
              <a:buNone/>
            </a:pPr>
            <a:r>
              <a:rPr lang="en-US" sz="1000" dirty="0">
                <a:solidFill>
                  <a:srgbClr val="FFFFFF"/>
                </a:solidFill>
                <a:latin typeface="Manrope" pitchFamily="34" charset="0"/>
                <a:ea typeface="Manrope" pitchFamily="34" charset="-122"/>
                <a:cs typeface="Manrope" pitchFamily="34" charset="-120"/>
              </a:rPr>
              <a:t>Cloisonnement strict des données. Toute tentative d'accès à une zone non autorisée doit être bloquée et journalisée dans les logs d'audit.</a:t>
            </a:r>
            <a:endParaRPr lang="en-US" sz="1000" dirty="0"/>
          </a:p>
        </p:txBody>
      </p:sp>
      <p:sp>
        <p:nvSpPr>
          <p:cNvPr id="44" name="Text 42"/>
          <p:cNvSpPr txBox="1"/>
          <p:nvPr/>
        </p:nvSpPr>
        <p:spPr>
          <a:xfrm>
            <a:off x="6429146" y="7104888"/>
            <a:ext cx="4981651" cy="133502"/>
          </a:xfrm>
          <a:prstGeom prst="rect">
            <a:avLst/>
          </a:prstGeom>
          <a:noFill/>
          <a:ln/>
        </p:spPr>
        <p:txBody>
          <a:bodyPr wrap="none" lIns="0" tIns="0" rIns="0" bIns="0" rtlCol="0" anchor="ctr"/>
          <a:lstStyle/>
          <a:p>
            <a:pPr marL="0" indent="0" algn="l">
              <a:buNone/>
            </a:pPr>
            <a:r>
              <a:rPr lang="en-US" sz="800" b="1" kern="0" spc="83" dirty="0">
                <a:solidFill>
                  <a:srgbClr val="6D28D9"/>
                </a:solidFill>
                <a:latin typeface="JetBrains Mono" pitchFamily="34" charset="0"/>
                <a:ea typeface="JetBrains Mono" pitchFamily="34" charset="-122"/>
                <a:cs typeface="JetBrains Mono" pitchFamily="34" charset="-120"/>
              </a:rPr>
              <a:t>FOCUS — RECHARGE WALLETS ZONE</a:t>
            </a:r>
            <a:endParaRPr lang="en-US" sz="800" dirty="0"/>
          </a:p>
        </p:txBody>
      </p:sp>
      <p:sp>
        <p:nvSpPr>
          <p:cNvPr id="45" name="Text 43"/>
          <p:cNvSpPr txBox="1"/>
          <p:nvPr/>
        </p:nvSpPr>
        <p:spPr>
          <a:xfrm>
            <a:off x="6429146" y="7295083"/>
            <a:ext cx="4981651" cy="514807"/>
          </a:xfrm>
          <a:prstGeom prst="rect">
            <a:avLst/>
          </a:prstGeom>
          <a:noFill/>
          <a:ln/>
        </p:spPr>
        <p:txBody>
          <a:bodyPr wrap="squar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Tester la capacité de la franchise à recharger les wallets des chauffeurs et partenaires de sa zone. Cette opération est tracée comme initiateur = franchise dans l'historique transactionnel.</a:t>
            </a:r>
            <a:endParaRPr lang="en-US" sz="900" dirty="0"/>
          </a:p>
        </p:txBody>
      </p:sp>
      <p:sp>
        <p:nvSpPr>
          <p:cNvPr id="46" name="Shape 44"/>
          <p:cNvSpPr/>
          <p:nvPr/>
        </p:nvSpPr>
        <p:spPr>
          <a:xfrm>
            <a:off x="11887200" y="2762402"/>
            <a:ext cx="5524805" cy="6762902"/>
          </a:xfrm>
          <a:prstGeom prst="roundRect">
            <a:avLst>
              <a:gd name="adj" fmla="val 2416"/>
            </a:avLst>
          </a:prstGeom>
          <a:solidFill>
            <a:srgbClr val="1F2937"/>
          </a:solidFill>
          <a:ln w="12700">
            <a:solidFill>
              <a:srgbClr val="FFFFFF">
                <a:alpha val="0"/>
              </a:srgbClr>
            </a:solidFill>
            <a:prstDash val="solid"/>
          </a:ln>
        </p:spPr>
        <p:txBody>
          <a:bodyPr/>
          <a:lstStyle/>
          <a:p>
            <a:endParaRPr lang="fr-CI"/>
          </a:p>
        </p:txBody>
      </p:sp>
      <p:sp>
        <p:nvSpPr>
          <p:cNvPr id="47" name="Text 45"/>
          <p:cNvSpPr txBox="1"/>
          <p:nvPr/>
        </p:nvSpPr>
        <p:spPr>
          <a:xfrm>
            <a:off x="12115800" y="3010205"/>
            <a:ext cx="5143500" cy="152705"/>
          </a:xfrm>
          <a:prstGeom prst="rect">
            <a:avLst/>
          </a:prstGeom>
          <a:noFill/>
          <a:ln/>
        </p:spPr>
        <p:txBody>
          <a:bodyPr wrap="none" lIns="0" tIns="0" rIns="0" bIns="0" rtlCol="0" anchor="ctr"/>
          <a:lstStyle/>
          <a:p>
            <a:pPr marL="0" indent="0" algn="l">
              <a:buNone/>
            </a:pPr>
            <a:r>
              <a:rPr lang="en-US" sz="900" b="1" kern="0" spc="108" dirty="0">
                <a:solidFill>
                  <a:srgbClr val="A78BFA"/>
                </a:solidFill>
                <a:latin typeface="JetBrains Mono" pitchFamily="34" charset="0"/>
                <a:ea typeface="JetBrains Mono" pitchFamily="34" charset="-122"/>
                <a:cs typeface="JetBrains Mono" pitchFamily="34" charset="-120"/>
              </a:rPr>
              <a:t>14 indicateurs zone</a:t>
            </a:r>
            <a:endParaRPr lang="en-US" sz="900" dirty="0"/>
          </a:p>
        </p:txBody>
      </p:sp>
      <p:sp>
        <p:nvSpPr>
          <p:cNvPr id="48" name="Text 46"/>
          <p:cNvSpPr txBox="1"/>
          <p:nvPr/>
        </p:nvSpPr>
        <p:spPr>
          <a:xfrm>
            <a:off x="12115800" y="3238805"/>
            <a:ext cx="5143500" cy="286207"/>
          </a:xfrm>
          <a:prstGeom prst="rect">
            <a:avLst/>
          </a:prstGeom>
          <a:noFill/>
          <a:ln/>
        </p:spPr>
        <p:txBody>
          <a:bodyPr wrap="none" lIns="0" tIns="0" rIns="0" bIns="0" rtlCol="0" anchor="ctr"/>
          <a:lstStyle/>
          <a:p>
            <a:pPr marL="0" indent="0" algn="l">
              <a:buNone/>
            </a:pPr>
            <a:r>
              <a:rPr lang="en-US" sz="1600" b="1" dirty="0">
                <a:solidFill>
                  <a:srgbClr val="FFFFFF"/>
                </a:solidFill>
                <a:latin typeface="Manrope" pitchFamily="34" charset="0"/>
                <a:ea typeface="Manrope" pitchFamily="34" charset="-122"/>
                <a:cs typeface="Manrope" pitchFamily="34" charset="-120"/>
              </a:rPr>
              <a:t>Reporting franchise attendu</a:t>
            </a:r>
            <a:endParaRPr lang="en-US" sz="1600" dirty="0"/>
          </a:p>
        </p:txBody>
      </p:sp>
      <p:sp>
        <p:nvSpPr>
          <p:cNvPr id="49" name="Shape 47"/>
          <p:cNvSpPr/>
          <p:nvPr/>
        </p:nvSpPr>
        <p:spPr>
          <a:xfrm>
            <a:off x="12115800" y="3733495"/>
            <a:ext cx="2523744" cy="362102"/>
          </a:xfrm>
          <a:prstGeom prst="roundRect">
            <a:avLst>
              <a:gd name="adj" fmla="val 20960"/>
            </a:avLst>
          </a:prstGeom>
          <a:solidFill>
            <a:srgbClr val="374151"/>
          </a:solidFill>
          <a:ln w="12700">
            <a:solidFill>
              <a:srgbClr val="FFFFFF">
                <a:alpha val="0"/>
              </a:srgbClr>
            </a:solidFill>
            <a:prstDash val="solid"/>
          </a:ln>
        </p:spPr>
        <p:txBody>
          <a:bodyPr/>
          <a:lstStyle/>
          <a:p>
            <a:endParaRPr lang="fr-CI"/>
          </a:p>
        </p:txBody>
      </p:sp>
      <p:sp>
        <p:nvSpPr>
          <p:cNvPr id="50" name="Text 48"/>
          <p:cNvSpPr txBox="1"/>
          <p:nvPr/>
        </p:nvSpPr>
        <p:spPr>
          <a:xfrm>
            <a:off x="12115800" y="3733495"/>
            <a:ext cx="2524658" cy="362102"/>
          </a:xfrm>
          <a:prstGeom prst="rect">
            <a:avLst/>
          </a:prstGeom>
          <a:solidFill>
            <a:srgbClr val="FFFFFF">
              <a:alpha val="0"/>
            </a:srgbClr>
          </a:solidFill>
          <a:ln>
            <a:solidFill>
              <a:srgbClr val="FFFFFF">
                <a:alpha val="0"/>
              </a:srgbClr>
            </a:solidFill>
          </a:ln>
        </p:spPr>
        <p:txBody>
          <a:bodyPr wrap="none" lIns="101600" tIns="101600" rIns="101600" bIns="10160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Activité globale zone</a:t>
            </a:r>
            <a:endParaRPr lang="en-US" sz="900" dirty="0"/>
          </a:p>
        </p:txBody>
      </p:sp>
      <p:sp>
        <p:nvSpPr>
          <p:cNvPr id="51" name="Shape 49"/>
          <p:cNvSpPr/>
          <p:nvPr/>
        </p:nvSpPr>
        <p:spPr>
          <a:xfrm>
            <a:off x="14735556" y="3733495"/>
            <a:ext cx="2523744" cy="362102"/>
          </a:xfrm>
          <a:prstGeom prst="roundRect">
            <a:avLst>
              <a:gd name="adj" fmla="val 20960"/>
            </a:avLst>
          </a:prstGeom>
          <a:solidFill>
            <a:srgbClr val="374151"/>
          </a:solidFill>
          <a:ln w="12700">
            <a:solidFill>
              <a:srgbClr val="FFFFFF">
                <a:alpha val="0"/>
              </a:srgbClr>
            </a:solidFill>
            <a:prstDash val="solid"/>
          </a:ln>
        </p:spPr>
        <p:txBody>
          <a:bodyPr/>
          <a:lstStyle/>
          <a:p>
            <a:endParaRPr lang="fr-CI"/>
          </a:p>
        </p:txBody>
      </p:sp>
      <p:sp>
        <p:nvSpPr>
          <p:cNvPr id="52" name="Text 50"/>
          <p:cNvSpPr txBox="1"/>
          <p:nvPr/>
        </p:nvSpPr>
        <p:spPr>
          <a:xfrm>
            <a:off x="14735556" y="3733495"/>
            <a:ext cx="2524658" cy="362102"/>
          </a:xfrm>
          <a:prstGeom prst="rect">
            <a:avLst/>
          </a:prstGeom>
          <a:solidFill>
            <a:srgbClr val="FFFFFF">
              <a:alpha val="0"/>
            </a:srgbClr>
          </a:solidFill>
          <a:ln>
            <a:solidFill>
              <a:srgbClr val="FFFFFF">
                <a:alpha val="0"/>
              </a:srgbClr>
            </a:solidFill>
          </a:ln>
        </p:spPr>
        <p:txBody>
          <a:bodyPr wrap="none" lIns="101600" tIns="101600" rIns="101600" bIns="10160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Nb partenaires actifs</a:t>
            </a:r>
            <a:endParaRPr lang="en-US" sz="900" dirty="0"/>
          </a:p>
        </p:txBody>
      </p:sp>
      <p:sp>
        <p:nvSpPr>
          <p:cNvPr id="53" name="Shape 51"/>
          <p:cNvSpPr/>
          <p:nvPr/>
        </p:nvSpPr>
        <p:spPr>
          <a:xfrm>
            <a:off x="12115800" y="4190695"/>
            <a:ext cx="2523744" cy="362102"/>
          </a:xfrm>
          <a:prstGeom prst="roundRect">
            <a:avLst>
              <a:gd name="adj" fmla="val 20960"/>
            </a:avLst>
          </a:prstGeom>
          <a:solidFill>
            <a:srgbClr val="374151"/>
          </a:solidFill>
          <a:ln w="12700">
            <a:solidFill>
              <a:srgbClr val="FFFFFF">
                <a:alpha val="0"/>
              </a:srgbClr>
            </a:solidFill>
            <a:prstDash val="solid"/>
          </a:ln>
        </p:spPr>
        <p:txBody>
          <a:bodyPr/>
          <a:lstStyle/>
          <a:p>
            <a:endParaRPr lang="fr-CI"/>
          </a:p>
        </p:txBody>
      </p:sp>
      <p:sp>
        <p:nvSpPr>
          <p:cNvPr id="54" name="Text 52"/>
          <p:cNvSpPr txBox="1"/>
          <p:nvPr/>
        </p:nvSpPr>
        <p:spPr>
          <a:xfrm>
            <a:off x="12115800" y="4190695"/>
            <a:ext cx="2524658" cy="362102"/>
          </a:xfrm>
          <a:prstGeom prst="rect">
            <a:avLst/>
          </a:prstGeom>
          <a:solidFill>
            <a:srgbClr val="FFFFFF">
              <a:alpha val="0"/>
            </a:srgbClr>
          </a:solidFill>
          <a:ln>
            <a:solidFill>
              <a:srgbClr val="FFFFFF">
                <a:alpha val="0"/>
              </a:srgbClr>
            </a:solidFill>
          </a:ln>
        </p:spPr>
        <p:txBody>
          <a:bodyPr wrap="none" lIns="101600" tIns="101600" rIns="101600" bIns="10160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Nb chauffeurs actifs</a:t>
            </a:r>
            <a:endParaRPr lang="en-US" sz="900" dirty="0"/>
          </a:p>
        </p:txBody>
      </p:sp>
      <p:sp>
        <p:nvSpPr>
          <p:cNvPr id="55" name="Shape 53"/>
          <p:cNvSpPr/>
          <p:nvPr/>
        </p:nvSpPr>
        <p:spPr>
          <a:xfrm>
            <a:off x="14735556" y="4190695"/>
            <a:ext cx="2523744" cy="362102"/>
          </a:xfrm>
          <a:prstGeom prst="roundRect">
            <a:avLst>
              <a:gd name="adj" fmla="val 20960"/>
            </a:avLst>
          </a:prstGeom>
          <a:solidFill>
            <a:srgbClr val="374151"/>
          </a:solidFill>
          <a:ln w="12700">
            <a:solidFill>
              <a:srgbClr val="FFFFFF">
                <a:alpha val="0"/>
              </a:srgbClr>
            </a:solidFill>
            <a:prstDash val="solid"/>
          </a:ln>
        </p:spPr>
        <p:txBody>
          <a:bodyPr/>
          <a:lstStyle/>
          <a:p>
            <a:endParaRPr lang="fr-CI"/>
          </a:p>
        </p:txBody>
      </p:sp>
      <p:sp>
        <p:nvSpPr>
          <p:cNvPr id="56" name="Text 54"/>
          <p:cNvSpPr txBox="1"/>
          <p:nvPr/>
        </p:nvSpPr>
        <p:spPr>
          <a:xfrm>
            <a:off x="14735556" y="4190695"/>
            <a:ext cx="2524658" cy="362102"/>
          </a:xfrm>
          <a:prstGeom prst="rect">
            <a:avLst/>
          </a:prstGeom>
          <a:solidFill>
            <a:srgbClr val="FFFFFF">
              <a:alpha val="0"/>
            </a:srgbClr>
          </a:solidFill>
          <a:ln>
            <a:solidFill>
              <a:srgbClr val="FFFFFF">
                <a:alpha val="0"/>
              </a:srgbClr>
            </a:solidFill>
          </a:ln>
        </p:spPr>
        <p:txBody>
          <a:bodyPr wrap="none" lIns="101600" tIns="101600" rIns="101600" bIns="10160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Nb livreurs actifs</a:t>
            </a:r>
            <a:endParaRPr lang="en-US" sz="900" dirty="0"/>
          </a:p>
        </p:txBody>
      </p:sp>
      <p:sp>
        <p:nvSpPr>
          <p:cNvPr id="57" name="Shape 55"/>
          <p:cNvSpPr/>
          <p:nvPr/>
        </p:nvSpPr>
        <p:spPr>
          <a:xfrm>
            <a:off x="12115800" y="4647895"/>
            <a:ext cx="2523744" cy="362102"/>
          </a:xfrm>
          <a:prstGeom prst="roundRect">
            <a:avLst>
              <a:gd name="adj" fmla="val 20960"/>
            </a:avLst>
          </a:prstGeom>
          <a:solidFill>
            <a:srgbClr val="374151"/>
          </a:solidFill>
          <a:ln w="12700">
            <a:solidFill>
              <a:srgbClr val="FFFFFF">
                <a:alpha val="0"/>
              </a:srgbClr>
            </a:solidFill>
            <a:prstDash val="solid"/>
          </a:ln>
        </p:spPr>
        <p:txBody>
          <a:bodyPr/>
          <a:lstStyle/>
          <a:p>
            <a:endParaRPr lang="fr-CI"/>
          </a:p>
        </p:txBody>
      </p:sp>
      <p:sp>
        <p:nvSpPr>
          <p:cNvPr id="58" name="Text 56"/>
          <p:cNvSpPr txBox="1"/>
          <p:nvPr/>
        </p:nvSpPr>
        <p:spPr>
          <a:xfrm>
            <a:off x="12115800" y="4647895"/>
            <a:ext cx="2524658" cy="362102"/>
          </a:xfrm>
          <a:prstGeom prst="rect">
            <a:avLst/>
          </a:prstGeom>
          <a:solidFill>
            <a:srgbClr val="FFFFFF">
              <a:alpha val="0"/>
            </a:srgbClr>
          </a:solidFill>
          <a:ln>
            <a:solidFill>
              <a:srgbClr val="FFFFFF">
                <a:alpha val="0"/>
              </a:srgbClr>
            </a:solidFill>
          </a:ln>
        </p:spPr>
        <p:txBody>
          <a:bodyPr wrap="none" lIns="101600" tIns="101600" rIns="101600" bIns="10160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Nb clients actifs</a:t>
            </a:r>
            <a:endParaRPr lang="en-US" sz="900" dirty="0"/>
          </a:p>
        </p:txBody>
      </p:sp>
      <p:sp>
        <p:nvSpPr>
          <p:cNvPr id="59" name="Shape 57"/>
          <p:cNvSpPr/>
          <p:nvPr/>
        </p:nvSpPr>
        <p:spPr>
          <a:xfrm>
            <a:off x="14735556" y="4647895"/>
            <a:ext cx="2523744" cy="362102"/>
          </a:xfrm>
          <a:prstGeom prst="roundRect">
            <a:avLst>
              <a:gd name="adj" fmla="val 20960"/>
            </a:avLst>
          </a:prstGeom>
          <a:solidFill>
            <a:srgbClr val="374151"/>
          </a:solidFill>
          <a:ln w="12700">
            <a:solidFill>
              <a:srgbClr val="FFFFFF">
                <a:alpha val="0"/>
              </a:srgbClr>
            </a:solidFill>
            <a:prstDash val="solid"/>
          </a:ln>
        </p:spPr>
        <p:txBody>
          <a:bodyPr/>
          <a:lstStyle/>
          <a:p>
            <a:endParaRPr lang="fr-CI"/>
          </a:p>
        </p:txBody>
      </p:sp>
      <p:sp>
        <p:nvSpPr>
          <p:cNvPr id="60" name="Text 58"/>
          <p:cNvSpPr txBox="1"/>
          <p:nvPr/>
        </p:nvSpPr>
        <p:spPr>
          <a:xfrm>
            <a:off x="14735556" y="4647895"/>
            <a:ext cx="2524658" cy="362102"/>
          </a:xfrm>
          <a:prstGeom prst="rect">
            <a:avLst/>
          </a:prstGeom>
          <a:solidFill>
            <a:srgbClr val="FFFFFF">
              <a:alpha val="0"/>
            </a:srgbClr>
          </a:solidFill>
          <a:ln>
            <a:solidFill>
              <a:srgbClr val="FFFFFF">
                <a:alpha val="0"/>
              </a:srgbClr>
            </a:solidFill>
          </a:ln>
        </p:spPr>
        <p:txBody>
          <a:bodyPr wrap="none" lIns="101600" tIns="101600" rIns="101600" bIns="10160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Courses réalisées</a:t>
            </a:r>
            <a:endParaRPr lang="en-US" sz="900" dirty="0"/>
          </a:p>
        </p:txBody>
      </p:sp>
      <p:sp>
        <p:nvSpPr>
          <p:cNvPr id="61" name="Shape 59"/>
          <p:cNvSpPr/>
          <p:nvPr/>
        </p:nvSpPr>
        <p:spPr>
          <a:xfrm>
            <a:off x="12115800" y="5105095"/>
            <a:ext cx="2523744" cy="362102"/>
          </a:xfrm>
          <a:prstGeom prst="roundRect">
            <a:avLst>
              <a:gd name="adj" fmla="val 20960"/>
            </a:avLst>
          </a:prstGeom>
          <a:solidFill>
            <a:srgbClr val="374151"/>
          </a:solidFill>
          <a:ln w="12700">
            <a:solidFill>
              <a:srgbClr val="FFFFFF">
                <a:alpha val="0"/>
              </a:srgbClr>
            </a:solidFill>
            <a:prstDash val="solid"/>
          </a:ln>
        </p:spPr>
        <p:txBody>
          <a:bodyPr/>
          <a:lstStyle/>
          <a:p>
            <a:endParaRPr lang="fr-CI"/>
          </a:p>
        </p:txBody>
      </p:sp>
      <p:sp>
        <p:nvSpPr>
          <p:cNvPr id="62" name="Text 60"/>
          <p:cNvSpPr txBox="1"/>
          <p:nvPr/>
        </p:nvSpPr>
        <p:spPr>
          <a:xfrm>
            <a:off x="12115800" y="5105095"/>
            <a:ext cx="2524658" cy="362102"/>
          </a:xfrm>
          <a:prstGeom prst="rect">
            <a:avLst/>
          </a:prstGeom>
          <a:solidFill>
            <a:srgbClr val="FFFFFF">
              <a:alpha val="0"/>
            </a:srgbClr>
          </a:solidFill>
          <a:ln>
            <a:solidFill>
              <a:srgbClr val="FFFFFF">
                <a:alpha val="0"/>
              </a:srgbClr>
            </a:solidFill>
          </a:ln>
        </p:spPr>
        <p:txBody>
          <a:bodyPr wrap="none" lIns="101600" tIns="101600" rIns="101600" bIns="10160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Livraisons réalisées</a:t>
            </a:r>
            <a:endParaRPr lang="en-US" sz="900" dirty="0"/>
          </a:p>
        </p:txBody>
      </p:sp>
      <p:sp>
        <p:nvSpPr>
          <p:cNvPr id="63" name="Shape 61"/>
          <p:cNvSpPr/>
          <p:nvPr/>
        </p:nvSpPr>
        <p:spPr>
          <a:xfrm>
            <a:off x="14735556" y="5105095"/>
            <a:ext cx="2523744" cy="362102"/>
          </a:xfrm>
          <a:prstGeom prst="roundRect">
            <a:avLst>
              <a:gd name="adj" fmla="val 20960"/>
            </a:avLst>
          </a:prstGeom>
          <a:solidFill>
            <a:srgbClr val="374151"/>
          </a:solidFill>
          <a:ln w="12700">
            <a:solidFill>
              <a:srgbClr val="FFFFFF">
                <a:alpha val="0"/>
              </a:srgbClr>
            </a:solidFill>
            <a:prstDash val="solid"/>
          </a:ln>
        </p:spPr>
        <p:txBody>
          <a:bodyPr/>
          <a:lstStyle/>
          <a:p>
            <a:endParaRPr lang="fr-CI"/>
          </a:p>
        </p:txBody>
      </p:sp>
      <p:sp>
        <p:nvSpPr>
          <p:cNvPr id="64" name="Text 62"/>
          <p:cNvSpPr txBox="1"/>
          <p:nvPr/>
        </p:nvSpPr>
        <p:spPr>
          <a:xfrm>
            <a:off x="14735556" y="5105095"/>
            <a:ext cx="2524658" cy="362102"/>
          </a:xfrm>
          <a:prstGeom prst="rect">
            <a:avLst/>
          </a:prstGeom>
          <a:solidFill>
            <a:srgbClr val="FFFFFF">
              <a:alpha val="0"/>
            </a:srgbClr>
          </a:solidFill>
          <a:ln>
            <a:solidFill>
              <a:srgbClr val="FFFFFF">
                <a:alpha val="0"/>
              </a:srgbClr>
            </a:solidFill>
          </a:ln>
        </p:spPr>
        <p:txBody>
          <a:bodyPr wrap="none" lIns="101600" tIns="101600" rIns="101600" bIns="10160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Demandes fret</a:t>
            </a:r>
            <a:endParaRPr lang="en-US" sz="900" dirty="0"/>
          </a:p>
        </p:txBody>
      </p:sp>
      <p:sp>
        <p:nvSpPr>
          <p:cNvPr id="65" name="Shape 63"/>
          <p:cNvSpPr/>
          <p:nvPr/>
        </p:nvSpPr>
        <p:spPr>
          <a:xfrm>
            <a:off x="12115800" y="5562295"/>
            <a:ext cx="2523744" cy="362102"/>
          </a:xfrm>
          <a:prstGeom prst="roundRect">
            <a:avLst>
              <a:gd name="adj" fmla="val 20960"/>
            </a:avLst>
          </a:prstGeom>
          <a:solidFill>
            <a:srgbClr val="374151"/>
          </a:solidFill>
          <a:ln w="12700">
            <a:solidFill>
              <a:srgbClr val="FFFFFF">
                <a:alpha val="0"/>
              </a:srgbClr>
            </a:solidFill>
            <a:prstDash val="solid"/>
          </a:ln>
        </p:spPr>
        <p:txBody>
          <a:bodyPr/>
          <a:lstStyle/>
          <a:p>
            <a:endParaRPr lang="fr-CI"/>
          </a:p>
        </p:txBody>
      </p:sp>
      <p:sp>
        <p:nvSpPr>
          <p:cNvPr id="66" name="Text 64"/>
          <p:cNvSpPr txBox="1"/>
          <p:nvPr/>
        </p:nvSpPr>
        <p:spPr>
          <a:xfrm>
            <a:off x="12115800" y="5562295"/>
            <a:ext cx="2524658" cy="362102"/>
          </a:xfrm>
          <a:prstGeom prst="rect">
            <a:avLst/>
          </a:prstGeom>
          <a:solidFill>
            <a:srgbClr val="FFFFFF">
              <a:alpha val="0"/>
            </a:srgbClr>
          </a:solidFill>
          <a:ln>
            <a:solidFill>
              <a:srgbClr val="FFFFFF">
                <a:alpha val="0"/>
              </a:srgbClr>
            </a:solidFill>
          </a:ln>
        </p:spPr>
        <p:txBody>
          <a:bodyPr wrap="none" lIns="101600" tIns="101600" rIns="101600" bIns="10160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Locations</a:t>
            </a:r>
            <a:endParaRPr lang="en-US" sz="900" dirty="0"/>
          </a:p>
        </p:txBody>
      </p:sp>
      <p:sp>
        <p:nvSpPr>
          <p:cNvPr id="67" name="Shape 65"/>
          <p:cNvSpPr/>
          <p:nvPr/>
        </p:nvSpPr>
        <p:spPr>
          <a:xfrm>
            <a:off x="14735556" y="5562295"/>
            <a:ext cx="2523744" cy="362102"/>
          </a:xfrm>
          <a:prstGeom prst="roundRect">
            <a:avLst>
              <a:gd name="adj" fmla="val 20960"/>
            </a:avLst>
          </a:prstGeom>
          <a:solidFill>
            <a:srgbClr val="374151"/>
          </a:solidFill>
          <a:ln w="12700">
            <a:solidFill>
              <a:srgbClr val="FFFFFF">
                <a:alpha val="0"/>
              </a:srgbClr>
            </a:solidFill>
            <a:prstDash val="solid"/>
          </a:ln>
        </p:spPr>
        <p:txBody>
          <a:bodyPr/>
          <a:lstStyle/>
          <a:p>
            <a:endParaRPr lang="fr-CI"/>
          </a:p>
        </p:txBody>
      </p:sp>
      <p:sp>
        <p:nvSpPr>
          <p:cNvPr id="68" name="Text 66"/>
          <p:cNvSpPr txBox="1"/>
          <p:nvPr/>
        </p:nvSpPr>
        <p:spPr>
          <a:xfrm>
            <a:off x="14735556" y="5562295"/>
            <a:ext cx="2524658" cy="362102"/>
          </a:xfrm>
          <a:prstGeom prst="rect">
            <a:avLst/>
          </a:prstGeom>
          <a:solidFill>
            <a:srgbClr val="FFFFFF">
              <a:alpha val="0"/>
            </a:srgbClr>
          </a:solidFill>
          <a:ln>
            <a:solidFill>
              <a:srgbClr val="FFFFFF">
                <a:alpha val="0"/>
              </a:srgbClr>
            </a:solidFill>
          </a:ln>
        </p:spPr>
        <p:txBody>
          <a:bodyPr wrap="none" lIns="101600" tIns="101600" rIns="101600" bIns="10160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Chiffre d'activité</a:t>
            </a:r>
            <a:endParaRPr lang="en-US" sz="900" dirty="0"/>
          </a:p>
        </p:txBody>
      </p:sp>
      <p:sp>
        <p:nvSpPr>
          <p:cNvPr id="69" name="Shape 67"/>
          <p:cNvSpPr/>
          <p:nvPr/>
        </p:nvSpPr>
        <p:spPr>
          <a:xfrm>
            <a:off x="12115800" y="6019495"/>
            <a:ext cx="2523744" cy="362102"/>
          </a:xfrm>
          <a:prstGeom prst="roundRect">
            <a:avLst>
              <a:gd name="adj" fmla="val 20960"/>
            </a:avLst>
          </a:prstGeom>
          <a:solidFill>
            <a:srgbClr val="4C1D95"/>
          </a:solidFill>
          <a:ln w="12700">
            <a:solidFill>
              <a:srgbClr val="FFFFFF">
                <a:alpha val="0"/>
              </a:srgbClr>
            </a:solidFill>
            <a:prstDash val="solid"/>
          </a:ln>
        </p:spPr>
        <p:txBody>
          <a:bodyPr/>
          <a:lstStyle/>
          <a:p>
            <a:endParaRPr lang="fr-CI"/>
          </a:p>
        </p:txBody>
      </p:sp>
      <p:sp>
        <p:nvSpPr>
          <p:cNvPr id="70" name="Text 68"/>
          <p:cNvSpPr txBox="1"/>
          <p:nvPr/>
        </p:nvSpPr>
        <p:spPr>
          <a:xfrm>
            <a:off x="12115800" y="6019495"/>
            <a:ext cx="2524658" cy="362102"/>
          </a:xfrm>
          <a:prstGeom prst="rect">
            <a:avLst/>
          </a:prstGeom>
          <a:solidFill>
            <a:srgbClr val="FFFFFF">
              <a:alpha val="0"/>
            </a:srgbClr>
          </a:solidFill>
          <a:ln>
            <a:solidFill>
              <a:srgbClr val="FFFFFF">
                <a:alpha val="0"/>
              </a:srgbClr>
            </a:solidFill>
          </a:ln>
        </p:spPr>
        <p:txBody>
          <a:bodyPr wrap="none" lIns="101600" tIns="101600" rIns="101600" bIns="10160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Commissions zone</a:t>
            </a:r>
            <a:endParaRPr lang="en-US" sz="900" dirty="0"/>
          </a:p>
        </p:txBody>
      </p:sp>
      <p:sp>
        <p:nvSpPr>
          <p:cNvPr id="71" name="Shape 69"/>
          <p:cNvSpPr/>
          <p:nvPr/>
        </p:nvSpPr>
        <p:spPr>
          <a:xfrm>
            <a:off x="14735556" y="6019495"/>
            <a:ext cx="2523744" cy="362102"/>
          </a:xfrm>
          <a:prstGeom prst="roundRect">
            <a:avLst>
              <a:gd name="adj" fmla="val 20960"/>
            </a:avLst>
          </a:prstGeom>
          <a:solidFill>
            <a:srgbClr val="374151"/>
          </a:solidFill>
          <a:ln w="12700">
            <a:solidFill>
              <a:srgbClr val="FFFFFF">
                <a:alpha val="0"/>
              </a:srgbClr>
            </a:solidFill>
            <a:prstDash val="solid"/>
          </a:ln>
        </p:spPr>
        <p:txBody>
          <a:bodyPr/>
          <a:lstStyle/>
          <a:p>
            <a:endParaRPr lang="fr-CI"/>
          </a:p>
        </p:txBody>
      </p:sp>
      <p:sp>
        <p:nvSpPr>
          <p:cNvPr id="72" name="Text 70"/>
          <p:cNvSpPr txBox="1"/>
          <p:nvPr/>
        </p:nvSpPr>
        <p:spPr>
          <a:xfrm>
            <a:off x="14735556" y="6019495"/>
            <a:ext cx="2524658" cy="362102"/>
          </a:xfrm>
          <a:prstGeom prst="rect">
            <a:avLst/>
          </a:prstGeom>
          <a:solidFill>
            <a:srgbClr val="FFFFFF">
              <a:alpha val="0"/>
            </a:srgbClr>
          </a:solidFill>
          <a:ln>
            <a:solidFill>
              <a:srgbClr val="FFFFFF">
                <a:alpha val="0"/>
              </a:srgbClr>
            </a:solidFill>
          </a:ln>
        </p:spPr>
        <p:txBody>
          <a:bodyPr wrap="none" lIns="101600" tIns="101600" rIns="101600" bIns="10160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Taux d'annulation</a:t>
            </a:r>
            <a:endParaRPr lang="en-US" sz="900" dirty="0"/>
          </a:p>
        </p:txBody>
      </p:sp>
      <p:sp>
        <p:nvSpPr>
          <p:cNvPr id="73" name="Shape 71"/>
          <p:cNvSpPr/>
          <p:nvPr/>
        </p:nvSpPr>
        <p:spPr>
          <a:xfrm>
            <a:off x="12115800" y="6476695"/>
            <a:ext cx="2523744" cy="362102"/>
          </a:xfrm>
          <a:prstGeom prst="roundRect">
            <a:avLst>
              <a:gd name="adj" fmla="val 20960"/>
            </a:avLst>
          </a:prstGeom>
          <a:solidFill>
            <a:srgbClr val="374151"/>
          </a:solidFill>
          <a:ln w="12700">
            <a:solidFill>
              <a:srgbClr val="FFFFFF">
                <a:alpha val="0"/>
              </a:srgbClr>
            </a:solidFill>
            <a:prstDash val="solid"/>
          </a:ln>
        </p:spPr>
        <p:txBody>
          <a:bodyPr/>
          <a:lstStyle/>
          <a:p>
            <a:endParaRPr lang="fr-CI"/>
          </a:p>
        </p:txBody>
      </p:sp>
      <p:sp>
        <p:nvSpPr>
          <p:cNvPr id="74" name="Text 72"/>
          <p:cNvSpPr txBox="1"/>
          <p:nvPr/>
        </p:nvSpPr>
        <p:spPr>
          <a:xfrm>
            <a:off x="12115800" y="6476695"/>
            <a:ext cx="2524658" cy="362102"/>
          </a:xfrm>
          <a:prstGeom prst="rect">
            <a:avLst/>
          </a:prstGeom>
          <a:solidFill>
            <a:srgbClr val="FFFFFF">
              <a:alpha val="0"/>
            </a:srgbClr>
          </a:solidFill>
          <a:ln>
            <a:solidFill>
              <a:srgbClr val="FFFFFF">
                <a:alpha val="0"/>
              </a:srgbClr>
            </a:solidFill>
          </a:ln>
        </p:spPr>
        <p:txBody>
          <a:bodyPr wrap="none" lIns="101600" tIns="101600" rIns="101600" bIns="10160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Incidents</a:t>
            </a:r>
            <a:endParaRPr lang="en-US" sz="900" dirty="0"/>
          </a:p>
        </p:txBody>
      </p:sp>
      <p:sp>
        <p:nvSpPr>
          <p:cNvPr id="75" name="Shape 73"/>
          <p:cNvSpPr/>
          <p:nvPr/>
        </p:nvSpPr>
        <p:spPr>
          <a:xfrm>
            <a:off x="14735556" y="6476695"/>
            <a:ext cx="2523744" cy="362102"/>
          </a:xfrm>
          <a:prstGeom prst="roundRect">
            <a:avLst>
              <a:gd name="adj" fmla="val 20960"/>
            </a:avLst>
          </a:prstGeom>
          <a:solidFill>
            <a:srgbClr val="374151"/>
          </a:solidFill>
          <a:ln w="12700">
            <a:solidFill>
              <a:srgbClr val="FFFFFF">
                <a:alpha val="0"/>
              </a:srgbClr>
            </a:solidFill>
            <a:prstDash val="solid"/>
          </a:ln>
        </p:spPr>
        <p:txBody>
          <a:bodyPr/>
          <a:lstStyle/>
          <a:p>
            <a:endParaRPr lang="fr-CI"/>
          </a:p>
        </p:txBody>
      </p:sp>
      <p:sp>
        <p:nvSpPr>
          <p:cNvPr id="76" name="Text 74"/>
          <p:cNvSpPr txBox="1"/>
          <p:nvPr/>
        </p:nvSpPr>
        <p:spPr>
          <a:xfrm>
            <a:off x="14735556" y="6476695"/>
            <a:ext cx="2524658" cy="362102"/>
          </a:xfrm>
          <a:prstGeom prst="rect">
            <a:avLst/>
          </a:prstGeom>
          <a:solidFill>
            <a:srgbClr val="FFFFFF">
              <a:alpha val="0"/>
            </a:srgbClr>
          </a:solidFill>
          <a:ln>
            <a:solidFill>
              <a:srgbClr val="FFFFFF">
                <a:alpha val="0"/>
              </a:srgbClr>
            </a:solidFill>
          </a:ln>
        </p:spPr>
        <p:txBody>
          <a:bodyPr wrap="none" lIns="101600" tIns="101600" rIns="101600" bIns="10160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Réclamations</a:t>
            </a:r>
            <a:endParaRPr lang="en-US" sz="900" dirty="0"/>
          </a:p>
        </p:txBody>
      </p:sp>
      <p:sp>
        <p:nvSpPr>
          <p:cNvPr id="77" name="Shape 75"/>
          <p:cNvSpPr/>
          <p:nvPr/>
        </p:nvSpPr>
        <p:spPr>
          <a:xfrm>
            <a:off x="12115800" y="7067398"/>
            <a:ext cx="5143500" cy="771754"/>
          </a:xfrm>
          <a:prstGeom prst="roundRect">
            <a:avLst>
              <a:gd name="adj" fmla="val 12322"/>
            </a:avLst>
          </a:prstGeom>
          <a:solidFill>
            <a:srgbClr val="A78BFA"/>
          </a:solidFill>
          <a:ln w="12700">
            <a:solidFill>
              <a:srgbClr val="FFFFFF">
                <a:alpha val="0"/>
              </a:srgbClr>
            </a:solidFill>
            <a:prstDash val="solid"/>
          </a:ln>
        </p:spPr>
        <p:txBody>
          <a:bodyPr/>
          <a:lstStyle/>
          <a:p>
            <a:endParaRPr lang="fr-CI"/>
          </a:p>
        </p:txBody>
      </p:sp>
      <p:sp>
        <p:nvSpPr>
          <p:cNvPr id="78" name="Text 76"/>
          <p:cNvSpPr txBox="1"/>
          <p:nvPr/>
        </p:nvSpPr>
        <p:spPr>
          <a:xfrm>
            <a:off x="12249302" y="7200900"/>
            <a:ext cx="4877410" cy="133502"/>
          </a:xfrm>
          <a:prstGeom prst="rect">
            <a:avLst/>
          </a:prstGeom>
          <a:noFill/>
          <a:ln/>
        </p:spPr>
        <p:txBody>
          <a:bodyPr wrap="none" lIns="0" tIns="0" rIns="0" bIns="0" rtlCol="0" anchor="ctr"/>
          <a:lstStyle/>
          <a:p>
            <a:pPr marL="0" indent="0" algn="l">
              <a:buNone/>
            </a:pPr>
            <a:r>
              <a:rPr lang="en-US" sz="800" b="1" kern="0" spc="83" dirty="0">
                <a:solidFill>
                  <a:srgbClr val="1F2937"/>
                </a:solidFill>
                <a:latin typeface="JetBrains Mono" pitchFamily="34" charset="0"/>
                <a:ea typeface="JetBrains Mono" pitchFamily="34" charset="-122"/>
                <a:cs typeface="JetBrains Mono" pitchFamily="34" charset="-120"/>
              </a:rPr>
              <a:t>EXPORTS</a:t>
            </a:r>
            <a:endParaRPr lang="en-US" sz="800" dirty="0"/>
          </a:p>
        </p:txBody>
      </p:sp>
      <p:sp>
        <p:nvSpPr>
          <p:cNvPr id="79" name="Text 77"/>
          <p:cNvSpPr txBox="1"/>
          <p:nvPr/>
        </p:nvSpPr>
        <p:spPr>
          <a:xfrm>
            <a:off x="12249302" y="7391095"/>
            <a:ext cx="5092294" cy="191110"/>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CSV · Excel · PDF — par jour, semaine, mois, période personnalisée.</a:t>
            </a:r>
            <a:endParaRPr lang="en-US" sz="900" dirty="0"/>
          </a:p>
        </p:txBody>
      </p:sp>
      <p:sp>
        <p:nvSpPr>
          <p:cNvPr id="80" name="Shape 78"/>
          <p:cNvSpPr/>
          <p:nvPr/>
        </p:nvSpPr>
        <p:spPr>
          <a:xfrm>
            <a:off x="0" y="9791395"/>
            <a:ext cx="18288000" cy="495605"/>
          </a:xfrm>
          <a:prstGeom prst="rect">
            <a:avLst/>
          </a:prstGeom>
          <a:solidFill>
            <a:srgbClr val="FFFFFF"/>
          </a:solidFill>
          <a:ln/>
        </p:spPr>
        <p:txBody>
          <a:bodyPr/>
          <a:lstStyle/>
          <a:p>
            <a:endParaRPr lang="fr-CI"/>
          </a:p>
        </p:txBody>
      </p:sp>
      <p:sp>
        <p:nvSpPr>
          <p:cNvPr id="81" name="Shape 79"/>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82" name="Text 80"/>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83" name="Text 81"/>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40 / 59</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6645738" y="256946"/>
            <a:ext cx="1409090"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UC Central · I.</a:t>
            </a:r>
            <a:endParaRPr lang="en-US" sz="900" dirty="0"/>
          </a:p>
        </p:txBody>
      </p:sp>
      <p:sp>
        <p:nvSpPr>
          <p:cNvPr id="10" name="Text 8"/>
          <p:cNvSpPr txBox="1"/>
          <p:nvPr/>
        </p:nvSpPr>
        <p:spPr>
          <a:xfrm>
            <a:off x="914400" y="1205179"/>
            <a:ext cx="2467051"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I. Central &amp; reporting</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6193110" cy="1095451"/>
          </a:xfrm>
          <a:prstGeom prst="rect">
            <a:avLst/>
          </a:prstGeom>
          <a:noFill/>
          <a:ln/>
        </p:spPr>
        <p:txBody>
          <a:bodyPr wrap="squar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UC-C01 · UC-C02 · UC-C03 — dashboard, reporting multiservices, réclamations.</a:t>
            </a:r>
            <a:endParaRPr lang="en-US" sz="3900" dirty="0"/>
          </a:p>
        </p:txBody>
      </p:sp>
      <p:sp>
        <p:nvSpPr>
          <p:cNvPr id="13" name="Shape 11"/>
          <p:cNvSpPr/>
          <p:nvPr/>
        </p:nvSpPr>
        <p:spPr>
          <a:xfrm>
            <a:off x="914400" y="2762402"/>
            <a:ext cx="5429707" cy="6762902"/>
          </a:xfrm>
          <a:prstGeom prst="roundRect">
            <a:avLst>
              <a:gd name="adj" fmla="val 2459"/>
            </a:avLst>
          </a:prstGeom>
          <a:solidFill>
            <a:srgbClr val="FFFFFF"/>
          </a:solidFill>
          <a:ln w="25400">
            <a:solidFill>
              <a:srgbClr val="6D28D9"/>
            </a:solidFill>
            <a:prstDash val="solid"/>
          </a:ln>
        </p:spPr>
        <p:txBody>
          <a:bodyPr/>
          <a:lstStyle/>
          <a:p>
            <a:endParaRPr lang="fr-CI"/>
          </a:p>
        </p:txBody>
      </p:sp>
      <p:sp>
        <p:nvSpPr>
          <p:cNvPr id="14" name="Text 12"/>
          <p:cNvSpPr txBox="1"/>
          <p:nvPr/>
        </p:nvSpPr>
        <p:spPr>
          <a:xfrm>
            <a:off x="1143000" y="2991002"/>
            <a:ext cx="590702" cy="210312"/>
          </a:xfrm>
          <a:prstGeom prst="rect">
            <a:avLst/>
          </a:prstGeom>
          <a:noFill/>
          <a:ln/>
        </p:spPr>
        <p:txBody>
          <a:bodyPr wrap="none" lIns="0" tIns="0" rIns="0" bIns="0" rtlCol="0" anchor="ctr"/>
          <a:lstStyle/>
          <a:p>
            <a:pPr marL="0" indent="0" algn="l">
              <a:buNone/>
            </a:pPr>
            <a:r>
              <a:rPr lang="en-US" sz="1200" b="1" dirty="0">
                <a:solidFill>
                  <a:srgbClr val="6D28D9"/>
                </a:solidFill>
                <a:latin typeface="JetBrains Mono" pitchFamily="34" charset="0"/>
                <a:ea typeface="JetBrains Mono" pitchFamily="34" charset="-122"/>
                <a:cs typeface="JetBrains Mono" pitchFamily="34" charset="-120"/>
              </a:rPr>
              <a:t>UC-C01</a:t>
            </a:r>
            <a:endParaRPr lang="en-US" sz="1200" dirty="0"/>
          </a:p>
        </p:txBody>
      </p:sp>
      <p:sp>
        <p:nvSpPr>
          <p:cNvPr id="15" name="Shape 13"/>
          <p:cNvSpPr/>
          <p:nvPr/>
        </p:nvSpPr>
        <p:spPr>
          <a:xfrm>
            <a:off x="5365699" y="2952598"/>
            <a:ext cx="733349" cy="286207"/>
          </a:xfrm>
          <a:prstGeom prst="roundRect">
            <a:avLst>
              <a:gd name="adj" fmla="val 49840"/>
            </a:avLst>
          </a:prstGeom>
          <a:solidFill>
            <a:srgbClr val="FEE2E2"/>
          </a:solidFill>
          <a:ln w="12700">
            <a:solidFill>
              <a:srgbClr val="FFFFFF">
                <a:alpha val="0"/>
              </a:srgbClr>
            </a:solidFill>
            <a:prstDash val="solid"/>
          </a:ln>
        </p:spPr>
        <p:txBody>
          <a:bodyPr/>
          <a:lstStyle/>
          <a:p>
            <a:endParaRPr lang="fr-CI"/>
          </a:p>
        </p:txBody>
      </p:sp>
      <p:sp>
        <p:nvSpPr>
          <p:cNvPr id="16" name="Text 14"/>
          <p:cNvSpPr/>
          <p:nvPr/>
        </p:nvSpPr>
        <p:spPr>
          <a:xfrm>
            <a:off x="5365699" y="2952598"/>
            <a:ext cx="7342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91B1B"/>
                </a:solidFill>
                <a:latin typeface="Manrope" pitchFamily="34" charset="0"/>
                <a:ea typeface="Manrope" pitchFamily="34" charset="-122"/>
                <a:cs typeface="Manrope" pitchFamily="34" charset="-120"/>
              </a:rPr>
              <a:t>Critique</a:t>
            </a:r>
            <a:endParaRPr lang="en-US" sz="900" dirty="0"/>
          </a:p>
        </p:txBody>
      </p:sp>
      <p:sp>
        <p:nvSpPr>
          <p:cNvPr id="17" name="Text 15"/>
          <p:cNvSpPr txBox="1"/>
          <p:nvPr/>
        </p:nvSpPr>
        <p:spPr>
          <a:xfrm>
            <a:off x="1143000" y="3333902"/>
            <a:ext cx="4953305" cy="267005"/>
          </a:xfrm>
          <a:prstGeom prst="rect">
            <a:avLst/>
          </a:prstGeom>
          <a:noFill/>
          <a:ln/>
        </p:spPr>
        <p:txBody>
          <a:bodyPr wrap="none" lIns="0" tIns="0" rIns="0" bIns="0" rtlCol="0" anchor="ctr"/>
          <a:lstStyle/>
          <a:p>
            <a:pPr marL="0" indent="0" algn="l">
              <a:buNone/>
            </a:pPr>
            <a:r>
              <a:rPr lang="en-US" sz="1600" b="1" dirty="0">
                <a:solidFill>
                  <a:srgbClr val="1F2937"/>
                </a:solidFill>
                <a:latin typeface="Manrope" pitchFamily="34" charset="0"/>
                <a:ea typeface="Manrope" pitchFamily="34" charset="-122"/>
                <a:cs typeface="Manrope" pitchFamily="34" charset="-120"/>
              </a:rPr>
              <a:t>Tableau de bord central</a:t>
            </a:r>
            <a:endParaRPr lang="en-US" sz="1600" dirty="0"/>
          </a:p>
        </p:txBody>
      </p:sp>
      <p:sp>
        <p:nvSpPr>
          <p:cNvPr id="18" name="Text 16"/>
          <p:cNvSpPr txBox="1"/>
          <p:nvPr/>
        </p:nvSpPr>
        <p:spPr>
          <a:xfrm>
            <a:off x="1143000" y="3653028"/>
            <a:ext cx="4953305"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Profil : Central · Direction</a:t>
            </a:r>
            <a:endParaRPr lang="en-US" sz="900" dirty="0"/>
          </a:p>
        </p:txBody>
      </p:sp>
      <p:sp>
        <p:nvSpPr>
          <p:cNvPr id="19" name="Text 17"/>
          <p:cNvSpPr txBox="1"/>
          <p:nvPr/>
        </p:nvSpPr>
        <p:spPr>
          <a:xfrm>
            <a:off x="1143000" y="3976726"/>
            <a:ext cx="4953305"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OBJECTIF</a:t>
            </a:r>
            <a:endParaRPr lang="en-US" sz="800" dirty="0"/>
          </a:p>
        </p:txBody>
      </p:sp>
      <p:sp>
        <p:nvSpPr>
          <p:cNvPr id="20" name="Text 18"/>
          <p:cNvSpPr txBox="1"/>
          <p:nvPr/>
        </p:nvSpPr>
        <p:spPr>
          <a:xfrm>
            <a:off x="1143000" y="4147718"/>
            <a:ext cx="5639105" cy="171907"/>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Vérifier que le central dispose d'une vue globale et filtrable sur toute la plateforme.</a:t>
            </a:r>
            <a:endParaRPr lang="en-US" sz="900" dirty="0"/>
          </a:p>
        </p:txBody>
      </p:sp>
      <p:sp>
        <p:nvSpPr>
          <p:cNvPr id="21" name="Text 19"/>
          <p:cNvSpPr txBox="1"/>
          <p:nvPr/>
        </p:nvSpPr>
        <p:spPr>
          <a:xfrm>
            <a:off x="1143000" y="4433926"/>
            <a:ext cx="4953305"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ÉTAPES</a:t>
            </a:r>
            <a:endParaRPr lang="en-US" sz="800" dirty="0"/>
          </a:p>
        </p:txBody>
      </p:sp>
      <p:sp>
        <p:nvSpPr>
          <p:cNvPr id="22" name="Text 20"/>
          <p:cNvSpPr txBox="1"/>
          <p:nvPr/>
        </p:nvSpPr>
        <p:spPr>
          <a:xfrm>
            <a:off x="1314907" y="4624121"/>
            <a:ext cx="4782312" cy="181051"/>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Se connecter au central</a:t>
            </a:r>
            <a:endParaRPr lang="en-US" sz="900" dirty="0"/>
          </a:p>
        </p:txBody>
      </p:sp>
      <p:sp>
        <p:nvSpPr>
          <p:cNvPr id="23" name="Text 21"/>
          <p:cNvSpPr txBox="1"/>
          <p:nvPr/>
        </p:nvSpPr>
        <p:spPr>
          <a:xfrm>
            <a:off x="1314907" y="4801514"/>
            <a:ext cx="4782312" cy="181051"/>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Consulter les statistiques globales</a:t>
            </a:r>
            <a:endParaRPr lang="en-US" sz="900" dirty="0"/>
          </a:p>
        </p:txBody>
      </p:sp>
      <p:sp>
        <p:nvSpPr>
          <p:cNvPr id="24" name="Text 22"/>
          <p:cNvSpPr txBox="1"/>
          <p:nvPr/>
        </p:nvSpPr>
        <p:spPr>
          <a:xfrm>
            <a:off x="1314907" y="4978908"/>
            <a:ext cx="4782312" cy="181051"/>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Filtrer par service</a:t>
            </a:r>
            <a:endParaRPr lang="en-US" sz="900" dirty="0"/>
          </a:p>
        </p:txBody>
      </p:sp>
      <p:sp>
        <p:nvSpPr>
          <p:cNvPr id="25" name="Text 23"/>
          <p:cNvSpPr txBox="1"/>
          <p:nvPr/>
        </p:nvSpPr>
        <p:spPr>
          <a:xfrm>
            <a:off x="1314907" y="5155387"/>
            <a:ext cx="4782312" cy="181051"/>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Filtrer par zone</a:t>
            </a:r>
            <a:endParaRPr lang="en-US" sz="900" dirty="0"/>
          </a:p>
        </p:txBody>
      </p:sp>
      <p:sp>
        <p:nvSpPr>
          <p:cNvPr id="26" name="Text 24"/>
          <p:cNvSpPr txBox="1"/>
          <p:nvPr/>
        </p:nvSpPr>
        <p:spPr>
          <a:xfrm>
            <a:off x="1314907" y="5332781"/>
            <a:ext cx="4782312" cy="181051"/>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Filtrer par partenaire</a:t>
            </a:r>
            <a:endParaRPr lang="en-US" sz="900" dirty="0"/>
          </a:p>
        </p:txBody>
      </p:sp>
      <p:sp>
        <p:nvSpPr>
          <p:cNvPr id="27" name="Text 25"/>
          <p:cNvSpPr txBox="1"/>
          <p:nvPr/>
        </p:nvSpPr>
        <p:spPr>
          <a:xfrm>
            <a:off x="1314907" y="5510174"/>
            <a:ext cx="4782312" cy="181051"/>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Filtrer par franchise</a:t>
            </a:r>
            <a:endParaRPr lang="en-US" sz="900" dirty="0"/>
          </a:p>
        </p:txBody>
      </p:sp>
      <p:sp>
        <p:nvSpPr>
          <p:cNvPr id="28" name="Text 26"/>
          <p:cNvSpPr txBox="1"/>
          <p:nvPr/>
        </p:nvSpPr>
        <p:spPr>
          <a:xfrm>
            <a:off x="1314907" y="5686654"/>
            <a:ext cx="4782312" cy="181051"/>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Exporter les données</a:t>
            </a:r>
            <a:endParaRPr lang="en-US" sz="900" dirty="0"/>
          </a:p>
        </p:txBody>
      </p:sp>
      <p:sp>
        <p:nvSpPr>
          <p:cNvPr id="29" name="Shape 27"/>
          <p:cNvSpPr/>
          <p:nvPr/>
        </p:nvSpPr>
        <p:spPr>
          <a:xfrm>
            <a:off x="1143000" y="5997550"/>
            <a:ext cx="4953305" cy="761695"/>
          </a:xfrm>
          <a:prstGeom prst="roundRect">
            <a:avLst>
              <a:gd name="adj" fmla="val 9964"/>
            </a:avLst>
          </a:prstGeom>
          <a:solidFill>
            <a:srgbClr val="F5F3FF"/>
          </a:solidFill>
          <a:ln w="12700">
            <a:solidFill>
              <a:srgbClr val="FFFFFF">
                <a:alpha val="0"/>
              </a:srgbClr>
            </a:solidFill>
            <a:prstDash val="solid"/>
          </a:ln>
        </p:spPr>
        <p:txBody>
          <a:bodyPr/>
          <a:lstStyle/>
          <a:p>
            <a:endParaRPr lang="fr-CI"/>
          </a:p>
        </p:txBody>
      </p:sp>
      <p:sp>
        <p:nvSpPr>
          <p:cNvPr id="30" name="Text 28"/>
          <p:cNvSpPr txBox="1"/>
          <p:nvPr/>
        </p:nvSpPr>
        <p:spPr>
          <a:xfrm>
            <a:off x="1257300" y="6111850"/>
            <a:ext cx="4724705" cy="133502"/>
          </a:xfrm>
          <a:prstGeom prst="rect">
            <a:avLst/>
          </a:prstGeom>
          <a:noFill/>
          <a:ln/>
        </p:spPr>
        <p:txBody>
          <a:bodyPr wrap="none" lIns="0" tIns="0" rIns="0" bIns="0" rtlCol="0" anchor="ctr"/>
          <a:lstStyle/>
          <a:p>
            <a:pPr marL="0" indent="0" algn="l">
              <a:buNone/>
            </a:pPr>
            <a:r>
              <a:rPr lang="en-US" sz="800" b="1" dirty="0">
                <a:solidFill>
                  <a:srgbClr val="10B981"/>
                </a:solidFill>
                <a:latin typeface="JetBrains Mono" pitchFamily="34" charset="0"/>
                <a:ea typeface="JetBrains Mono" pitchFamily="34" charset="-122"/>
                <a:cs typeface="JetBrains Mono" pitchFamily="34" charset="-120"/>
              </a:rPr>
              <a:t>RÉSULTATS</a:t>
            </a:r>
            <a:endParaRPr lang="en-US" sz="800" dirty="0"/>
          </a:p>
        </p:txBody>
      </p:sp>
      <p:sp>
        <p:nvSpPr>
          <p:cNvPr id="31" name="Text 29"/>
          <p:cNvSpPr txBox="1"/>
          <p:nvPr/>
        </p:nvSpPr>
        <p:spPr>
          <a:xfrm>
            <a:off x="1257300" y="6302045"/>
            <a:ext cx="4724705" cy="342900"/>
          </a:xfrm>
          <a:prstGeom prst="rect">
            <a:avLst/>
          </a:prstGeom>
          <a:noFill/>
          <a:ln/>
        </p:spPr>
        <p:txBody>
          <a:bodyPr wrap="squar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Données consolidées · filtres fonctionnels · exports exploitables · chiffres cohérents avec les tests terrain.</a:t>
            </a:r>
            <a:endParaRPr lang="en-US" sz="900" dirty="0"/>
          </a:p>
        </p:txBody>
      </p:sp>
      <p:sp>
        <p:nvSpPr>
          <p:cNvPr id="32" name="Shape 30"/>
          <p:cNvSpPr/>
          <p:nvPr/>
        </p:nvSpPr>
        <p:spPr>
          <a:xfrm>
            <a:off x="6534302" y="2762402"/>
            <a:ext cx="5429707" cy="6762902"/>
          </a:xfrm>
          <a:prstGeom prst="roundRect">
            <a:avLst>
              <a:gd name="adj" fmla="val 2459"/>
            </a:avLst>
          </a:prstGeom>
          <a:solidFill>
            <a:srgbClr val="1F2937"/>
          </a:solidFill>
          <a:ln w="25400">
            <a:solidFill>
              <a:srgbClr val="6D28D9"/>
            </a:solidFill>
            <a:prstDash val="solid"/>
          </a:ln>
        </p:spPr>
        <p:txBody>
          <a:bodyPr/>
          <a:lstStyle/>
          <a:p>
            <a:endParaRPr lang="fr-CI"/>
          </a:p>
        </p:txBody>
      </p:sp>
      <p:sp>
        <p:nvSpPr>
          <p:cNvPr id="33" name="Text 31"/>
          <p:cNvSpPr txBox="1"/>
          <p:nvPr/>
        </p:nvSpPr>
        <p:spPr>
          <a:xfrm>
            <a:off x="6762902" y="2991002"/>
            <a:ext cx="590702" cy="210312"/>
          </a:xfrm>
          <a:prstGeom prst="rect">
            <a:avLst/>
          </a:prstGeom>
          <a:noFill/>
          <a:ln/>
        </p:spPr>
        <p:txBody>
          <a:bodyPr wrap="none" lIns="0" tIns="0" rIns="0" bIns="0" rtlCol="0" anchor="ctr"/>
          <a:lstStyle/>
          <a:p>
            <a:pPr marL="0" indent="0" algn="l">
              <a:buNone/>
            </a:pPr>
            <a:r>
              <a:rPr lang="en-US" sz="1200" b="1" dirty="0">
                <a:solidFill>
                  <a:srgbClr val="A78BFA"/>
                </a:solidFill>
                <a:latin typeface="JetBrains Mono" pitchFamily="34" charset="0"/>
                <a:ea typeface="JetBrains Mono" pitchFamily="34" charset="-122"/>
                <a:cs typeface="JetBrains Mono" pitchFamily="34" charset="-120"/>
              </a:rPr>
              <a:t>UC-C02</a:t>
            </a:r>
            <a:endParaRPr lang="en-US" sz="1200" dirty="0"/>
          </a:p>
        </p:txBody>
      </p:sp>
      <p:sp>
        <p:nvSpPr>
          <p:cNvPr id="34" name="Shape 32"/>
          <p:cNvSpPr/>
          <p:nvPr/>
        </p:nvSpPr>
        <p:spPr>
          <a:xfrm>
            <a:off x="10985602" y="2952598"/>
            <a:ext cx="733349" cy="286207"/>
          </a:xfrm>
          <a:prstGeom prst="roundRect">
            <a:avLst>
              <a:gd name="adj" fmla="val 49840"/>
            </a:avLst>
          </a:prstGeom>
          <a:solidFill>
            <a:srgbClr val="FEE2E2"/>
          </a:solidFill>
          <a:ln w="12700">
            <a:solidFill>
              <a:srgbClr val="FFFFFF">
                <a:alpha val="0"/>
              </a:srgbClr>
            </a:solidFill>
            <a:prstDash val="solid"/>
          </a:ln>
        </p:spPr>
        <p:txBody>
          <a:bodyPr/>
          <a:lstStyle/>
          <a:p>
            <a:endParaRPr lang="fr-CI"/>
          </a:p>
        </p:txBody>
      </p:sp>
      <p:sp>
        <p:nvSpPr>
          <p:cNvPr id="35" name="Text 33"/>
          <p:cNvSpPr/>
          <p:nvPr/>
        </p:nvSpPr>
        <p:spPr>
          <a:xfrm>
            <a:off x="10985602" y="2952598"/>
            <a:ext cx="7342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91B1B"/>
                </a:solidFill>
                <a:latin typeface="Manrope" pitchFamily="34" charset="0"/>
                <a:ea typeface="Manrope" pitchFamily="34" charset="-122"/>
                <a:cs typeface="Manrope" pitchFamily="34" charset="-120"/>
              </a:rPr>
              <a:t>Critique</a:t>
            </a:r>
            <a:endParaRPr lang="en-US" sz="900" dirty="0"/>
          </a:p>
        </p:txBody>
      </p:sp>
      <p:sp>
        <p:nvSpPr>
          <p:cNvPr id="36" name="Text 34"/>
          <p:cNvSpPr txBox="1"/>
          <p:nvPr/>
        </p:nvSpPr>
        <p:spPr>
          <a:xfrm>
            <a:off x="6762902" y="3333902"/>
            <a:ext cx="4953305" cy="286207"/>
          </a:xfrm>
          <a:prstGeom prst="rect">
            <a:avLst/>
          </a:prstGeom>
          <a:noFill/>
          <a:ln/>
        </p:spPr>
        <p:txBody>
          <a:bodyPr wrap="none" lIns="0" tIns="0" rIns="0" bIns="0" rtlCol="0" anchor="ctr"/>
          <a:lstStyle/>
          <a:p>
            <a:pPr marL="0" indent="0" algn="l">
              <a:buNone/>
            </a:pPr>
            <a:r>
              <a:rPr lang="en-US" sz="1600" b="1" dirty="0">
                <a:solidFill>
                  <a:srgbClr val="FFFFFF"/>
                </a:solidFill>
                <a:latin typeface="Manrope" pitchFamily="34" charset="0"/>
                <a:ea typeface="Manrope" pitchFamily="34" charset="-122"/>
                <a:cs typeface="Manrope" pitchFamily="34" charset="-120"/>
              </a:rPr>
              <a:t>Reporting multiservices</a:t>
            </a:r>
            <a:endParaRPr lang="en-US" sz="1600" dirty="0"/>
          </a:p>
        </p:txBody>
      </p:sp>
      <p:sp>
        <p:nvSpPr>
          <p:cNvPr id="37" name="Text 35"/>
          <p:cNvSpPr txBox="1"/>
          <p:nvPr/>
        </p:nvSpPr>
        <p:spPr>
          <a:xfrm>
            <a:off x="6762902" y="3829507"/>
            <a:ext cx="4953305" cy="171907"/>
          </a:xfrm>
          <a:prstGeom prst="rect">
            <a:avLst/>
          </a:prstGeom>
          <a:noFill/>
          <a:ln/>
        </p:spPr>
        <p:txBody>
          <a:bodyPr wrap="none" lIns="0" tIns="0" rIns="0" bIns="0" rtlCol="0" anchor="ctr"/>
          <a:lstStyle/>
          <a:p>
            <a:pPr marL="0" indent="0" algn="l">
              <a:buNone/>
            </a:pPr>
            <a:r>
              <a:rPr lang="en-US" sz="900" dirty="0">
                <a:solidFill>
                  <a:srgbClr val="A78BFA"/>
                </a:solidFill>
                <a:latin typeface="Manrope" pitchFamily="34" charset="0"/>
                <a:ea typeface="Manrope" pitchFamily="34" charset="-122"/>
                <a:cs typeface="Manrope" pitchFamily="34" charset="-120"/>
              </a:rPr>
              <a:t>Profil : Central · Finance</a:t>
            </a:r>
            <a:endParaRPr lang="en-US" sz="900" dirty="0"/>
          </a:p>
        </p:txBody>
      </p:sp>
      <p:sp>
        <p:nvSpPr>
          <p:cNvPr id="38" name="Text 36"/>
          <p:cNvSpPr txBox="1"/>
          <p:nvPr/>
        </p:nvSpPr>
        <p:spPr>
          <a:xfrm>
            <a:off x="6762902" y="4153205"/>
            <a:ext cx="4953305"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OBJECTIF</a:t>
            </a:r>
            <a:endParaRPr lang="en-US" sz="800" dirty="0"/>
          </a:p>
        </p:txBody>
      </p:sp>
      <p:sp>
        <p:nvSpPr>
          <p:cNvPr id="39" name="Text 37"/>
          <p:cNvSpPr txBox="1"/>
          <p:nvPr/>
        </p:nvSpPr>
        <p:spPr>
          <a:xfrm>
            <a:off x="6762902" y="4324198"/>
            <a:ext cx="4953305" cy="171907"/>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Vérifier le reporting par service et la cohérence des données.</a:t>
            </a:r>
            <a:endParaRPr lang="en-US" sz="900" dirty="0"/>
          </a:p>
        </p:txBody>
      </p:sp>
      <p:sp>
        <p:nvSpPr>
          <p:cNvPr id="40" name="Text 38"/>
          <p:cNvSpPr txBox="1"/>
          <p:nvPr/>
        </p:nvSpPr>
        <p:spPr>
          <a:xfrm>
            <a:off x="6762902" y="4610405"/>
            <a:ext cx="4953305"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ÉTAPES</a:t>
            </a:r>
            <a:endParaRPr lang="en-US" sz="800" dirty="0"/>
          </a:p>
        </p:txBody>
      </p:sp>
      <p:sp>
        <p:nvSpPr>
          <p:cNvPr id="41" name="Text 39"/>
          <p:cNvSpPr txBox="1"/>
          <p:nvPr/>
        </p:nvSpPr>
        <p:spPr>
          <a:xfrm>
            <a:off x="6933895" y="4800600"/>
            <a:ext cx="4782312" cy="181051"/>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Réaliser des courses, livraisons, fret, locations</a:t>
            </a:r>
            <a:endParaRPr lang="en-US" sz="900" dirty="0"/>
          </a:p>
        </p:txBody>
      </p:sp>
      <p:sp>
        <p:nvSpPr>
          <p:cNvPr id="42" name="Text 40"/>
          <p:cNvSpPr txBox="1"/>
          <p:nvPr/>
        </p:nvSpPr>
        <p:spPr>
          <a:xfrm>
            <a:off x="6933895" y="4977994"/>
            <a:ext cx="4782312" cy="181051"/>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Consulter le reporting central</a:t>
            </a:r>
            <a:endParaRPr lang="en-US" sz="900" dirty="0"/>
          </a:p>
        </p:txBody>
      </p:sp>
      <p:sp>
        <p:nvSpPr>
          <p:cNvPr id="43" name="Text 41"/>
          <p:cNvSpPr txBox="1"/>
          <p:nvPr/>
        </p:nvSpPr>
        <p:spPr>
          <a:xfrm>
            <a:off x="6933895" y="5154473"/>
            <a:ext cx="4782312" cy="181051"/>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Comparer les données réelles &amp; affichées</a:t>
            </a:r>
            <a:endParaRPr lang="en-US" sz="900" dirty="0"/>
          </a:p>
        </p:txBody>
      </p:sp>
      <p:sp>
        <p:nvSpPr>
          <p:cNvPr id="44" name="Text 42"/>
          <p:cNvSpPr txBox="1"/>
          <p:nvPr/>
        </p:nvSpPr>
        <p:spPr>
          <a:xfrm>
            <a:off x="6933895" y="5331866"/>
            <a:ext cx="4782312" cy="181051"/>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Vérifier la ventilation par service</a:t>
            </a:r>
            <a:endParaRPr lang="en-US" sz="900" dirty="0"/>
          </a:p>
        </p:txBody>
      </p:sp>
      <p:sp>
        <p:nvSpPr>
          <p:cNvPr id="45" name="Text 43"/>
          <p:cNvSpPr txBox="1"/>
          <p:nvPr/>
        </p:nvSpPr>
        <p:spPr>
          <a:xfrm>
            <a:off x="6933895" y="5509260"/>
            <a:ext cx="4782312" cy="181051"/>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Vérifier les montants</a:t>
            </a:r>
            <a:endParaRPr lang="en-US" sz="900" dirty="0"/>
          </a:p>
        </p:txBody>
      </p:sp>
      <p:sp>
        <p:nvSpPr>
          <p:cNvPr id="46" name="Text 44"/>
          <p:cNvSpPr txBox="1"/>
          <p:nvPr/>
        </p:nvSpPr>
        <p:spPr>
          <a:xfrm>
            <a:off x="6933895" y="5685739"/>
            <a:ext cx="4782312" cy="181051"/>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Vérifier les statuts</a:t>
            </a:r>
            <a:endParaRPr lang="en-US" sz="900" dirty="0"/>
          </a:p>
        </p:txBody>
      </p:sp>
      <p:sp>
        <p:nvSpPr>
          <p:cNvPr id="47" name="Shape 45"/>
          <p:cNvSpPr/>
          <p:nvPr/>
        </p:nvSpPr>
        <p:spPr>
          <a:xfrm>
            <a:off x="6762902" y="5996635"/>
            <a:ext cx="4953305" cy="761695"/>
          </a:xfrm>
          <a:prstGeom prst="roundRect">
            <a:avLst>
              <a:gd name="adj" fmla="val 9964"/>
            </a:avLst>
          </a:prstGeom>
          <a:solidFill>
            <a:srgbClr val="4C1D95"/>
          </a:solidFill>
          <a:ln w="12700">
            <a:solidFill>
              <a:srgbClr val="FFFFFF">
                <a:alpha val="0"/>
              </a:srgbClr>
            </a:solidFill>
            <a:prstDash val="solid"/>
          </a:ln>
        </p:spPr>
        <p:txBody>
          <a:bodyPr/>
          <a:lstStyle/>
          <a:p>
            <a:endParaRPr lang="fr-CI"/>
          </a:p>
        </p:txBody>
      </p:sp>
      <p:sp>
        <p:nvSpPr>
          <p:cNvPr id="48" name="Text 46"/>
          <p:cNvSpPr txBox="1"/>
          <p:nvPr/>
        </p:nvSpPr>
        <p:spPr>
          <a:xfrm>
            <a:off x="6877202" y="6110935"/>
            <a:ext cx="4724705" cy="133502"/>
          </a:xfrm>
          <a:prstGeom prst="rect">
            <a:avLst/>
          </a:prstGeom>
          <a:noFill/>
          <a:ln/>
        </p:spPr>
        <p:txBody>
          <a:bodyPr wrap="none" lIns="0" tIns="0" rIns="0" bIns="0" rtlCol="0" anchor="ctr"/>
          <a:lstStyle/>
          <a:p>
            <a:pPr marL="0" indent="0" algn="l">
              <a:buNone/>
            </a:pPr>
            <a:r>
              <a:rPr lang="en-US" sz="800" b="1" dirty="0">
                <a:solidFill>
                  <a:srgbClr val="10B981"/>
                </a:solidFill>
                <a:latin typeface="JetBrains Mono" pitchFamily="34" charset="0"/>
                <a:ea typeface="JetBrains Mono" pitchFamily="34" charset="-122"/>
                <a:cs typeface="JetBrains Mono" pitchFamily="34" charset="-120"/>
              </a:rPr>
              <a:t>RÉSULTATS</a:t>
            </a:r>
            <a:endParaRPr lang="en-US" sz="800" dirty="0"/>
          </a:p>
        </p:txBody>
      </p:sp>
      <p:sp>
        <p:nvSpPr>
          <p:cNvPr id="49" name="Text 47"/>
          <p:cNvSpPr txBox="1"/>
          <p:nvPr/>
        </p:nvSpPr>
        <p:spPr>
          <a:xfrm>
            <a:off x="6877202" y="6301130"/>
            <a:ext cx="4724705" cy="342900"/>
          </a:xfrm>
          <a:prstGeom prst="rect">
            <a:avLst/>
          </a:prstGeom>
          <a:noFill/>
          <a:ln/>
        </p:spPr>
        <p:txBody>
          <a:bodyPr wrap="squar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Chaque service est correctement comptabilisé · montants cohérents · statuts exacts · rapports lisibles.</a:t>
            </a:r>
            <a:endParaRPr lang="en-US" sz="900" dirty="0"/>
          </a:p>
        </p:txBody>
      </p:sp>
      <p:sp>
        <p:nvSpPr>
          <p:cNvPr id="50" name="Shape 48"/>
          <p:cNvSpPr/>
          <p:nvPr/>
        </p:nvSpPr>
        <p:spPr>
          <a:xfrm>
            <a:off x="6762902" y="6891833"/>
            <a:ext cx="4953305" cy="562356"/>
          </a:xfrm>
          <a:prstGeom prst="roundRect">
            <a:avLst>
              <a:gd name="adj" fmla="val 13496"/>
            </a:avLst>
          </a:prstGeom>
          <a:solidFill>
            <a:srgbClr val="374151"/>
          </a:solidFill>
          <a:ln w="12700">
            <a:solidFill>
              <a:srgbClr val="FFFFFF">
                <a:alpha val="0"/>
              </a:srgbClr>
            </a:solidFill>
            <a:prstDash val="solid"/>
          </a:ln>
        </p:spPr>
        <p:txBody>
          <a:bodyPr/>
          <a:lstStyle/>
          <a:p>
            <a:endParaRPr lang="fr-CI"/>
          </a:p>
        </p:txBody>
      </p:sp>
      <p:sp>
        <p:nvSpPr>
          <p:cNvPr id="51" name="Text 49"/>
          <p:cNvSpPr txBox="1"/>
          <p:nvPr/>
        </p:nvSpPr>
        <p:spPr>
          <a:xfrm>
            <a:off x="6877202" y="7006133"/>
            <a:ext cx="4724705"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CRITÈRE</a:t>
            </a:r>
            <a:endParaRPr lang="en-US" sz="800" dirty="0"/>
          </a:p>
        </p:txBody>
      </p:sp>
      <p:sp>
        <p:nvSpPr>
          <p:cNvPr id="52" name="Text 50"/>
          <p:cNvSpPr txBox="1"/>
          <p:nvPr/>
        </p:nvSpPr>
        <p:spPr>
          <a:xfrm>
            <a:off x="6877202" y="7178040"/>
            <a:ext cx="4724705" cy="162763"/>
          </a:xfrm>
          <a:prstGeom prst="rect">
            <a:avLst/>
          </a:prstGeom>
          <a:noFill/>
          <a:ln/>
        </p:spPr>
        <p:txBody>
          <a:bodyPr wrap="non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Aucun écart entre les chiffres affichés et le terrain.</a:t>
            </a:r>
            <a:endParaRPr lang="en-US" sz="900" dirty="0"/>
          </a:p>
        </p:txBody>
      </p:sp>
      <p:sp>
        <p:nvSpPr>
          <p:cNvPr id="53" name="Shape 51"/>
          <p:cNvSpPr/>
          <p:nvPr/>
        </p:nvSpPr>
        <p:spPr>
          <a:xfrm>
            <a:off x="12154205" y="2762402"/>
            <a:ext cx="5238598" cy="6762902"/>
          </a:xfrm>
          <a:prstGeom prst="roundRect">
            <a:avLst>
              <a:gd name="adj" fmla="val 2548"/>
            </a:avLst>
          </a:prstGeom>
          <a:solidFill>
            <a:srgbClr val="FFFFFF"/>
          </a:solidFill>
          <a:ln w="25400">
            <a:solidFill>
              <a:srgbClr val="6D28D9"/>
            </a:solidFill>
            <a:prstDash val="solid"/>
          </a:ln>
        </p:spPr>
        <p:txBody>
          <a:bodyPr/>
          <a:lstStyle/>
          <a:p>
            <a:endParaRPr lang="fr-CI"/>
          </a:p>
        </p:txBody>
      </p:sp>
      <p:sp>
        <p:nvSpPr>
          <p:cNvPr id="54" name="Text 52"/>
          <p:cNvSpPr txBox="1"/>
          <p:nvPr/>
        </p:nvSpPr>
        <p:spPr>
          <a:xfrm>
            <a:off x="12382805" y="2991002"/>
            <a:ext cx="590702" cy="210312"/>
          </a:xfrm>
          <a:prstGeom prst="rect">
            <a:avLst/>
          </a:prstGeom>
          <a:noFill/>
          <a:ln/>
        </p:spPr>
        <p:txBody>
          <a:bodyPr wrap="none" lIns="0" tIns="0" rIns="0" bIns="0" rtlCol="0" anchor="ctr"/>
          <a:lstStyle/>
          <a:p>
            <a:pPr marL="0" indent="0" algn="l">
              <a:buNone/>
            </a:pPr>
            <a:r>
              <a:rPr lang="en-US" sz="1200" b="1" dirty="0">
                <a:solidFill>
                  <a:srgbClr val="6D28D9"/>
                </a:solidFill>
                <a:latin typeface="JetBrains Mono" pitchFamily="34" charset="0"/>
                <a:ea typeface="JetBrains Mono" pitchFamily="34" charset="-122"/>
                <a:cs typeface="JetBrains Mono" pitchFamily="34" charset="-120"/>
              </a:rPr>
              <a:t>UC-C03</a:t>
            </a:r>
            <a:endParaRPr lang="en-US" sz="1200" dirty="0"/>
          </a:p>
        </p:txBody>
      </p:sp>
      <p:sp>
        <p:nvSpPr>
          <p:cNvPr id="55" name="Shape 53"/>
          <p:cNvSpPr/>
          <p:nvPr/>
        </p:nvSpPr>
        <p:spPr>
          <a:xfrm>
            <a:off x="16418966" y="2952598"/>
            <a:ext cx="733349" cy="286207"/>
          </a:xfrm>
          <a:prstGeom prst="roundRect">
            <a:avLst>
              <a:gd name="adj" fmla="val 49840"/>
            </a:avLst>
          </a:prstGeom>
          <a:solidFill>
            <a:srgbClr val="FEF3C7"/>
          </a:solidFill>
          <a:ln w="12700">
            <a:solidFill>
              <a:srgbClr val="FFFFFF">
                <a:alpha val="0"/>
              </a:srgbClr>
            </a:solidFill>
            <a:prstDash val="solid"/>
          </a:ln>
        </p:spPr>
        <p:txBody>
          <a:bodyPr/>
          <a:lstStyle/>
          <a:p>
            <a:endParaRPr lang="fr-CI"/>
          </a:p>
        </p:txBody>
      </p:sp>
      <p:sp>
        <p:nvSpPr>
          <p:cNvPr id="56" name="Text 54"/>
          <p:cNvSpPr/>
          <p:nvPr/>
        </p:nvSpPr>
        <p:spPr>
          <a:xfrm>
            <a:off x="16418966" y="2952598"/>
            <a:ext cx="7342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2400E"/>
                </a:solidFill>
                <a:latin typeface="Manrope" pitchFamily="34" charset="0"/>
                <a:ea typeface="Manrope" pitchFamily="34" charset="-122"/>
                <a:cs typeface="Manrope" pitchFamily="34" charset="-120"/>
              </a:rPr>
              <a:t>Majeure</a:t>
            </a:r>
            <a:endParaRPr lang="en-US" sz="900" dirty="0"/>
          </a:p>
        </p:txBody>
      </p:sp>
      <p:sp>
        <p:nvSpPr>
          <p:cNvPr id="57" name="Text 55"/>
          <p:cNvSpPr txBox="1"/>
          <p:nvPr/>
        </p:nvSpPr>
        <p:spPr>
          <a:xfrm>
            <a:off x="12382805" y="3333902"/>
            <a:ext cx="4763110" cy="267005"/>
          </a:xfrm>
          <a:prstGeom prst="rect">
            <a:avLst/>
          </a:prstGeom>
          <a:noFill/>
          <a:ln/>
        </p:spPr>
        <p:txBody>
          <a:bodyPr wrap="none" lIns="0" tIns="0" rIns="0" bIns="0" rtlCol="0" anchor="ctr"/>
          <a:lstStyle/>
          <a:p>
            <a:pPr marL="0" indent="0" algn="l">
              <a:buNone/>
            </a:pPr>
            <a:r>
              <a:rPr lang="en-US" sz="1600" b="1" dirty="0">
                <a:solidFill>
                  <a:srgbClr val="1F2937"/>
                </a:solidFill>
                <a:latin typeface="Manrope" pitchFamily="34" charset="0"/>
                <a:ea typeface="Manrope" pitchFamily="34" charset="-122"/>
                <a:cs typeface="Manrope" pitchFamily="34" charset="-120"/>
              </a:rPr>
              <a:t>Gestion des réclamations</a:t>
            </a:r>
            <a:endParaRPr lang="en-US" sz="1600" dirty="0"/>
          </a:p>
        </p:txBody>
      </p:sp>
      <p:sp>
        <p:nvSpPr>
          <p:cNvPr id="58" name="Text 56"/>
          <p:cNvSpPr txBox="1"/>
          <p:nvPr/>
        </p:nvSpPr>
        <p:spPr>
          <a:xfrm>
            <a:off x="12382805" y="3653028"/>
            <a:ext cx="4763110"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Profil : Support · Central</a:t>
            </a:r>
            <a:endParaRPr lang="en-US" sz="900" dirty="0"/>
          </a:p>
        </p:txBody>
      </p:sp>
      <p:sp>
        <p:nvSpPr>
          <p:cNvPr id="59" name="Text 57"/>
          <p:cNvSpPr txBox="1"/>
          <p:nvPr/>
        </p:nvSpPr>
        <p:spPr>
          <a:xfrm>
            <a:off x="12382805" y="3976726"/>
            <a:ext cx="4763110"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OBJECTIF</a:t>
            </a:r>
            <a:endParaRPr lang="en-US" sz="800" dirty="0"/>
          </a:p>
        </p:txBody>
      </p:sp>
      <p:sp>
        <p:nvSpPr>
          <p:cNvPr id="60" name="Text 58"/>
          <p:cNvSpPr txBox="1"/>
          <p:nvPr/>
        </p:nvSpPr>
        <p:spPr>
          <a:xfrm>
            <a:off x="12382805" y="4147718"/>
            <a:ext cx="5448910" cy="171907"/>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Tester la gestion support des réclamations remontées par tous les profils.</a:t>
            </a:r>
            <a:endParaRPr lang="en-US" sz="900" dirty="0"/>
          </a:p>
        </p:txBody>
      </p:sp>
      <p:sp>
        <p:nvSpPr>
          <p:cNvPr id="61" name="Text 59"/>
          <p:cNvSpPr txBox="1"/>
          <p:nvPr/>
        </p:nvSpPr>
        <p:spPr>
          <a:xfrm>
            <a:off x="12382805" y="4433926"/>
            <a:ext cx="4763110"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ÉTAPES</a:t>
            </a:r>
            <a:endParaRPr lang="en-US" sz="800" dirty="0"/>
          </a:p>
        </p:txBody>
      </p:sp>
      <p:sp>
        <p:nvSpPr>
          <p:cNvPr id="62" name="Text 60"/>
          <p:cNvSpPr txBox="1"/>
          <p:nvPr/>
        </p:nvSpPr>
        <p:spPr>
          <a:xfrm>
            <a:off x="12553798" y="4624121"/>
            <a:ext cx="4591202" cy="181051"/>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Créer une réclamation client</a:t>
            </a:r>
            <a:endParaRPr lang="en-US" sz="900" dirty="0"/>
          </a:p>
        </p:txBody>
      </p:sp>
      <p:sp>
        <p:nvSpPr>
          <p:cNvPr id="63" name="Text 61"/>
          <p:cNvSpPr txBox="1"/>
          <p:nvPr/>
        </p:nvSpPr>
        <p:spPr>
          <a:xfrm>
            <a:off x="12553798" y="4801514"/>
            <a:ext cx="4591202" cy="181051"/>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Créer une réclamation chauffeur</a:t>
            </a:r>
            <a:endParaRPr lang="en-US" sz="900" dirty="0"/>
          </a:p>
        </p:txBody>
      </p:sp>
      <p:sp>
        <p:nvSpPr>
          <p:cNvPr id="64" name="Text 62"/>
          <p:cNvSpPr txBox="1"/>
          <p:nvPr/>
        </p:nvSpPr>
        <p:spPr>
          <a:xfrm>
            <a:off x="12553798" y="4978908"/>
            <a:ext cx="4591202" cy="181051"/>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Créer une réclamation partenaire</a:t>
            </a:r>
            <a:endParaRPr lang="en-US" sz="900" dirty="0"/>
          </a:p>
        </p:txBody>
      </p:sp>
      <p:sp>
        <p:nvSpPr>
          <p:cNvPr id="65" name="Text 63"/>
          <p:cNvSpPr txBox="1"/>
          <p:nvPr/>
        </p:nvSpPr>
        <p:spPr>
          <a:xfrm>
            <a:off x="12553798" y="5155387"/>
            <a:ext cx="4591202" cy="181051"/>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Traiter depuis le support</a:t>
            </a:r>
            <a:endParaRPr lang="en-US" sz="900" dirty="0"/>
          </a:p>
        </p:txBody>
      </p:sp>
      <p:sp>
        <p:nvSpPr>
          <p:cNvPr id="66" name="Text 64"/>
          <p:cNvSpPr txBox="1"/>
          <p:nvPr/>
        </p:nvSpPr>
        <p:spPr>
          <a:xfrm>
            <a:off x="12553798" y="5332781"/>
            <a:ext cx="4591202" cy="181051"/>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Changer le statut</a:t>
            </a:r>
            <a:endParaRPr lang="en-US" sz="900" dirty="0"/>
          </a:p>
        </p:txBody>
      </p:sp>
      <p:sp>
        <p:nvSpPr>
          <p:cNvPr id="67" name="Text 65"/>
          <p:cNvSpPr txBox="1"/>
          <p:nvPr/>
        </p:nvSpPr>
        <p:spPr>
          <a:xfrm>
            <a:off x="12553798" y="5510174"/>
            <a:ext cx="4591202" cy="181051"/>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Clôturer</a:t>
            </a:r>
            <a:endParaRPr lang="en-US" sz="900" dirty="0"/>
          </a:p>
        </p:txBody>
      </p:sp>
      <p:sp>
        <p:nvSpPr>
          <p:cNvPr id="68" name="Shape 66"/>
          <p:cNvSpPr/>
          <p:nvPr/>
        </p:nvSpPr>
        <p:spPr>
          <a:xfrm>
            <a:off x="12382805" y="5820156"/>
            <a:ext cx="4762195" cy="761695"/>
          </a:xfrm>
          <a:prstGeom prst="roundRect">
            <a:avLst>
              <a:gd name="adj" fmla="val 9964"/>
            </a:avLst>
          </a:prstGeom>
          <a:solidFill>
            <a:srgbClr val="F5F3FF"/>
          </a:solidFill>
          <a:ln w="12700">
            <a:solidFill>
              <a:srgbClr val="FFFFFF">
                <a:alpha val="0"/>
              </a:srgbClr>
            </a:solidFill>
            <a:prstDash val="solid"/>
          </a:ln>
        </p:spPr>
        <p:txBody>
          <a:bodyPr/>
          <a:lstStyle/>
          <a:p>
            <a:endParaRPr lang="fr-CI"/>
          </a:p>
        </p:txBody>
      </p:sp>
      <p:sp>
        <p:nvSpPr>
          <p:cNvPr id="69" name="Text 67"/>
          <p:cNvSpPr txBox="1"/>
          <p:nvPr/>
        </p:nvSpPr>
        <p:spPr>
          <a:xfrm>
            <a:off x="12497105" y="5934456"/>
            <a:ext cx="4534510" cy="133502"/>
          </a:xfrm>
          <a:prstGeom prst="rect">
            <a:avLst/>
          </a:prstGeom>
          <a:noFill/>
          <a:ln/>
        </p:spPr>
        <p:txBody>
          <a:bodyPr wrap="none" lIns="0" tIns="0" rIns="0" bIns="0" rtlCol="0" anchor="ctr"/>
          <a:lstStyle/>
          <a:p>
            <a:pPr marL="0" indent="0" algn="l">
              <a:buNone/>
            </a:pPr>
            <a:r>
              <a:rPr lang="en-US" sz="800" b="1" dirty="0">
                <a:solidFill>
                  <a:srgbClr val="10B981"/>
                </a:solidFill>
                <a:latin typeface="JetBrains Mono" pitchFamily="34" charset="0"/>
                <a:ea typeface="JetBrains Mono" pitchFamily="34" charset="-122"/>
                <a:cs typeface="JetBrains Mono" pitchFamily="34" charset="-120"/>
              </a:rPr>
              <a:t>RÉSULTATS</a:t>
            </a:r>
            <a:endParaRPr lang="en-US" sz="800" dirty="0"/>
          </a:p>
        </p:txBody>
      </p:sp>
      <p:sp>
        <p:nvSpPr>
          <p:cNvPr id="70" name="Text 68"/>
          <p:cNvSpPr txBox="1"/>
          <p:nvPr/>
        </p:nvSpPr>
        <p:spPr>
          <a:xfrm>
            <a:off x="12497105" y="6125566"/>
            <a:ext cx="4534510" cy="342900"/>
          </a:xfrm>
          <a:prstGeom prst="rect">
            <a:avLst/>
          </a:prstGeom>
          <a:noFill/>
          <a:ln/>
        </p:spPr>
        <p:txBody>
          <a:bodyPr wrap="squar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Réclamations visibles · traitement possible · historique conservé · reporting support disponible.</a:t>
            </a:r>
            <a:endParaRPr lang="en-US" sz="900" dirty="0"/>
          </a:p>
        </p:txBody>
      </p:sp>
      <p:sp>
        <p:nvSpPr>
          <p:cNvPr id="71" name="Shape 69"/>
          <p:cNvSpPr/>
          <p:nvPr/>
        </p:nvSpPr>
        <p:spPr>
          <a:xfrm>
            <a:off x="12382805" y="6715354"/>
            <a:ext cx="4762195" cy="562356"/>
          </a:xfrm>
          <a:prstGeom prst="roundRect">
            <a:avLst>
              <a:gd name="adj" fmla="val 13496"/>
            </a:avLst>
          </a:prstGeom>
          <a:solidFill>
            <a:srgbClr val="1F2937"/>
          </a:solidFill>
          <a:ln w="12700">
            <a:solidFill>
              <a:srgbClr val="FFFFFF">
                <a:alpha val="0"/>
              </a:srgbClr>
            </a:solidFill>
            <a:prstDash val="solid"/>
          </a:ln>
        </p:spPr>
        <p:txBody>
          <a:bodyPr/>
          <a:lstStyle/>
          <a:p>
            <a:endParaRPr lang="fr-CI"/>
          </a:p>
        </p:txBody>
      </p:sp>
      <p:sp>
        <p:nvSpPr>
          <p:cNvPr id="72" name="Text 70"/>
          <p:cNvSpPr txBox="1"/>
          <p:nvPr/>
        </p:nvSpPr>
        <p:spPr>
          <a:xfrm>
            <a:off x="12497105" y="6829654"/>
            <a:ext cx="4534510"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CRITÈRE</a:t>
            </a:r>
            <a:endParaRPr lang="en-US" sz="800" dirty="0"/>
          </a:p>
        </p:txBody>
      </p:sp>
      <p:sp>
        <p:nvSpPr>
          <p:cNvPr id="73" name="Text 71"/>
          <p:cNvSpPr txBox="1"/>
          <p:nvPr/>
        </p:nvSpPr>
        <p:spPr>
          <a:xfrm>
            <a:off x="12497105" y="7001561"/>
            <a:ext cx="4534510" cy="162763"/>
          </a:xfrm>
          <a:prstGeom prst="rect">
            <a:avLst/>
          </a:prstGeom>
          <a:noFill/>
          <a:ln/>
        </p:spPr>
        <p:txBody>
          <a:bodyPr wrap="non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SLA support : prise en charge sous 24h en condition de test.</a:t>
            </a:r>
            <a:endParaRPr lang="en-US" sz="900" dirty="0"/>
          </a:p>
        </p:txBody>
      </p:sp>
      <p:sp>
        <p:nvSpPr>
          <p:cNvPr id="74" name="Shape 72"/>
          <p:cNvSpPr/>
          <p:nvPr/>
        </p:nvSpPr>
        <p:spPr>
          <a:xfrm>
            <a:off x="0" y="9791395"/>
            <a:ext cx="18288000" cy="495605"/>
          </a:xfrm>
          <a:prstGeom prst="rect">
            <a:avLst/>
          </a:prstGeom>
          <a:solidFill>
            <a:srgbClr val="FFFFFF"/>
          </a:solidFill>
          <a:ln/>
        </p:spPr>
        <p:txBody>
          <a:bodyPr/>
          <a:lstStyle/>
          <a:p>
            <a:endParaRPr lang="fr-CI"/>
          </a:p>
        </p:txBody>
      </p:sp>
      <p:sp>
        <p:nvSpPr>
          <p:cNvPr id="75" name="Shape 73"/>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76" name="Text 74"/>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77" name="Text 75"/>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41 / 59</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6229686" y="256946"/>
            <a:ext cx="1865376"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UC Franchise · H.bis</a:t>
            </a:r>
            <a:endParaRPr lang="en-US" sz="900" dirty="0"/>
          </a:p>
        </p:txBody>
      </p:sp>
      <p:sp>
        <p:nvSpPr>
          <p:cNvPr id="10" name="Text 8"/>
          <p:cNvSpPr txBox="1"/>
          <p:nvPr/>
        </p:nvSpPr>
        <p:spPr>
          <a:xfrm>
            <a:off x="914400" y="1205179"/>
            <a:ext cx="4019702"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H.bis · Franchise — bonus performance</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7878349"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UC-FR02 — Reversement automatique des bonus de performance.</a:t>
            </a:r>
            <a:endParaRPr lang="en-US" sz="3900" dirty="0"/>
          </a:p>
        </p:txBody>
      </p:sp>
      <p:sp>
        <p:nvSpPr>
          <p:cNvPr id="13" name="Shape 11"/>
          <p:cNvSpPr/>
          <p:nvPr/>
        </p:nvSpPr>
        <p:spPr>
          <a:xfrm>
            <a:off x="914400" y="2762402"/>
            <a:ext cx="10477195" cy="6762902"/>
          </a:xfrm>
          <a:prstGeom prst="roundRect">
            <a:avLst>
              <a:gd name="adj" fmla="val 1974"/>
            </a:avLst>
          </a:prstGeom>
          <a:solidFill>
            <a:srgbClr val="FFFFFF"/>
          </a:solidFill>
          <a:ln w="25400">
            <a:solidFill>
              <a:srgbClr val="6D28D9"/>
            </a:solidFill>
            <a:prstDash val="solid"/>
          </a:ln>
        </p:spPr>
        <p:txBody>
          <a:bodyPr/>
          <a:lstStyle/>
          <a:p>
            <a:endParaRPr lang="fr-CI"/>
          </a:p>
        </p:txBody>
      </p:sp>
      <p:sp>
        <p:nvSpPr>
          <p:cNvPr id="14" name="Text 12"/>
          <p:cNvSpPr txBox="1"/>
          <p:nvPr/>
        </p:nvSpPr>
        <p:spPr>
          <a:xfrm>
            <a:off x="1218895" y="2986430"/>
            <a:ext cx="724205" cy="219456"/>
          </a:xfrm>
          <a:prstGeom prst="rect">
            <a:avLst/>
          </a:prstGeom>
          <a:noFill/>
          <a:ln/>
        </p:spPr>
        <p:txBody>
          <a:bodyPr wrap="none" lIns="0" tIns="0" rIns="0" bIns="0" rtlCol="0" anchor="ctr"/>
          <a:lstStyle/>
          <a:p>
            <a:pPr marL="0" indent="0" algn="l">
              <a:buNone/>
            </a:pPr>
            <a:r>
              <a:rPr lang="en-US" sz="1300" b="1" dirty="0">
                <a:solidFill>
                  <a:srgbClr val="6D28D9"/>
                </a:solidFill>
                <a:latin typeface="JetBrains Mono" pitchFamily="34" charset="0"/>
                <a:ea typeface="JetBrains Mono" pitchFamily="34" charset="-122"/>
                <a:cs typeface="JetBrains Mono" pitchFamily="34" charset="-120"/>
              </a:rPr>
              <a:t>UC-FR02</a:t>
            </a:r>
            <a:endParaRPr lang="en-US" sz="1300" dirty="0"/>
          </a:p>
        </p:txBody>
      </p:sp>
      <p:sp>
        <p:nvSpPr>
          <p:cNvPr id="15" name="Shape 13"/>
          <p:cNvSpPr/>
          <p:nvPr/>
        </p:nvSpPr>
        <p:spPr>
          <a:xfrm>
            <a:off x="10394899" y="2952598"/>
            <a:ext cx="733349" cy="286207"/>
          </a:xfrm>
          <a:prstGeom prst="roundRect">
            <a:avLst>
              <a:gd name="adj" fmla="val 49840"/>
            </a:avLst>
          </a:prstGeom>
          <a:solidFill>
            <a:srgbClr val="FEE2E2"/>
          </a:solidFill>
          <a:ln w="12700">
            <a:solidFill>
              <a:srgbClr val="FFFFFF">
                <a:alpha val="0"/>
              </a:srgbClr>
            </a:solidFill>
            <a:prstDash val="solid"/>
          </a:ln>
        </p:spPr>
        <p:txBody>
          <a:bodyPr/>
          <a:lstStyle/>
          <a:p>
            <a:endParaRPr lang="fr-CI"/>
          </a:p>
        </p:txBody>
      </p:sp>
      <p:sp>
        <p:nvSpPr>
          <p:cNvPr id="16" name="Text 14"/>
          <p:cNvSpPr/>
          <p:nvPr/>
        </p:nvSpPr>
        <p:spPr>
          <a:xfrm>
            <a:off x="10394899" y="2952598"/>
            <a:ext cx="7342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91B1B"/>
                </a:solidFill>
                <a:latin typeface="Manrope" pitchFamily="34" charset="0"/>
                <a:ea typeface="Manrope" pitchFamily="34" charset="-122"/>
                <a:cs typeface="Manrope" pitchFamily="34" charset="-120"/>
              </a:rPr>
              <a:t>Critique</a:t>
            </a:r>
            <a:endParaRPr lang="en-US" sz="900" dirty="0"/>
          </a:p>
        </p:txBody>
      </p:sp>
      <p:sp>
        <p:nvSpPr>
          <p:cNvPr id="17" name="Text 15"/>
          <p:cNvSpPr txBox="1"/>
          <p:nvPr/>
        </p:nvSpPr>
        <p:spPr>
          <a:xfrm>
            <a:off x="1218895" y="3333902"/>
            <a:ext cx="9906610" cy="314554"/>
          </a:xfrm>
          <a:prstGeom prst="rect">
            <a:avLst/>
          </a:prstGeom>
          <a:noFill/>
          <a:ln/>
        </p:spPr>
        <p:txBody>
          <a:bodyPr wrap="none" lIns="0" tIns="0" rIns="0" bIns="0" rtlCol="0" anchor="ctr"/>
          <a:lstStyle/>
          <a:p>
            <a:pPr marL="0" indent="0" algn="l">
              <a:buNone/>
            </a:pPr>
            <a:r>
              <a:rPr lang="en-US" sz="1900" b="1" dirty="0">
                <a:solidFill>
                  <a:srgbClr val="1F2937"/>
                </a:solidFill>
                <a:latin typeface="Manrope" pitchFamily="34" charset="0"/>
                <a:ea typeface="Manrope" pitchFamily="34" charset="-122"/>
                <a:cs typeface="Manrope" pitchFamily="34" charset="-120"/>
              </a:rPr>
              <a:t>Reversement automatique de bonus aux chauffeurs</a:t>
            </a:r>
            <a:endParaRPr lang="en-US" sz="1900" dirty="0"/>
          </a:p>
        </p:txBody>
      </p:sp>
      <p:sp>
        <p:nvSpPr>
          <p:cNvPr id="18" name="Text 16"/>
          <p:cNvSpPr txBox="1"/>
          <p:nvPr/>
        </p:nvSpPr>
        <p:spPr>
          <a:xfrm>
            <a:off x="1218895" y="3700577"/>
            <a:ext cx="9906610"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Service : Franchise · Profils : Franchise, Chauffeur, Central (auditeur)</a:t>
            </a:r>
            <a:endParaRPr lang="en-US" sz="900" dirty="0"/>
          </a:p>
        </p:txBody>
      </p:sp>
      <p:sp>
        <p:nvSpPr>
          <p:cNvPr id="19" name="Text 17"/>
          <p:cNvSpPr txBox="1"/>
          <p:nvPr/>
        </p:nvSpPr>
        <p:spPr>
          <a:xfrm>
            <a:off x="1218895" y="4081882"/>
            <a:ext cx="4839005"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OBJECTIF</a:t>
            </a:r>
            <a:endParaRPr lang="en-US" sz="800" dirty="0"/>
          </a:p>
        </p:txBody>
      </p:sp>
      <p:sp>
        <p:nvSpPr>
          <p:cNvPr id="20" name="Text 18"/>
          <p:cNvSpPr txBox="1"/>
          <p:nvPr/>
        </p:nvSpPr>
        <p:spPr>
          <a:xfrm>
            <a:off x="1218895" y="4272077"/>
            <a:ext cx="4839005" cy="629107"/>
          </a:xfrm>
          <a:prstGeom prst="rect">
            <a:avLst/>
          </a:prstGeom>
          <a:noFill/>
          <a:ln/>
        </p:spPr>
        <p:txBody>
          <a:bodyPr wrap="square" lIns="0" tIns="0" rIns="0" bIns="0" rtlCol="0" anchor="ctr"/>
          <a:lstStyle/>
          <a:p>
            <a:pPr marL="0" indent="0" algn="l">
              <a:buNone/>
            </a:pPr>
            <a:r>
              <a:rPr lang="en-US" sz="1000" dirty="0">
                <a:solidFill>
                  <a:srgbClr val="1F2937"/>
                </a:solidFill>
                <a:latin typeface="Manrope" pitchFamily="34" charset="0"/>
                <a:ea typeface="Manrope" pitchFamily="34" charset="-122"/>
                <a:cs typeface="Manrope" pitchFamily="34" charset="-120"/>
              </a:rPr>
              <a:t>Vérifier que la franchise peut paramétrer un moteur de règles et que les bonus sont reversés automatiquement aux chauffeurs éligibles, sans intervention manuelle, en fin de période d'évaluation.</a:t>
            </a:r>
            <a:endParaRPr lang="en-US" sz="1000" dirty="0"/>
          </a:p>
        </p:txBody>
      </p:sp>
      <p:sp>
        <p:nvSpPr>
          <p:cNvPr id="21" name="Text 19"/>
          <p:cNvSpPr txBox="1"/>
          <p:nvPr/>
        </p:nvSpPr>
        <p:spPr>
          <a:xfrm>
            <a:off x="1218895" y="5063033"/>
            <a:ext cx="4839005"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PRÉCONDITIONS</a:t>
            </a:r>
            <a:endParaRPr lang="en-US" sz="800" dirty="0"/>
          </a:p>
        </p:txBody>
      </p:sp>
      <p:sp>
        <p:nvSpPr>
          <p:cNvPr id="22" name="Text 20"/>
          <p:cNvSpPr txBox="1"/>
          <p:nvPr/>
        </p:nvSpPr>
        <p:spPr>
          <a:xfrm>
            <a:off x="1218895" y="5272430"/>
            <a:ext cx="4839005"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Franchise en activité avec commissions perçues</a:t>
            </a:r>
            <a:endParaRPr lang="en-US" sz="900" dirty="0"/>
          </a:p>
        </p:txBody>
      </p:sp>
      <p:sp>
        <p:nvSpPr>
          <p:cNvPr id="23" name="Text 21"/>
          <p:cNvSpPr txBox="1"/>
          <p:nvPr/>
        </p:nvSpPr>
        <p:spPr>
          <a:xfrm>
            <a:off x="1218895" y="5464454"/>
            <a:ext cx="4839005"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Chauffeurs rattachés ayant historique d'activité</a:t>
            </a:r>
            <a:endParaRPr lang="en-US" sz="900" dirty="0"/>
          </a:p>
        </p:txBody>
      </p:sp>
      <p:sp>
        <p:nvSpPr>
          <p:cNvPr id="24" name="Text 22"/>
          <p:cNvSpPr txBox="1"/>
          <p:nvPr/>
        </p:nvSpPr>
        <p:spPr>
          <a:xfrm>
            <a:off x="1218895" y="5656478"/>
            <a:ext cx="4839005"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Période d'évaluation définie (ex : semaine glissante)</a:t>
            </a:r>
            <a:endParaRPr lang="en-US" sz="900" dirty="0"/>
          </a:p>
        </p:txBody>
      </p:sp>
      <p:sp>
        <p:nvSpPr>
          <p:cNvPr id="25" name="Text 23"/>
          <p:cNvSpPr txBox="1"/>
          <p:nvPr/>
        </p:nvSpPr>
        <p:spPr>
          <a:xfrm>
            <a:off x="1218895" y="5848502"/>
            <a:ext cx="4839005"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Paramètres KPI prédéfinis et activés</a:t>
            </a:r>
            <a:endParaRPr lang="en-US" sz="900" dirty="0"/>
          </a:p>
        </p:txBody>
      </p:sp>
      <p:sp>
        <p:nvSpPr>
          <p:cNvPr id="26" name="Text 24"/>
          <p:cNvSpPr txBox="1"/>
          <p:nvPr/>
        </p:nvSpPr>
        <p:spPr>
          <a:xfrm>
            <a:off x="1218895" y="6212434"/>
            <a:ext cx="4839005"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ÉTAPES DE TEST</a:t>
            </a:r>
            <a:endParaRPr lang="en-US" sz="800" dirty="0"/>
          </a:p>
        </p:txBody>
      </p:sp>
      <p:sp>
        <p:nvSpPr>
          <p:cNvPr id="27" name="Text 25"/>
          <p:cNvSpPr txBox="1"/>
          <p:nvPr/>
        </p:nvSpPr>
        <p:spPr>
          <a:xfrm>
            <a:off x="1390802" y="6402629"/>
            <a:ext cx="53538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Paramétrer les seuils (courses min, note min, taux accept., taux annul.)</a:t>
            </a:r>
            <a:endParaRPr lang="en-US" sz="900" dirty="0"/>
          </a:p>
        </p:txBody>
      </p:sp>
      <p:sp>
        <p:nvSpPr>
          <p:cNvPr id="28" name="Text 26"/>
          <p:cNvSpPr txBox="1"/>
          <p:nvPr/>
        </p:nvSpPr>
        <p:spPr>
          <a:xfrm>
            <a:off x="1390802" y="6594653"/>
            <a:ext cx="46680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Définir l'enveloppe budgétaire bonus (% des commissions)</a:t>
            </a:r>
            <a:endParaRPr lang="en-US" sz="900" dirty="0"/>
          </a:p>
        </p:txBody>
      </p:sp>
      <p:sp>
        <p:nvSpPr>
          <p:cNvPr id="29" name="Text 27"/>
          <p:cNvSpPr txBox="1"/>
          <p:nvPr/>
        </p:nvSpPr>
        <p:spPr>
          <a:xfrm>
            <a:off x="1390802" y="6786677"/>
            <a:ext cx="46680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Définir la grille de montants (palier 1 / 2 / 3)</a:t>
            </a:r>
            <a:endParaRPr lang="en-US" sz="900" dirty="0"/>
          </a:p>
        </p:txBody>
      </p:sp>
      <p:sp>
        <p:nvSpPr>
          <p:cNvPr id="30" name="Text 28"/>
          <p:cNvSpPr txBox="1"/>
          <p:nvPr/>
        </p:nvSpPr>
        <p:spPr>
          <a:xfrm>
            <a:off x="1390802" y="6978701"/>
            <a:ext cx="46680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Activer le moteur</a:t>
            </a:r>
            <a:endParaRPr lang="en-US" sz="900" dirty="0"/>
          </a:p>
        </p:txBody>
      </p:sp>
      <p:sp>
        <p:nvSpPr>
          <p:cNvPr id="31" name="Text 29"/>
          <p:cNvSpPr txBox="1"/>
          <p:nvPr/>
        </p:nvSpPr>
        <p:spPr>
          <a:xfrm>
            <a:off x="1390802" y="7170725"/>
            <a:ext cx="46680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Laisser tourner une période d'activité</a:t>
            </a:r>
            <a:endParaRPr lang="en-US" sz="900" dirty="0"/>
          </a:p>
        </p:txBody>
      </p:sp>
      <p:sp>
        <p:nvSpPr>
          <p:cNvPr id="32" name="Text 30"/>
          <p:cNvSpPr txBox="1"/>
          <p:nvPr/>
        </p:nvSpPr>
        <p:spPr>
          <a:xfrm>
            <a:off x="1390802" y="7362749"/>
            <a:ext cx="46680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Déclencher le calcul de fin de période</a:t>
            </a:r>
            <a:endParaRPr lang="en-US" sz="900" dirty="0"/>
          </a:p>
        </p:txBody>
      </p:sp>
      <p:sp>
        <p:nvSpPr>
          <p:cNvPr id="33" name="Text 31"/>
          <p:cNvSpPr txBox="1"/>
          <p:nvPr/>
        </p:nvSpPr>
        <p:spPr>
          <a:xfrm>
            <a:off x="1390802" y="7554773"/>
            <a:ext cx="46680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Vérifier le crédit automatique des wallets éligibles</a:t>
            </a:r>
            <a:endParaRPr lang="en-US" sz="900" dirty="0"/>
          </a:p>
        </p:txBody>
      </p:sp>
      <p:sp>
        <p:nvSpPr>
          <p:cNvPr id="34" name="Text 32"/>
          <p:cNvSpPr txBox="1"/>
          <p:nvPr/>
        </p:nvSpPr>
        <p:spPr>
          <a:xfrm>
            <a:off x="1390802" y="7746797"/>
            <a:ext cx="46680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Consulter le rapport bonus généré</a:t>
            </a:r>
            <a:endParaRPr lang="en-US" sz="900" dirty="0"/>
          </a:p>
        </p:txBody>
      </p:sp>
      <p:sp>
        <p:nvSpPr>
          <p:cNvPr id="35" name="Shape 33"/>
          <p:cNvSpPr/>
          <p:nvPr/>
        </p:nvSpPr>
        <p:spPr>
          <a:xfrm>
            <a:off x="6286500" y="4081882"/>
            <a:ext cx="4839005" cy="2343607"/>
          </a:xfrm>
          <a:prstGeom prst="roundRect">
            <a:avLst>
              <a:gd name="adj" fmla="val 4877"/>
            </a:avLst>
          </a:prstGeom>
          <a:solidFill>
            <a:srgbClr val="F5F3FF"/>
          </a:solidFill>
          <a:ln w="12700">
            <a:solidFill>
              <a:srgbClr val="DDD6FE"/>
            </a:solidFill>
            <a:prstDash val="solid"/>
          </a:ln>
        </p:spPr>
        <p:txBody>
          <a:bodyPr/>
          <a:lstStyle/>
          <a:p>
            <a:endParaRPr lang="fr-CI"/>
          </a:p>
        </p:txBody>
      </p:sp>
      <p:sp>
        <p:nvSpPr>
          <p:cNvPr id="36" name="Text 34"/>
          <p:cNvSpPr txBox="1"/>
          <p:nvPr/>
        </p:nvSpPr>
        <p:spPr>
          <a:xfrm>
            <a:off x="6467551" y="4262018"/>
            <a:ext cx="4476902"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4 KPI PRÉDÉFINIS — EXEMPLE</a:t>
            </a:r>
            <a:endParaRPr lang="en-US" sz="800" dirty="0"/>
          </a:p>
        </p:txBody>
      </p:sp>
      <p:sp>
        <p:nvSpPr>
          <p:cNvPr id="37" name="Shape 35"/>
          <p:cNvSpPr/>
          <p:nvPr/>
        </p:nvSpPr>
        <p:spPr>
          <a:xfrm>
            <a:off x="6467551" y="4509821"/>
            <a:ext cx="4476902" cy="362102"/>
          </a:xfrm>
          <a:prstGeom prst="roundRect">
            <a:avLst>
              <a:gd name="adj" fmla="val 20960"/>
            </a:avLst>
          </a:prstGeom>
          <a:solidFill>
            <a:srgbClr val="FFFFFF"/>
          </a:solidFill>
          <a:ln w="12700">
            <a:solidFill>
              <a:srgbClr val="FFFFFF">
                <a:alpha val="0"/>
              </a:srgbClr>
            </a:solidFill>
            <a:prstDash val="solid"/>
          </a:ln>
        </p:spPr>
        <p:txBody>
          <a:bodyPr/>
          <a:lstStyle/>
          <a:p>
            <a:endParaRPr lang="fr-CI"/>
          </a:p>
        </p:txBody>
      </p:sp>
      <p:sp>
        <p:nvSpPr>
          <p:cNvPr id="38" name="Text 36"/>
          <p:cNvSpPr txBox="1"/>
          <p:nvPr/>
        </p:nvSpPr>
        <p:spPr>
          <a:xfrm>
            <a:off x="6601054" y="4604918"/>
            <a:ext cx="1089050" cy="171907"/>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Nb de courses</a:t>
            </a:r>
            <a:endParaRPr lang="en-US" sz="900" dirty="0"/>
          </a:p>
        </p:txBody>
      </p:sp>
      <p:sp>
        <p:nvSpPr>
          <p:cNvPr id="39" name="Text 37"/>
          <p:cNvSpPr txBox="1"/>
          <p:nvPr/>
        </p:nvSpPr>
        <p:spPr>
          <a:xfrm>
            <a:off x="9776765" y="4610405"/>
            <a:ext cx="1196035"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 50 / semaine</a:t>
            </a:r>
            <a:endParaRPr lang="en-US" sz="900" dirty="0"/>
          </a:p>
        </p:txBody>
      </p:sp>
      <p:sp>
        <p:nvSpPr>
          <p:cNvPr id="40" name="Shape 38"/>
          <p:cNvSpPr/>
          <p:nvPr/>
        </p:nvSpPr>
        <p:spPr>
          <a:xfrm>
            <a:off x="6467551" y="4967021"/>
            <a:ext cx="4476902" cy="362102"/>
          </a:xfrm>
          <a:prstGeom prst="roundRect">
            <a:avLst>
              <a:gd name="adj" fmla="val 20960"/>
            </a:avLst>
          </a:prstGeom>
          <a:solidFill>
            <a:srgbClr val="FFFFFF"/>
          </a:solidFill>
          <a:ln w="12700">
            <a:solidFill>
              <a:srgbClr val="FFFFFF">
                <a:alpha val="0"/>
              </a:srgbClr>
            </a:solidFill>
            <a:prstDash val="solid"/>
          </a:ln>
        </p:spPr>
        <p:txBody>
          <a:bodyPr/>
          <a:lstStyle/>
          <a:p>
            <a:endParaRPr lang="fr-CI"/>
          </a:p>
        </p:txBody>
      </p:sp>
      <p:sp>
        <p:nvSpPr>
          <p:cNvPr id="41" name="Text 39"/>
          <p:cNvSpPr txBox="1"/>
          <p:nvPr/>
        </p:nvSpPr>
        <p:spPr>
          <a:xfrm>
            <a:off x="6601054" y="5062118"/>
            <a:ext cx="1017727" cy="171907"/>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Note moyenne</a:t>
            </a:r>
            <a:endParaRPr lang="en-US" sz="900" dirty="0"/>
          </a:p>
        </p:txBody>
      </p:sp>
      <p:sp>
        <p:nvSpPr>
          <p:cNvPr id="42" name="Text 40"/>
          <p:cNvSpPr txBox="1"/>
          <p:nvPr/>
        </p:nvSpPr>
        <p:spPr>
          <a:xfrm>
            <a:off x="10148011" y="5067605"/>
            <a:ext cx="769010"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 4.5 / 5</a:t>
            </a:r>
            <a:endParaRPr lang="en-US" sz="900" dirty="0"/>
          </a:p>
        </p:txBody>
      </p:sp>
      <p:sp>
        <p:nvSpPr>
          <p:cNvPr id="43" name="Shape 41"/>
          <p:cNvSpPr/>
          <p:nvPr/>
        </p:nvSpPr>
        <p:spPr>
          <a:xfrm>
            <a:off x="6467551" y="5424221"/>
            <a:ext cx="4476902" cy="362102"/>
          </a:xfrm>
          <a:prstGeom prst="roundRect">
            <a:avLst>
              <a:gd name="adj" fmla="val 20960"/>
            </a:avLst>
          </a:prstGeom>
          <a:solidFill>
            <a:srgbClr val="FFFFFF"/>
          </a:solidFill>
          <a:ln w="12700">
            <a:solidFill>
              <a:srgbClr val="FFFFFF">
                <a:alpha val="0"/>
              </a:srgbClr>
            </a:solidFill>
            <a:prstDash val="solid"/>
          </a:ln>
        </p:spPr>
        <p:txBody>
          <a:bodyPr/>
          <a:lstStyle/>
          <a:p>
            <a:endParaRPr lang="fr-CI"/>
          </a:p>
        </p:txBody>
      </p:sp>
      <p:sp>
        <p:nvSpPr>
          <p:cNvPr id="44" name="Text 42"/>
          <p:cNvSpPr txBox="1"/>
          <p:nvPr/>
        </p:nvSpPr>
        <p:spPr>
          <a:xfrm>
            <a:off x="6601054" y="5519318"/>
            <a:ext cx="1500530" cy="171907"/>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Taux d'acceptation</a:t>
            </a:r>
            <a:endParaRPr lang="en-US" sz="900" dirty="0"/>
          </a:p>
        </p:txBody>
      </p:sp>
      <p:sp>
        <p:nvSpPr>
          <p:cNvPr id="45" name="Text 43"/>
          <p:cNvSpPr txBox="1"/>
          <p:nvPr/>
        </p:nvSpPr>
        <p:spPr>
          <a:xfrm>
            <a:off x="10371125" y="5524805"/>
            <a:ext cx="448056"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 90 %</a:t>
            </a:r>
            <a:endParaRPr lang="en-US" sz="900" dirty="0"/>
          </a:p>
        </p:txBody>
      </p:sp>
      <p:sp>
        <p:nvSpPr>
          <p:cNvPr id="46" name="Shape 44"/>
          <p:cNvSpPr/>
          <p:nvPr/>
        </p:nvSpPr>
        <p:spPr>
          <a:xfrm>
            <a:off x="6467551" y="5881421"/>
            <a:ext cx="4476902" cy="362102"/>
          </a:xfrm>
          <a:prstGeom prst="roundRect">
            <a:avLst>
              <a:gd name="adj" fmla="val 20960"/>
            </a:avLst>
          </a:prstGeom>
          <a:solidFill>
            <a:srgbClr val="FFFFFF"/>
          </a:solidFill>
          <a:ln w="12700">
            <a:solidFill>
              <a:srgbClr val="FFFFFF">
                <a:alpha val="0"/>
              </a:srgbClr>
            </a:solidFill>
            <a:prstDash val="solid"/>
          </a:ln>
        </p:spPr>
        <p:txBody>
          <a:bodyPr/>
          <a:lstStyle/>
          <a:p>
            <a:endParaRPr lang="fr-CI"/>
          </a:p>
        </p:txBody>
      </p:sp>
      <p:sp>
        <p:nvSpPr>
          <p:cNvPr id="47" name="Text 45"/>
          <p:cNvSpPr txBox="1"/>
          <p:nvPr/>
        </p:nvSpPr>
        <p:spPr>
          <a:xfrm>
            <a:off x="6601054" y="5976518"/>
            <a:ext cx="1414577" cy="171907"/>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Taux d'annulation</a:t>
            </a:r>
            <a:endParaRPr lang="en-US" sz="900" dirty="0"/>
          </a:p>
        </p:txBody>
      </p:sp>
      <p:sp>
        <p:nvSpPr>
          <p:cNvPr id="48" name="Text 46"/>
          <p:cNvSpPr txBox="1"/>
          <p:nvPr/>
        </p:nvSpPr>
        <p:spPr>
          <a:xfrm>
            <a:off x="10446106" y="5982005"/>
            <a:ext cx="37216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 5 %</a:t>
            </a:r>
            <a:endParaRPr lang="en-US" sz="900" dirty="0"/>
          </a:p>
        </p:txBody>
      </p:sp>
      <p:sp>
        <p:nvSpPr>
          <p:cNvPr id="49" name="Shape 47"/>
          <p:cNvSpPr/>
          <p:nvPr/>
        </p:nvSpPr>
        <p:spPr>
          <a:xfrm>
            <a:off x="6286500" y="6596482"/>
            <a:ext cx="4839005" cy="1762049"/>
          </a:xfrm>
          <a:prstGeom prst="roundRect">
            <a:avLst>
              <a:gd name="adj" fmla="val 6487"/>
            </a:avLst>
          </a:prstGeom>
          <a:solidFill>
            <a:srgbClr val="1F2937"/>
          </a:solidFill>
          <a:ln w="12700">
            <a:solidFill>
              <a:srgbClr val="FFFFFF">
                <a:alpha val="0"/>
              </a:srgbClr>
            </a:solidFill>
            <a:prstDash val="solid"/>
          </a:ln>
        </p:spPr>
        <p:txBody>
          <a:bodyPr/>
          <a:lstStyle/>
          <a:p>
            <a:endParaRPr lang="fr-CI"/>
          </a:p>
        </p:txBody>
      </p:sp>
      <p:sp>
        <p:nvSpPr>
          <p:cNvPr id="50" name="Text 48"/>
          <p:cNvSpPr txBox="1"/>
          <p:nvPr/>
        </p:nvSpPr>
        <p:spPr>
          <a:xfrm>
            <a:off x="6458407" y="6767474"/>
            <a:ext cx="4496105"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RÉSULTATS ATTENDUS</a:t>
            </a:r>
            <a:endParaRPr lang="en-US" sz="800" dirty="0"/>
          </a:p>
        </p:txBody>
      </p:sp>
      <p:sp>
        <p:nvSpPr>
          <p:cNvPr id="51" name="Text 49"/>
          <p:cNvSpPr txBox="1"/>
          <p:nvPr/>
        </p:nvSpPr>
        <p:spPr>
          <a:xfrm>
            <a:off x="6458407" y="6996074"/>
            <a:ext cx="4496105"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Moteur évalue chaque chauffeur de la zone</a:t>
            </a:r>
            <a:endParaRPr lang="en-US" sz="900" dirty="0"/>
          </a:p>
        </p:txBody>
      </p:sp>
      <p:sp>
        <p:nvSpPr>
          <p:cNvPr id="52" name="Text 50"/>
          <p:cNvSpPr txBox="1"/>
          <p:nvPr/>
        </p:nvSpPr>
        <p:spPr>
          <a:xfrm>
            <a:off x="6458407" y="7194499"/>
            <a:ext cx="4496105"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Wallets éligibles crédités automatiquement</a:t>
            </a:r>
            <a:endParaRPr lang="en-US" sz="900" dirty="0"/>
          </a:p>
        </p:txBody>
      </p:sp>
      <p:sp>
        <p:nvSpPr>
          <p:cNvPr id="53" name="Text 51"/>
          <p:cNvSpPr txBox="1"/>
          <p:nvPr/>
        </p:nvSpPr>
        <p:spPr>
          <a:xfrm>
            <a:off x="6458407" y="7392010"/>
            <a:ext cx="4496105"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Wallet franchise débité du montant total</a:t>
            </a:r>
            <a:endParaRPr lang="en-US" sz="900" dirty="0"/>
          </a:p>
        </p:txBody>
      </p:sp>
      <p:sp>
        <p:nvSpPr>
          <p:cNvPr id="54" name="Text 52"/>
          <p:cNvSpPr txBox="1"/>
          <p:nvPr/>
        </p:nvSpPr>
        <p:spPr>
          <a:xfrm>
            <a:off x="6458407" y="7590434"/>
            <a:ext cx="4496105"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Notification au chauffeur ("Bonus reçu : X FCFA")</a:t>
            </a:r>
            <a:endParaRPr lang="en-US" sz="900" dirty="0"/>
          </a:p>
        </p:txBody>
      </p:sp>
      <p:sp>
        <p:nvSpPr>
          <p:cNvPr id="55" name="Text 53"/>
          <p:cNvSpPr txBox="1"/>
          <p:nvPr/>
        </p:nvSpPr>
        <p:spPr>
          <a:xfrm>
            <a:off x="6458407" y="7788859"/>
            <a:ext cx="4496105"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Rapport bonus exporté par la franchise</a:t>
            </a:r>
            <a:endParaRPr lang="en-US" sz="900" dirty="0"/>
          </a:p>
        </p:txBody>
      </p:sp>
      <p:sp>
        <p:nvSpPr>
          <p:cNvPr id="56" name="Text 54"/>
          <p:cNvSpPr txBox="1"/>
          <p:nvPr/>
        </p:nvSpPr>
        <p:spPr>
          <a:xfrm>
            <a:off x="6458407" y="7986370"/>
            <a:ext cx="4496105"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Logs d'audit horodatés</a:t>
            </a:r>
            <a:endParaRPr lang="en-US" sz="900" dirty="0"/>
          </a:p>
        </p:txBody>
      </p:sp>
      <p:sp>
        <p:nvSpPr>
          <p:cNvPr id="57" name="Shape 55"/>
          <p:cNvSpPr/>
          <p:nvPr/>
        </p:nvSpPr>
        <p:spPr>
          <a:xfrm>
            <a:off x="6286500" y="8527694"/>
            <a:ext cx="4839005" cy="1019556"/>
          </a:xfrm>
          <a:prstGeom prst="roundRect">
            <a:avLst>
              <a:gd name="adj" fmla="val 9327"/>
            </a:avLst>
          </a:prstGeom>
          <a:solidFill>
            <a:srgbClr val="F5F3FF"/>
          </a:solidFill>
          <a:ln/>
        </p:spPr>
        <p:txBody>
          <a:bodyPr/>
          <a:lstStyle/>
          <a:p>
            <a:endParaRPr lang="fr-CI"/>
          </a:p>
        </p:txBody>
      </p:sp>
      <p:sp>
        <p:nvSpPr>
          <p:cNvPr id="58" name="Shape 56"/>
          <p:cNvSpPr/>
          <p:nvPr/>
        </p:nvSpPr>
        <p:spPr>
          <a:xfrm>
            <a:off x="6286500" y="8527694"/>
            <a:ext cx="38405" cy="1019556"/>
          </a:xfrm>
          <a:prstGeom prst="roundRect">
            <a:avLst>
              <a:gd name="adj" fmla="val 247618"/>
            </a:avLst>
          </a:prstGeom>
          <a:solidFill>
            <a:srgbClr val="6D28D9"/>
          </a:solidFill>
          <a:ln w="12700">
            <a:solidFill>
              <a:srgbClr val="6D28D9">
                <a:alpha val="0"/>
              </a:srgbClr>
            </a:solidFill>
            <a:prstDash val="solid"/>
          </a:ln>
        </p:spPr>
        <p:txBody>
          <a:bodyPr/>
          <a:lstStyle/>
          <a:p>
            <a:endParaRPr lang="fr-CI"/>
          </a:p>
        </p:txBody>
      </p:sp>
      <p:sp>
        <p:nvSpPr>
          <p:cNvPr id="59" name="Text 57"/>
          <p:cNvSpPr txBox="1"/>
          <p:nvPr/>
        </p:nvSpPr>
        <p:spPr>
          <a:xfrm>
            <a:off x="6458407" y="8661197"/>
            <a:ext cx="4534510"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CRITÈRE D'ACCEPTATION</a:t>
            </a:r>
            <a:endParaRPr lang="en-US" sz="800" dirty="0"/>
          </a:p>
        </p:txBody>
      </p:sp>
      <p:sp>
        <p:nvSpPr>
          <p:cNvPr id="60" name="Text 58"/>
          <p:cNvSpPr txBox="1"/>
          <p:nvPr/>
        </p:nvSpPr>
        <p:spPr>
          <a:xfrm>
            <a:off x="6458407" y="8851392"/>
            <a:ext cx="4534510" cy="562356"/>
          </a:xfrm>
          <a:prstGeom prst="rect">
            <a:avLst/>
          </a:prstGeom>
          <a:noFill/>
          <a:ln/>
        </p:spPr>
        <p:txBody>
          <a:bodyPr wrap="squar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Tout chauffeur remplissant les 4 KPI reçoit son bonus sans intervention humaine. Tout chauffeur en-dessous d'un seuil ne reçoit rien et apparaît dans le rapport "non éligibles".</a:t>
            </a:r>
            <a:endParaRPr lang="en-US" sz="900" dirty="0"/>
          </a:p>
        </p:txBody>
      </p:sp>
      <p:sp>
        <p:nvSpPr>
          <p:cNvPr id="61" name="Shape 59"/>
          <p:cNvSpPr/>
          <p:nvPr/>
        </p:nvSpPr>
        <p:spPr>
          <a:xfrm>
            <a:off x="11697005" y="2762402"/>
            <a:ext cx="5715000" cy="6762902"/>
          </a:xfrm>
          <a:prstGeom prst="roundRect">
            <a:avLst>
              <a:gd name="adj" fmla="val 2336"/>
            </a:avLst>
          </a:prstGeom>
          <a:solidFill>
            <a:srgbClr val="F5F3FF"/>
          </a:solidFill>
          <a:ln w="12700">
            <a:solidFill>
              <a:srgbClr val="DDD6FE"/>
            </a:solidFill>
            <a:prstDash val="solid"/>
          </a:ln>
        </p:spPr>
        <p:txBody>
          <a:bodyPr/>
          <a:lstStyle/>
          <a:p>
            <a:endParaRPr lang="fr-CI"/>
          </a:p>
        </p:txBody>
      </p:sp>
      <p:sp>
        <p:nvSpPr>
          <p:cNvPr id="62" name="Text 60"/>
          <p:cNvSpPr txBox="1"/>
          <p:nvPr/>
        </p:nvSpPr>
        <p:spPr>
          <a:xfrm>
            <a:off x="12001500" y="3010205"/>
            <a:ext cx="5143500" cy="152705"/>
          </a:xfrm>
          <a:prstGeom prst="rect">
            <a:avLst/>
          </a:prstGeom>
          <a:noFill/>
          <a:ln/>
        </p:spPr>
        <p:txBody>
          <a:bodyPr wrap="none" lIns="0" tIns="0" rIns="0" bIns="0" rtlCol="0" anchor="ctr"/>
          <a:lstStyle/>
          <a:p>
            <a:pPr marL="0" indent="0" algn="l">
              <a:buNone/>
            </a:pPr>
            <a:r>
              <a:rPr lang="en-US" sz="900" b="1" kern="0" spc="126" dirty="0">
                <a:solidFill>
                  <a:srgbClr val="6D28D9"/>
                </a:solidFill>
                <a:latin typeface="JetBrains Mono" pitchFamily="34" charset="0"/>
                <a:ea typeface="JetBrains Mono" pitchFamily="34" charset="-122"/>
                <a:cs typeface="JetBrains Mono" pitchFamily="34" charset="-120"/>
              </a:rPr>
              <a:t>Schéma simplifié</a:t>
            </a:r>
            <a:endParaRPr lang="en-US" sz="900" dirty="0"/>
          </a:p>
        </p:txBody>
      </p:sp>
      <p:sp>
        <p:nvSpPr>
          <p:cNvPr id="63" name="Text 61"/>
          <p:cNvSpPr txBox="1"/>
          <p:nvPr/>
        </p:nvSpPr>
        <p:spPr>
          <a:xfrm>
            <a:off x="12001500" y="3219602"/>
            <a:ext cx="5143500" cy="238658"/>
          </a:xfrm>
          <a:prstGeom prst="rect">
            <a:avLst/>
          </a:prstGeom>
          <a:noFill/>
          <a:ln/>
        </p:spPr>
        <p:txBody>
          <a:bodyPr wrap="none" lIns="0" tIns="0" rIns="0" bIns="0" rtlCol="0" anchor="ctr"/>
          <a:lstStyle/>
          <a:p>
            <a:pPr marL="0" indent="0" algn="l">
              <a:buNone/>
            </a:pPr>
            <a:r>
              <a:rPr lang="en-US" sz="1500" b="1" dirty="0">
                <a:solidFill>
                  <a:srgbClr val="1F2937"/>
                </a:solidFill>
                <a:latin typeface="Manrope" pitchFamily="34" charset="0"/>
                <a:ea typeface="Manrope" pitchFamily="34" charset="-122"/>
                <a:cs typeface="Manrope" pitchFamily="34" charset="-120"/>
              </a:rPr>
              <a:t>Flux du bonus</a:t>
            </a:r>
            <a:endParaRPr lang="en-US" sz="1500" dirty="0"/>
          </a:p>
        </p:txBody>
      </p:sp>
      <p:sp>
        <p:nvSpPr>
          <p:cNvPr id="64" name="Shape 62"/>
          <p:cNvSpPr/>
          <p:nvPr/>
        </p:nvSpPr>
        <p:spPr>
          <a:xfrm>
            <a:off x="12001500" y="3648456"/>
            <a:ext cx="5143500" cy="1037844"/>
          </a:xfrm>
          <a:prstGeom prst="roundRect">
            <a:avLst>
              <a:gd name="adj" fmla="val 9163"/>
            </a:avLst>
          </a:prstGeom>
          <a:solidFill>
            <a:srgbClr val="FFFFFF"/>
          </a:solidFill>
          <a:ln w="12700">
            <a:solidFill>
              <a:srgbClr val="DDD6FE"/>
            </a:solidFill>
            <a:prstDash val="solid"/>
          </a:ln>
        </p:spPr>
        <p:txBody>
          <a:bodyPr/>
          <a:lstStyle/>
          <a:p>
            <a:endParaRPr lang="fr-CI"/>
          </a:p>
        </p:txBody>
      </p:sp>
      <p:sp>
        <p:nvSpPr>
          <p:cNvPr id="65" name="Text 63"/>
          <p:cNvSpPr txBox="1"/>
          <p:nvPr/>
        </p:nvSpPr>
        <p:spPr>
          <a:xfrm>
            <a:off x="12163349" y="3810305"/>
            <a:ext cx="4819802"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ÉTAPE A</a:t>
            </a:r>
            <a:endParaRPr lang="en-US" sz="800" dirty="0"/>
          </a:p>
        </p:txBody>
      </p:sp>
      <p:sp>
        <p:nvSpPr>
          <p:cNvPr id="66" name="Text 64"/>
          <p:cNvSpPr txBox="1"/>
          <p:nvPr/>
        </p:nvSpPr>
        <p:spPr>
          <a:xfrm>
            <a:off x="12163349" y="3981298"/>
            <a:ext cx="4819802" cy="210312"/>
          </a:xfrm>
          <a:prstGeom prst="rect">
            <a:avLst/>
          </a:prstGeom>
          <a:noFill/>
          <a:ln/>
        </p:spPr>
        <p:txBody>
          <a:bodyPr wrap="non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Franchise perçoit commission</a:t>
            </a:r>
            <a:endParaRPr lang="en-US" sz="1200" dirty="0"/>
          </a:p>
        </p:txBody>
      </p:sp>
      <p:sp>
        <p:nvSpPr>
          <p:cNvPr id="67" name="Text 65"/>
          <p:cNvSpPr txBox="1"/>
          <p:nvPr/>
        </p:nvSpPr>
        <p:spPr>
          <a:xfrm>
            <a:off x="12163349" y="4229100"/>
            <a:ext cx="4819802"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Pourcentage automatique de chaque course / livraison de la zone.</a:t>
            </a:r>
            <a:endParaRPr lang="en-US" sz="900" dirty="0"/>
          </a:p>
        </p:txBody>
      </p:sp>
      <p:sp>
        <p:nvSpPr>
          <p:cNvPr id="68" name="Text 66"/>
          <p:cNvSpPr txBox="1"/>
          <p:nvPr/>
        </p:nvSpPr>
        <p:spPr>
          <a:xfrm>
            <a:off x="12001500" y="4819802"/>
            <a:ext cx="5143500" cy="200254"/>
          </a:xfrm>
          <a:prstGeom prst="rect">
            <a:avLst/>
          </a:prstGeom>
          <a:noFill/>
          <a:ln/>
        </p:spPr>
        <p:txBody>
          <a:bodyPr wrap="none" lIns="0" tIns="0" rIns="0" bIns="0" rtlCol="0" anchor="ctr"/>
          <a:lstStyle/>
          <a:p>
            <a:pPr marL="0" indent="0" algn="ctr">
              <a:buNone/>
            </a:pPr>
            <a:r>
              <a:rPr lang="en-US" sz="1200" dirty="0">
                <a:solidFill>
                  <a:srgbClr val="6D28D9"/>
                </a:solidFill>
                <a:latin typeface="JetBrains Mono" pitchFamily="34" charset="0"/>
                <a:ea typeface="JetBrains Mono" pitchFamily="34" charset="-122"/>
                <a:cs typeface="JetBrains Mono" pitchFamily="34" charset="-120"/>
              </a:rPr>
              <a:t>↓</a:t>
            </a:r>
            <a:endParaRPr lang="en-US" sz="1200" dirty="0"/>
          </a:p>
        </p:txBody>
      </p:sp>
      <p:sp>
        <p:nvSpPr>
          <p:cNvPr id="69" name="Shape 67"/>
          <p:cNvSpPr/>
          <p:nvPr/>
        </p:nvSpPr>
        <p:spPr>
          <a:xfrm>
            <a:off x="12001500" y="5152644"/>
            <a:ext cx="5143500" cy="1037844"/>
          </a:xfrm>
          <a:prstGeom prst="roundRect">
            <a:avLst>
              <a:gd name="adj" fmla="val 9163"/>
            </a:avLst>
          </a:prstGeom>
          <a:solidFill>
            <a:srgbClr val="FFFFFF"/>
          </a:solidFill>
          <a:ln w="12700">
            <a:solidFill>
              <a:srgbClr val="DDD6FE"/>
            </a:solidFill>
            <a:prstDash val="solid"/>
          </a:ln>
        </p:spPr>
        <p:txBody>
          <a:bodyPr/>
          <a:lstStyle/>
          <a:p>
            <a:endParaRPr lang="fr-CI"/>
          </a:p>
        </p:txBody>
      </p:sp>
      <p:sp>
        <p:nvSpPr>
          <p:cNvPr id="70" name="Text 68"/>
          <p:cNvSpPr txBox="1"/>
          <p:nvPr/>
        </p:nvSpPr>
        <p:spPr>
          <a:xfrm>
            <a:off x="12163349" y="5315407"/>
            <a:ext cx="4819802"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ÉTAPE B</a:t>
            </a:r>
            <a:endParaRPr lang="en-US" sz="800" dirty="0"/>
          </a:p>
        </p:txBody>
      </p:sp>
      <p:sp>
        <p:nvSpPr>
          <p:cNvPr id="71" name="Text 69"/>
          <p:cNvSpPr txBox="1"/>
          <p:nvPr/>
        </p:nvSpPr>
        <p:spPr>
          <a:xfrm>
            <a:off x="12163349" y="5486400"/>
            <a:ext cx="4819802" cy="210312"/>
          </a:xfrm>
          <a:prstGeom prst="rect">
            <a:avLst/>
          </a:prstGeom>
          <a:noFill/>
          <a:ln/>
        </p:spPr>
        <p:txBody>
          <a:bodyPr wrap="non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Moteur évalue les KPI</a:t>
            </a:r>
            <a:endParaRPr lang="en-US" sz="1200" dirty="0"/>
          </a:p>
        </p:txBody>
      </p:sp>
      <p:sp>
        <p:nvSpPr>
          <p:cNvPr id="72" name="Text 70"/>
          <p:cNvSpPr txBox="1"/>
          <p:nvPr/>
        </p:nvSpPr>
        <p:spPr>
          <a:xfrm>
            <a:off x="12163349" y="5734202"/>
            <a:ext cx="5092294"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Cron en fin de période, sur l'historique des chauffeurs de la zone.</a:t>
            </a:r>
            <a:endParaRPr lang="en-US" sz="900" dirty="0"/>
          </a:p>
        </p:txBody>
      </p:sp>
      <p:sp>
        <p:nvSpPr>
          <p:cNvPr id="73" name="Text 71"/>
          <p:cNvSpPr txBox="1"/>
          <p:nvPr/>
        </p:nvSpPr>
        <p:spPr>
          <a:xfrm>
            <a:off x="12001500" y="6324905"/>
            <a:ext cx="5143500" cy="200254"/>
          </a:xfrm>
          <a:prstGeom prst="rect">
            <a:avLst/>
          </a:prstGeom>
          <a:noFill/>
          <a:ln/>
        </p:spPr>
        <p:txBody>
          <a:bodyPr wrap="none" lIns="0" tIns="0" rIns="0" bIns="0" rtlCol="0" anchor="ctr"/>
          <a:lstStyle/>
          <a:p>
            <a:pPr marL="0" indent="0" algn="ctr">
              <a:buNone/>
            </a:pPr>
            <a:r>
              <a:rPr lang="en-US" sz="1200" dirty="0">
                <a:solidFill>
                  <a:srgbClr val="6D28D9"/>
                </a:solidFill>
                <a:latin typeface="JetBrains Mono" pitchFamily="34" charset="0"/>
                <a:ea typeface="JetBrains Mono" pitchFamily="34" charset="-122"/>
                <a:cs typeface="JetBrains Mono" pitchFamily="34" charset="-120"/>
              </a:rPr>
              <a:t>↓</a:t>
            </a:r>
            <a:endParaRPr lang="en-US" sz="1200" dirty="0"/>
          </a:p>
        </p:txBody>
      </p:sp>
      <p:sp>
        <p:nvSpPr>
          <p:cNvPr id="74" name="Shape 72"/>
          <p:cNvSpPr/>
          <p:nvPr/>
        </p:nvSpPr>
        <p:spPr>
          <a:xfrm>
            <a:off x="12001500" y="6657746"/>
            <a:ext cx="5143500" cy="1019556"/>
          </a:xfrm>
          <a:prstGeom prst="roundRect">
            <a:avLst>
              <a:gd name="adj" fmla="val 9327"/>
            </a:avLst>
          </a:prstGeom>
          <a:solidFill>
            <a:srgbClr val="1F2937"/>
          </a:solidFill>
          <a:ln w="12700">
            <a:solidFill>
              <a:srgbClr val="FFFFFF">
                <a:alpha val="0"/>
              </a:srgbClr>
            </a:solidFill>
            <a:prstDash val="solid"/>
          </a:ln>
        </p:spPr>
        <p:txBody>
          <a:bodyPr/>
          <a:lstStyle/>
          <a:p>
            <a:endParaRPr lang="fr-CI"/>
          </a:p>
        </p:txBody>
      </p:sp>
      <p:sp>
        <p:nvSpPr>
          <p:cNvPr id="75" name="Text 73"/>
          <p:cNvSpPr txBox="1"/>
          <p:nvPr/>
        </p:nvSpPr>
        <p:spPr>
          <a:xfrm>
            <a:off x="12154205" y="6810451"/>
            <a:ext cx="4839005"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ÉTAPE C</a:t>
            </a:r>
            <a:endParaRPr lang="en-US" sz="800" dirty="0"/>
          </a:p>
        </p:txBody>
      </p:sp>
      <p:sp>
        <p:nvSpPr>
          <p:cNvPr id="76" name="Text 74"/>
          <p:cNvSpPr txBox="1"/>
          <p:nvPr/>
        </p:nvSpPr>
        <p:spPr>
          <a:xfrm>
            <a:off x="12154205" y="6981444"/>
            <a:ext cx="4839005" cy="210312"/>
          </a:xfrm>
          <a:prstGeom prst="rect">
            <a:avLst/>
          </a:prstGeom>
          <a:noFill/>
          <a:ln/>
        </p:spPr>
        <p:txBody>
          <a:bodyPr wrap="none" lIns="0" tIns="0" rIns="0" bIns="0" rtlCol="0" anchor="ctr"/>
          <a:lstStyle/>
          <a:p>
            <a:pPr marL="0" indent="0" algn="l">
              <a:buNone/>
            </a:pPr>
            <a:r>
              <a:rPr lang="en-US" sz="1200" b="1" dirty="0">
                <a:solidFill>
                  <a:srgbClr val="FFFFFF"/>
                </a:solidFill>
                <a:latin typeface="Manrope" pitchFamily="34" charset="0"/>
                <a:ea typeface="Manrope" pitchFamily="34" charset="-122"/>
                <a:cs typeface="Manrope" pitchFamily="34" charset="-120"/>
              </a:rPr>
              <a:t>Wallets crédités automatiquement</a:t>
            </a:r>
            <a:endParaRPr lang="en-US" sz="1200" dirty="0"/>
          </a:p>
        </p:txBody>
      </p:sp>
      <p:sp>
        <p:nvSpPr>
          <p:cNvPr id="77" name="Text 75"/>
          <p:cNvSpPr txBox="1"/>
          <p:nvPr/>
        </p:nvSpPr>
        <p:spPr>
          <a:xfrm>
            <a:off x="12154205" y="7229246"/>
            <a:ext cx="4839005" cy="171907"/>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Notification + rapport bonus généré.</a:t>
            </a:r>
            <a:endParaRPr lang="en-US" sz="900" dirty="0"/>
          </a:p>
        </p:txBody>
      </p:sp>
      <p:sp>
        <p:nvSpPr>
          <p:cNvPr id="78" name="Shape 76"/>
          <p:cNvSpPr/>
          <p:nvPr/>
        </p:nvSpPr>
        <p:spPr>
          <a:xfrm>
            <a:off x="0" y="9791395"/>
            <a:ext cx="18288000" cy="495605"/>
          </a:xfrm>
          <a:prstGeom prst="rect">
            <a:avLst/>
          </a:prstGeom>
          <a:solidFill>
            <a:srgbClr val="FFFFFF"/>
          </a:solidFill>
          <a:ln/>
        </p:spPr>
        <p:txBody>
          <a:bodyPr/>
          <a:lstStyle/>
          <a:p>
            <a:endParaRPr lang="fr-CI"/>
          </a:p>
        </p:txBody>
      </p:sp>
      <p:sp>
        <p:nvSpPr>
          <p:cNvPr id="79" name="Shape 77"/>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80" name="Text 78"/>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81" name="Text 79"/>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42 / 59</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6603675" y="256946"/>
            <a:ext cx="1414577"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UC Support · J.</a:t>
            </a:r>
            <a:endParaRPr lang="en-US" sz="900" dirty="0"/>
          </a:p>
        </p:txBody>
      </p:sp>
      <p:sp>
        <p:nvSpPr>
          <p:cNvPr id="10" name="Text 8"/>
          <p:cNvSpPr txBox="1"/>
          <p:nvPr/>
        </p:nvSpPr>
        <p:spPr>
          <a:xfrm>
            <a:off x="914400" y="1205179"/>
            <a:ext cx="3848710"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J. Support — traitement réclamation</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6193110"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UC-S01 — Traitement d'une réclamation multiservices.</a:t>
            </a:r>
            <a:endParaRPr lang="en-US" sz="3900" dirty="0"/>
          </a:p>
        </p:txBody>
      </p:sp>
      <p:sp>
        <p:nvSpPr>
          <p:cNvPr id="13" name="Shape 11"/>
          <p:cNvSpPr/>
          <p:nvPr/>
        </p:nvSpPr>
        <p:spPr>
          <a:xfrm>
            <a:off x="914400" y="2762402"/>
            <a:ext cx="10477195" cy="6762902"/>
          </a:xfrm>
          <a:prstGeom prst="roundRect">
            <a:avLst>
              <a:gd name="adj" fmla="val 1974"/>
            </a:avLst>
          </a:prstGeom>
          <a:solidFill>
            <a:srgbClr val="FFFFFF"/>
          </a:solidFill>
          <a:ln w="25400">
            <a:solidFill>
              <a:srgbClr val="6D28D9"/>
            </a:solidFill>
            <a:prstDash val="solid"/>
          </a:ln>
        </p:spPr>
        <p:txBody>
          <a:bodyPr/>
          <a:lstStyle/>
          <a:p>
            <a:endParaRPr lang="fr-CI"/>
          </a:p>
        </p:txBody>
      </p:sp>
      <p:sp>
        <p:nvSpPr>
          <p:cNvPr id="14" name="Text 12"/>
          <p:cNvSpPr txBox="1"/>
          <p:nvPr/>
        </p:nvSpPr>
        <p:spPr>
          <a:xfrm>
            <a:off x="1218895" y="2986430"/>
            <a:ext cx="619963" cy="219456"/>
          </a:xfrm>
          <a:prstGeom prst="rect">
            <a:avLst/>
          </a:prstGeom>
          <a:noFill/>
          <a:ln/>
        </p:spPr>
        <p:txBody>
          <a:bodyPr wrap="none" lIns="0" tIns="0" rIns="0" bIns="0" rtlCol="0" anchor="ctr"/>
          <a:lstStyle/>
          <a:p>
            <a:pPr marL="0" indent="0" algn="l">
              <a:buNone/>
            </a:pPr>
            <a:r>
              <a:rPr lang="en-US" sz="1300" b="1" dirty="0">
                <a:solidFill>
                  <a:srgbClr val="6D28D9"/>
                </a:solidFill>
                <a:latin typeface="JetBrains Mono" pitchFamily="34" charset="0"/>
                <a:ea typeface="JetBrains Mono" pitchFamily="34" charset="-122"/>
                <a:cs typeface="JetBrains Mono" pitchFamily="34" charset="-120"/>
              </a:rPr>
              <a:t>UC-S01</a:t>
            </a:r>
            <a:endParaRPr lang="en-US" sz="1300" dirty="0"/>
          </a:p>
        </p:txBody>
      </p:sp>
      <p:sp>
        <p:nvSpPr>
          <p:cNvPr id="15" name="Shape 13"/>
          <p:cNvSpPr/>
          <p:nvPr/>
        </p:nvSpPr>
        <p:spPr>
          <a:xfrm>
            <a:off x="10398557" y="2952598"/>
            <a:ext cx="733349" cy="286207"/>
          </a:xfrm>
          <a:prstGeom prst="roundRect">
            <a:avLst>
              <a:gd name="adj" fmla="val 49840"/>
            </a:avLst>
          </a:prstGeom>
          <a:solidFill>
            <a:srgbClr val="FEF3C7"/>
          </a:solidFill>
          <a:ln w="12700">
            <a:solidFill>
              <a:srgbClr val="FFFFFF">
                <a:alpha val="0"/>
              </a:srgbClr>
            </a:solidFill>
            <a:prstDash val="solid"/>
          </a:ln>
        </p:spPr>
        <p:txBody>
          <a:bodyPr/>
          <a:lstStyle/>
          <a:p>
            <a:endParaRPr lang="fr-CI"/>
          </a:p>
        </p:txBody>
      </p:sp>
      <p:sp>
        <p:nvSpPr>
          <p:cNvPr id="16" name="Text 14"/>
          <p:cNvSpPr/>
          <p:nvPr/>
        </p:nvSpPr>
        <p:spPr>
          <a:xfrm>
            <a:off x="10398557" y="2952598"/>
            <a:ext cx="7342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2400E"/>
                </a:solidFill>
                <a:latin typeface="Manrope" pitchFamily="34" charset="0"/>
                <a:ea typeface="Manrope" pitchFamily="34" charset="-122"/>
                <a:cs typeface="Manrope" pitchFamily="34" charset="-120"/>
              </a:rPr>
              <a:t>Majeure</a:t>
            </a:r>
            <a:endParaRPr lang="en-US" sz="900" dirty="0"/>
          </a:p>
        </p:txBody>
      </p:sp>
      <p:sp>
        <p:nvSpPr>
          <p:cNvPr id="17" name="Text 15"/>
          <p:cNvSpPr txBox="1"/>
          <p:nvPr/>
        </p:nvSpPr>
        <p:spPr>
          <a:xfrm>
            <a:off x="1218895" y="3333902"/>
            <a:ext cx="9906610" cy="314554"/>
          </a:xfrm>
          <a:prstGeom prst="rect">
            <a:avLst/>
          </a:prstGeom>
          <a:noFill/>
          <a:ln/>
        </p:spPr>
        <p:txBody>
          <a:bodyPr wrap="none" lIns="0" tIns="0" rIns="0" bIns="0" rtlCol="0" anchor="ctr"/>
          <a:lstStyle/>
          <a:p>
            <a:pPr marL="0" indent="0" algn="l">
              <a:buNone/>
            </a:pPr>
            <a:r>
              <a:rPr lang="en-US" sz="1900" b="1" dirty="0">
                <a:solidFill>
                  <a:srgbClr val="1F2937"/>
                </a:solidFill>
                <a:latin typeface="Manrope" pitchFamily="34" charset="0"/>
                <a:ea typeface="Manrope" pitchFamily="34" charset="-122"/>
                <a:cs typeface="Manrope" pitchFamily="34" charset="-120"/>
              </a:rPr>
              <a:t>Cycle complet d'une réclamation</a:t>
            </a:r>
            <a:endParaRPr lang="en-US" sz="1900" dirty="0"/>
          </a:p>
        </p:txBody>
      </p:sp>
      <p:sp>
        <p:nvSpPr>
          <p:cNvPr id="18" name="Text 16"/>
          <p:cNvSpPr txBox="1"/>
          <p:nvPr/>
        </p:nvSpPr>
        <p:spPr>
          <a:xfrm>
            <a:off x="1218895" y="3700577"/>
            <a:ext cx="9906610"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Service : Support · Profils : Client / Chauffeur / Livreur / Partenaire (émetteur), Support, Finance, Central</a:t>
            </a:r>
            <a:endParaRPr lang="en-US" sz="900" dirty="0"/>
          </a:p>
        </p:txBody>
      </p:sp>
      <p:sp>
        <p:nvSpPr>
          <p:cNvPr id="19" name="Text 17"/>
          <p:cNvSpPr txBox="1"/>
          <p:nvPr/>
        </p:nvSpPr>
        <p:spPr>
          <a:xfrm>
            <a:off x="1218895" y="4081882"/>
            <a:ext cx="4839005"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OBJECTIF</a:t>
            </a:r>
            <a:endParaRPr lang="en-US" sz="800" dirty="0"/>
          </a:p>
        </p:txBody>
      </p:sp>
      <p:sp>
        <p:nvSpPr>
          <p:cNvPr id="20" name="Text 18"/>
          <p:cNvSpPr txBox="1"/>
          <p:nvPr/>
        </p:nvSpPr>
        <p:spPr>
          <a:xfrm>
            <a:off x="1218895" y="4272077"/>
            <a:ext cx="4839005" cy="629107"/>
          </a:xfrm>
          <a:prstGeom prst="rect">
            <a:avLst/>
          </a:prstGeom>
          <a:noFill/>
          <a:ln/>
        </p:spPr>
        <p:txBody>
          <a:bodyPr wrap="square" lIns="0" tIns="0" rIns="0" bIns="0" rtlCol="0" anchor="ctr"/>
          <a:lstStyle/>
          <a:p>
            <a:pPr marL="0" indent="0" algn="l">
              <a:buNone/>
            </a:pPr>
            <a:r>
              <a:rPr lang="en-US" sz="1000" dirty="0">
                <a:solidFill>
                  <a:srgbClr val="1F2937"/>
                </a:solidFill>
                <a:latin typeface="Manrope" pitchFamily="34" charset="0"/>
                <a:ea typeface="Manrope" pitchFamily="34" charset="-122"/>
                <a:cs typeface="Manrope" pitchFamily="34" charset="-120"/>
              </a:rPr>
              <a:t>Tester le cycle complet de prise en charge d'une réclamation, de sa création par un utilisateur jusqu'à sa résolution avec éventuel remboursement ou crédit wallet.</a:t>
            </a:r>
            <a:endParaRPr lang="en-US" sz="1000" dirty="0"/>
          </a:p>
        </p:txBody>
      </p:sp>
      <p:sp>
        <p:nvSpPr>
          <p:cNvPr id="21" name="Text 19"/>
          <p:cNvSpPr txBox="1"/>
          <p:nvPr/>
        </p:nvSpPr>
        <p:spPr>
          <a:xfrm>
            <a:off x="1218895" y="5063033"/>
            <a:ext cx="4839005"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PRÉCONDITIONS</a:t>
            </a:r>
            <a:endParaRPr lang="en-US" sz="800" dirty="0"/>
          </a:p>
        </p:txBody>
      </p:sp>
      <p:sp>
        <p:nvSpPr>
          <p:cNvPr id="22" name="Text 20"/>
          <p:cNvSpPr txBox="1"/>
          <p:nvPr/>
        </p:nvSpPr>
        <p:spPr>
          <a:xfrm>
            <a:off x="1218895" y="5272430"/>
            <a:ext cx="4839005"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Compte utilisateur actif</a:t>
            </a:r>
            <a:endParaRPr lang="en-US" sz="900" dirty="0"/>
          </a:p>
        </p:txBody>
      </p:sp>
      <p:sp>
        <p:nvSpPr>
          <p:cNvPr id="23" name="Text 21"/>
          <p:cNvSpPr txBox="1"/>
          <p:nvPr/>
        </p:nvSpPr>
        <p:spPr>
          <a:xfrm>
            <a:off x="1218895" y="5464454"/>
            <a:ext cx="4839005"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Historique de course / livraison disponible</a:t>
            </a:r>
            <a:endParaRPr lang="en-US" sz="900" dirty="0"/>
          </a:p>
        </p:txBody>
      </p:sp>
      <p:sp>
        <p:nvSpPr>
          <p:cNvPr id="24" name="Text 22"/>
          <p:cNvSpPr txBox="1"/>
          <p:nvPr/>
        </p:nvSpPr>
        <p:spPr>
          <a:xfrm>
            <a:off x="1218895" y="5656478"/>
            <a:ext cx="4839005"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Agent support connecté</a:t>
            </a:r>
            <a:endParaRPr lang="en-US" sz="900" dirty="0"/>
          </a:p>
        </p:txBody>
      </p:sp>
      <p:sp>
        <p:nvSpPr>
          <p:cNvPr id="25" name="Text 23"/>
          <p:cNvSpPr txBox="1"/>
          <p:nvPr/>
        </p:nvSpPr>
        <p:spPr>
          <a:xfrm>
            <a:off x="1218895" y="5848502"/>
            <a:ext cx="4839005"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Catégories de réclamation paramétrées</a:t>
            </a:r>
            <a:endParaRPr lang="en-US" sz="900" dirty="0"/>
          </a:p>
        </p:txBody>
      </p:sp>
      <p:sp>
        <p:nvSpPr>
          <p:cNvPr id="26" name="Text 24"/>
          <p:cNvSpPr txBox="1"/>
          <p:nvPr/>
        </p:nvSpPr>
        <p:spPr>
          <a:xfrm>
            <a:off x="1218895" y="6212434"/>
            <a:ext cx="4839005"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ÉTAPES DE TEST</a:t>
            </a:r>
            <a:endParaRPr lang="en-US" sz="800" dirty="0"/>
          </a:p>
        </p:txBody>
      </p:sp>
      <p:sp>
        <p:nvSpPr>
          <p:cNvPr id="27" name="Text 25"/>
          <p:cNvSpPr txBox="1"/>
          <p:nvPr/>
        </p:nvSpPr>
        <p:spPr>
          <a:xfrm>
            <a:off x="1390802" y="6402629"/>
            <a:ext cx="4668012" cy="391363"/>
          </a:xfrm>
          <a:prstGeom prst="rect">
            <a:avLst/>
          </a:prstGeom>
          <a:noFill/>
          <a:ln/>
        </p:spPr>
        <p:txBody>
          <a:bodyPr wrap="squar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Émetteur crée une réclamation (catégorie, course concernée, description, pièces jointes)</a:t>
            </a:r>
            <a:endParaRPr lang="en-US" sz="900" dirty="0"/>
          </a:p>
        </p:txBody>
      </p:sp>
      <p:sp>
        <p:nvSpPr>
          <p:cNvPr id="28" name="Text 26"/>
          <p:cNvSpPr txBox="1"/>
          <p:nvPr/>
        </p:nvSpPr>
        <p:spPr>
          <a:xfrm>
            <a:off x="1390802" y="6786677"/>
            <a:ext cx="5166360"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Le support reçoit la notification &amp; voit la réclamation dans sa file</a:t>
            </a:r>
            <a:endParaRPr lang="en-US" sz="900" dirty="0"/>
          </a:p>
        </p:txBody>
      </p:sp>
      <p:sp>
        <p:nvSpPr>
          <p:cNvPr id="29" name="Text 27"/>
          <p:cNvSpPr txBox="1"/>
          <p:nvPr/>
        </p:nvSpPr>
        <p:spPr>
          <a:xfrm>
            <a:off x="1390802" y="6978701"/>
            <a:ext cx="5241341"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Agent support assigne la réclamation et change le statut → "En cours"</a:t>
            </a:r>
            <a:endParaRPr lang="en-US" sz="900" dirty="0"/>
          </a:p>
        </p:txBody>
      </p:sp>
      <p:sp>
        <p:nvSpPr>
          <p:cNvPr id="30" name="Text 28"/>
          <p:cNvSpPr txBox="1"/>
          <p:nvPr/>
        </p:nvSpPr>
        <p:spPr>
          <a:xfrm>
            <a:off x="1390802" y="7170725"/>
            <a:ext cx="46680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Agent communique avec l'émetteur (chat interne, mail)</a:t>
            </a:r>
            <a:endParaRPr lang="en-US" sz="900" dirty="0"/>
          </a:p>
        </p:txBody>
      </p:sp>
      <p:sp>
        <p:nvSpPr>
          <p:cNvPr id="31" name="Text 29"/>
          <p:cNvSpPr txBox="1"/>
          <p:nvPr/>
        </p:nvSpPr>
        <p:spPr>
          <a:xfrm>
            <a:off x="1390802" y="7362749"/>
            <a:ext cx="4795114"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Si dédommagement : validation finance + crédit wallet du client</a:t>
            </a:r>
            <a:endParaRPr lang="en-US" sz="900" dirty="0"/>
          </a:p>
        </p:txBody>
      </p:sp>
      <p:sp>
        <p:nvSpPr>
          <p:cNvPr id="32" name="Text 30"/>
          <p:cNvSpPr txBox="1"/>
          <p:nvPr/>
        </p:nvSpPr>
        <p:spPr>
          <a:xfrm>
            <a:off x="1390802" y="7554773"/>
            <a:ext cx="46680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Si rejet : motif documenté, notification émetteur</a:t>
            </a:r>
            <a:endParaRPr lang="en-US" sz="900" dirty="0"/>
          </a:p>
        </p:txBody>
      </p:sp>
      <p:sp>
        <p:nvSpPr>
          <p:cNvPr id="33" name="Text 31"/>
          <p:cNvSpPr txBox="1"/>
          <p:nvPr/>
        </p:nvSpPr>
        <p:spPr>
          <a:xfrm>
            <a:off x="1390802" y="7746797"/>
            <a:ext cx="46680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Clôture : changement de statut → "Résolue" + horodatage</a:t>
            </a:r>
            <a:endParaRPr lang="en-US" sz="900" dirty="0"/>
          </a:p>
        </p:txBody>
      </p:sp>
      <p:sp>
        <p:nvSpPr>
          <p:cNvPr id="34" name="Text 32"/>
          <p:cNvSpPr txBox="1"/>
          <p:nvPr/>
        </p:nvSpPr>
        <p:spPr>
          <a:xfrm>
            <a:off x="1390802" y="7938821"/>
            <a:ext cx="5092294"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Émetteur reçoit notification de résolution et peut noter le service</a:t>
            </a:r>
            <a:endParaRPr lang="en-US" sz="900" dirty="0"/>
          </a:p>
        </p:txBody>
      </p:sp>
      <p:sp>
        <p:nvSpPr>
          <p:cNvPr id="35" name="Shape 33"/>
          <p:cNvSpPr/>
          <p:nvPr/>
        </p:nvSpPr>
        <p:spPr>
          <a:xfrm>
            <a:off x="6286500" y="4081882"/>
            <a:ext cx="4839005" cy="1828800"/>
          </a:xfrm>
          <a:prstGeom prst="roundRect">
            <a:avLst>
              <a:gd name="adj" fmla="val 5200"/>
            </a:avLst>
          </a:prstGeom>
          <a:solidFill>
            <a:srgbClr val="F5F3FF"/>
          </a:solidFill>
          <a:ln w="12700">
            <a:solidFill>
              <a:srgbClr val="DDD6FE"/>
            </a:solidFill>
            <a:prstDash val="solid"/>
          </a:ln>
        </p:spPr>
        <p:txBody>
          <a:bodyPr/>
          <a:lstStyle/>
          <a:p>
            <a:endParaRPr lang="fr-CI"/>
          </a:p>
        </p:txBody>
      </p:sp>
      <p:sp>
        <p:nvSpPr>
          <p:cNvPr id="36" name="Text 34"/>
          <p:cNvSpPr txBox="1"/>
          <p:nvPr/>
        </p:nvSpPr>
        <p:spPr>
          <a:xfrm>
            <a:off x="6448349" y="4243730"/>
            <a:ext cx="4515307"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CATÉGORIES À TESTER</a:t>
            </a:r>
            <a:endParaRPr lang="en-US" sz="800" dirty="0"/>
          </a:p>
        </p:txBody>
      </p:sp>
      <p:sp>
        <p:nvSpPr>
          <p:cNvPr id="37" name="Shape 35"/>
          <p:cNvSpPr/>
          <p:nvPr/>
        </p:nvSpPr>
        <p:spPr>
          <a:xfrm>
            <a:off x="6448349" y="4472330"/>
            <a:ext cx="2200046" cy="276149"/>
          </a:xfrm>
          <a:prstGeom prst="roundRect">
            <a:avLst>
              <a:gd name="adj" fmla="val 20861"/>
            </a:avLst>
          </a:prstGeom>
          <a:solidFill>
            <a:srgbClr val="FFFFFF"/>
          </a:solidFill>
          <a:ln w="12700">
            <a:solidFill>
              <a:srgbClr val="FFFFFF">
                <a:alpha val="0"/>
              </a:srgbClr>
            </a:solidFill>
            <a:prstDash val="solid"/>
          </a:ln>
        </p:spPr>
        <p:txBody>
          <a:bodyPr/>
          <a:lstStyle/>
          <a:p>
            <a:endParaRPr lang="fr-CI"/>
          </a:p>
        </p:txBody>
      </p:sp>
      <p:sp>
        <p:nvSpPr>
          <p:cNvPr id="38" name="Text 36"/>
          <p:cNvSpPr txBox="1"/>
          <p:nvPr/>
        </p:nvSpPr>
        <p:spPr>
          <a:xfrm>
            <a:off x="6448349" y="4472330"/>
            <a:ext cx="2200961" cy="277063"/>
          </a:xfrm>
          <a:prstGeom prst="rect">
            <a:avLst/>
          </a:prstGeom>
          <a:solidFill>
            <a:srgbClr val="FFFFFF">
              <a:alpha val="0"/>
            </a:srgbClr>
          </a:solidFill>
          <a:ln>
            <a:solidFill>
              <a:srgbClr val="FFFFFF">
                <a:alpha val="0"/>
              </a:srgbClr>
            </a:solidFill>
          </a:ln>
        </p:spPr>
        <p:txBody>
          <a:bodyPr wrap="none" lIns="101600" tIns="63500" rIns="101600" bIns="6350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Course non effectuée</a:t>
            </a:r>
            <a:endParaRPr lang="en-US" sz="900" dirty="0"/>
          </a:p>
        </p:txBody>
      </p:sp>
      <p:sp>
        <p:nvSpPr>
          <p:cNvPr id="39" name="Shape 37"/>
          <p:cNvSpPr/>
          <p:nvPr/>
        </p:nvSpPr>
        <p:spPr>
          <a:xfrm>
            <a:off x="8762695" y="4472330"/>
            <a:ext cx="2200046" cy="276149"/>
          </a:xfrm>
          <a:prstGeom prst="roundRect">
            <a:avLst>
              <a:gd name="adj" fmla="val 20861"/>
            </a:avLst>
          </a:prstGeom>
          <a:solidFill>
            <a:srgbClr val="FFFFFF"/>
          </a:solidFill>
          <a:ln w="12700">
            <a:solidFill>
              <a:srgbClr val="FFFFFF">
                <a:alpha val="0"/>
              </a:srgbClr>
            </a:solidFill>
            <a:prstDash val="solid"/>
          </a:ln>
        </p:spPr>
        <p:txBody>
          <a:bodyPr/>
          <a:lstStyle/>
          <a:p>
            <a:endParaRPr lang="fr-CI"/>
          </a:p>
        </p:txBody>
      </p:sp>
      <p:sp>
        <p:nvSpPr>
          <p:cNvPr id="40" name="Text 38"/>
          <p:cNvSpPr txBox="1"/>
          <p:nvPr/>
        </p:nvSpPr>
        <p:spPr>
          <a:xfrm>
            <a:off x="8762695" y="4472330"/>
            <a:ext cx="2200961" cy="277063"/>
          </a:xfrm>
          <a:prstGeom prst="rect">
            <a:avLst/>
          </a:prstGeom>
          <a:solidFill>
            <a:srgbClr val="FFFFFF">
              <a:alpha val="0"/>
            </a:srgbClr>
          </a:solidFill>
          <a:ln>
            <a:solidFill>
              <a:srgbClr val="FFFFFF">
                <a:alpha val="0"/>
              </a:srgbClr>
            </a:solidFill>
          </a:ln>
        </p:spPr>
        <p:txBody>
          <a:bodyPr wrap="none" lIns="101600" tIns="63500" rIns="101600" bIns="6350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Surfacturation</a:t>
            </a:r>
            <a:endParaRPr lang="en-US" sz="900" dirty="0"/>
          </a:p>
        </p:txBody>
      </p:sp>
      <p:sp>
        <p:nvSpPr>
          <p:cNvPr id="41" name="Shape 39"/>
          <p:cNvSpPr/>
          <p:nvPr/>
        </p:nvSpPr>
        <p:spPr>
          <a:xfrm>
            <a:off x="6448349" y="4805172"/>
            <a:ext cx="2200046" cy="276149"/>
          </a:xfrm>
          <a:prstGeom prst="roundRect">
            <a:avLst>
              <a:gd name="adj" fmla="val 20861"/>
            </a:avLst>
          </a:prstGeom>
          <a:solidFill>
            <a:srgbClr val="FFFFFF"/>
          </a:solidFill>
          <a:ln w="12700">
            <a:solidFill>
              <a:srgbClr val="FFFFFF">
                <a:alpha val="0"/>
              </a:srgbClr>
            </a:solidFill>
            <a:prstDash val="solid"/>
          </a:ln>
        </p:spPr>
        <p:txBody>
          <a:bodyPr/>
          <a:lstStyle/>
          <a:p>
            <a:endParaRPr lang="fr-CI"/>
          </a:p>
        </p:txBody>
      </p:sp>
      <p:sp>
        <p:nvSpPr>
          <p:cNvPr id="42" name="Text 40"/>
          <p:cNvSpPr txBox="1"/>
          <p:nvPr/>
        </p:nvSpPr>
        <p:spPr>
          <a:xfrm>
            <a:off x="6448349" y="4805172"/>
            <a:ext cx="2200961" cy="277063"/>
          </a:xfrm>
          <a:prstGeom prst="rect">
            <a:avLst/>
          </a:prstGeom>
          <a:solidFill>
            <a:srgbClr val="FFFFFF">
              <a:alpha val="0"/>
            </a:srgbClr>
          </a:solidFill>
          <a:ln>
            <a:solidFill>
              <a:srgbClr val="FFFFFF">
                <a:alpha val="0"/>
              </a:srgbClr>
            </a:solidFill>
          </a:ln>
        </p:spPr>
        <p:txBody>
          <a:bodyPr wrap="none" lIns="101600" tIns="63500" rIns="101600" bIns="6350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Comportement chauffeur</a:t>
            </a:r>
            <a:endParaRPr lang="en-US" sz="900" dirty="0"/>
          </a:p>
        </p:txBody>
      </p:sp>
      <p:sp>
        <p:nvSpPr>
          <p:cNvPr id="43" name="Shape 41"/>
          <p:cNvSpPr/>
          <p:nvPr/>
        </p:nvSpPr>
        <p:spPr>
          <a:xfrm>
            <a:off x="8762695" y="4805172"/>
            <a:ext cx="2200046" cy="276149"/>
          </a:xfrm>
          <a:prstGeom prst="roundRect">
            <a:avLst>
              <a:gd name="adj" fmla="val 20861"/>
            </a:avLst>
          </a:prstGeom>
          <a:solidFill>
            <a:srgbClr val="FFFFFF"/>
          </a:solidFill>
          <a:ln w="12700">
            <a:solidFill>
              <a:srgbClr val="FFFFFF">
                <a:alpha val="0"/>
              </a:srgbClr>
            </a:solidFill>
            <a:prstDash val="solid"/>
          </a:ln>
        </p:spPr>
        <p:txBody>
          <a:bodyPr/>
          <a:lstStyle/>
          <a:p>
            <a:endParaRPr lang="fr-CI"/>
          </a:p>
        </p:txBody>
      </p:sp>
      <p:sp>
        <p:nvSpPr>
          <p:cNvPr id="44" name="Text 42"/>
          <p:cNvSpPr txBox="1"/>
          <p:nvPr/>
        </p:nvSpPr>
        <p:spPr>
          <a:xfrm>
            <a:off x="8762695" y="4805172"/>
            <a:ext cx="2200961" cy="277063"/>
          </a:xfrm>
          <a:prstGeom prst="rect">
            <a:avLst/>
          </a:prstGeom>
          <a:solidFill>
            <a:srgbClr val="FFFFFF">
              <a:alpha val="0"/>
            </a:srgbClr>
          </a:solidFill>
          <a:ln>
            <a:solidFill>
              <a:srgbClr val="FFFFFF">
                <a:alpha val="0"/>
              </a:srgbClr>
            </a:solidFill>
          </a:ln>
        </p:spPr>
        <p:txBody>
          <a:bodyPr wrap="none" lIns="101600" tIns="63500" rIns="101600" bIns="6350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Colis endommagé</a:t>
            </a:r>
            <a:endParaRPr lang="en-US" sz="900" dirty="0"/>
          </a:p>
        </p:txBody>
      </p:sp>
      <p:sp>
        <p:nvSpPr>
          <p:cNvPr id="45" name="Shape 43"/>
          <p:cNvSpPr/>
          <p:nvPr/>
        </p:nvSpPr>
        <p:spPr>
          <a:xfrm>
            <a:off x="6448349" y="5138928"/>
            <a:ext cx="2200046" cy="276149"/>
          </a:xfrm>
          <a:prstGeom prst="roundRect">
            <a:avLst>
              <a:gd name="adj" fmla="val 20861"/>
            </a:avLst>
          </a:prstGeom>
          <a:solidFill>
            <a:srgbClr val="FFFFFF"/>
          </a:solidFill>
          <a:ln w="12700">
            <a:solidFill>
              <a:srgbClr val="FFFFFF">
                <a:alpha val="0"/>
              </a:srgbClr>
            </a:solidFill>
            <a:prstDash val="solid"/>
          </a:ln>
        </p:spPr>
        <p:txBody>
          <a:bodyPr/>
          <a:lstStyle/>
          <a:p>
            <a:endParaRPr lang="fr-CI"/>
          </a:p>
        </p:txBody>
      </p:sp>
      <p:sp>
        <p:nvSpPr>
          <p:cNvPr id="46" name="Text 44"/>
          <p:cNvSpPr txBox="1"/>
          <p:nvPr/>
        </p:nvSpPr>
        <p:spPr>
          <a:xfrm>
            <a:off x="6448349" y="5138928"/>
            <a:ext cx="2200961" cy="277063"/>
          </a:xfrm>
          <a:prstGeom prst="rect">
            <a:avLst/>
          </a:prstGeom>
          <a:solidFill>
            <a:srgbClr val="FFFFFF">
              <a:alpha val="0"/>
            </a:srgbClr>
          </a:solidFill>
          <a:ln>
            <a:solidFill>
              <a:srgbClr val="FFFFFF">
                <a:alpha val="0"/>
              </a:srgbClr>
            </a:solidFill>
          </a:ln>
        </p:spPr>
        <p:txBody>
          <a:bodyPr wrap="none" lIns="101600" tIns="63500" rIns="101600" bIns="6350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Colis perdu</a:t>
            </a:r>
            <a:endParaRPr lang="en-US" sz="900" dirty="0"/>
          </a:p>
        </p:txBody>
      </p:sp>
      <p:sp>
        <p:nvSpPr>
          <p:cNvPr id="47" name="Shape 45"/>
          <p:cNvSpPr/>
          <p:nvPr/>
        </p:nvSpPr>
        <p:spPr>
          <a:xfrm>
            <a:off x="8762695" y="5138928"/>
            <a:ext cx="2200046" cy="276149"/>
          </a:xfrm>
          <a:prstGeom prst="roundRect">
            <a:avLst>
              <a:gd name="adj" fmla="val 20861"/>
            </a:avLst>
          </a:prstGeom>
          <a:solidFill>
            <a:srgbClr val="FFFFFF"/>
          </a:solidFill>
          <a:ln w="12700">
            <a:solidFill>
              <a:srgbClr val="FFFFFF">
                <a:alpha val="0"/>
              </a:srgbClr>
            </a:solidFill>
            <a:prstDash val="solid"/>
          </a:ln>
        </p:spPr>
        <p:txBody>
          <a:bodyPr/>
          <a:lstStyle/>
          <a:p>
            <a:endParaRPr lang="fr-CI"/>
          </a:p>
        </p:txBody>
      </p:sp>
      <p:sp>
        <p:nvSpPr>
          <p:cNvPr id="48" name="Text 46"/>
          <p:cNvSpPr txBox="1"/>
          <p:nvPr/>
        </p:nvSpPr>
        <p:spPr>
          <a:xfrm>
            <a:off x="8762695" y="5138928"/>
            <a:ext cx="2200961" cy="277063"/>
          </a:xfrm>
          <a:prstGeom prst="rect">
            <a:avLst/>
          </a:prstGeom>
          <a:solidFill>
            <a:srgbClr val="FFFFFF">
              <a:alpha val="0"/>
            </a:srgbClr>
          </a:solidFill>
          <a:ln>
            <a:solidFill>
              <a:srgbClr val="FFFFFF">
                <a:alpha val="0"/>
              </a:srgbClr>
            </a:solidFill>
          </a:ln>
        </p:spPr>
        <p:txBody>
          <a:bodyPr wrap="none" lIns="101600" tIns="63500" rIns="101600" bIns="6350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Wallet incorrect</a:t>
            </a:r>
            <a:endParaRPr lang="en-US" sz="900" dirty="0"/>
          </a:p>
        </p:txBody>
      </p:sp>
      <p:sp>
        <p:nvSpPr>
          <p:cNvPr id="49" name="Shape 47"/>
          <p:cNvSpPr/>
          <p:nvPr/>
        </p:nvSpPr>
        <p:spPr>
          <a:xfrm>
            <a:off x="6448349" y="5471770"/>
            <a:ext cx="2200046" cy="276149"/>
          </a:xfrm>
          <a:prstGeom prst="roundRect">
            <a:avLst>
              <a:gd name="adj" fmla="val 20861"/>
            </a:avLst>
          </a:prstGeom>
          <a:solidFill>
            <a:srgbClr val="FFFFFF"/>
          </a:solidFill>
          <a:ln w="12700">
            <a:solidFill>
              <a:srgbClr val="FFFFFF">
                <a:alpha val="0"/>
              </a:srgbClr>
            </a:solidFill>
            <a:prstDash val="solid"/>
          </a:ln>
        </p:spPr>
        <p:txBody>
          <a:bodyPr/>
          <a:lstStyle/>
          <a:p>
            <a:endParaRPr lang="fr-CI"/>
          </a:p>
        </p:txBody>
      </p:sp>
      <p:sp>
        <p:nvSpPr>
          <p:cNvPr id="50" name="Text 48"/>
          <p:cNvSpPr txBox="1"/>
          <p:nvPr/>
        </p:nvSpPr>
        <p:spPr>
          <a:xfrm>
            <a:off x="6448349" y="5471770"/>
            <a:ext cx="2200961" cy="277063"/>
          </a:xfrm>
          <a:prstGeom prst="rect">
            <a:avLst/>
          </a:prstGeom>
          <a:solidFill>
            <a:srgbClr val="FFFFFF">
              <a:alpha val="0"/>
            </a:srgbClr>
          </a:solidFill>
          <a:ln>
            <a:solidFill>
              <a:srgbClr val="FFFFFF">
                <a:alpha val="0"/>
              </a:srgbClr>
            </a:solidFill>
          </a:ln>
        </p:spPr>
        <p:txBody>
          <a:bodyPr wrap="none" lIns="101600" tIns="63500" rIns="101600" bIns="6350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Commission contestée</a:t>
            </a:r>
            <a:endParaRPr lang="en-US" sz="900" dirty="0"/>
          </a:p>
        </p:txBody>
      </p:sp>
      <p:sp>
        <p:nvSpPr>
          <p:cNvPr id="51" name="Shape 49"/>
          <p:cNvSpPr/>
          <p:nvPr/>
        </p:nvSpPr>
        <p:spPr>
          <a:xfrm>
            <a:off x="8762695" y="5471770"/>
            <a:ext cx="2200046" cy="276149"/>
          </a:xfrm>
          <a:prstGeom prst="roundRect">
            <a:avLst>
              <a:gd name="adj" fmla="val 20861"/>
            </a:avLst>
          </a:prstGeom>
          <a:solidFill>
            <a:srgbClr val="FFFFFF"/>
          </a:solidFill>
          <a:ln w="12700">
            <a:solidFill>
              <a:srgbClr val="FFFFFF">
                <a:alpha val="0"/>
              </a:srgbClr>
            </a:solidFill>
            <a:prstDash val="solid"/>
          </a:ln>
        </p:spPr>
        <p:txBody>
          <a:bodyPr/>
          <a:lstStyle/>
          <a:p>
            <a:endParaRPr lang="fr-CI"/>
          </a:p>
        </p:txBody>
      </p:sp>
      <p:sp>
        <p:nvSpPr>
          <p:cNvPr id="52" name="Text 50"/>
          <p:cNvSpPr txBox="1"/>
          <p:nvPr/>
        </p:nvSpPr>
        <p:spPr>
          <a:xfrm>
            <a:off x="8762695" y="5471770"/>
            <a:ext cx="2200961" cy="277063"/>
          </a:xfrm>
          <a:prstGeom prst="rect">
            <a:avLst/>
          </a:prstGeom>
          <a:solidFill>
            <a:srgbClr val="FFFFFF">
              <a:alpha val="0"/>
            </a:srgbClr>
          </a:solidFill>
          <a:ln>
            <a:solidFill>
              <a:srgbClr val="FFFFFF">
                <a:alpha val="0"/>
              </a:srgbClr>
            </a:solidFill>
          </a:ln>
        </p:spPr>
        <p:txBody>
          <a:bodyPr wrap="none" lIns="101600" tIns="63500" rIns="101600" bIns="6350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Autre</a:t>
            </a:r>
            <a:endParaRPr lang="en-US" sz="900" dirty="0"/>
          </a:p>
        </p:txBody>
      </p:sp>
      <p:sp>
        <p:nvSpPr>
          <p:cNvPr id="53" name="Shape 51"/>
          <p:cNvSpPr/>
          <p:nvPr/>
        </p:nvSpPr>
        <p:spPr>
          <a:xfrm>
            <a:off x="6286500" y="6062472"/>
            <a:ext cx="4839005" cy="1352398"/>
          </a:xfrm>
          <a:prstGeom prst="roundRect">
            <a:avLst>
              <a:gd name="adj" fmla="val 7032"/>
            </a:avLst>
          </a:prstGeom>
          <a:solidFill>
            <a:srgbClr val="FFFFFF"/>
          </a:solidFill>
          <a:ln w="12700">
            <a:solidFill>
              <a:srgbClr val="E5E7EB"/>
            </a:solidFill>
            <a:prstDash val="solid"/>
          </a:ln>
        </p:spPr>
        <p:txBody>
          <a:bodyPr/>
          <a:lstStyle/>
          <a:p>
            <a:endParaRPr lang="fr-CI"/>
          </a:p>
        </p:txBody>
      </p:sp>
      <p:sp>
        <p:nvSpPr>
          <p:cNvPr id="54" name="Text 52"/>
          <p:cNvSpPr txBox="1"/>
          <p:nvPr/>
        </p:nvSpPr>
        <p:spPr>
          <a:xfrm>
            <a:off x="6448349" y="6224321"/>
            <a:ext cx="4515307"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SLA SUPPORT — RÈGLES DE TEST</a:t>
            </a:r>
            <a:endParaRPr lang="en-US" sz="800" dirty="0"/>
          </a:p>
        </p:txBody>
      </p:sp>
      <p:sp>
        <p:nvSpPr>
          <p:cNvPr id="55" name="Text 53"/>
          <p:cNvSpPr txBox="1"/>
          <p:nvPr/>
        </p:nvSpPr>
        <p:spPr>
          <a:xfrm>
            <a:off x="6448349" y="6452921"/>
            <a:ext cx="4515307" cy="200254"/>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 Prise en charge sous </a:t>
            </a:r>
            <a:r>
              <a:rPr lang="en-US" sz="900" b="1" dirty="0">
                <a:solidFill>
                  <a:srgbClr val="1F2937"/>
                </a:solidFill>
                <a:latin typeface="Manrope" pitchFamily="34" charset="0"/>
                <a:ea typeface="Manrope" pitchFamily="34" charset="-122"/>
                <a:cs typeface="Manrope" pitchFamily="34" charset="-120"/>
              </a:rPr>
              <a:t>24h</a:t>
            </a:r>
            <a:endParaRPr lang="en-US" sz="900" dirty="0"/>
          </a:p>
        </p:txBody>
      </p:sp>
      <p:sp>
        <p:nvSpPr>
          <p:cNvPr id="56" name="Text 54"/>
          <p:cNvSpPr txBox="1"/>
          <p:nvPr/>
        </p:nvSpPr>
        <p:spPr>
          <a:xfrm>
            <a:off x="6448349" y="6651346"/>
            <a:ext cx="4515307" cy="200254"/>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 Première réponse sous </a:t>
            </a:r>
            <a:r>
              <a:rPr lang="en-US" sz="900" b="1" dirty="0">
                <a:solidFill>
                  <a:srgbClr val="1F2937"/>
                </a:solidFill>
                <a:latin typeface="Manrope" pitchFamily="34" charset="0"/>
                <a:ea typeface="Manrope" pitchFamily="34" charset="-122"/>
                <a:cs typeface="Manrope" pitchFamily="34" charset="-120"/>
              </a:rPr>
              <a:t>4h ouvrées</a:t>
            </a:r>
            <a:endParaRPr lang="en-US" sz="900" dirty="0"/>
          </a:p>
        </p:txBody>
      </p:sp>
      <p:sp>
        <p:nvSpPr>
          <p:cNvPr id="57" name="Text 55"/>
          <p:cNvSpPr txBox="1"/>
          <p:nvPr/>
        </p:nvSpPr>
        <p:spPr>
          <a:xfrm>
            <a:off x="6448349" y="6849770"/>
            <a:ext cx="4515307" cy="200254"/>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 Résolution sous </a:t>
            </a:r>
            <a:r>
              <a:rPr lang="en-US" sz="900" b="1" dirty="0">
                <a:solidFill>
                  <a:srgbClr val="1F2937"/>
                </a:solidFill>
                <a:latin typeface="Manrope" pitchFamily="34" charset="0"/>
                <a:ea typeface="Manrope" pitchFamily="34" charset="-122"/>
                <a:cs typeface="Manrope" pitchFamily="34" charset="-120"/>
              </a:rPr>
              <a:t>72h</a:t>
            </a:r>
            <a:r>
              <a:rPr lang="en-US" sz="900" dirty="0">
                <a:solidFill>
                  <a:srgbClr val="1F2937"/>
                </a:solidFill>
                <a:latin typeface="Manrope" pitchFamily="34" charset="0"/>
                <a:ea typeface="Manrope" pitchFamily="34" charset="-122"/>
                <a:cs typeface="Manrope" pitchFamily="34" charset="-120"/>
              </a:rPr>
              <a:t> (catégorie standard)</a:t>
            </a:r>
            <a:endParaRPr lang="en-US" sz="900" dirty="0"/>
          </a:p>
        </p:txBody>
      </p:sp>
      <p:sp>
        <p:nvSpPr>
          <p:cNvPr id="58" name="Text 56"/>
          <p:cNvSpPr txBox="1"/>
          <p:nvPr/>
        </p:nvSpPr>
        <p:spPr>
          <a:xfrm>
            <a:off x="6448349" y="7047281"/>
            <a:ext cx="4515307" cy="200254"/>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 Escalade central si non résolu sous </a:t>
            </a:r>
            <a:r>
              <a:rPr lang="en-US" sz="900" b="1" dirty="0">
                <a:solidFill>
                  <a:srgbClr val="1F2937"/>
                </a:solidFill>
                <a:latin typeface="Manrope" pitchFamily="34" charset="0"/>
                <a:ea typeface="Manrope" pitchFamily="34" charset="-122"/>
                <a:cs typeface="Manrope" pitchFamily="34" charset="-120"/>
              </a:rPr>
              <a:t>5j</a:t>
            </a:r>
            <a:endParaRPr lang="en-US" sz="900" dirty="0"/>
          </a:p>
        </p:txBody>
      </p:sp>
      <p:sp>
        <p:nvSpPr>
          <p:cNvPr id="59" name="Shape 57"/>
          <p:cNvSpPr/>
          <p:nvPr/>
        </p:nvSpPr>
        <p:spPr>
          <a:xfrm>
            <a:off x="6286500" y="7560259"/>
            <a:ext cx="4839005" cy="866851"/>
          </a:xfrm>
          <a:prstGeom prst="roundRect">
            <a:avLst>
              <a:gd name="adj" fmla="val 10970"/>
            </a:avLst>
          </a:prstGeom>
          <a:solidFill>
            <a:srgbClr val="1F2937"/>
          </a:solidFill>
          <a:ln w="12700">
            <a:solidFill>
              <a:srgbClr val="FFFFFF">
                <a:alpha val="0"/>
              </a:srgbClr>
            </a:solidFill>
            <a:prstDash val="solid"/>
          </a:ln>
        </p:spPr>
        <p:txBody>
          <a:bodyPr/>
          <a:lstStyle/>
          <a:p>
            <a:endParaRPr lang="fr-CI"/>
          </a:p>
        </p:txBody>
      </p:sp>
      <p:sp>
        <p:nvSpPr>
          <p:cNvPr id="60" name="Text 58"/>
          <p:cNvSpPr txBox="1"/>
          <p:nvPr/>
        </p:nvSpPr>
        <p:spPr>
          <a:xfrm>
            <a:off x="6420002" y="7692847"/>
            <a:ext cx="4572000"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RÉSULTATS ATTENDUS</a:t>
            </a:r>
            <a:endParaRPr lang="en-US" sz="800" dirty="0"/>
          </a:p>
        </p:txBody>
      </p:sp>
      <p:sp>
        <p:nvSpPr>
          <p:cNvPr id="61" name="Text 59"/>
          <p:cNvSpPr txBox="1"/>
          <p:nvPr/>
        </p:nvSpPr>
        <p:spPr>
          <a:xfrm>
            <a:off x="6420002" y="7903159"/>
            <a:ext cx="4572000" cy="391363"/>
          </a:xfrm>
          <a:prstGeom prst="rect">
            <a:avLst/>
          </a:prstGeom>
          <a:noFill/>
          <a:ln/>
        </p:spPr>
        <p:txBody>
          <a:bodyPr wrap="squar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Tous les statuts changent correctement · notifications reçues · crédit wallet effectif si dédommagement · historique conservé · reporting support alimenté.</a:t>
            </a:r>
            <a:endParaRPr lang="en-US" sz="900" dirty="0"/>
          </a:p>
        </p:txBody>
      </p:sp>
      <p:sp>
        <p:nvSpPr>
          <p:cNvPr id="62" name="Shape 60"/>
          <p:cNvSpPr/>
          <p:nvPr/>
        </p:nvSpPr>
        <p:spPr>
          <a:xfrm>
            <a:off x="6286500" y="8553298"/>
            <a:ext cx="4839005" cy="743407"/>
          </a:xfrm>
          <a:prstGeom prst="roundRect">
            <a:avLst>
              <a:gd name="adj" fmla="val 10209"/>
            </a:avLst>
          </a:prstGeom>
          <a:solidFill>
            <a:srgbClr val="F5F3FF"/>
          </a:solidFill>
          <a:ln/>
        </p:spPr>
        <p:txBody>
          <a:bodyPr/>
          <a:lstStyle/>
          <a:p>
            <a:endParaRPr lang="fr-CI"/>
          </a:p>
        </p:txBody>
      </p:sp>
      <p:sp>
        <p:nvSpPr>
          <p:cNvPr id="63" name="Shape 61"/>
          <p:cNvSpPr/>
          <p:nvPr/>
        </p:nvSpPr>
        <p:spPr>
          <a:xfrm>
            <a:off x="6286500" y="8553298"/>
            <a:ext cx="28346" cy="743407"/>
          </a:xfrm>
          <a:prstGeom prst="roundRect">
            <a:avLst>
              <a:gd name="adj" fmla="val 267746"/>
            </a:avLst>
          </a:prstGeom>
          <a:solidFill>
            <a:srgbClr val="6D28D9"/>
          </a:solidFill>
          <a:ln w="12700">
            <a:solidFill>
              <a:srgbClr val="6D28D9">
                <a:alpha val="0"/>
              </a:srgbClr>
            </a:solidFill>
            <a:prstDash val="solid"/>
          </a:ln>
        </p:spPr>
        <p:txBody>
          <a:bodyPr/>
          <a:lstStyle/>
          <a:p>
            <a:endParaRPr lang="fr-CI"/>
          </a:p>
        </p:txBody>
      </p:sp>
      <p:sp>
        <p:nvSpPr>
          <p:cNvPr id="64" name="Text 62"/>
          <p:cNvSpPr txBox="1"/>
          <p:nvPr/>
        </p:nvSpPr>
        <p:spPr>
          <a:xfrm>
            <a:off x="6429146" y="8667598"/>
            <a:ext cx="4582058"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CRITÈRE</a:t>
            </a:r>
            <a:endParaRPr lang="en-US" sz="800" dirty="0"/>
          </a:p>
        </p:txBody>
      </p:sp>
      <p:sp>
        <p:nvSpPr>
          <p:cNvPr id="65" name="Text 63"/>
          <p:cNvSpPr txBox="1"/>
          <p:nvPr/>
        </p:nvSpPr>
        <p:spPr>
          <a:xfrm>
            <a:off x="6429146" y="8838590"/>
            <a:ext cx="4582058" cy="342900"/>
          </a:xfrm>
          <a:prstGeom prst="rect">
            <a:avLst/>
          </a:prstGeom>
          <a:noFill/>
          <a:ln/>
        </p:spPr>
        <p:txBody>
          <a:bodyPr wrap="squar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Aucune réclamation ne peut être clôturée sans motif documenté ET sans notification à l'émetteur.</a:t>
            </a:r>
            <a:endParaRPr lang="en-US" sz="900" dirty="0"/>
          </a:p>
        </p:txBody>
      </p:sp>
      <p:sp>
        <p:nvSpPr>
          <p:cNvPr id="66" name="Shape 64"/>
          <p:cNvSpPr/>
          <p:nvPr/>
        </p:nvSpPr>
        <p:spPr>
          <a:xfrm>
            <a:off x="11697005" y="2762402"/>
            <a:ext cx="5715000" cy="6762902"/>
          </a:xfrm>
          <a:prstGeom prst="roundRect">
            <a:avLst>
              <a:gd name="adj" fmla="val 2336"/>
            </a:avLst>
          </a:prstGeom>
          <a:solidFill>
            <a:srgbClr val="1F2937"/>
          </a:solidFill>
          <a:ln w="12700">
            <a:solidFill>
              <a:srgbClr val="FFFFFF">
                <a:alpha val="0"/>
              </a:srgbClr>
            </a:solidFill>
            <a:prstDash val="solid"/>
          </a:ln>
        </p:spPr>
        <p:txBody>
          <a:bodyPr/>
          <a:lstStyle/>
          <a:p>
            <a:endParaRPr lang="fr-CI"/>
          </a:p>
        </p:txBody>
      </p:sp>
      <p:sp>
        <p:nvSpPr>
          <p:cNvPr id="67" name="Text 65"/>
          <p:cNvSpPr txBox="1"/>
          <p:nvPr/>
        </p:nvSpPr>
        <p:spPr>
          <a:xfrm>
            <a:off x="12001500" y="3010205"/>
            <a:ext cx="5143500" cy="152705"/>
          </a:xfrm>
          <a:prstGeom prst="rect">
            <a:avLst/>
          </a:prstGeom>
          <a:noFill/>
          <a:ln/>
        </p:spPr>
        <p:txBody>
          <a:bodyPr wrap="none" lIns="0" tIns="0" rIns="0" bIns="0" rtlCol="0" anchor="ctr"/>
          <a:lstStyle/>
          <a:p>
            <a:pPr marL="0" indent="0" algn="l">
              <a:buNone/>
            </a:pPr>
            <a:r>
              <a:rPr lang="en-US" sz="900" b="1" kern="0" spc="126" dirty="0">
                <a:solidFill>
                  <a:srgbClr val="A78BFA"/>
                </a:solidFill>
                <a:latin typeface="JetBrains Mono" pitchFamily="34" charset="0"/>
                <a:ea typeface="JetBrains Mono" pitchFamily="34" charset="-122"/>
                <a:cs typeface="JetBrains Mono" pitchFamily="34" charset="-120"/>
              </a:rPr>
              <a:t>Cinématique multi-profils</a:t>
            </a:r>
            <a:endParaRPr lang="en-US" sz="900" dirty="0"/>
          </a:p>
        </p:txBody>
      </p:sp>
      <p:sp>
        <p:nvSpPr>
          <p:cNvPr id="68" name="Text 66"/>
          <p:cNvSpPr txBox="1"/>
          <p:nvPr/>
        </p:nvSpPr>
        <p:spPr>
          <a:xfrm>
            <a:off x="12001500" y="3219602"/>
            <a:ext cx="5143500" cy="286207"/>
          </a:xfrm>
          <a:prstGeom prst="rect">
            <a:avLst/>
          </a:prstGeom>
          <a:noFill/>
          <a:ln/>
        </p:spPr>
        <p:txBody>
          <a:bodyPr wrap="none" lIns="0" tIns="0" rIns="0" bIns="0" rtlCol="0" anchor="ctr"/>
          <a:lstStyle/>
          <a:p>
            <a:pPr marL="0" indent="0" algn="l">
              <a:buNone/>
            </a:pPr>
            <a:r>
              <a:rPr lang="en-US" sz="1600" b="1" dirty="0">
                <a:solidFill>
                  <a:srgbClr val="FFFFFF"/>
                </a:solidFill>
                <a:latin typeface="Manrope" pitchFamily="34" charset="0"/>
                <a:ea typeface="Manrope" pitchFamily="34" charset="-122"/>
                <a:cs typeface="Manrope" pitchFamily="34" charset="-120"/>
              </a:rPr>
              <a:t>Qui fait quoi</a:t>
            </a:r>
            <a:endParaRPr lang="en-US" sz="1600" dirty="0"/>
          </a:p>
        </p:txBody>
      </p:sp>
      <p:sp>
        <p:nvSpPr>
          <p:cNvPr id="69" name="Shape 67"/>
          <p:cNvSpPr/>
          <p:nvPr/>
        </p:nvSpPr>
        <p:spPr>
          <a:xfrm>
            <a:off x="12001500" y="3715207"/>
            <a:ext cx="5143500" cy="933602"/>
          </a:xfrm>
          <a:prstGeom prst="roundRect">
            <a:avLst>
              <a:gd name="adj" fmla="val 10186"/>
            </a:avLst>
          </a:prstGeom>
          <a:solidFill>
            <a:srgbClr val="374151"/>
          </a:solidFill>
          <a:ln w="12700">
            <a:solidFill>
              <a:srgbClr val="FFFFFF">
                <a:alpha val="0"/>
              </a:srgbClr>
            </a:solidFill>
            <a:prstDash val="solid"/>
          </a:ln>
        </p:spPr>
        <p:txBody>
          <a:bodyPr/>
          <a:lstStyle/>
          <a:p>
            <a:endParaRPr lang="fr-CI"/>
          </a:p>
        </p:txBody>
      </p:sp>
      <p:sp>
        <p:nvSpPr>
          <p:cNvPr id="70" name="Text 68"/>
          <p:cNvSpPr txBox="1"/>
          <p:nvPr/>
        </p:nvSpPr>
        <p:spPr>
          <a:xfrm>
            <a:off x="12135002" y="3847795"/>
            <a:ext cx="4877410"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ÉMETTEUR</a:t>
            </a:r>
            <a:endParaRPr lang="en-US" sz="800" dirty="0"/>
          </a:p>
        </p:txBody>
      </p:sp>
      <p:sp>
        <p:nvSpPr>
          <p:cNvPr id="71" name="Text 69"/>
          <p:cNvSpPr txBox="1"/>
          <p:nvPr/>
        </p:nvSpPr>
        <p:spPr>
          <a:xfrm>
            <a:off x="12135002" y="4019702"/>
            <a:ext cx="4877410" cy="181051"/>
          </a:xfrm>
          <a:prstGeom prst="rect">
            <a:avLst/>
          </a:prstGeom>
          <a:noFill/>
          <a:ln/>
        </p:spPr>
        <p:txBody>
          <a:bodyPr wrap="none" lIns="0" tIns="0" rIns="0" bIns="0" rtlCol="0" anchor="ctr"/>
          <a:lstStyle/>
          <a:p>
            <a:pPr marL="0" indent="0" algn="l">
              <a:buNone/>
            </a:pPr>
            <a:r>
              <a:rPr lang="en-US" sz="1000" b="1" dirty="0">
                <a:solidFill>
                  <a:srgbClr val="FFFFFF"/>
                </a:solidFill>
                <a:latin typeface="Manrope" pitchFamily="34" charset="0"/>
                <a:ea typeface="Manrope" pitchFamily="34" charset="-122"/>
                <a:cs typeface="Manrope" pitchFamily="34" charset="-120"/>
              </a:rPr>
              <a:t>Client · Chauffeur · Livreur · Partenaire</a:t>
            </a:r>
            <a:endParaRPr lang="en-US" sz="1000" dirty="0"/>
          </a:p>
        </p:txBody>
      </p:sp>
      <p:sp>
        <p:nvSpPr>
          <p:cNvPr id="72" name="Text 70"/>
          <p:cNvSpPr txBox="1"/>
          <p:nvPr/>
        </p:nvSpPr>
        <p:spPr>
          <a:xfrm>
            <a:off x="12135002" y="4238244"/>
            <a:ext cx="5532120" cy="162763"/>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Crée la réclamation, fournit les pièces, suit l'avancement, note le traitement.</a:t>
            </a:r>
            <a:endParaRPr lang="en-US" sz="900" dirty="0"/>
          </a:p>
        </p:txBody>
      </p:sp>
      <p:sp>
        <p:nvSpPr>
          <p:cNvPr id="73" name="Shape 71"/>
          <p:cNvSpPr/>
          <p:nvPr/>
        </p:nvSpPr>
        <p:spPr>
          <a:xfrm>
            <a:off x="12001500" y="4762195"/>
            <a:ext cx="5143500" cy="933602"/>
          </a:xfrm>
          <a:prstGeom prst="roundRect">
            <a:avLst>
              <a:gd name="adj" fmla="val 10186"/>
            </a:avLst>
          </a:prstGeom>
          <a:solidFill>
            <a:srgbClr val="374151"/>
          </a:solidFill>
          <a:ln w="12700">
            <a:solidFill>
              <a:srgbClr val="FFFFFF">
                <a:alpha val="0"/>
              </a:srgbClr>
            </a:solidFill>
            <a:prstDash val="solid"/>
          </a:ln>
        </p:spPr>
        <p:txBody>
          <a:bodyPr/>
          <a:lstStyle/>
          <a:p>
            <a:endParaRPr lang="fr-CI"/>
          </a:p>
        </p:txBody>
      </p:sp>
      <p:sp>
        <p:nvSpPr>
          <p:cNvPr id="74" name="Text 72"/>
          <p:cNvSpPr txBox="1"/>
          <p:nvPr/>
        </p:nvSpPr>
        <p:spPr>
          <a:xfrm>
            <a:off x="12135002" y="4895698"/>
            <a:ext cx="4877410"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SUPPORT N1</a:t>
            </a:r>
            <a:endParaRPr lang="en-US" sz="800" dirty="0"/>
          </a:p>
        </p:txBody>
      </p:sp>
      <p:sp>
        <p:nvSpPr>
          <p:cNvPr id="75" name="Text 73"/>
          <p:cNvSpPr txBox="1"/>
          <p:nvPr/>
        </p:nvSpPr>
        <p:spPr>
          <a:xfrm>
            <a:off x="12135002" y="5067605"/>
            <a:ext cx="4877410" cy="181051"/>
          </a:xfrm>
          <a:prstGeom prst="rect">
            <a:avLst/>
          </a:prstGeom>
          <a:noFill/>
          <a:ln/>
        </p:spPr>
        <p:txBody>
          <a:bodyPr wrap="none" lIns="0" tIns="0" rIns="0" bIns="0" rtlCol="0" anchor="ctr"/>
          <a:lstStyle/>
          <a:p>
            <a:pPr marL="0" indent="0" algn="l">
              <a:buNone/>
            </a:pPr>
            <a:r>
              <a:rPr lang="en-US" sz="1000" b="1" dirty="0">
                <a:solidFill>
                  <a:srgbClr val="FFFFFF"/>
                </a:solidFill>
                <a:latin typeface="Manrope" pitchFamily="34" charset="0"/>
                <a:ea typeface="Manrope" pitchFamily="34" charset="-122"/>
                <a:cs typeface="Manrope" pitchFamily="34" charset="-120"/>
              </a:rPr>
              <a:t>Agent support</a:t>
            </a:r>
            <a:endParaRPr lang="en-US" sz="1000" dirty="0"/>
          </a:p>
        </p:txBody>
      </p:sp>
      <p:sp>
        <p:nvSpPr>
          <p:cNvPr id="76" name="Text 74"/>
          <p:cNvSpPr txBox="1"/>
          <p:nvPr/>
        </p:nvSpPr>
        <p:spPr>
          <a:xfrm>
            <a:off x="12135002" y="5286146"/>
            <a:ext cx="4877410" cy="162763"/>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Qualifie, instruit, communique, propose une solution ou escalade.</a:t>
            </a:r>
            <a:endParaRPr lang="en-US" sz="900" dirty="0"/>
          </a:p>
        </p:txBody>
      </p:sp>
      <p:sp>
        <p:nvSpPr>
          <p:cNvPr id="77" name="Shape 75"/>
          <p:cNvSpPr/>
          <p:nvPr/>
        </p:nvSpPr>
        <p:spPr>
          <a:xfrm>
            <a:off x="12001500" y="5810098"/>
            <a:ext cx="5143500" cy="933602"/>
          </a:xfrm>
          <a:prstGeom prst="roundRect">
            <a:avLst>
              <a:gd name="adj" fmla="val 10186"/>
            </a:avLst>
          </a:prstGeom>
          <a:solidFill>
            <a:srgbClr val="374151"/>
          </a:solidFill>
          <a:ln w="12700">
            <a:solidFill>
              <a:srgbClr val="FFFFFF">
                <a:alpha val="0"/>
              </a:srgbClr>
            </a:solidFill>
            <a:prstDash val="solid"/>
          </a:ln>
        </p:spPr>
        <p:txBody>
          <a:bodyPr/>
          <a:lstStyle/>
          <a:p>
            <a:endParaRPr lang="fr-CI"/>
          </a:p>
        </p:txBody>
      </p:sp>
      <p:sp>
        <p:nvSpPr>
          <p:cNvPr id="78" name="Text 76"/>
          <p:cNvSpPr txBox="1"/>
          <p:nvPr/>
        </p:nvSpPr>
        <p:spPr>
          <a:xfrm>
            <a:off x="12135002" y="5943600"/>
            <a:ext cx="4877410"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FINANCE</a:t>
            </a:r>
            <a:endParaRPr lang="en-US" sz="800" dirty="0"/>
          </a:p>
        </p:txBody>
      </p:sp>
      <p:sp>
        <p:nvSpPr>
          <p:cNvPr id="79" name="Text 77"/>
          <p:cNvSpPr txBox="1"/>
          <p:nvPr/>
        </p:nvSpPr>
        <p:spPr>
          <a:xfrm>
            <a:off x="12135002" y="6115507"/>
            <a:ext cx="4877410" cy="181051"/>
          </a:xfrm>
          <a:prstGeom prst="rect">
            <a:avLst/>
          </a:prstGeom>
          <a:noFill/>
          <a:ln/>
        </p:spPr>
        <p:txBody>
          <a:bodyPr wrap="none" lIns="0" tIns="0" rIns="0" bIns="0" rtlCol="0" anchor="ctr"/>
          <a:lstStyle/>
          <a:p>
            <a:pPr marL="0" indent="0" algn="l">
              <a:buNone/>
            </a:pPr>
            <a:r>
              <a:rPr lang="en-US" sz="1000" b="1" dirty="0">
                <a:solidFill>
                  <a:srgbClr val="FFFFFF"/>
                </a:solidFill>
                <a:latin typeface="Manrope" pitchFamily="34" charset="0"/>
                <a:ea typeface="Manrope" pitchFamily="34" charset="-122"/>
                <a:cs typeface="Manrope" pitchFamily="34" charset="-120"/>
              </a:rPr>
              <a:t>Équipe finance</a:t>
            </a:r>
            <a:endParaRPr lang="en-US" sz="1000" dirty="0"/>
          </a:p>
        </p:txBody>
      </p:sp>
      <p:sp>
        <p:nvSpPr>
          <p:cNvPr id="80" name="Text 78"/>
          <p:cNvSpPr txBox="1"/>
          <p:nvPr/>
        </p:nvSpPr>
        <p:spPr>
          <a:xfrm>
            <a:off x="12135002" y="6334049"/>
            <a:ext cx="4877410" cy="162763"/>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Valide les remboursements / crédits wallet de plus de N FCFA.</a:t>
            </a:r>
            <a:endParaRPr lang="en-US" sz="900" dirty="0"/>
          </a:p>
        </p:txBody>
      </p:sp>
      <p:sp>
        <p:nvSpPr>
          <p:cNvPr id="81" name="Shape 79"/>
          <p:cNvSpPr/>
          <p:nvPr/>
        </p:nvSpPr>
        <p:spPr>
          <a:xfrm>
            <a:off x="12001500" y="6858000"/>
            <a:ext cx="5143500" cy="933602"/>
          </a:xfrm>
          <a:prstGeom prst="roundRect">
            <a:avLst>
              <a:gd name="adj" fmla="val 10186"/>
            </a:avLst>
          </a:prstGeom>
          <a:solidFill>
            <a:srgbClr val="4C1D95"/>
          </a:solidFill>
          <a:ln w="12700">
            <a:solidFill>
              <a:srgbClr val="FFFFFF">
                <a:alpha val="0"/>
              </a:srgbClr>
            </a:solidFill>
            <a:prstDash val="solid"/>
          </a:ln>
        </p:spPr>
        <p:txBody>
          <a:bodyPr/>
          <a:lstStyle/>
          <a:p>
            <a:endParaRPr lang="fr-CI"/>
          </a:p>
        </p:txBody>
      </p:sp>
      <p:sp>
        <p:nvSpPr>
          <p:cNvPr id="82" name="Text 80"/>
          <p:cNvSpPr txBox="1"/>
          <p:nvPr/>
        </p:nvSpPr>
        <p:spPr>
          <a:xfrm>
            <a:off x="12135002" y="6991502"/>
            <a:ext cx="4877410" cy="133502"/>
          </a:xfrm>
          <a:prstGeom prst="rect">
            <a:avLst/>
          </a:prstGeom>
          <a:noFill/>
          <a:ln/>
        </p:spPr>
        <p:txBody>
          <a:bodyPr wrap="none" lIns="0" tIns="0" rIns="0" bIns="0" rtlCol="0" anchor="ctr"/>
          <a:lstStyle/>
          <a:p>
            <a:pPr marL="0" indent="0" algn="l">
              <a:buNone/>
            </a:pPr>
            <a:r>
              <a:rPr lang="en-US" sz="800" b="1" dirty="0">
                <a:solidFill>
                  <a:srgbClr val="C4B5FD"/>
                </a:solidFill>
                <a:latin typeface="JetBrains Mono" pitchFamily="34" charset="0"/>
                <a:ea typeface="JetBrains Mono" pitchFamily="34" charset="-122"/>
                <a:cs typeface="JetBrains Mono" pitchFamily="34" charset="-120"/>
              </a:rPr>
              <a:t>CENTRAL (escalade)</a:t>
            </a:r>
            <a:endParaRPr lang="en-US" sz="800" dirty="0"/>
          </a:p>
        </p:txBody>
      </p:sp>
      <p:sp>
        <p:nvSpPr>
          <p:cNvPr id="83" name="Text 81"/>
          <p:cNvSpPr txBox="1"/>
          <p:nvPr/>
        </p:nvSpPr>
        <p:spPr>
          <a:xfrm>
            <a:off x="12135002" y="7162495"/>
            <a:ext cx="4877410" cy="181051"/>
          </a:xfrm>
          <a:prstGeom prst="rect">
            <a:avLst/>
          </a:prstGeom>
          <a:noFill/>
          <a:ln/>
        </p:spPr>
        <p:txBody>
          <a:bodyPr wrap="none" lIns="0" tIns="0" rIns="0" bIns="0" rtlCol="0" anchor="ctr"/>
          <a:lstStyle/>
          <a:p>
            <a:pPr marL="0" indent="0" algn="l">
              <a:buNone/>
            </a:pPr>
            <a:r>
              <a:rPr lang="en-US" sz="1000" b="1" dirty="0">
                <a:solidFill>
                  <a:srgbClr val="FFFFFF"/>
                </a:solidFill>
                <a:latin typeface="Manrope" pitchFamily="34" charset="0"/>
                <a:ea typeface="Manrope" pitchFamily="34" charset="-122"/>
                <a:cs typeface="Manrope" pitchFamily="34" charset="-120"/>
              </a:rPr>
              <a:t>Direction projet</a:t>
            </a:r>
            <a:endParaRPr lang="en-US" sz="1000" dirty="0"/>
          </a:p>
        </p:txBody>
      </p:sp>
      <p:sp>
        <p:nvSpPr>
          <p:cNvPr id="84" name="Text 82"/>
          <p:cNvSpPr txBox="1"/>
          <p:nvPr/>
        </p:nvSpPr>
        <p:spPr>
          <a:xfrm>
            <a:off x="12135002" y="7381951"/>
            <a:ext cx="4877410" cy="162763"/>
          </a:xfrm>
          <a:prstGeom prst="rect">
            <a:avLst/>
          </a:prstGeom>
          <a:noFill/>
          <a:ln/>
        </p:spPr>
        <p:txBody>
          <a:bodyPr wrap="none" lIns="0" tIns="0" rIns="0" bIns="0" rtlCol="0" anchor="ctr"/>
          <a:lstStyle/>
          <a:p>
            <a:pPr marL="0" indent="0" algn="l">
              <a:buNone/>
            </a:pPr>
            <a:r>
              <a:rPr lang="en-US" sz="900" dirty="0">
                <a:solidFill>
                  <a:srgbClr val="DDD6FE"/>
                </a:solidFill>
                <a:latin typeface="Manrope" pitchFamily="34" charset="0"/>
                <a:ea typeface="Manrope" pitchFamily="34" charset="-122"/>
                <a:cs typeface="Manrope" pitchFamily="34" charset="-120"/>
              </a:rPr>
              <a:t>Tranche les cas non résolus ou contestés &gt; 5 jours.</a:t>
            </a:r>
            <a:endParaRPr lang="en-US" sz="900" dirty="0"/>
          </a:p>
        </p:txBody>
      </p:sp>
      <p:sp>
        <p:nvSpPr>
          <p:cNvPr id="85" name="Shape 83"/>
          <p:cNvSpPr/>
          <p:nvPr/>
        </p:nvSpPr>
        <p:spPr>
          <a:xfrm>
            <a:off x="0" y="9791395"/>
            <a:ext cx="18288000" cy="495605"/>
          </a:xfrm>
          <a:prstGeom prst="rect">
            <a:avLst/>
          </a:prstGeom>
          <a:solidFill>
            <a:srgbClr val="FFFFFF"/>
          </a:solidFill>
          <a:ln/>
        </p:spPr>
        <p:txBody>
          <a:bodyPr/>
          <a:lstStyle/>
          <a:p>
            <a:endParaRPr lang="fr-CI"/>
          </a:p>
        </p:txBody>
      </p:sp>
      <p:sp>
        <p:nvSpPr>
          <p:cNvPr id="86" name="Shape 84"/>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87" name="Text 85"/>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88" name="Text 86"/>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43 / 59</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6772839" y="256946"/>
            <a:ext cx="1222553"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UC Admin · K.</a:t>
            </a:r>
            <a:endParaRPr lang="en-US" sz="900" dirty="0"/>
          </a:p>
        </p:txBody>
      </p:sp>
      <p:sp>
        <p:nvSpPr>
          <p:cNvPr id="10" name="Text 8"/>
          <p:cNvSpPr txBox="1"/>
          <p:nvPr/>
        </p:nvSpPr>
        <p:spPr>
          <a:xfrm>
            <a:off x="914400" y="1205179"/>
            <a:ext cx="4134002"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K. Central — paramétrage administratif</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7878349"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UC-A01 — Paramétrage tarifs, commissions &amp; règles de bonus.</a:t>
            </a:r>
            <a:endParaRPr lang="en-US" sz="3900" dirty="0"/>
          </a:p>
        </p:txBody>
      </p:sp>
      <p:sp>
        <p:nvSpPr>
          <p:cNvPr id="13" name="Shape 11"/>
          <p:cNvSpPr/>
          <p:nvPr/>
        </p:nvSpPr>
        <p:spPr>
          <a:xfrm>
            <a:off x="914400" y="2762402"/>
            <a:ext cx="5429707" cy="6762902"/>
          </a:xfrm>
          <a:prstGeom prst="roundRect">
            <a:avLst>
              <a:gd name="adj" fmla="val 2459"/>
            </a:avLst>
          </a:prstGeom>
          <a:solidFill>
            <a:srgbClr val="FFFFFF"/>
          </a:solidFill>
          <a:ln w="25400">
            <a:solidFill>
              <a:srgbClr val="6D28D9"/>
            </a:solidFill>
            <a:prstDash val="solid"/>
          </a:ln>
        </p:spPr>
        <p:txBody>
          <a:bodyPr/>
          <a:lstStyle/>
          <a:p>
            <a:endParaRPr lang="fr-CI"/>
          </a:p>
        </p:txBody>
      </p:sp>
      <p:sp>
        <p:nvSpPr>
          <p:cNvPr id="14" name="Text 12"/>
          <p:cNvSpPr txBox="1"/>
          <p:nvPr/>
        </p:nvSpPr>
        <p:spPr>
          <a:xfrm>
            <a:off x="1143000" y="2986430"/>
            <a:ext cx="724205" cy="219456"/>
          </a:xfrm>
          <a:prstGeom prst="rect">
            <a:avLst/>
          </a:prstGeom>
          <a:noFill/>
          <a:ln/>
        </p:spPr>
        <p:txBody>
          <a:bodyPr wrap="none" lIns="0" tIns="0" rIns="0" bIns="0" rtlCol="0" anchor="ctr"/>
          <a:lstStyle/>
          <a:p>
            <a:pPr marL="0" indent="0" algn="l">
              <a:buNone/>
            </a:pPr>
            <a:r>
              <a:rPr lang="en-US" sz="1300" b="1" dirty="0">
                <a:solidFill>
                  <a:srgbClr val="6D28D9"/>
                </a:solidFill>
                <a:latin typeface="JetBrains Mono" pitchFamily="34" charset="0"/>
                <a:ea typeface="JetBrains Mono" pitchFamily="34" charset="-122"/>
                <a:cs typeface="JetBrains Mono" pitchFamily="34" charset="-120"/>
              </a:rPr>
              <a:t>UC-A01a</a:t>
            </a:r>
            <a:endParaRPr lang="en-US" sz="1300" dirty="0"/>
          </a:p>
        </p:txBody>
      </p:sp>
      <p:sp>
        <p:nvSpPr>
          <p:cNvPr id="15" name="Shape 13"/>
          <p:cNvSpPr/>
          <p:nvPr/>
        </p:nvSpPr>
        <p:spPr>
          <a:xfrm>
            <a:off x="5365699" y="2952598"/>
            <a:ext cx="733349" cy="286207"/>
          </a:xfrm>
          <a:prstGeom prst="roundRect">
            <a:avLst>
              <a:gd name="adj" fmla="val 49840"/>
            </a:avLst>
          </a:prstGeom>
          <a:solidFill>
            <a:srgbClr val="FEE2E2"/>
          </a:solidFill>
          <a:ln w="12700">
            <a:solidFill>
              <a:srgbClr val="FFFFFF">
                <a:alpha val="0"/>
              </a:srgbClr>
            </a:solidFill>
            <a:prstDash val="solid"/>
          </a:ln>
        </p:spPr>
        <p:txBody>
          <a:bodyPr/>
          <a:lstStyle/>
          <a:p>
            <a:endParaRPr lang="fr-CI"/>
          </a:p>
        </p:txBody>
      </p:sp>
      <p:sp>
        <p:nvSpPr>
          <p:cNvPr id="16" name="Text 14"/>
          <p:cNvSpPr/>
          <p:nvPr/>
        </p:nvSpPr>
        <p:spPr>
          <a:xfrm>
            <a:off x="5365699" y="2952598"/>
            <a:ext cx="7342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91B1B"/>
                </a:solidFill>
                <a:latin typeface="Manrope" pitchFamily="34" charset="0"/>
                <a:ea typeface="Manrope" pitchFamily="34" charset="-122"/>
                <a:cs typeface="Manrope" pitchFamily="34" charset="-120"/>
              </a:rPr>
              <a:t>Critique</a:t>
            </a:r>
            <a:endParaRPr lang="en-US" sz="900" dirty="0"/>
          </a:p>
        </p:txBody>
      </p:sp>
      <p:sp>
        <p:nvSpPr>
          <p:cNvPr id="17" name="Text 15"/>
          <p:cNvSpPr txBox="1"/>
          <p:nvPr/>
        </p:nvSpPr>
        <p:spPr>
          <a:xfrm>
            <a:off x="1143000" y="3333902"/>
            <a:ext cx="4953305" cy="267005"/>
          </a:xfrm>
          <a:prstGeom prst="rect">
            <a:avLst/>
          </a:prstGeom>
          <a:noFill/>
          <a:ln/>
        </p:spPr>
        <p:txBody>
          <a:bodyPr wrap="none" lIns="0" tIns="0" rIns="0" bIns="0" rtlCol="0" anchor="ctr"/>
          <a:lstStyle/>
          <a:p>
            <a:pPr marL="0" indent="0" algn="l">
              <a:buNone/>
            </a:pPr>
            <a:r>
              <a:rPr lang="en-US" sz="1600" b="1" dirty="0">
                <a:solidFill>
                  <a:srgbClr val="1F2937"/>
                </a:solidFill>
                <a:latin typeface="Manrope" pitchFamily="34" charset="0"/>
                <a:ea typeface="Manrope" pitchFamily="34" charset="-122"/>
                <a:cs typeface="Manrope" pitchFamily="34" charset="-120"/>
              </a:rPr>
              <a:t>Paramétrage des tarifs</a:t>
            </a:r>
            <a:endParaRPr lang="en-US" sz="1600" dirty="0"/>
          </a:p>
        </p:txBody>
      </p:sp>
      <p:sp>
        <p:nvSpPr>
          <p:cNvPr id="18" name="Text 16"/>
          <p:cNvSpPr txBox="1"/>
          <p:nvPr/>
        </p:nvSpPr>
        <p:spPr>
          <a:xfrm>
            <a:off x="1143000" y="3653028"/>
            <a:ext cx="4953305"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Profil : Central · Service : Tous</a:t>
            </a:r>
            <a:endParaRPr lang="en-US" sz="900" dirty="0"/>
          </a:p>
        </p:txBody>
      </p:sp>
      <p:sp>
        <p:nvSpPr>
          <p:cNvPr id="19" name="Text 17"/>
          <p:cNvSpPr txBox="1"/>
          <p:nvPr/>
        </p:nvSpPr>
        <p:spPr>
          <a:xfrm>
            <a:off x="1143000" y="3976726"/>
            <a:ext cx="4953305"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ÉTAPES</a:t>
            </a:r>
            <a:endParaRPr lang="en-US" sz="800" dirty="0"/>
          </a:p>
        </p:txBody>
      </p:sp>
      <p:sp>
        <p:nvSpPr>
          <p:cNvPr id="20" name="Text 18"/>
          <p:cNvSpPr txBox="1"/>
          <p:nvPr/>
        </p:nvSpPr>
        <p:spPr>
          <a:xfrm>
            <a:off x="1314907" y="4166921"/>
            <a:ext cx="47823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Accès interface paramétrage</a:t>
            </a:r>
            <a:endParaRPr lang="en-US" sz="900" dirty="0"/>
          </a:p>
        </p:txBody>
      </p:sp>
      <p:sp>
        <p:nvSpPr>
          <p:cNvPr id="21" name="Text 19"/>
          <p:cNvSpPr txBox="1"/>
          <p:nvPr/>
        </p:nvSpPr>
        <p:spPr>
          <a:xfrm>
            <a:off x="1314907" y="4358945"/>
            <a:ext cx="47823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Sélection service (VTC / livraison / fret / location)</a:t>
            </a:r>
            <a:endParaRPr lang="en-US" sz="900" dirty="0"/>
          </a:p>
        </p:txBody>
      </p:sp>
      <p:sp>
        <p:nvSpPr>
          <p:cNvPr id="22" name="Text 20"/>
          <p:cNvSpPr txBox="1"/>
          <p:nvPr/>
        </p:nvSpPr>
        <p:spPr>
          <a:xfrm>
            <a:off x="1314907" y="4550969"/>
            <a:ext cx="47823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Saisie tarif de base, prix km, attente, surcharge nuit</a:t>
            </a:r>
            <a:endParaRPr lang="en-US" sz="900" dirty="0"/>
          </a:p>
        </p:txBody>
      </p:sp>
      <p:sp>
        <p:nvSpPr>
          <p:cNvPr id="23" name="Text 21"/>
          <p:cNvSpPr txBox="1"/>
          <p:nvPr/>
        </p:nvSpPr>
        <p:spPr>
          <a:xfrm>
            <a:off x="1314907" y="4742993"/>
            <a:ext cx="47823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Définition zone &amp; catégorie véhicule</a:t>
            </a:r>
            <a:endParaRPr lang="en-US" sz="900" dirty="0"/>
          </a:p>
        </p:txBody>
      </p:sp>
      <p:sp>
        <p:nvSpPr>
          <p:cNvPr id="24" name="Text 22"/>
          <p:cNvSpPr txBox="1"/>
          <p:nvPr/>
        </p:nvSpPr>
        <p:spPr>
          <a:xfrm>
            <a:off x="1314907" y="4935017"/>
            <a:ext cx="47823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Activation à date</a:t>
            </a:r>
            <a:endParaRPr lang="en-US" sz="900" dirty="0"/>
          </a:p>
        </p:txBody>
      </p:sp>
      <p:sp>
        <p:nvSpPr>
          <p:cNvPr id="25" name="Text 23"/>
          <p:cNvSpPr txBox="1"/>
          <p:nvPr/>
        </p:nvSpPr>
        <p:spPr>
          <a:xfrm>
            <a:off x="1314907" y="5127041"/>
            <a:ext cx="47823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Vérification application sur nouvelles courses</a:t>
            </a:r>
            <a:endParaRPr lang="en-US" sz="900" dirty="0"/>
          </a:p>
        </p:txBody>
      </p:sp>
      <p:sp>
        <p:nvSpPr>
          <p:cNvPr id="26" name="Shape 24"/>
          <p:cNvSpPr/>
          <p:nvPr/>
        </p:nvSpPr>
        <p:spPr>
          <a:xfrm>
            <a:off x="1143000" y="5452567"/>
            <a:ext cx="4953305" cy="761695"/>
          </a:xfrm>
          <a:prstGeom prst="roundRect">
            <a:avLst>
              <a:gd name="adj" fmla="val 9964"/>
            </a:avLst>
          </a:prstGeom>
          <a:solidFill>
            <a:srgbClr val="F5F3FF"/>
          </a:solidFill>
          <a:ln w="12700">
            <a:solidFill>
              <a:srgbClr val="FFFFFF">
                <a:alpha val="0"/>
              </a:srgbClr>
            </a:solidFill>
            <a:prstDash val="solid"/>
          </a:ln>
        </p:spPr>
        <p:txBody>
          <a:bodyPr/>
          <a:lstStyle/>
          <a:p>
            <a:endParaRPr lang="fr-CI"/>
          </a:p>
        </p:txBody>
      </p:sp>
      <p:sp>
        <p:nvSpPr>
          <p:cNvPr id="27" name="Text 25"/>
          <p:cNvSpPr txBox="1"/>
          <p:nvPr/>
        </p:nvSpPr>
        <p:spPr>
          <a:xfrm>
            <a:off x="1257300" y="5566867"/>
            <a:ext cx="4724705" cy="133502"/>
          </a:xfrm>
          <a:prstGeom prst="rect">
            <a:avLst/>
          </a:prstGeom>
          <a:noFill/>
          <a:ln/>
        </p:spPr>
        <p:txBody>
          <a:bodyPr wrap="none" lIns="0" tIns="0" rIns="0" bIns="0" rtlCol="0" anchor="ctr"/>
          <a:lstStyle/>
          <a:p>
            <a:pPr marL="0" indent="0" algn="l">
              <a:buNone/>
            </a:pPr>
            <a:r>
              <a:rPr lang="en-US" sz="800" b="1" dirty="0">
                <a:solidFill>
                  <a:srgbClr val="10B981"/>
                </a:solidFill>
                <a:latin typeface="JetBrains Mono" pitchFamily="34" charset="0"/>
                <a:ea typeface="JetBrains Mono" pitchFamily="34" charset="-122"/>
                <a:cs typeface="JetBrains Mono" pitchFamily="34" charset="-120"/>
              </a:rPr>
              <a:t>RÉSULTATS</a:t>
            </a:r>
            <a:endParaRPr lang="en-US" sz="800" dirty="0"/>
          </a:p>
        </p:txBody>
      </p:sp>
      <p:sp>
        <p:nvSpPr>
          <p:cNvPr id="28" name="Text 26"/>
          <p:cNvSpPr txBox="1"/>
          <p:nvPr/>
        </p:nvSpPr>
        <p:spPr>
          <a:xfrm>
            <a:off x="1257300" y="5757062"/>
            <a:ext cx="4724705" cy="342900"/>
          </a:xfrm>
          <a:prstGeom prst="rect">
            <a:avLst/>
          </a:prstGeom>
          <a:noFill/>
          <a:ln/>
        </p:spPr>
        <p:txBody>
          <a:bodyPr wrap="squar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Tarifs appliqués aux nouvelles courses · anciens tarifs conservés pour les courses en cours · historique versionné.</a:t>
            </a:r>
            <a:endParaRPr lang="en-US" sz="900" dirty="0"/>
          </a:p>
        </p:txBody>
      </p:sp>
      <p:sp>
        <p:nvSpPr>
          <p:cNvPr id="29" name="Shape 27"/>
          <p:cNvSpPr/>
          <p:nvPr/>
        </p:nvSpPr>
        <p:spPr>
          <a:xfrm>
            <a:off x="1143000" y="6328562"/>
            <a:ext cx="4953305" cy="523951"/>
          </a:xfrm>
          <a:prstGeom prst="roundRect">
            <a:avLst>
              <a:gd name="adj" fmla="val 14485"/>
            </a:avLst>
          </a:prstGeom>
          <a:solidFill>
            <a:srgbClr val="1F2937"/>
          </a:solidFill>
          <a:ln w="12700">
            <a:solidFill>
              <a:srgbClr val="FFFFFF">
                <a:alpha val="0"/>
              </a:srgbClr>
            </a:solidFill>
            <a:prstDash val="solid"/>
          </a:ln>
        </p:spPr>
        <p:txBody>
          <a:bodyPr/>
          <a:lstStyle/>
          <a:p>
            <a:endParaRPr lang="fr-CI"/>
          </a:p>
        </p:txBody>
      </p:sp>
      <p:sp>
        <p:nvSpPr>
          <p:cNvPr id="30" name="Text 28"/>
          <p:cNvSpPr txBox="1"/>
          <p:nvPr/>
        </p:nvSpPr>
        <p:spPr>
          <a:xfrm>
            <a:off x="1238098" y="6423660"/>
            <a:ext cx="4763110"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CRITÈRE</a:t>
            </a:r>
            <a:endParaRPr lang="en-US" sz="800" dirty="0"/>
          </a:p>
        </p:txBody>
      </p:sp>
      <p:sp>
        <p:nvSpPr>
          <p:cNvPr id="31" name="Text 29"/>
          <p:cNvSpPr txBox="1"/>
          <p:nvPr/>
        </p:nvSpPr>
        <p:spPr>
          <a:xfrm>
            <a:off x="1238098" y="6595567"/>
            <a:ext cx="4763110" cy="162763"/>
          </a:xfrm>
          <a:prstGeom prst="rect">
            <a:avLst/>
          </a:prstGeom>
          <a:noFill/>
          <a:ln/>
        </p:spPr>
        <p:txBody>
          <a:bodyPr wrap="non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Versioning obligatoire avec date d'application.</a:t>
            </a:r>
            <a:endParaRPr lang="en-US" sz="900" dirty="0"/>
          </a:p>
        </p:txBody>
      </p:sp>
      <p:sp>
        <p:nvSpPr>
          <p:cNvPr id="32" name="Shape 30"/>
          <p:cNvSpPr/>
          <p:nvPr/>
        </p:nvSpPr>
        <p:spPr>
          <a:xfrm>
            <a:off x="6534302" y="2762402"/>
            <a:ext cx="5429707" cy="6762902"/>
          </a:xfrm>
          <a:prstGeom prst="roundRect">
            <a:avLst>
              <a:gd name="adj" fmla="val 2459"/>
            </a:avLst>
          </a:prstGeom>
          <a:solidFill>
            <a:srgbClr val="FFFFFF"/>
          </a:solidFill>
          <a:ln w="25400">
            <a:solidFill>
              <a:srgbClr val="6D28D9"/>
            </a:solidFill>
            <a:prstDash val="solid"/>
          </a:ln>
        </p:spPr>
        <p:txBody>
          <a:bodyPr/>
          <a:lstStyle/>
          <a:p>
            <a:endParaRPr lang="fr-CI"/>
          </a:p>
        </p:txBody>
      </p:sp>
      <p:sp>
        <p:nvSpPr>
          <p:cNvPr id="33" name="Text 31"/>
          <p:cNvSpPr txBox="1"/>
          <p:nvPr/>
        </p:nvSpPr>
        <p:spPr>
          <a:xfrm>
            <a:off x="6762902" y="2986430"/>
            <a:ext cx="724205" cy="219456"/>
          </a:xfrm>
          <a:prstGeom prst="rect">
            <a:avLst/>
          </a:prstGeom>
          <a:noFill/>
          <a:ln/>
        </p:spPr>
        <p:txBody>
          <a:bodyPr wrap="none" lIns="0" tIns="0" rIns="0" bIns="0" rtlCol="0" anchor="ctr"/>
          <a:lstStyle/>
          <a:p>
            <a:pPr marL="0" indent="0" algn="l">
              <a:buNone/>
            </a:pPr>
            <a:r>
              <a:rPr lang="en-US" sz="1300" b="1" dirty="0">
                <a:solidFill>
                  <a:srgbClr val="6D28D9"/>
                </a:solidFill>
                <a:latin typeface="JetBrains Mono" pitchFamily="34" charset="0"/>
                <a:ea typeface="JetBrains Mono" pitchFamily="34" charset="-122"/>
                <a:cs typeface="JetBrains Mono" pitchFamily="34" charset="-120"/>
              </a:rPr>
              <a:t>UC-A01b</a:t>
            </a:r>
            <a:endParaRPr lang="en-US" sz="1300" dirty="0"/>
          </a:p>
        </p:txBody>
      </p:sp>
      <p:sp>
        <p:nvSpPr>
          <p:cNvPr id="34" name="Shape 32"/>
          <p:cNvSpPr/>
          <p:nvPr/>
        </p:nvSpPr>
        <p:spPr>
          <a:xfrm>
            <a:off x="10985602" y="2952598"/>
            <a:ext cx="733349" cy="286207"/>
          </a:xfrm>
          <a:prstGeom prst="roundRect">
            <a:avLst>
              <a:gd name="adj" fmla="val 49840"/>
            </a:avLst>
          </a:prstGeom>
          <a:solidFill>
            <a:srgbClr val="FEE2E2"/>
          </a:solidFill>
          <a:ln w="12700">
            <a:solidFill>
              <a:srgbClr val="FFFFFF">
                <a:alpha val="0"/>
              </a:srgbClr>
            </a:solidFill>
            <a:prstDash val="solid"/>
          </a:ln>
        </p:spPr>
        <p:txBody>
          <a:bodyPr/>
          <a:lstStyle/>
          <a:p>
            <a:endParaRPr lang="fr-CI"/>
          </a:p>
        </p:txBody>
      </p:sp>
      <p:sp>
        <p:nvSpPr>
          <p:cNvPr id="35" name="Text 33"/>
          <p:cNvSpPr/>
          <p:nvPr/>
        </p:nvSpPr>
        <p:spPr>
          <a:xfrm>
            <a:off x="10985602" y="2952598"/>
            <a:ext cx="7342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91B1B"/>
                </a:solidFill>
                <a:latin typeface="Manrope" pitchFamily="34" charset="0"/>
                <a:ea typeface="Manrope" pitchFamily="34" charset="-122"/>
                <a:cs typeface="Manrope" pitchFamily="34" charset="-120"/>
              </a:rPr>
              <a:t>Critique</a:t>
            </a:r>
            <a:endParaRPr lang="en-US" sz="900" dirty="0"/>
          </a:p>
        </p:txBody>
      </p:sp>
      <p:sp>
        <p:nvSpPr>
          <p:cNvPr id="36" name="Text 34"/>
          <p:cNvSpPr txBox="1"/>
          <p:nvPr/>
        </p:nvSpPr>
        <p:spPr>
          <a:xfrm>
            <a:off x="6762902" y="3333902"/>
            <a:ext cx="4953305" cy="267005"/>
          </a:xfrm>
          <a:prstGeom prst="rect">
            <a:avLst/>
          </a:prstGeom>
          <a:noFill/>
          <a:ln/>
        </p:spPr>
        <p:txBody>
          <a:bodyPr wrap="none" lIns="0" tIns="0" rIns="0" bIns="0" rtlCol="0" anchor="ctr"/>
          <a:lstStyle/>
          <a:p>
            <a:pPr marL="0" indent="0" algn="l">
              <a:buNone/>
            </a:pPr>
            <a:r>
              <a:rPr lang="en-US" sz="1600" b="1" dirty="0">
                <a:solidFill>
                  <a:srgbClr val="1F2937"/>
                </a:solidFill>
                <a:latin typeface="Manrope" pitchFamily="34" charset="0"/>
                <a:ea typeface="Manrope" pitchFamily="34" charset="-122"/>
                <a:cs typeface="Manrope" pitchFamily="34" charset="-120"/>
              </a:rPr>
              <a:t>Paramétrage des commissions</a:t>
            </a:r>
            <a:endParaRPr lang="en-US" sz="1600" dirty="0"/>
          </a:p>
        </p:txBody>
      </p:sp>
      <p:sp>
        <p:nvSpPr>
          <p:cNvPr id="37" name="Text 35"/>
          <p:cNvSpPr txBox="1"/>
          <p:nvPr/>
        </p:nvSpPr>
        <p:spPr>
          <a:xfrm>
            <a:off x="6762902" y="3653028"/>
            <a:ext cx="4953305"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Profil : Central · Service : Tous</a:t>
            </a:r>
            <a:endParaRPr lang="en-US" sz="900" dirty="0"/>
          </a:p>
        </p:txBody>
      </p:sp>
      <p:sp>
        <p:nvSpPr>
          <p:cNvPr id="38" name="Text 36"/>
          <p:cNvSpPr txBox="1"/>
          <p:nvPr/>
        </p:nvSpPr>
        <p:spPr>
          <a:xfrm>
            <a:off x="6762902" y="3976726"/>
            <a:ext cx="4953305"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ÉTAPES</a:t>
            </a:r>
            <a:endParaRPr lang="en-US" sz="800" dirty="0"/>
          </a:p>
        </p:txBody>
      </p:sp>
      <p:sp>
        <p:nvSpPr>
          <p:cNvPr id="39" name="Text 37"/>
          <p:cNvSpPr txBox="1"/>
          <p:nvPr/>
        </p:nvSpPr>
        <p:spPr>
          <a:xfrm>
            <a:off x="6933895" y="4166921"/>
            <a:ext cx="47823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Saisie % commission plateforme</a:t>
            </a:r>
            <a:endParaRPr lang="en-US" sz="900" dirty="0"/>
          </a:p>
        </p:txBody>
      </p:sp>
      <p:sp>
        <p:nvSpPr>
          <p:cNvPr id="40" name="Text 38"/>
          <p:cNvSpPr txBox="1"/>
          <p:nvPr/>
        </p:nvSpPr>
        <p:spPr>
          <a:xfrm>
            <a:off x="6933895" y="4358945"/>
            <a:ext cx="47823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Saisie % commission partenaire</a:t>
            </a:r>
            <a:endParaRPr lang="en-US" sz="900" dirty="0"/>
          </a:p>
        </p:txBody>
      </p:sp>
      <p:sp>
        <p:nvSpPr>
          <p:cNvPr id="41" name="Text 39"/>
          <p:cNvSpPr txBox="1"/>
          <p:nvPr/>
        </p:nvSpPr>
        <p:spPr>
          <a:xfrm>
            <a:off x="6933895" y="4550969"/>
            <a:ext cx="47823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Saisie % commission franchise</a:t>
            </a:r>
            <a:endParaRPr lang="en-US" sz="900" dirty="0"/>
          </a:p>
        </p:txBody>
      </p:sp>
      <p:sp>
        <p:nvSpPr>
          <p:cNvPr id="42" name="Text 40"/>
          <p:cNvSpPr txBox="1"/>
          <p:nvPr/>
        </p:nvSpPr>
        <p:spPr>
          <a:xfrm>
            <a:off x="6933895" y="4742993"/>
            <a:ext cx="47823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Vérification cumul ≤ 100 %</a:t>
            </a:r>
            <a:endParaRPr lang="en-US" sz="900" dirty="0"/>
          </a:p>
        </p:txBody>
      </p:sp>
      <p:sp>
        <p:nvSpPr>
          <p:cNvPr id="43" name="Text 41"/>
          <p:cNvSpPr txBox="1"/>
          <p:nvPr/>
        </p:nvSpPr>
        <p:spPr>
          <a:xfrm>
            <a:off x="6933895" y="4935017"/>
            <a:ext cx="47823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Application différenciée par service</a:t>
            </a:r>
            <a:endParaRPr lang="en-US" sz="900" dirty="0"/>
          </a:p>
        </p:txBody>
      </p:sp>
      <p:sp>
        <p:nvSpPr>
          <p:cNvPr id="44" name="Text 42"/>
          <p:cNvSpPr txBox="1"/>
          <p:nvPr/>
        </p:nvSpPr>
        <p:spPr>
          <a:xfrm>
            <a:off x="6933895" y="5127041"/>
            <a:ext cx="47823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Test sur une course : vérifier la ventilation</a:t>
            </a:r>
            <a:endParaRPr lang="en-US" sz="900" dirty="0"/>
          </a:p>
        </p:txBody>
      </p:sp>
      <p:sp>
        <p:nvSpPr>
          <p:cNvPr id="45" name="Shape 43"/>
          <p:cNvSpPr/>
          <p:nvPr/>
        </p:nvSpPr>
        <p:spPr>
          <a:xfrm>
            <a:off x="6762902" y="5452567"/>
            <a:ext cx="4953305" cy="1200607"/>
          </a:xfrm>
          <a:prstGeom prst="roundRect">
            <a:avLst>
              <a:gd name="adj" fmla="val 6321"/>
            </a:avLst>
          </a:prstGeom>
          <a:solidFill>
            <a:srgbClr val="F5F3FF"/>
          </a:solidFill>
          <a:ln w="12700">
            <a:solidFill>
              <a:srgbClr val="FFFFFF">
                <a:alpha val="0"/>
              </a:srgbClr>
            </a:solidFill>
            <a:prstDash val="solid"/>
          </a:ln>
        </p:spPr>
        <p:txBody>
          <a:bodyPr/>
          <a:lstStyle/>
          <a:p>
            <a:endParaRPr lang="fr-CI"/>
          </a:p>
        </p:txBody>
      </p:sp>
      <p:sp>
        <p:nvSpPr>
          <p:cNvPr id="46" name="Text 44"/>
          <p:cNvSpPr txBox="1"/>
          <p:nvPr/>
        </p:nvSpPr>
        <p:spPr>
          <a:xfrm>
            <a:off x="6877202" y="5566867"/>
            <a:ext cx="4724705"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EXEMPLE DE RÉPARTITION</a:t>
            </a:r>
            <a:endParaRPr lang="en-US" sz="800" dirty="0"/>
          </a:p>
        </p:txBody>
      </p:sp>
      <p:sp>
        <p:nvSpPr>
          <p:cNvPr id="47" name="Text 45"/>
          <p:cNvSpPr txBox="1"/>
          <p:nvPr/>
        </p:nvSpPr>
        <p:spPr>
          <a:xfrm>
            <a:off x="6877202" y="5776265"/>
            <a:ext cx="697687" cy="162763"/>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Chauffeur</a:t>
            </a:r>
            <a:endParaRPr lang="en-US" sz="900" dirty="0"/>
          </a:p>
        </p:txBody>
      </p:sp>
      <p:sp>
        <p:nvSpPr>
          <p:cNvPr id="48" name="Text 46"/>
          <p:cNvSpPr txBox="1"/>
          <p:nvPr/>
        </p:nvSpPr>
        <p:spPr>
          <a:xfrm>
            <a:off x="11347704" y="5776265"/>
            <a:ext cx="322783" cy="162763"/>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75 %</a:t>
            </a:r>
            <a:endParaRPr lang="en-US" sz="900" dirty="0"/>
          </a:p>
        </p:txBody>
      </p:sp>
      <p:sp>
        <p:nvSpPr>
          <p:cNvPr id="49" name="Text 47"/>
          <p:cNvSpPr txBox="1"/>
          <p:nvPr/>
        </p:nvSpPr>
        <p:spPr>
          <a:xfrm>
            <a:off x="6877202" y="5976518"/>
            <a:ext cx="773582" cy="162763"/>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Plateforme</a:t>
            </a:r>
            <a:endParaRPr lang="en-US" sz="900" dirty="0"/>
          </a:p>
        </p:txBody>
      </p:sp>
      <p:sp>
        <p:nvSpPr>
          <p:cNvPr id="50" name="Text 48"/>
          <p:cNvSpPr txBox="1"/>
          <p:nvPr/>
        </p:nvSpPr>
        <p:spPr>
          <a:xfrm>
            <a:off x="11350447" y="5976518"/>
            <a:ext cx="322783" cy="162763"/>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10 %</a:t>
            </a:r>
            <a:endParaRPr lang="en-US" sz="900" dirty="0"/>
          </a:p>
        </p:txBody>
      </p:sp>
      <p:sp>
        <p:nvSpPr>
          <p:cNvPr id="51" name="Text 49"/>
          <p:cNvSpPr txBox="1"/>
          <p:nvPr/>
        </p:nvSpPr>
        <p:spPr>
          <a:xfrm>
            <a:off x="6877202" y="6176772"/>
            <a:ext cx="769010" cy="162763"/>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Partenaire</a:t>
            </a:r>
            <a:endParaRPr lang="en-US" sz="900" dirty="0"/>
          </a:p>
        </p:txBody>
      </p:sp>
      <p:sp>
        <p:nvSpPr>
          <p:cNvPr id="52" name="Text 50"/>
          <p:cNvSpPr txBox="1"/>
          <p:nvPr/>
        </p:nvSpPr>
        <p:spPr>
          <a:xfrm>
            <a:off x="11350447" y="6176772"/>
            <a:ext cx="322783" cy="162763"/>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10 %</a:t>
            </a:r>
            <a:endParaRPr lang="en-US" sz="900" dirty="0"/>
          </a:p>
        </p:txBody>
      </p:sp>
      <p:sp>
        <p:nvSpPr>
          <p:cNvPr id="53" name="Text 51"/>
          <p:cNvSpPr txBox="1"/>
          <p:nvPr/>
        </p:nvSpPr>
        <p:spPr>
          <a:xfrm>
            <a:off x="6877202" y="6376111"/>
            <a:ext cx="694944" cy="162763"/>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Franchise</a:t>
            </a:r>
            <a:endParaRPr lang="en-US" sz="900" dirty="0"/>
          </a:p>
        </p:txBody>
      </p:sp>
      <p:sp>
        <p:nvSpPr>
          <p:cNvPr id="54" name="Text 52"/>
          <p:cNvSpPr txBox="1"/>
          <p:nvPr/>
        </p:nvSpPr>
        <p:spPr>
          <a:xfrm>
            <a:off x="11408969" y="6376111"/>
            <a:ext cx="243230" cy="162763"/>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5 %</a:t>
            </a:r>
            <a:endParaRPr lang="en-US" sz="900" dirty="0"/>
          </a:p>
        </p:txBody>
      </p:sp>
      <p:sp>
        <p:nvSpPr>
          <p:cNvPr id="55" name="Shape 53"/>
          <p:cNvSpPr/>
          <p:nvPr/>
        </p:nvSpPr>
        <p:spPr>
          <a:xfrm>
            <a:off x="6762902" y="6766560"/>
            <a:ext cx="4953305" cy="523951"/>
          </a:xfrm>
          <a:prstGeom prst="roundRect">
            <a:avLst>
              <a:gd name="adj" fmla="val 14485"/>
            </a:avLst>
          </a:prstGeom>
          <a:solidFill>
            <a:srgbClr val="1F2937"/>
          </a:solidFill>
          <a:ln w="12700">
            <a:solidFill>
              <a:srgbClr val="FFFFFF">
                <a:alpha val="0"/>
              </a:srgbClr>
            </a:solidFill>
            <a:prstDash val="solid"/>
          </a:ln>
        </p:spPr>
        <p:txBody>
          <a:bodyPr/>
          <a:lstStyle/>
          <a:p>
            <a:endParaRPr lang="fr-CI"/>
          </a:p>
        </p:txBody>
      </p:sp>
      <p:sp>
        <p:nvSpPr>
          <p:cNvPr id="56" name="Text 54"/>
          <p:cNvSpPr txBox="1"/>
          <p:nvPr/>
        </p:nvSpPr>
        <p:spPr>
          <a:xfrm>
            <a:off x="6858000" y="6862572"/>
            <a:ext cx="4763110"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CRITÈRE</a:t>
            </a:r>
            <a:endParaRPr lang="en-US" sz="800" dirty="0"/>
          </a:p>
        </p:txBody>
      </p:sp>
      <p:sp>
        <p:nvSpPr>
          <p:cNvPr id="57" name="Text 55"/>
          <p:cNvSpPr txBox="1"/>
          <p:nvPr/>
        </p:nvSpPr>
        <p:spPr>
          <a:xfrm>
            <a:off x="6858000" y="7033565"/>
            <a:ext cx="4763110" cy="162763"/>
          </a:xfrm>
          <a:prstGeom prst="rect">
            <a:avLst/>
          </a:prstGeom>
          <a:noFill/>
          <a:ln/>
        </p:spPr>
        <p:txBody>
          <a:bodyPr wrap="non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Validation arithmétique sur chaque transaction de test.</a:t>
            </a:r>
            <a:endParaRPr lang="en-US" sz="900" dirty="0"/>
          </a:p>
        </p:txBody>
      </p:sp>
      <p:sp>
        <p:nvSpPr>
          <p:cNvPr id="58" name="Shape 56"/>
          <p:cNvSpPr/>
          <p:nvPr/>
        </p:nvSpPr>
        <p:spPr>
          <a:xfrm>
            <a:off x="12154205" y="2762402"/>
            <a:ext cx="5238598" cy="6762902"/>
          </a:xfrm>
          <a:prstGeom prst="roundRect">
            <a:avLst>
              <a:gd name="adj" fmla="val 2548"/>
            </a:avLst>
          </a:prstGeom>
          <a:solidFill>
            <a:srgbClr val="1F2937"/>
          </a:solidFill>
          <a:ln w="25400">
            <a:solidFill>
              <a:srgbClr val="6D28D9"/>
            </a:solidFill>
            <a:prstDash val="solid"/>
          </a:ln>
        </p:spPr>
        <p:txBody>
          <a:bodyPr/>
          <a:lstStyle/>
          <a:p>
            <a:endParaRPr lang="fr-CI"/>
          </a:p>
        </p:txBody>
      </p:sp>
      <p:sp>
        <p:nvSpPr>
          <p:cNvPr id="59" name="Text 57"/>
          <p:cNvSpPr txBox="1"/>
          <p:nvPr/>
        </p:nvSpPr>
        <p:spPr>
          <a:xfrm>
            <a:off x="12382805" y="2986430"/>
            <a:ext cx="724205" cy="219456"/>
          </a:xfrm>
          <a:prstGeom prst="rect">
            <a:avLst/>
          </a:prstGeom>
          <a:noFill/>
          <a:ln/>
        </p:spPr>
        <p:txBody>
          <a:bodyPr wrap="none" lIns="0" tIns="0" rIns="0" bIns="0" rtlCol="0" anchor="ctr"/>
          <a:lstStyle/>
          <a:p>
            <a:pPr marL="0" indent="0" algn="l">
              <a:buNone/>
            </a:pPr>
            <a:r>
              <a:rPr lang="en-US" sz="1300" b="1" dirty="0">
                <a:solidFill>
                  <a:srgbClr val="A78BFA"/>
                </a:solidFill>
                <a:latin typeface="JetBrains Mono" pitchFamily="34" charset="0"/>
                <a:ea typeface="JetBrains Mono" pitchFamily="34" charset="-122"/>
                <a:cs typeface="JetBrains Mono" pitchFamily="34" charset="-120"/>
              </a:rPr>
              <a:t>UC-A01c</a:t>
            </a:r>
            <a:endParaRPr lang="en-US" sz="1300" dirty="0"/>
          </a:p>
        </p:txBody>
      </p:sp>
      <p:sp>
        <p:nvSpPr>
          <p:cNvPr id="60" name="Shape 58"/>
          <p:cNvSpPr/>
          <p:nvPr/>
        </p:nvSpPr>
        <p:spPr>
          <a:xfrm>
            <a:off x="16415309" y="2952598"/>
            <a:ext cx="733349" cy="286207"/>
          </a:xfrm>
          <a:prstGeom prst="roundRect">
            <a:avLst>
              <a:gd name="adj" fmla="val 49840"/>
            </a:avLst>
          </a:prstGeom>
          <a:solidFill>
            <a:srgbClr val="FEE2E2"/>
          </a:solidFill>
          <a:ln w="12700">
            <a:solidFill>
              <a:srgbClr val="FFFFFF">
                <a:alpha val="0"/>
              </a:srgbClr>
            </a:solidFill>
            <a:prstDash val="solid"/>
          </a:ln>
        </p:spPr>
        <p:txBody>
          <a:bodyPr/>
          <a:lstStyle/>
          <a:p>
            <a:endParaRPr lang="fr-CI"/>
          </a:p>
        </p:txBody>
      </p:sp>
      <p:sp>
        <p:nvSpPr>
          <p:cNvPr id="61" name="Text 59"/>
          <p:cNvSpPr/>
          <p:nvPr/>
        </p:nvSpPr>
        <p:spPr>
          <a:xfrm>
            <a:off x="16415309" y="2952598"/>
            <a:ext cx="7342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91B1B"/>
                </a:solidFill>
                <a:latin typeface="Manrope" pitchFamily="34" charset="0"/>
                <a:ea typeface="Manrope" pitchFamily="34" charset="-122"/>
                <a:cs typeface="Manrope" pitchFamily="34" charset="-120"/>
              </a:rPr>
              <a:t>Critique</a:t>
            </a:r>
            <a:endParaRPr lang="en-US" sz="900" dirty="0"/>
          </a:p>
        </p:txBody>
      </p:sp>
      <p:sp>
        <p:nvSpPr>
          <p:cNvPr id="62" name="Text 60"/>
          <p:cNvSpPr txBox="1"/>
          <p:nvPr/>
        </p:nvSpPr>
        <p:spPr>
          <a:xfrm>
            <a:off x="12382805" y="3333902"/>
            <a:ext cx="4763110" cy="286207"/>
          </a:xfrm>
          <a:prstGeom prst="rect">
            <a:avLst/>
          </a:prstGeom>
          <a:noFill/>
          <a:ln/>
        </p:spPr>
        <p:txBody>
          <a:bodyPr wrap="none" lIns="0" tIns="0" rIns="0" bIns="0" rtlCol="0" anchor="ctr"/>
          <a:lstStyle/>
          <a:p>
            <a:pPr marL="0" indent="0" algn="l">
              <a:buNone/>
            </a:pPr>
            <a:r>
              <a:rPr lang="en-US" sz="1600" b="1" dirty="0">
                <a:solidFill>
                  <a:srgbClr val="FFFFFF"/>
                </a:solidFill>
                <a:latin typeface="Manrope" pitchFamily="34" charset="0"/>
                <a:ea typeface="Manrope" pitchFamily="34" charset="-122"/>
                <a:cs typeface="Manrope" pitchFamily="34" charset="-120"/>
              </a:rPr>
              <a:t>Règles de bonus de performance</a:t>
            </a:r>
            <a:endParaRPr lang="en-US" sz="1600" dirty="0"/>
          </a:p>
        </p:txBody>
      </p:sp>
      <p:sp>
        <p:nvSpPr>
          <p:cNvPr id="63" name="Text 61"/>
          <p:cNvSpPr txBox="1"/>
          <p:nvPr/>
        </p:nvSpPr>
        <p:spPr>
          <a:xfrm>
            <a:off x="12382805" y="3829507"/>
            <a:ext cx="4763110" cy="171907"/>
          </a:xfrm>
          <a:prstGeom prst="rect">
            <a:avLst/>
          </a:prstGeom>
          <a:noFill/>
          <a:ln/>
        </p:spPr>
        <p:txBody>
          <a:bodyPr wrap="none" lIns="0" tIns="0" rIns="0" bIns="0" rtlCol="0" anchor="ctr"/>
          <a:lstStyle/>
          <a:p>
            <a:pPr marL="0" indent="0" algn="l">
              <a:buNone/>
            </a:pPr>
            <a:r>
              <a:rPr lang="en-US" sz="900" dirty="0">
                <a:solidFill>
                  <a:srgbClr val="A78BFA"/>
                </a:solidFill>
                <a:latin typeface="Manrope" pitchFamily="34" charset="0"/>
                <a:ea typeface="Manrope" pitchFamily="34" charset="-122"/>
                <a:cs typeface="Manrope" pitchFamily="34" charset="-120"/>
              </a:rPr>
              <a:t>Profil : Central · Cible : Franchises</a:t>
            </a:r>
            <a:endParaRPr lang="en-US" sz="900" dirty="0"/>
          </a:p>
        </p:txBody>
      </p:sp>
      <p:sp>
        <p:nvSpPr>
          <p:cNvPr id="64" name="Text 62"/>
          <p:cNvSpPr txBox="1"/>
          <p:nvPr/>
        </p:nvSpPr>
        <p:spPr>
          <a:xfrm>
            <a:off x="12382805" y="4153205"/>
            <a:ext cx="4763110"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ÉTAPES</a:t>
            </a:r>
            <a:endParaRPr lang="en-US" sz="800" dirty="0"/>
          </a:p>
        </p:txBody>
      </p:sp>
      <p:sp>
        <p:nvSpPr>
          <p:cNvPr id="65" name="Text 63"/>
          <p:cNvSpPr txBox="1"/>
          <p:nvPr/>
        </p:nvSpPr>
        <p:spPr>
          <a:xfrm>
            <a:off x="12553798" y="4343400"/>
            <a:ext cx="4591202"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Définition gabarit de KPI globaux</a:t>
            </a:r>
            <a:endParaRPr lang="en-US" sz="900" dirty="0"/>
          </a:p>
        </p:txBody>
      </p:sp>
      <p:sp>
        <p:nvSpPr>
          <p:cNvPr id="66" name="Text 64"/>
          <p:cNvSpPr txBox="1"/>
          <p:nvPr/>
        </p:nvSpPr>
        <p:spPr>
          <a:xfrm>
            <a:off x="12553798" y="4535424"/>
            <a:ext cx="4591202"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Définition plage acceptable par KPI</a:t>
            </a:r>
            <a:endParaRPr lang="en-US" sz="900" dirty="0"/>
          </a:p>
        </p:txBody>
      </p:sp>
      <p:sp>
        <p:nvSpPr>
          <p:cNvPr id="67" name="Text 65"/>
          <p:cNvSpPr txBox="1"/>
          <p:nvPr/>
        </p:nvSpPr>
        <p:spPr>
          <a:xfrm>
            <a:off x="12553798" y="4727448"/>
            <a:ext cx="4591202"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Définition fréquence d'évaluation</a:t>
            </a:r>
            <a:endParaRPr lang="en-US" sz="900" dirty="0"/>
          </a:p>
        </p:txBody>
      </p:sp>
      <p:sp>
        <p:nvSpPr>
          <p:cNvPr id="68" name="Text 66"/>
          <p:cNvSpPr txBox="1"/>
          <p:nvPr/>
        </p:nvSpPr>
        <p:spPr>
          <a:xfrm>
            <a:off x="12553798" y="4919472"/>
            <a:ext cx="4591202"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Validation par direction</a:t>
            </a:r>
            <a:endParaRPr lang="en-US" sz="900" dirty="0"/>
          </a:p>
        </p:txBody>
      </p:sp>
      <p:sp>
        <p:nvSpPr>
          <p:cNvPr id="69" name="Text 67"/>
          <p:cNvSpPr txBox="1"/>
          <p:nvPr/>
        </p:nvSpPr>
        <p:spPr>
          <a:xfrm>
            <a:off x="12553798" y="5111496"/>
            <a:ext cx="4591202"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Publication aux franchises</a:t>
            </a:r>
            <a:endParaRPr lang="en-US" sz="900" dirty="0"/>
          </a:p>
        </p:txBody>
      </p:sp>
      <p:sp>
        <p:nvSpPr>
          <p:cNvPr id="70" name="Text 68"/>
          <p:cNvSpPr txBox="1"/>
          <p:nvPr/>
        </p:nvSpPr>
        <p:spPr>
          <a:xfrm>
            <a:off x="12553798" y="5303520"/>
            <a:ext cx="4591202"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Les franchises personnalisent dans la plage</a:t>
            </a:r>
            <a:endParaRPr lang="en-US" sz="900" dirty="0"/>
          </a:p>
        </p:txBody>
      </p:sp>
      <p:sp>
        <p:nvSpPr>
          <p:cNvPr id="71" name="Shape 69"/>
          <p:cNvSpPr/>
          <p:nvPr/>
        </p:nvSpPr>
        <p:spPr>
          <a:xfrm>
            <a:off x="12382805" y="5629046"/>
            <a:ext cx="4762195" cy="1171346"/>
          </a:xfrm>
          <a:prstGeom prst="roundRect">
            <a:avLst>
              <a:gd name="adj" fmla="val 6479"/>
            </a:avLst>
          </a:prstGeom>
          <a:solidFill>
            <a:srgbClr val="374151"/>
          </a:solidFill>
          <a:ln w="12700">
            <a:solidFill>
              <a:srgbClr val="FFFFFF">
                <a:alpha val="0"/>
              </a:srgbClr>
            </a:solidFill>
            <a:prstDash val="solid"/>
          </a:ln>
        </p:spPr>
        <p:txBody>
          <a:bodyPr/>
          <a:lstStyle/>
          <a:p>
            <a:endParaRPr lang="fr-CI"/>
          </a:p>
        </p:txBody>
      </p:sp>
      <p:sp>
        <p:nvSpPr>
          <p:cNvPr id="72" name="Text 70"/>
          <p:cNvSpPr txBox="1"/>
          <p:nvPr/>
        </p:nvSpPr>
        <p:spPr>
          <a:xfrm>
            <a:off x="12497105" y="5743346"/>
            <a:ext cx="4534510"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GABARIT KPI</a:t>
            </a:r>
            <a:endParaRPr lang="en-US" sz="800" dirty="0"/>
          </a:p>
        </p:txBody>
      </p:sp>
      <p:sp>
        <p:nvSpPr>
          <p:cNvPr id="73" name="Text 71"/>
          <p:cNvSpPr txBox="1"/>
          <p:nvPr/>
        </p:nvSpPr>
        <p:spPr>
          <a:xfrm>
            <a:off x="12497105" y="5952744"/>
            <a:ext cx="4534510" cy="191110"/>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Nb courses (plage 30–80 / sem)</a:t>
            </a:r>
            <a:endParaRPr lang="en-US" sz="900" dirty="0"/>
          </a:p>
        </p:txBody>
      </p:sp>
      <p:sp>
        <p:nvSpPr>
          <p:cNvPr id="74" name="Text 72"/>
          <p:cNvSpPr txBox="1"/>
          <p:nvPr/>
        </p:nvSpPr>
        <p:spPr>
          <a:xfrm>
            <a:off x="12497105" y="6135624"/>
            <a:ext cx="4534510" cy="191110"/>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Note (plage 4.0 – 5.0)</a:t>
            </a:r>
            <a:endParaRPr lang="en-US" sz="900" dirty="0"/>
          </a:p>
        </p:txBody>
      </p:sp>
      <p:sp>
        <p:nvSpPr>
          <p:cNvPr id="75" name="Text 73"/>
          <p:cNvSpPr txBox="1"/>
          <p:nvPr/>
        </p:nvSpPr>
        <p:spPr>
          <a:xfrm>
            <a:off x="12497105" y="6318504"/>
            <a:ext cx="4534510" cy="191110"/>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Acceptation (plage 80–95 %)</a:t>
            </a:r>
            <a:endParaRPr lang="en-US" sz="900" dirty="0"/>
          </a:p>
        </p:txBody>
      </p:sp>
      <p:sp>
        <p:nvSpPr>
          <p:cNvPr id="76" name="Text 74"/>
          <p:cNvSpPr txBox="1"/>
          <p:nvPr/>
        </p:nvSpPr>
        <p:spPr>
          <a:xfrm>
            <a:off x="12497105" y="6501384"/>
            <a:ext cx="4534510" cy="191110"/>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Annulation (plage 2–10 %)</a:t>
            </a:r>
            <a:endParaRPr lang="en-US" sz="900" dirty="0"/>
          </a:p>
        </p:txBody>
      </p:sp>
      <p:sp>
        <p:nvSpPr>
          <p:cNvPr id="77" name="Shape 75"/>
          <p:cNvSpPr/>
          <p:nvPr/>
        </p:nvSpPr>
        <p:spPr>
          <a:xfrm>
            <a:off x="12382805" y="6932066"/>
            <a:ext cx="4762195" cy="523951"/>
          </a:xfrm>
          <a:prstGeom prst="roundRect">
            <a:avLst>
              <a:gd name="adj" fmla="val 14485"/>
            </a:avLst>
          </a:prstGeom>
          <a:solidFill>
            <a:srgbClr val="4C1D95"/>
          </a:solidFill>
          <a:ln w="12700">
            <a:solidFill>
              <a:srgbClr val="FFFFFF">
                <a:alpha val="0"/>
              </a:srgbClr>
            </a:solidFill>
            <a:prstDash val="solid"/>
          </a:ln>
        </p:spPr>
        <p:txBody>
          <a:bodyPr/>
          <a:lstStyle/>
          <a:p>
            <a:endParaRPr lang="fr-CI"/>
          </a:p>
        </p:txBody>
      </p:sp>
      <p:sp>
        <p:nvSpPr>
          <p:cNvPr id="78" name="Text 76"/>
          <p:cNvSpPr txBox="1"/>
          <p:nvPr/>
        </p:nvSpPr>
        <p:spPr>
          <a:xfrm>
            <a:off x="12477902" y="7027164"/>
            <a:ext cx="4572000" cy="133502"/>
          </a:xfrm>
          <a:prstGeom prst="rect">
            <a:avLst/>
          </a:prstGeom>
          <a:noFill/>
          <a:ln/>
        </p:spPr>
        <p:txBody>
          <a:bodyPr wrap="none" lIns="0" tIns="0" rIns="0" bIns="0" rtlCol="0" anchor="ctr"/>
          <a:lstStyle/>
          <a:p>
            <a:pPr marL="0" indent="0" algn="l">
              <a:buNone/>
            </a:pPr>
            <a:r>
              <a:rPr lang="en-US" sz="800" b="1" dirty="0">
                <a:solidFill>
                  <a:srgbClr val="C4B5FD"/>
                </a:solidFill>
                <a:latin typeface="JetBrains Mono" pitchFamily="34" charset="0"/>
                <a:ea typeface="JetBrains Mono" pitchFamily="34" charset="-122"/>
                <a:cs typeface="JetBrains Mono" pitchFamily="34" charset="-120"/>
              </a:rPr>
              <a:t>CRITÈRE</a:t>
            </a:r>
            <a:endParaRPr lang="en-US" sz="800" dirty="0"/>
          </a:p>
        </p:txBody>
      </p:sp>
      <p:sp>
        <p:nvSpPr>
          <p:cNvPr id="79" name="Text 77"/>
          <p:cNvSpPr txBox="1"/>
          <p:nvPr/>
        </p:nvSpPr>
        <p:spPr>
          <a:xfrm>
            <a:off x="12477902" y="7198157"/>
            <a:ext cx="5257800" cy="162763"/>
          </a:xfrm>
          <a:prstGeom prst="rect">
            <a:avLst/>
          </a:prstGeom>
          <a:noFill/>
          <a:ln/>
        </p:spPr>
        <p:txBody>
          <a:bodyPr wrap="non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Les franchises ne peuvent pas sortir des plages globales (garde-fou central).</a:t>
            </a:r>
            <a:endParaRPr lang="en-US" sz="900" dirty="0"/>
          </a:p>
        </p:txBody>
      </p:sp>
      <p:sp>
        <p:nvSpPr>
          <p:cNvPr id="80" name="Text 78"/>
          <p:cNvSpPr txBox="1"/>
          <p:nvPr/>
        </p:nvSpPr>
        <p:spPr>
          <a:xfrm>
            <a:off x="12382805" y="7588606"/>
            <a:ext cx="4763110"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VOIR AUSSI</a:t>
            </a:r>
            <a:endParaRPr lang="en-US" sz="800" dirty="0"/>
          </a:p>
        </p:txBody>
      </p:sp>
      <p:sp>
        <p:nvSpPr>
          <p:cNvPr id="81" name="Shape 79"/>
          <p:cNvSpPr/>
          <p:nvPr/>
        </p:nvSpPr>
        <p:spPr>
          <a:xfrm>
            <a:off x="12382805" y="7779715"/>
            <a:ext cx="780898" cy="286207"/>
          </a:xfrm>
          <a:prstGeom prst="roundRect">
            <a:avLst>
              <a:gd name="adj" fmla="val 49840"/>
            </a:avLst>
          </a:prstGeom>
          <a:solidFill>
            <a:srgbClr val="A78BFA"/>
          </a:solidFill>
          <a:ln w="12700">
            <a:solidFill>
              <a:srgbClr val="FFFFFF">
                <a:alpha val="0"/>
              </a:srgbClr>
            </a:solidFill>
            <a:prstDash val="solid"/>
          </a:ln>
        </p:spPr>
        <p:txBody>
          <a:bodyPr/>
          <a:lstStyle/>
          <a:p>
            <a:endParaRPr lang="fr-CI"/>
          </a:p>
        </p:txBody>
      </p:sp>
      <p:sp>
        <p:nvSpPr>
          <p:cNvPr id="82" name="Text 80"/>
          <p:cNvSpPr/>
          <p:nvPr/>
        </p:nvSpPr>
        <p:spPr>
          <a:xfrm>
            <a:off x="12382805" y="7779715"/>
            <a:ext cx="781812"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1F2937"/>
                </a:solidFill>
                <a:latin typeface="Manrope" pitchFamily="34" charset="0"/>
                <a:ea typeface="Manrope" pitchFamily="34" charset="-122"/>
                <a:cs typeface="Manrope" pitchFamily="34" charset="-120"/>
              </a:rPr>
              <a:t>UC-FR02</a:t>
            </a:r>
            <a:endParaRPr lang="en-US" sz="900" dirty="0"/>
          </a:p>
        </p:txBody>
      </p:sp>
      <p:sp>
        <p:nvSpPr>
          <p:cNvPr id="83" name="Shape 81"/>
          <p:cNvSpPr/>
          <p:nvPr/>
        </p:nvSpPr>
        <p:spPr>
          <a:xfrm>
            <a:off x="0" y="9791395"/>
            <a:ext cx="18288000" cy="495605"/>
          </a:xfrm>
          <a:prstGeom prst="rect">
            <a:avLst/>
          </a:prstGeom>
          <a:solidFill>
            <a:srgbClr val="FFFFFF"/>
          </a:solidFill>
          <a:ln/>
        </p:spPr>
        <p:txBody>
          <a:bodyPr/>
          <a:lstStyle/>
          <a:p>
            <a:endParaRPr lang="fr-CI"/>
          </a:p>
        </p:txBody>
      </p:sp>
      <p:sp>
        <p:nvSpPr>
          <p:cNvPr id="84" name="Shape 82"/>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85" name="Text 83"/>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86" name="Text 84"/>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44 / 59</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6819474" y="256946"/>
            <a:ext cx="1215238"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UC Audit · L.</a:t>
            </a:r>
            <a:endParaRPr lang="en-US" sz="900" dirty="0"/>
          </a:p>
        </p:txBody>
      </p:sp>
      <p:sp>
        <p:nvSpPr>
          <p:cNvPr id="10" name="Text 8"/>
          <p:cNvSpPr txBox="1"/>
          <p:nvPr/>
        </p:nvSpPr>
        <p:spPr>
          <a:xfrm>
            <a:off x="914400" y="1205179"/>
            <a:ext cx="2382012"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L. Audit &amp; conformité</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6193110" cy="1095451"/>
          </a:xfrm>
          <a:prstGeom prst="rect">
            <a:avLst/>
          </a:prstGeom>
          <a:noFill/>
          <a:ln/>
        </p:spPr>
        <p:txBody>
          <a:bodyPr wrap="squar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UC-AU01 — Audit des transactions et journalisation des actions sensibles.</a:t>
            </a:r>
            <a:endParaRPr lang="en-US" sz="3900" dirty="0"/>
          </a:p>
        </p:txBody>
      </p:sp>
      <p:sp>
        <p:nvSpPr>
          <p:cNvPr id="13" name="Shape 11"/>
          <p:cNvSpPr/>
          <p:nvPr/>
        </p:nvSpPr>
        <p:spPr>
          <a:xfrm>
            <a:off x="914400" y="2762402"/>
            <a:ext cx="10477195" cy="6762902"/>
          </a:xfrm>
          <a:prstGeom prst="roundRect">
            <a:avLst>
              <a:gd name="adj" fmla="val 1974"/>
            </a:avLst>
          </a:prstGeom>
          <a:solidFill>
            <a:srgbClr val="FFFFFF"/>
          </a:solidFill>
          <a:ln w="25400">
            <a:solidFill>
              <a:srgbClr val="6D28D9"/>
            </a:solidFill>
            <a:prstDash val="solid"/>
          </a:ln>
        </p:spPr>
        <p:txBody>
          <a:bodyPr/>
          <a:lstStyle/>
          <a:p>
            <a:endParaRPr lang="fr-CI"/>
          </a:p>
        </p:txBody>
      </p:sp>
      <p:sp>
        <p:nvSpPr>
          <p:cNvPr id="14" name="Text 12"/>
          <p:cNvSpPr txBox="1"/>
          <p:nvPr/>
        </p:nvSpPr>
        <p:spPr>
          <a:xfrm>
            <a:off x="1218895" y="2986430"/>
            <a:ext cx="724205" cy="219456"/>
          </a:xfrm>
          <a:prstGeom prst="rect">
            <a:avLst/>
          </a:prstGeom>
          <a:noFill/>
          <a:ln/>
        </p:spPr>
        <p:txBody>
          <a:bodyPr wrap="none" lIns="0" tIns="0" rIns="0" bIns="0" rtlCol="0" anchor="ctr"/>
          <a:lstStyle/>
          <a:p>
            <a:pPr marL="0" indent="0" algn="l">
              <a:buNone/>
            </a:pPr>
            <a:r>
              <a:rPr lang="en-US" sz="1300" b="1" dirty="0">
                <a:solidFill>
                  <a:srgbClr val="6D28D9"/>
                </a:solidFill>
                <a:latin typeface="JetBrains Mono" pitchFamily="34" charset="0"/>
                <a:ea typeface="JetBrains Mono" pitchFamily="34" charset="-122"/>
                <a:cs typeface="JetBrains Mono" pitchFamily="34" charset="-120"/>
              </a:rPr>
              <a:t>UC-AU01</a:t>
            </a:r>
            <a:endParaRPr lang="en-US" sz="1300" dirty="0"/>
          </a:p>
        </p:txBody>
      </p:sp>
      <p:sp>
        <p:nvSpPr>
          <p:cNvPr id="15" name="Shape 13"/>
          <p:cNvSpPr/>
          <p:nvPr/>
        </p:nvSpPr>
        <p:spPr>
          <a:xfrm>
            <a:off x="10394899" y="2952598"/>
            <a:ext cx="733349" cy="286207"/>
          </a:xfrm>
          <a:prstGeom prst="roundRect">
            <a:avLst>
              <a:gd name="adj" fmla="val 49840"/>
            </a:avLst>
          </a:prstGeom>
          <a:solidFill>
            <a:srgbClr val="FEE2E2"/>
          </a:solidFill>
          <a:ln w="12700">
            <a:solidFill>
              <a:srgbClr val="FFFFFF">
                <a:alpha val="0"/>
              </a:srgbClr>
            </a:solidFill>
            <a:prstDash val="solid"/>
          </a:ln>
        </p:spPr>
        <p:txBody>
          <a:bodyPr/>
          <a:lstStyle/>
          <a:p>
            <a:endParaRPr lang="fr-CI"/>
          </a:p>
        </p:txBody>
      </p:sp>
      <p:sp>
        <p:nvSpPr>
          <p:cNvPr id="16" name="Text 14"/>
          <p:cNvSpPr/>
          <p:nvPr/>
        </p:nvSpPr>
        <p:spPr>
          <a:xfrm>
            <a:off x="10394899" y="2952598"/>
            <a:ext cx="7342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91B1B"/>
                </a:solidFill>
                <a:latin typeface="Manrope" pitchFamily="34" charset="0"/>
                <a:ea typeface="Manrope" pitchFamily="34" charset="-122"/>
                <a:cs typeface="Manrope" pitchFamily="34" charset="-120"/>
              </a:rPr>
              <a:t>Critique</a:t>
            </a:r>
            <a:endParaRPr lang="en-US" sz="900" dirty="0"/>
          </a:p>
        </p:txBody>
      </p:sp>
      <p:sp>
        <p:nvSpPr>
          <p:cNvPr id="17" name="Text 15"/>
          <p:cNvSpPr txBox="1"/>
          <p:nvPr/>
        </p:nvSpPr>
        <p:spPr>
          <a:xfrm>
            <a:off x="1218895" y="3333902"/>
            <a:ext cx="9906610" cy="314554"/>
          </a:xfrm>
          <a:prstGeom prst="rect">
            <a:avLst/>
          </a:prstGeom>
          <a:noFill/>
          <a:ln/>
        </p:spPr>
        <p:txBody>
          <a:bodyPr wrap="none" lIns="0" tIns="0" rIns="0" bIns="0" rtlCol="0" anchor="ctr"/>
          <a:lstStyle/>
          <a:p>
            <a:pPr marL="0" indent="0" algn="l">
              <a:buNone/>
            </a:pPr>
            <a:r>
              <a:rPr lang="en-US" sz="1900" b="1" dirty="0">
                <a:solidFill>
                  <a:srgbClr val="1F2937"/>
                </a:solidFill>
                <a:latin typeface="Manrope" pitchFamily="34" charset="0"/>
                <a:ea typeface="Manrope" pitchFamily="34" charset="-122"/>
                <a:cs typeface="Manrope" pitchFamily="34" charset="-120"/>
              </a:rPr>
              <a:t>Audit transactions &amp; journalisation</a:t>
            </a:r>
            <a:endParaRPr lang="en-US" sz="1900" dirty="0"/>
          </a:p>
        </p:txBody>
      </p:sp>
      <p:sp>
        <p:nvSpPr>
          <p:cNvPr id="18" name="Text 16"/>
          <p:cNvSpPr txBox="1"/>
          <p:nvPr/>
        </p:nvSpPr>
        <p:spPr>
          <a:xfrm>
            <a:off x="1218895" y="3700577"/>
            <a:ext cx="9906610"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Service : Conformité · Profils : Auditeur, Direction, Central</a:t>
            </a:r>
            <a:endParaRPr lang="en-US" sz="900" dirty="0"/>
          </a:p>
        </p:txBody>
      </p:sp>
      <p:sp>
        <p:nvSpPr>
          <p:cNvPr id="19" name="Text 17"/>
          <p:cNvSpPr txBox="1"/>
          <p:nvPr/>
        </p:nvSpPr>
        <p:spPr>
          <a:xfrm>
            <a:off x="1218895" y="4081882"/>
            <a:ext cx="4839005"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OBJECTIF</a:t>
            </a:r>
            <a:endParaRPr lang="en-US" sz="800" dirty="0"/>
          </a:p>
        </p:txBody>
      </p:sp>
      <p:sp>
        <p:nvSpPr>
          <p:cNvPr id="20" name="Text 18"/>
          <p:cNvSpPr txBox="1"/>
          <p:nvPr/>
        </p:nvSpPr>
        <p:spPr>
          <a:xfrm>
            <a:off x="1218895" y="4272077"/>
            <a:ext cx="4839005" cy="629107"/>
          </a:xfrm>
          <a:prstGeom prst="rect">
            <a:avLst/>
          </a:prstGeom>
          <a:noFill/>
          <a:ln/>
        </p:spPr>
        <p:txBody>
          <a:bodyPr wrap="square" lIns="0" tIns="0" rIns="0" bIns="0" rtlCol="0" anchor="ctr"/>
          <a:lstStyle/>
          <a:p>
            <a:pPr marL="0" indent="0" algn="l">
              <a:buNone/>
            </a:pPr>
            <a:r>
              <a:rPr lang="en-US" sz="1000" dirty="0">
                <a:solidFill>
                  <a:srgbClr val="1F2937"/>
                </a:solidFill>
                <a:latin typeface="Manrope" pitchFamily="34" charset="0"/>
                <a:ea typeface="Manrope" pitchFamily="34" charset="-122"/>
                <a:cs typeface="Manrope" pitchFamily="34" charset="-120"/>
              </a:rPr>
              <a:t>Vérifier que </a:t>
            </a:r>
            <a:r>
              <a:rPr lang="en-US" sz="1000" b="1" dirty="0">
                <a:solidFill>
                  <a:srgbClr val="1F2937"/>
                </a:solidFill>
                <a:latin typeface="Manrope" pitchFamily="34" charset="0"/>
                <a:ea typeface="Manrope" pitchFamily="34" charset="-122"/>
                <a:cs typeface="Manrope" pitchFamily="34" charset="-120"/>
              </a:rPr>
              <a:t>toute action sensible</a:t>
            </a:r>
            <a:r>
              <a:rPr lang="en-US" sz="1000" dirty="0">
                <a:solidFill>
                  <a:srgbClr val="1F2937"/>
                </a:solidFill>
                <a:latin typeface="Manrope" pitchFamily="34" charset="0"/>
                <a:ea typeface="Manrope" pitchFamily="34" charset="-122"/>
                <a:cs typeface="Manrope" pitchFamily="34" charset="-120"/>
              </a:rPr>
              <a:t> est journalisée de manière inviolable et que le profil auditeur peut consulter, filtrer et exporter l'historique pour contrôle ou enquête.</a:t>
            </a:r>
            <a:endParaRPr lang="en-US" sz="1000" dirty="0"/>
          </a:p>
        </p:txBody>
      </p:sp>
      <p:sp>
        <p:nvSpPr>
          <p:cNvPr id="21" name="Text 19"/>
          <p:cNvSpPr txBox="1"/>
          <p:nvPr/>
        </p:nvSpPr>
        <p:spPr>
          <a:xfrm>
            <a:off x="1218895" y="5063033"/>
            <a:ext cx="4839005"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ÉTAPES DE TEST</a:t>
            </a:r>
            <a:endParaRPr lang="en-US" sz="800" dirty="0"/>
          </a:p>
        </p:txBody>
      </p:sp>
      <p:sp>
        <p:nvSpPr>
          <p:cNvPr id="22" name="Text 20"/>
          <p:cNvSpPr txBox="1"/>
          <p:nvPr/>
        </p:nvSpPr>
        <p:spPr>
          <a:xfrm>
            <a:off x="1390802" y="5254142"/>
            <a:ext cx="4668012" cy="391363"/>
          </a:xfrm>
          <a:prstGeom prst="rect">
            <a:avLst/>
          </a:prstGeom>
          <a:noFill/>
          <a:ln/>
        </p:spPr>
        <p:txBody>
          <a:bodyPr wrap="squar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Réaliser une action sensible (connexion admin, modification tarif, recharge wallet, suspension chauffeur)</a:t>
            </a:r>
            <a:endParaRPr lang="en-US" sz="900" dirty="0"/>
          </a:p>
        </p:txBody>
      </p:sp>
      <p:sp>
        <p:nvSpPr>
          <p:cNvPr id="23" name="Text 21"/>
          <p:cNvSpPr txBox="1"/>
          <p:nvPr/>
        </p:nvSpPr>
        <p:spPr>
          <a:xfrm>
            <a:off x="1390802" y="5638190"/>
            <a:ext cx="46680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Se connecter avec un profil auditeur</a:t>
            </a:r>
            <a:endParaRPr lang="en-US" sz="900" dirty="0"/>
          </a:p>
        </p:txBody>
      </p:sp>
      <p:sp>
        <p:nvSpPr>
          <p:cNvPr id="24" name="Text 22"/>
          <p:cNvSpPr txBox="1"/>
          <p:nvPr/>
        </p:nvSpPr>
        <p:spPr>
          <a:xfrm>
            <a:off x="1390802" y="5829300"/>
            <a:ext cx="46680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Ouvrir le journal d'audit</a:t>
            </a:r>
            <a:endParaRPr lang="en-US" sz="900" dirty="0"/>
          </a:p>
        </p:txBody>
      </p:sp>
      <p:sp>
        <p:nvSpPr>
          <p:cNvPr id="25" name="Text 23"/>
          <p:cNvSpPr txBox="1"/>
          <p:nvPr/>
        </p:nvSpPr>
        <p:spPr>
          <a:xfrm>
            <a:off x="1390802" y="6021324"/>
            <a:ext cx="46680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Filtrer par : type d'action, profil, période, IP</a:t>
            </a:r>
            <a:endParaRPr lang="en-US" sz="900" dirty="0"/>
          </a:p>
        </p:txBody>
      </p:sp>
      <p:sp>
        <p:nvSpPr>
          <p:cNvPr id="26" name="Text 24"/>
          <p:cNvSpPr txBox="1"/>
          <p:nvPr/>
        </p:nvSpPr>
        <p:spPr>
          <a:xfrm>
            <a:off x="1390802" y="6213348"/>
            <a:ext cx="46680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Identifier l'action de test</a:t>
            </a:r>
            <a:endParaRPr lang="en-US" sz="900" dirty="0"/>
          </a:p>
        </p:txBody>
      </p:sp>
      <p:sp>
        <p:nvSpPr>
          <p:cNvPr id="27" name="Text 25"/>
          <p:cNvSpPr txBox="1"/>
          <p:nvPr/>
        </p:nvSpPr>
        <p:spPr>
          <a:xfrm>
            <a:off x="1390802" y="6405372"/>
            <a:ext cx="53538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Vérifier les attributs (qui, quoi, quand, depuis où, valeur avant/après)</a:t>
            </a:r>
            <a:endParaRPr lang="en-US" sz="900" dirty="0"/>
          </a:p>
        </p:txBody>
      </p:sp>
      <p:sp>
        <p:nvSpPr>
          <p:cNvPr id="28" name="Text 26"/>
          <p:cNvSpPr txBox="1"/>
          <p:nvPr/>
        </p:nvSpPr>
        <p:spPr>
          <a:xfrm>
            <a:off x="1390802" y="6597396"/>
            <a:ext cx="46680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Exporter (PDF / CSV) un extrait</a:t>
            </a:r>
            <a:endParaRPr lang="en-US" sz="900" dirty="0"/>
          </a:p>
        </p:txBody>
      </p:sp>
      <p:sp>
        <p:nvSpPr>
          <p:cNvPr id="29" name="Text 27"/>
          <p:cNvSpPr txBox="1"/>
          <p:nvPr/>
        </p:nvSpPr>
        <p:spPr>
          <a:xfrm>
            <a:off x="1390802" y="6789420"/>
            <a:ext cx="4668012"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Tenter une modification rétroactive : doit être impossible</a:t>
            </a:r>
            <a:endParaRPr lang="en-US" sz="900" dirty="0"/>
          </a:p>
        </p:txBody>
      </p:sp>
      <p:sp>
        <p:nvSpPr>
          <p:cNvPr id="30" name="Shape 28"/>
          <p:cNvSpPr/>
          <p:nvPr/>
        </p:nvSpPr>
        <p:spPr>
          <a:xfrm>
            <a:off x="1218895" y="7134149"/>
            <a:ext cx="4839005" cy="981151"/>
          </a:xfrm>
          <a:prstGeom prst="roundRect">
            <a:avLst>
              <a:gd name="adj" fmla="val 7735"/>
            </a:avLst>
          </a:prstGeom>
          <a:solidFill>
            <a:srgbClr val="FEE2E2"/>
          </a:solidFill>
          <a:ln/>
        </p:spPr>
        <p:txBody>
          <a:bodyPr/>
          <a:lstStyle/>
          <a:p>
            <a:endParaRPr lang="fr-CI"/>
          </a:p>
        </p:txBody>
      </p:sp>
      <p:sp>
        <p:nvSpPr>
          <p:cNvPr id="31" name="Shape 29"/>
          <p:cNvSpPr/>
          <p:nvPr/>
        </p:nvSpPr>
        <p:spPr>
          <a:xfrm>
            <a:off x="1218895" y="7134149"/>
            <a:ext cx="28346" cy="981151"/>
          </a:xfrm>
          <a:prstGeom prst="roundRect">
            <a:avLst>
              <a:gd name="adj" fmla="val 267746"/>
            </a:avLst>
          </a:prstGeom>
          <a:solidFill>
            <a:srgbClr val="EF4444"/>
          </a:solidFill>
          <a:ln w="12700">
            <a:solidFill>
              <a:srgbClr val="EF4444">
                <a:alpha val="0"/>
              </a:srgbClr>
            </a:solidFill>
            <a:prstDash val="solid"/>
          </a:ln>
        </p:spPr>
        <p:txBody>
          <a:bodyPr/>
          <a:lstStyle/>
          <a:p>
            <a:endParaRPr lang="fr-CI"/>
          </a:p>
        </p:txBody>
      </p:sp>
      <p:sp>
        <p:nvSpPr>
          <p:cNvPr id="32" name="Text 30"/>
          <p:cNvSpPr txBox="1"/>
          <p:nvPr/>
        </p:nvSpPr>
        <p:spPr>
          <a:xfrm>
            <a:off x="1362456" y="7248449"/>
            <a:ext cx="4582058" cy="133502"/>
          </a:xfrm>
          <a:prstGeom prst="rect">
            <a:avLst/>
          </a:prstGeom>
          <a:noFill/>
          <a:ln/>
        </p:spPr>
        <p:txBody>
          <a:bodyPr wrap="none" lIns="0" tIns="0" rIns="0" bIns="0" rtlCol="0" anchor="ctr"/>
          <a:lstStyle/>
          <a:p>
            <a:pPr marL="0" indent="0" algn="l">
              <a:buNone/>
            </a:pPr>
            <a:r>
              <a:rPr lang="en-US" sz="800" b="1" dirty="0">
                <a:solidFill>
                  <a:srgbClr val="991B1B"/>
                </a:solidFill>
                <a:latin typeface="JetBrains Mono" pitchFamily="34" charset="0"/>
                <a:ea typeface="JetBrains Mono" pitchFamily="34" charset="-122"/>
                <a:cs typeface="JetBrains Mono" pitchFamily="34" charset="-120"/>
              </a:rPr>
              <a:t>TEST NÉGATIF OBLIGATOIRE</a:t>
            </a:r>
            <a:endParaRPr lang="en-US" sz="800" dirty="0"/>
          </a:p>
        </p:txBody>
      </p:sp>
      <p:sp>
        <p:nvSpPr>
          <p:cNvPr id="33" name="Text 31"/>
          <p:cNvSpPr txBox="1"/>
          <p:nvPr/>
        </p:nvSpPr>
        <p:spPr>
          <a:xfrm>
            <a:off x="1362456" y="7438644"/>
            <a:ext cx="4582058" cy="562356"/>
          </a:xfrm>
          <a:prstGeom prst="rect">
            <a:avLst/>
          </a:prstGeom>
          <a:noFill/>
          <a:ln/>
        </p:spPr>
        <p:txBody>
          <a:bodyPr wrap="squar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Vérifier que les logs d'audit ne sont jamais modifiables, même par un super-administrateur. Toute tentative doit être bloquée et générer elle-même un événement d'audit.</a:t>
            </a:r>
            <a:endParaRPr lang="en-US" sz="900" dirty="0"/>
          </a:p>
        </p:txBody>
      </p:sp>
      <p:sp>
        <p:nvSpPr>
          <p:cNvPr id="34" name="Shape 32"/>
          <p:cNvSpPr/>
          <p:nvPr/>
        </p:nvSpPr>
        <p:spPr>
          <a:xfrm>
            <a:off x="6286500" y="4081882"/>
            <a:ext cx="4839005" cy="2933395"/>
          </a:xfrm>
          <a:prstGeom prst="roundRect">
            <a:avLst>
              <a:gd name="adj" fmla="val 3897"/>
            </a:avLst>
          </a:prstGeom>
          <a:solidFill>
            <a:srgbClr val="F5F3FF"/>
          </a:solidFill>
          <a:ln w="12700">
            <a:solidFill>
              <a:srgbClr val="DDD6FE"/>
            </a:solidFill>
            <a:prstDash val="solid"/>
          </a:ln>
        </p:spPr>
        <p:txBody>
          <a:bodyPr/>
          <a:lstStyle/>
          <a:p>
            <a:endParaRPr lang="fr-CI"/>
          </a:p>
        </p:txBody>
      </p:sp>
      <p:sp>
        <p:nvSpPr>
          <p:cNvPr id="35" name="Text 33"/>
          <p:cNvSpPr txBox="1"/>
          <p:nvPr/>
        </p:nvSpPr>
        <p:spPr>
          <a:xfrm>
            <a:off x="6467551" y="4262018"/>
            <a:ext cx="4476902"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ÉVÉNEMENTS À JOURNALISER</a:t>
            </a:r>
            <a:endParaRPr lang="en-US" sz="800" dirty="0"/>
          </a:p>
        </p:txBody>
      </p:sp>
      <p:sp>
        <p:nvSpPr>
          <p:cNvPr id="36" name="Text 34"/>
          <p:cNvSpPr txBox="1"/>
          <p:nvPr/>
        </p:nvSpPr>
        <p:spPr>
          <a:xfrm>
            <a:off x="6467551" y="4509821"/>
            <a:ext cx="4476902" cy="219456"/>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 Connexions administrateurs (réussies / échecs)</a:t>
            </a:r>
            <a:endParaRPr lang="en-US" sz="900" dirty="0"/>
          </a:p>
        </p:txBody>
      </p:sp>
      <p:sp>
        <p:nvSpPr>
          <p:cNvPr id="37" name="Text 35"/>
          <p:cNvSpPr txBox="1"/>
          <p:nvPr/>
        </p:nvSpPr>
        <p:spPr>
          <a:xfrm>
            <a:off x="6467551" y="4720133"/>
            <a:ext cx="4476902" cy="219456"/>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 Modifications tarifs &amp; commissions</a:t>
            </a:r>
            <a:endParaRPr lang="en-US" sz="900" dirty="0"/>
          </a:p>
        </p:txBody>
      </p:sp>
      <p:sp>
        <p:nvSpPr>
          <p:cNvPr id="38" name="Text 36"/>
          <p:cNvSpPr txBox="1"/>
          <p:nvPr/>
        </p:nvSpPr>
        <p:spPr>
          <a:xfrm>
            <a:off x="6467551" y="4931359"/>
            <a:ext cx="4476902" cy="219456"/>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 Recharges wallets (toutes voies)</a:t>
            </a:r>
            <a:endParaRPr lang="en-US" sz="900" dirty="0"/>
          </a:p>
        </p:txBody>
      </p:sp>
      <p:sp>
        <p:nvSpPr>
          <p:cNvPr id="39" name="Text 37"/>
          <p:cNvSpPr txBox="1"/>
          <p:nvPr/>
        </p:nvSpPr>
        <p:spPr>
          <a:xfrm>
            <a:off x="6467551" y="5141671"/>
            <a:ext cx="4476902" cy="219456"/>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 Reversements bonus franchise</a:t>
            </a:r>
            <a:endParaRPr lang="en-US" sz="900" dirty="0"/>
          </a:p>
        </p:txBody>
      </p:sp>
      <p:sp>
        <p:nvSpPr>
          <p:cNvPr id="40" name="Text 38"/>
          <p:cNvSpPr txBox="1"/>
          <p:nvPr/>
        </p:nvSpPr>
        <p:spPr>
          <a:xfrm>
            <a:off x="6467551" y="5351983"/>
            <a:ext cx="4476902" cy="219456"/>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 Suspensions / réactivations comptes</a:t>
            </a:r>
            <a:endParaRPr lang="en-US" sz="900" dirty="0"/>
          </a:p>
        </p:txBody>
      </p:sp>
      <p:sp>
        <p:nvSpPr>
          <p:cNvPr id="41" name="Text 39"/>
          <p:cNvSpPr txBox="1"/>
          <p:nvPr/>
        </p:nvSpPr>
        <p:spPr>
          <a:xfrm>
            <a:off x="6467551" y="5562295"/>
            <a:ext cx="4476902" cy="219456"/>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 Validations partenaires / franchises</a:t>
            </a:r>
            <a:endParaRPr lang="en-US" sz="900" dirty="0"/>
          </a:p>
        </p:txBody>
      </p:sp>
      <p:sp>
        <p:nvSpPr>
          <p:cNvPr id="42" name="Text 40"/>
          <p:cNvSpPr txBox="1"/>
          <p:nvPr/>
        </p:nvSpPr>
        <p:spPr>
          <a:xfrm>
            <a:off x="6467551" y="5772607"/>
            <a:ext cx="4476902" cy="219456"/>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 Modifications de rôles &amp; droits</a:t>
            </a:r>
            <a:endParaRPr lang="en-US" sz="900" dirty="0"/>
          </a:p>
        </p:txBody>
      </p:sp>
      <p:sp>
        <p:nvSpPr>
          <p:cNvPr id="43" name="Text 41"/>
          <p:cNvSpPr txBox="1"/>
          <p:nvPr/>
        </p:nvSpPr>
        <p:spPr>
          <a:xfrm>
            <a:off x="6467551" y="5982919"/>
            <a:ext cx="4476902" cy="219456"/>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 Exports financiers</a:t>
            </a:r>
            <a:endParaRPr lang="en-US" sz="900" dirty="0"/>
          </a:p>
        </p:txBody>
      </p:sp>
      <p:sp>
        <p:nvSpPr>
          <p:cNvPr id="44" name="Text 42"/>
          <p:cNvSpPr txBox="1"/>
          <p:nvPr/>
        </p:nvSpPr>
        <p:spPr>
          <a:xfrm>
            <a:off x="6467551" y="6193231"/>
            <a:ext cx="4476902" cy="219456"/>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 Suppressions de données</a:t>
            </a:r>
            <a:endParaRPr lang="en-US" sz="900" dirty="0"/>
          </a:p>
        </p:txBody>
      </p:sp>
      <p:sp>
        <p:nvSpPr>
          <p:cNvPr id="45" name="Text 43"/>
          <p:cNvSpPr txBox="1"/>
          <p:nvPr/>
        </p:nvSpPr>
        <p:spPr>
          <a:xfrm>
            <a:off x="6467551" y="6404458"/>
            <a:ext cx="4476902" cy="219456"/>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 Accès à des données personnelles</a:t>
            </a:r>
            <a:endParaRPr lang="en-US" sz="900" dirty="0"/>
          </a:p>
        </p:txBody>
      </p:sp>
      <p:sp>
        <p:nvSpPr>
          <p:cNvPr id="46" name="Text 44"/>
          <p:cNvSpPr txBox="1"/>
          <p:nvPr/>
        </p:nvSpPr>
        <p:spPr>
          <a:xfrm>
            <a:off x="6467551" y="6614770"/>
            <a:ext cx="4476902" cy="219456"/>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 Acceptation / rejet réclamation avec dédommagement</a:t>
            </a:r>
            <a:endParaRPr lang="en-US" sz="900" dirty="0"/>
          </a:p>
        </p:txBody>
      </p:sp>
      <p:sp>
        <p:nvSpPr>
          <p:cNvPr id="47" name="Shape 45"/>
          <p:cNvSpPr/>
          <p:nvPr/>
        </p:nvSpPr>
        <p:spPr>
          <a:xfrm>
            <a:off x="6286500" y="7177126"/>
            <a:ext cx="4839005" cy="1762049"/>
          </a:xfrm>
          <a:prstGeom prst="roundRect">
            <a:avLst>
              <a:gd name="adj" fmla="val 6487"/>
            </a:avLst>
          </a:prstGeom>
          <a:solidFill>
            <a:srgbClr val="1F2937"/>
          </a:solidFill>
          <a:ln w="12700">
            <a:solidFill>
              <a:srgbClr val="FFFFFF">
                <a:alpha val="0"/>
              </a:srgbClr>
            </a:solidFill>
            <a:prstDash val="solid"/>
          </a:ln>
        </p:spPr>
        <p:txBody>
          <a:bodyPr/>
          <a:lstStyle/>
          <a:p>
            <a:endParaRPr lang="fr-CI"/>
          </a:p>
        </p:txBody>
      </p:sp>
      <p:sp>
        <p:nvSpPr>
          <p:cNvPr id="48" name="Text 46"/>
          <p:cNvSpPr txBox="1"/>
          <p:nvPr/>
        </p:nvSpPr>
        <p:spPr>
          <a:xfrm>
            <a:off x="6458407" y="7349033"/>
            <a:ext cx="4496105"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RÉSULTATS ATTENDUS</a:t>
            </a:r>
            <a:endParaRPr lang="en-US" sz="800" dirty="0"/>
          </a:p>
        </p:txBody>
      </p:sp>
      <p:sp>
        <p:nvSpPr>
          <p:cNvPr id="49" name="Text 47"/>
          <p:cNvSpPr txBox="1"/>
          <p:nvPr/>
        </p:nvSpPr>
        <p:spPr>
          <a:xfrm>
            <a:off x="6458407" y="7577633"/>
            <a:ext cx="4496105"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Toute action sensible apparaît dans le journal</a:t>
            </a:r>
            <a:endParaRPr lang="en-US" sz="900" dirty="0"/>
          </a:p>
        </p:txBody>
      </p:sp>
      <p:sp>
        <p:nvSpPr>
          <p:cNvPr id="50" name="Text 48"/>
          <p:cNvSpPr txBox="1"/>
          <p:nvPr/>
        </p:nvSpPr>
        <p:spPr>
          <a:xfrm>
            <a:off x="6458407" y="7775143"/>
            <a:ext cx="4496105"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Champs complets : qui, quoi, quand, IP, valeur avant/après</a:t>
            </a:r>
            <a:endParaRPr lang="en-US" sz="900" dirty="0"/>
          </a:p>
        </p:txBody>
      </p:sp>
      <p:sp>
        <p:nvSpPr>
          <p:cNvPr id="51" name="Text 49"/>
          <p:cNvSpPr txBox="1"/>
          <p:nvPr/>
        </p:nvSpPr>
        <p:spPr>
          <a:xfrm>
            <a:off x="6458407" y="7973568"/>
            <a:ext cx="4496105"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Filtres &amp; recherche fonctionnels</a:t>
            </a:r>
            <a:endParaRPr lang="en-US" sz="900" dirty="0"/>
          </a:p>
        </p:txBody>
      </p:sp>
      <p:sp>
        <p:nvSpPr>
          <p:cNvPr id="52" name="Text 50"/>
          <p:cNvSpPr txBox="1"/>
          <p:nvPr/>
        </p:nvSpPr>
        <p:spPr>
          <a:xfrm>
            <a:off x="6458407" y="8171993"/>
            <a:ext cx="4496105"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Export CSV/PDF opérationnel</a:t>
            </a:r>
            <a:endParaRPr lang="en-US" sz="900" dirty="0"/>
          </a:p>
        </p:txBody>
      </p:sp>
      <p:sp>
        <p:nvSpPr>
          <p:cNvPr id="53" name="Text 51"/>
          <p:cNvSpPr txBox="1"/>
          <p:nvPr/>
        </p:nvSpPr>
        <p:spPr>
          <a:xfrm>
            <a:off x="6458407" y="8369503"/>
            <a:ext cx="4496105"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Aucune modification rétroactive possible</a:t>
            </a:r>
            <a:endParaRPr lang="en-US" sz="900" dirty="0"/>
          </a:p>
        </p:txBody>
      </p:sp>
      <p:sp>
        <p:nvSpPr>
          <p:cNvPr id="54" name="Text 52"/>
          <p:cNvSpPr txBox="1"/>
          <p:nvPr/>
        </p:nvSpPr>
        <p:spPr>
          <a:xfrm>
            <a:off x="6458407" y="8567928"/>
            <a:ext cx="4496105"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Rétention conforme à la politique (min. 12 mois)</a:t>
            </a:r>
            <a:endParaRPr lang="en-US" sz="900" dirty="0"/>
          </a:p>
        </p:txBody>
      </p:sp>
      <p:sp>
        <p:nvSpPr>
          <p:cNvPr id="55" name="Shape 53"/>
          <p:cNvSpPr/>
          <p:nvPr/>
        </p:nvSpPr>
        <p:spPr>
          <a:xfrm>
            <a:off x="6286500" y="9070848"/>
            <a:ext cx="4839005" cy="743407"/>
          </a:xfrm>
          <a:prstGeom prst="roundRect">
            <a:avLst>
              <a:gd name="adj" fmla="val 10209"/>
            </a:avLst>
          </a:prstGeom>
          <a:solidFill>
            <a:srgbClr val="F5F3FF"/>
          </a:solidFill>
          <a:ln/>
        </p:spPr>
        <p:txBody>
          <a:bodyPr/>
          <a:lstStyle/>
          <a:p>
            <a:endParaRPr lang="fr-CI"/>
          </a:p>
        </p:txBody>
      </p:sp>
      <p:sp>
        <p:nvSpPr>
          <p:cNvPr id="56" name="Shape 54"/>
          <p:cNvSpPr/>
          <p:nvPr/>
        </p:nvSpPr>
        <p:spPr>
          <a:xfrm>
            <a:off x="6286500" y="9070848"/>
            <a:ext cx="28346" cy="743407"/>
          </a:xfrm>
          <a:prstGeom prst="roundRect">
            <a:avLst>
              <a:gd name="adj" fmla="val 267746"/>
            </a:avLst>
          </a:prstGeom>
          <a:solidFill>
            <a:srgbClr val="6D28D9"/>
          </a:solidFill>
          <a:ln w="12700">
            <a:solidFill>
              <a:srgbClr val="6D28D9">
                <a:alpha val="0"/>
              </a:srgbClr>
            </a:solidFill>
            <a:prstDash val="solid"/>
          </a:ln>
        </p:spPr>
        <p:txBody>
          <a:bodyPr/>
          <a:lstStyle/>
          <a:p>
            <a:endParaRPr lang="fr-CI"/>
          </a:p>
        </p:txBody>
      </p:sp>
      <p:sp>
        <p:nvSpPr>
          <p:cNvPr id="57" name="Text 55"/>
          <p:cNvSpPr txBox="1"/>
          <p:nvPr/>
        </p:nvSpPr>
        <p:spPr>
          <a:xfrm>
            <a:off x="6429146" y="9185148"/>
            <a:ext cx="4582058"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CRITÈRE</a:t>
            </a:r>
            <a:endParaRPr lang="en-US" sz="800" dirty="0"/>
          </a:p>
        </p:txBody>
      </p:sp>
      <p:sp>
        <p:nvSpPr>
          <p:cNvPr id="58" name="Text 56"/>
          <p:cNvSpPr txBox="1"/>
          <p:nvPr/>
        </p:nvSpPr>
        <p:spPr>
          <a:xfrm>
            <a:off x="6429146" y="9356141"/>
            <a:ext cx="4582058" cy="342900"/>
          </a:xfrm>
          <a:prstGeom prst="rect">
            <a:avLst/>
          </a:prstGeom>
          <a:noFill/>
          <a:ln/>
        </p:spPr>
        <p:txBody>
          <a:bodyPr wrap="squar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Inviolabilité des logs + traçabilité complète + capacité d'export pour audit externe.</a:t>
            </a:r>
            <a:endParaRPr lang="en-US" sz="900" dirty="0"/>
          </a:p>
        </p:txBody>
      </p:sp>
      <p:sp>
        <p:nvSpPr>
          <p:cNvPr id="59" name="Shape 57"/>
          <p:cNvSpPr/>
          <p:nvPr/>
        </p:nvSpPr>
        <p:spPr>
          <a:xfrm>
            <a:off x="11697005" y="2762402"/>
            <a:ext cx="5715000" cy="6762902"/>
          </a:xfrm>
          <a:prstGeom prst="roundRect">
            <a:avLst>
              <a:gd name="adj" fmla="val 2336"/>
            </a:avLst>
          </a:prstGeom>
          <a:solidFill>
            <a:srgbClr val="1F2937"/>
          </a:solidFill>
          <a:ln w="12700">
            <a:solidFill>
              <a:srgbClr val="FFFFFF">
                <a:alpha val="0"/>
              </a:srgbClr>
            </a:solidFill>
            <a:prstDash val="solid"/>
          </a:ln>
        </p:spPr>
        <p:txBody>
          <a:bodyPr/>
          <a:lstStyle/>
          <a:p>
            <a:endParaRPr lang="fr-CI"/>
          </a:p>
        </p:txBody>
      </p:sp>
      <p:sp>
        <p:nvSpPr>
          <p:cNvPr id="60" name="Text 58"/>
          <p:cNvSpPr txBox="1"/>
          <p:nvPr/>
        </p:nvSpPr>
        <p:spPr>
          <a:xfrm>
            <a:off x="12001500" y="3010205"/>
            <a:ext cx="5143500" cy="152705"/>
          </a:xfrm>
          <a:prstGeom prst="rect">
            <a:avLst/>
          </a:prstGeom>
          <a:noFill/>
          <a:ln/>
        </p:spPr>
        <p:txBody>
          <a:bodyPr wrap="none" lIns="0" tIns="0" rIns="0" bIns="0" rtlCol="0" anchor="ctr"/>
          <a:lstStyle/>
          <a:p>
            <a:pPr marL="0" indent="0" algn="l">
              <a:buNone/>
            </a:pPr>
            <a:r>
              <a:rPr lang="en-US" sz="900" b="1" kern="0" spc="126" dirty="0">
                <a:solidFill>
                  <a:srgbClr val="A78BFA"/>
                </a:solidFill>
                <a:latin typeface="JetBrains Mono" pitchFamily="34" charset="0"/>
                <a:ea typeface="JetBrains Mono" pitchFamily="34" charset="-122"/>
                <a:cs typeface="JetBrains Mono" pitchFamily="34" charset="-120"/>
              </a:rPr>
              <a:t>Profil Auditeur</a:t>
            </a:r>
            <a:endParaRPr lang="en-US" sz="900" dirty="0"/>
          </a:p>
        </p:txBody>
      </p:sp>
      <p:sp>
        <p:nvSpPr>
          <p:cNvPr id="61" name="Text 59"/>
          <p:cNvSpPr txBox="1"/>
          <p:nvPr/>
        </p:nvSpPr>
        <p:spPr>
          <a:xfrm>
            <a:off x="12001500" y="3219602"/>
            <a:ext cx="5143500" cy="286207"/>
          </a:xfrm>
          <a:prstGeom prst="rect">
            <a:avLst/>
          </a:prstGeom>
          <a:noFill/>
          <a:ln/>
        </p:spPr>
        <p:txBody>
          <a:bodyPr wrap="none" lIns="0" tIns="0" rIns="0" bIns="0" rtlCol="0" anchor="ctr"/>
          <a:lstStyle/>
          <a:p>
            <a:pPr marL="0" indent="0" algn="l">
              <a:buNone/>
            </a:pPr>
            <a:r>
              <a:rPr lang="en-US" sz="1600" b="1" dirty="0">
                <a:solidFill>
                  <a:srgbClr val="FFFFFF"/>
                </a:solidFill>
                <a:latin typeface="Manrope" pitchFamily="34" charset="0"/>
                <a:ea typeface="Manrope" pitchFamily="34" charset="-122"/>
                <a:cs typeface="Manrope" pitchFamily="34" charset="-120"/>
              </a:rPr>
              <a:t>Droits &amp; périmètre</a:t>
            </a:r>
            <a:endParaRPr lang="en-US" sz="1600" dirty="0"/>
          </a:p>
        </p:txBody>
      </p:sp>
      <p:sp>
        <p:nvSpPr>
          <p:cNvPr id="62" name="Shape 60"/>
          <p:cNvSpPr/>
          <p:nvPr/>
        </p:nvSpPr>
        <p:spPr>
          <a:xfrm>
            <a:off x="12001500" y="3715207"/>
            <a:ext cx="5143500" cy="1561795"/>
          </a:xfrm>
          <a:prstGeom prst="roundRect">
            <a:avLst>
              <a:gd name="adj" fmla="val 6089"/>
            </a:avLst>
          </a:prstGeom>
          <a:solidFill>
            <a:srgbClr val="374151"/>
          </a:solidFill>
          <a:ln w="12700">
            <a:solidFill>
              <a:srgbClr val="FFFFFF">
                <a:alpha val="0"/>
              </a:srgbClr>
            </a:solidFill>
            <a:prstDash val="solid"/>
          </a:ln>
        </p:spPr>
        <p:txBody>
          <a:bodyPr/>
          <a:lstStyle/>
          <a:p>
            <a:endParaRPr lang="fr-CI"/>
          </a:p>
        </p:txBody>
      </p:sp>
      <p:sp>
        <p:nvSpPr>
          <p:cNvPr id="63" name="Text 61"/>
          <p:cNvSpPr txBox="1"/>
          <p:nvPr/>
        </p:nvSpPr>
        <p:spPr>
          <a:xfrm>
            <a:off x="12173407" y="3886200"/>
            <a:ext cx="4800600"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PEUT</a:t>
            </a:r>
            <a:endParaRPr lang="en-US" sz="800" dirty="0"/>
          </a:p>
        </p:txBody>
      </p:sp>
      <p:sp>
        <p:nvSpPr>
          <p:cNvPr id="64" name="Text 62"/>
          <p:cNvSpPr txBox="1"/>
          <p:nvPr/>
        </p:nvSpPr>
        <p:spPr>
          <a:xfrm>
            <a:off x="12173407" y="4114800"/>
            <a:ext cx="4800600"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Consulter tous les logs d'audit</a:t>
            </a:r>
            <a:endParaRPr lang="en-US" sz="900" dirty="0"/>
          </a:p>
        </p:txBody>
      </p:sp>
      <p:sp>
        <p:nvSpPr>
          <p:cNvPr id="65" name="Text 63"/>
          <p:cNvSpPr txBox="1"/>
          <p:nvPr/>
        </p:nvSpPr>
        <p:spPr>
          <a:xfrm>
            <a:off x="12173407" y="4313225"/>
            <a:ext cx="4800600"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Filtrer, rechercher, exporter</a:t>
            </a:r>
            <a:endParaRPr lang="en-US" sz="900" dirty="0"/>
          </a:p>
        </p:txBody>
      </p:sp>
      <p:sp>
        <p:nvSpPr>
          <p:cNvPr id="66" name="Text 64"/>
          <p:cNvSpPr txBox="1"/>
          <p:nvPr/>
        </p:nvSpPr>
        <p:spPr>
          <a:xfrm>
            <a:off x="12173407" y="4510735"/>
            <a:ext cx="4800600"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Consulter (lecture seule) toutes les transactions</a:t>
            </a:r>
            <a:endParaRPr lang="en-US" sz="900" dirty="0"/>
          </a:p>
        </p:txBody>
      </p:sp>
      <p:sp>
        <p:nvSpPr>
          <p:cNvPr id="67" name="Text 65"/>
          <p:cNvSpPr txBox="1"/>
          <p:nvPr/>
        </p:nvSpPr>
        <p:spPr>
          <a:xfrm>
            <a:off x="12173407" y="4709160"/>
            <a:ext cx="4800600"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Voir l'historique d'un compte</a:t>
            </a:r>
            <a:endParaRPr lang="en-US" sz="900" dirty="0"/>
          </a:p>
        </p:txBody>
      </p:sp>
      <p:sp>
        <p:nvSpPr>
          <p:cNvPr id="68" name="Text 66"/>
          <p:cNvSpPr txBox="1"/>
          <p:nvPr/>
        </p:nvSpPr>
        <p:spPr>
          <a:xfrm>
            <a:off x="12173407" y="4907585"/>
            <a:ext cx="4800600"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Générer un rapport d'enquête</a:t>
            </a:r>
            <a:endParaRPr lang="en-US" sz="900" dirty="0"/>
          </a:p>
        </p:txBody>
      </p:sp>
      <p:sp>
        <p:nvSpPr>
          <p:cNvPr id="69" name="Shape 67"/>
          <p:cNvSpPr/>
          <p:nvPr/>
        </p:nvSpPr>
        <p:spPr>
          <a:xfrm>
            <a:off x="12001500" y="5447995"/>
            <a:ext cx="5143500" cy="1561795"/>
          </a:xfrm>
          <a:prstGeom prst="roundRect">
            <a:avLst>
              <a:gd name="adj" fmla="val 6089"/>
            </a:avLst>
          </a:prstGeom>
          <a:solidFill>
            <a:srgbClr val="4C1D95"/>
          </a:solidFill>
          <a:ln w="12700">
            <a:solidFill>
              <a:srgbClr val="FFFFFF">
                <a:alpha val="0"/>
              </a:srgbClr>
            </a:solidFill>
            <a:prstDash val="solid"/>
          </a:ln>
        </p:spPr>
        <p:txBody>
          <a:bodyPr/>
          <a:lstStyle/>
          <a:p>
            <a:endParaRPr lang="fr-CI"/>
          </a:p>
        </p:txBody>
      </p:sp>
      <p:sp>
        <p:nvSpPr>
          <p:cNvPr id="70" name="Text 68"/>
          <p:cNvSpPr txBox="1"/>
          <p:nvPr/>
        </p:nvSpPr>
        <p:spPr>
          <a:xfrm>
            <a:off x="12173407" y="5619902"/>
            <a:ext cx="4800600" cy="133502"/>
          </a:xfrm>
          <a:prstGeom prst="rect">
            <a:avLst/>
          </a:prstGeom>
          <a:noFill/>
          <a:ln/>
        </p:spPr>
        <p:txBody>
          <a:bodyPr wrap="none" lIns="0" tIns="0" rIns="0" bIns="0" rtlCol="0" anchor="ctr"/>
          <a:lstStyle/>
          <a:p>
            <a:pPr marL="0" indent="0" algn="l">
              <a:buNone/>
            </a:pPr>
            <a:r>
              <a:rPr lang="en-US" sz="800" b="1" dirty="0">
                <a:solidFill>
                  <a:srgbClr val="C4B5FD"/>
                </a:solidFill>
                <a:latin typeface="JetBrains Mono" pitchFamily="34" charset="0"/>
                <a:ea typeface="JetBrains Mono" pitchFamily="34" charset="-122"/>
                <a:cs typeface="JetBrains Mono" pitchFamily="34" charset="-120"/>
              </a:rPr>
              <a:t>NE PEUT PAS</a:t>
            </a:r>
            <a:endParaRPr lang="en-US" sz="800" dirty="0"/>
          </a:p>
        </p:txBody>
      </p:sp>
      <p:sp>
        <p:nvSpPr>
          <p:cNvPr id="71" name="Text 69"/>
          <p:cNvSpPr txBox="1"/>
          <p:nvPr/>
        </p:nvSpPr>
        <p:spPr>
          <a:xfrm>
            <a:off x="12173407" y="5848502"/>
            <a:ext cx="4800600" cy="200254"/>
          </a:xfrm>
          <a:prstGeom prst="rect">
            <a:avLst/>
          </a:prstGeom>
          <a:noFill/>
          <a:ln/>
        </p:spPr>
        <p:txBody>
          <a:bodyPr wrap="non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 Modifier un log</a:t>
            </a:r>
            <a:endParaRPr lang="en-US" sz="900" dirty="0"/>
          </a:p>
        </p:txBody>
      </p:sp>
      <p:sp>
        <p:nvSpPr>
          <p:cNvPr id="72" name="Text 70"/>
          <p:cNvSpPr txBox="1"/>
          <p:nvPr/>
        </p:nvSpPr>
        <p:spPr>
          <a:xfrm>
            <a:off x="12173407" y="6046013"/>
            <a:ext cx="4800600" cy="200254"/>
          </a:xfrm>
          <a:prstGeom prst="rect">
            <a:avLst/>
          </a:prstGeom>
          <a:noFill/>
          <a:ln/>
        </p:spPr>
        <p:txBody>
          <a:bodyPr wrap="non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 Supprimer un log</a:t>
            </a:r>
            <a:endParaRPr lang="en-US" sz="900" dirty="0"/>
          </a:p>
        </p:txBody>
      </p:sp>
      <p:sp>
        <p:nvSpPr>
          <p:cNvPr id="73" name="Text 71"/>
          <p:cNvSpPr txBox="1"/>
          <p:nvPr/>
        </p:nvSpPr>
        <p:spPr>
          <a:xfrm>
            <a:off x="12173407" y="6244438"/>
            <a:ext cx="4800600" cy="200254"/>
          </a:xfrm>
          <a:prstGeom prst="rect">
            <a:avLst/>
          </a:prstGeom>
          <a:noFill/>
          <a:ln/>
        </p:spPr>
        <p:txBody>
          <a:bodyPr wrap="non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 Modifier des tarifs / commissions</a:t>
            </a:r>
            <a:endParaRPr lang="en-US" sz="900" dirty="0"/>
          </a:p>
        </p:txBody>
      </p:sp>
      <p:sp>
        <p:nvSpPr>
          <p:cNvPr id="74" name="Text 72"/>
          <p:cNvSpPr txBox="1"/>
          <p:nvPr/>
        </p:nvSpPr>
        <p:spPr>
          <a:xfrm>
            <a:off x="12173407" y="6442862"/>
            <a:ext cx="4800600" cy="200254"/>
          </a:xfrm>
          <a:prstGeom prst="rect">
            <a:avLst/>
          </a:prstGeom>
          <a:noFill/>
          <a:ln/>
        </p:spPr>
        <p:txBody>
          <a:bodyPr wrap="non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 Recharger ou débiter un wallet</a:t>
            </a:r>
            <a:endParaRPr lang="en-US" sz="900" dirty="0"/>
          </a:p>
        </p:txBody>
      </p:sp>
      <p:sp>
        <p:nvSpPr>
          <p:cNvPr id="75" name="Text 73"/>
          <p:cNvSpPr txBox="1"/>
          <p:nvPr/>
        </p:nvSpPr>
        <p:spPr>
          <a:xfrm>
            <a:off x="12173407" y="6640373"/>
            <a:ext cx="4800600" cy="200254"/>
          </a:xfrm>
          <a:prstGeom prst="rect">
            <a:avLst/>
          </a:prstGeom>
          <a:noFill/>
          <a:ln/>
        </p:spPr>
        <p:txBody>
          <a:bodyPr wrap="non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 Suspendre un compte</a:t>
            </a:r>
            <a:endParaRPr lang="en-US" sz="900" dirty="0"/>
          </a:p>
        </p:txBody>
      </p:sp>
      <p:sp>
        <p:nvSpPr>
          <p:cNvPr id="76" name="Shape 74"/>
          <p:cNvSpPr/>
          <p:nvPr/>
        </p:nvSpPr>
        <p:spPr>
          <a:xfrm>
            <a:off x="12001500" y="7181698"/>
            <a:ext cx="5143500" cy="771754"/>
          </a:xfrm>
          <a:prstGeom prst="roundRect">
            <a:avLst>
              <a:gd name="adj" fmla="val 12322"/>
            </a:avLst>
          </a:prstGeom>
          <a:solidFill>
            <a:srgbClr val="374151"/>
          </a:solidFill>
          <a:ln w="12700">
            <a:solidFill>
              <a:srgbClr val="FFFFFF">
                <a:alpha val="0"/>
              </a:srgbClr>
            </a:solidFill>
            <a:prstDash val="solid"/>
          </a:ln>
        </p:spPr>
        <p:txBody>
          <a:bodyPr/>
          <a:lstStyle/>
          <a:p>
            <a:endParaRPr lang="fr-CI"/>
          </a:p>
        </p:txBody>
      </p:sp>
      <p:sp>
        <p:nvSpPr>
          <p:cNvPr id="77" name="Text 75"/>
          <p:cNvSpPr txBox="1"/>
          <p:nvPr/>
        </p:nvSpPr>
        <p:spPr>
          <a:xfrm>
            <a:off x="12135002" y="7315200"/>
            <a:ext cx="4877410"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RÉTENTION</a:t>
            </a:r>
            <a:endParaRPr lang="en-US" sz="800" dirty="0"/>
          </a:p>
        </p:txBody>
      </p:sp>
      <p:sp>
        <p:nvSpPr>
          <p:cNvPr id="78" name="Text 76"/>
          <p:cNvSpPr txBox="1"/>
          <p:nvPr/>
        </p:nvSpPr>
        <p:spPr>
          <a:xfrm>
            <a:off x="12135002" y="7505395"/>
            <a:ext cx="4995367" cy="181051"/>
          </a:xfrm>
          <a:prstGeom prst="rect">
            <a:avLst/>
          </a:prstGeom>
          <a:noFill/>
          <a:ln/>
        </p:spPr>
        <p:txBody>
          <a:bodyPr wrap="none" lIns="0" tIns="0" rIns="0" bIns="0" rtlCol="0" anchor="ctr"/>
          <a:lstStyle/>
          <a:p>
            <a:pPr marL="0" indent="0" algn="l">
              <a:buNone/>
            </a:pPr>
            <a:r>
              <a:rPr lang="en-US" sz="1000" dirty="0">
                <a:solidFill>
                  <a:srgbClr val="FFFFFF"/>
                </a:solidFill>
                <a:latin typeface="Manrope" pitchFamily="34" charset="0"/>
                <a:ea typeface="Manrope" pitchFamily="34" charset="-122"/>
                <a:cs typeface="Manrope" pitchFamily="34" charset="-120"/>
              </a:rPr>
              <a:t>Logs conservés </a:t>
            </a:r>
            <a:r>
              <a:rPr lang="en-US" sz="1000" b="1" dirty="0">
                <a:solidFill>
                  <a:srgbClr val="FFFFFF"/>
                </a:solidFill>
                <a:latin typeface="Manrope" pitchFamily="34" charset="0"/>
                <a:ea typeface="Manrope" pitchFamily="34" charset="-122"/>
                <a:cs typeface="Manrope" pitchFamily="34" charset="-120"/>
              </a:rPr>
              <a:t>≥ 12 mois</a:t>
            </a:r>
            <a:r>
              <a:rPr lang="en-US" sz="1000" dirty="0">
                <a:solidFill>
                  <a:srgbClr val="FFFFFF"/>
                </a:solidFill>
                <a:latin typeface="Manrope" pitchFamily="34" charset="0"/>
                <a:ea typeface="Manrope" pitchFamily="34" charset="-122"/>
                <a:cs typeface="Manrope" pitchFamily="34" charset="-120"/>
              </a:rPr>
              <a:t> · sauvegardés sur 2 sites distincts.</a:t>
            </a:r>
            <a:endParaRPr lang="en-US" sz="1000" dirty="0"/>
          </a:p>
        </p:txBody>
      </p:sp>
      <p:sp>
        <p:nvSpPr>
          <p:cNvPr id="79" name="Shape 77"/>
          <p:cNvSpPr/>
          <p:nvPr/>
        </p:nvSpPr>
        <p:spPr>
          <a:xfrm>
            <a:off x="0" y="9791395"/>
            <a:ext cx="18288000" cy="495605"/>
          </a:xfrm>
          <a:prstGeom prst="rect">
            <a:avLst/>
          </a:prstGeom>
          <a:solidFill>
            <a:srgbClr val="FFFFFF"/>
          </a:solidFill>
          <a:ln/>
        </p:spPr>
        <p:txBody>
          <a:bodyPr/>
          <a:lstStyle/>
          <a:p>
            <a:endParaRPr lang="fr-CI"/>
          </a:p>
        </p:txBody>
      </p:sp>
      <p:sp>
        <p:nvSpPr>
          <p:cNvPr id="80" name="Shape 78"/>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81" name="Text 79"/>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82" name="Text 80"/>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45 / 59</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5539314" y="256946"/>
            <a:ext cx="2551176"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Partie VII — §19.1 Composition</a:t>
            </a:r>
            <a:endParaRPr lang="en-US" sz="900" dirty="0"/>
          </a:p>
        </p:txBody>
      </p:sp>
      <p:sp>
        <p:nvSpPr>
          <p:cNvPr id="10" name="Text 8"/>
          <p:cNvSpPr txBox="1"/>
          <p:nvPr/>
        </p:nvSpPr>
        <p:spPr>
          <a:xfrm>
            <a:off x="914400" y="1205179"/>
            <a:ext cx="2638044"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19.1 · Journée test réel</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6193110" cy="1095451"/>
          </a:xfrm>
          <a:prstGeom prst="rect">
            <a:avLst/>
          </a:prstGeom>
          <a:noFill/>
          <a:ln/>
        </p:spPr>
        <p:txBody>
          <a:bodyPr wrap="squar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40 engins répartis sur 4 services — couverture multiservices intégrale.</a:t>
            </a:r>
            <a:endParaRPr lang="en-US" sz="3900" dirty="0"/>
          </a:p>
        </p:txBody>
      </p:sp>
      <p:sp>
        <p:nvSpPr>
          <p:cNvPr id="13" name="Shape 11"/>
          <p:cNvSpPr/>
          <p:nvPr/>
        </p:nvSpPr>
        <p:spPr>
          <a:xfrm>
            <a:off x="914400" y="2762402"/>
            <a:ext cx="4000500" cy="2667305"/>
          </a:xfrm>
          <a:prstGeom prst="roundRect">
            <a:avLst>
              <a:gd name="adj" fmla="val 5005"/>
            </a:avLst>
          </a:prstGeom>
          <a:solidFill>
            <a:srgbClr val="1F2937"/>
          </a:solidFill>
          <a:ln w="12700">
            <a:solidFill>
              <a:srgbClr val="FFFFFF">
                <a:alpha val="0"/>
              </a:srgbClr>
            </a:solidFill>
            <a:prstDash val="solid"/>
          </a:ln>
        </p:spPr>
        <p:txBody>
          <a:bodyPr/>
          <a:lstStyle/>
          <a:p>
            <a:endParaRPr lang="fr-CI"/>
          </a:p>
        </p:txBody>
      </p:sp>
      <p:sp>
        <p:nvSpPr>
          <p:cNvPr id="14" name="Text 12"/>
          <p:cNvSpPr txBox="1"/>
          <p:nvPr/>
        </p:nvSpPr>
        <p:spPr>
          <a:xfrm>
            <a:off x="1181405" y="3010205"/>
            <a:ext cx="3525012" cy="152705"/>
          </a:xfrm>
          <a:prstGeom prst="rect">
            <a:avLst/>
          </a:prstGeom>
          <a:noFill/>
          <a:ln/>
        </p:spPr>
        <p:txBody>
          <a:bodyPr wrap="none" lIns="0" tIns="0" rIns="0" bIns="0" rtlCol="0" anchor="ctr"/>
          <a:lstStyle/>
          <a:p>
            <a:pPr marL="0" indent="0" algn="l">
              <a:buNone/>
            </a:pPr>
            <a:r>
              <a:rPr lang="en-US" sz="900" b="1" kern="0" spc="126" dirty="0">
                <a:solidFill>
                  <a:srgbClr val="A78BFA"/>
                </a:solidFill>
                <a:latin typeface="JetBrains Mono" pitchFamily="34" charset="0"/>
                <a:ea typeface="JetBrains Mono" pitchFamily="34" charset="-122"/>
                <a:cs typeface="JetBrains Mono" pitchFamily="34" charset="-120"/>
              </a:rPr>
              <a:t>Service principal</a:t>
            </a:r>
            <a:endParaRPr lang="en-US" sz="900" dirty="0"/>
          </a:p>
        </p:txBody>
      </p:sp>
      <p:sp>
        <p:nvSpPr>
          <p:cNvPr id="15" name="Text 13"/>
          <p:cNvSpPr txBox="1"/>
          <p:nvPr/>
        </p:nvSpPr>
        <p:spPr>
          <a:xfrm>
            <a:off x="1181405" y="3238805"/>
            <a:ext cx="3525012" cy="914400"/>
          </a:xfrm>
          <a:prstGeom prst="rect">
            <a:avLst/>
          </a:prstGeom>
          <a:noFill/>
          <a:ln/>
        </p:spPr>
        <p:txBody>
          <a:bodyPr wrap="none" lIns="0" tIns="0" rIns="0" bIns="0" rtlCol="0" anchor="ctr"/>
          <a:lstStyle/>
          <a:p>
            <a:pPr marL="0" indent="0" algn="l">
              <a:buNone/>
            </a:pPr>
            <a:r>
              <a:rPr lang="en-US" sz="7200" b="1" kern="0" spc="-216" dirty="0">
                <a:solidFill>
                  <a:srgbClr val="FFFFFF"/>
                </a:solidFill>
                <a:latin typeface="Manrope" pitchFamily="34" charset="0"/>
                <a:ea typeface="Manrope" pitchFamily="34" charset="-122"/>
                <a:cs typeface="Manrope" pitchFamily="34" charset="-120"/>
              </a:rPr>
              <a:t>20</a:t>
            </a:r>
            <a:endParaRPr lang="en-US" sz="7200" dirty="0"/>
          </a:p>
        </p:txBody>
      </p:sp>
      <p:sp>
        <p:nvSpPr>
          <p:cNvPr id="16" name="Text 14"/>
          <p:cNvSpPr txBox="1"/>
          <p:nvPr/>
        </p:nvSpPr>
        <p:spPr>
          <a:xfrm>
            <a:off x="1181405" y="4190695"/>
            <a:ext cx="3525012" cy="286207"/>
          </a:xfrm>
          <a:prstGeom prst="rect">
            <a:avLst/>
          </a:prstGeom>
          <a:noFill/>
          <a:ln/>
        </p:spPr>
        <p:txBody>
          <a:bodyPr wrap="none" lIns="0" tIns="0" rIns="0" bIns="0" rtlCol="0" anchor="ctr"/>
          <a:lstStyle/>
          <a:p>
            <a:pPr marL="0" indent="0" algn="l">
              <a:buNone/>
            </a:pPr>
            <a:r>
              <a:rPr lang="en-US" sz="1600" b="1" dirty="0">
                <a:solidFill>
                  <a:srgbClr val="A78BFA"/>
                </a:solidFill>
                <a:latin typeface="Manrope" pitchFamily="34" charset="0"/>
                <a:ea typeface="Manrope" pitchFamily="34" charset="-122"/>
                <a:cs typeface="Manrope" pitchFamily="34" charset="-120"/>
              </a:rPr>
              <a:t>Taxis / VTC</a:t>
            </a:r>
            <a:endParaRPr lang="en-US" sz="1600" dirty="0"/>
          </a:p>
        </p:txBody>
      </p:sp>
      <p:sp>
        <p:nvSpPr>
          <p:cNvPr id="17" name="Text 15"/>
          <p:cNvSpPr txBox="1"/>
          <p:nvPr/>
        </p:nvSpPr>
        <p:spPr>
          <a:xfrm>
            <a:off x="1181405" y="4610405"/>
            <a:ext cx="3525012" cy="372161"/>
          </a:xfrm>
          <a:prstGeom prst="rect">
            <a:avLst/>
          </a:prstGeom>
          <a:noFill/>
          <a:ln/>
        </p:spPr>
        <p:txBody>
          <a:bodyPr wrap="squar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Courses clients · cycle complet transport · paiement &amp; commission.</a:t>
            </a:r>
            <a:endParaRPr lang="en-US" sz="900" dirty="0"/>
          </a:p>
        </p:txBody>
      </p:sp>
      <p:sp>
        <p:nvSpPr>
          <p:cNvPr id="18" name="Shape 16"/>
          <p:cNvSpPr/>
          <p:nvPr/>
        </p:nvSpPr>
        <p:spPr>
          <a:xfrm>
            <a:off x="5143500" y="2762402"/>
            <a:ext cx="4000500" cy="2667305"/>
          </a:xfrm>
          <a:prstGeom prst="roundRect">
            <a:avLst>
              <a:gd name="adj" fmla="val 5005"/>
            </a:avLst>
          </a:prstGeom>
          <a:solidFill>
            <a:srgbClr val="4C1D95"/>
          </a:solidFill>
          <a:ln w="12700">
            <a:solidFill>
              <a:srgbClr val="FFFFFF">
                <a:alpha val="0"/>
              </a:srgbClr>
            </a:solidFill>
            <a:prstDash val="solid"/>
          </a:ln>
        </p:spPr>
        <p:txBody>
          <a:bodyPr/>
          <a:lstStyle/>
          <a:p>
            <a:endParaRPr lang="fr-CI"/>
          </a:p>
        </p:txBody>
      </p:sp>
      <p:sp>
        <p:nvSpPr>
          <p:cNvPr id="19" name="Text 17"/>
          <p:cNvSpPr txBox="1"/>
          <p:nvPr/>
        </p:nvSpPr>
        <p:spPr>
          <a:xfrm>
            <a:off x="5410505" y="3010205"/>
            <a:ext cx="3525012" cy="152705"/>
          </a:xfrm>
          <a:prstGeom prst="rect">
            <a:avLst/>
          </a:prstGeom>
          <a:noFill/>
          <a:ln/>
        </p:spPr>
        <p:txBody>
          <a:bodyPr wrap="none" lIns="0" tIns="0" rIns="0" bIns="0" rtlCol="0" anchor="ctr"/>
          <a:lstStyle/>
          <a:p>
            <a:pPr marL="0" indent="0" algn="l">
              <a:buNone/>
            </a:pPr>
            <a:r>
              <a:rPr lang="en-US" sz="900" b="1" kern="0" spc="126" dirty="0">
                <a:solidFill>
                  <a:srgbClr val="C4B5FD"/>
                </a:solidFill>
                <a:latin typeface="JetBrains Mono" pitchFamily="34" charset="0"/>
                <a:ea typeface="JetBrains Mono" pitchFamily="34" charset="-122"/>
                <a:cs typeface="JetBrains Mono" pitchFamily="34" charset="-120"/>
              </a:rPr>
              <a:t>Livraison</a:t>
            </a:r>
            <a:endParaRPr lang="en-US" sz="900" dirty="0"/>
          </a:p>
        </p:txBody>
      </p:sp>
      <p:sp>
        <p:nvSpPr>
          <p:cNvPr id="20" name="Text 18"/>
          <p:cNvSpPr txBox="1"/>
          <p:nvPr/>
        </p:nvSpPr>
        <p:spPr>
          <a:xfrm>
            <a:off x="5410505" y="3238805"/>
            <a:ext cx="3525012" cy="914400"/>
          </a:xfrm>
          <a:prstGeom prst="rect">
            <a:avLst/>
          </a:prstGeom>
          <a:noFill/>
          <a:ln/>
        </p:spPr>
        <p:txBody>
          <a:bodyPr wrap="none" lIns="0" tIns="0" rIns="0" bIns="0" rtlCol="0" anchor="ctr"/>
          <a:lstStyle/>
          <a:p>
            <a:pPr marL="0" indent="0" algn="l">
              <a:buNone/>
            </a:pPr>
            <a:r>
              <a:rPr lang="en-US" sz="7200" b="1" kern="0" spc="-216" dirty="0">
                <a:solidFill>
                  <a:srgbClr val="FFFFFF"/>
                </a:solidFill>
                <a:latin typeface="Manrope" pitchFamily="34" charset="0"/>
                <a:ea typeface="Manrope" pitchFamily="34" charset="-122"/>
                <a:cs typeface="Manrope" pitchFamily="34" charset="-120"/>
              </a:rPr>
              <a:t>10</a:t>
            </a:r>
            <a:endParaRPr lang="en-US" sz="7200" dirty="0"/>
          </a:p>
        </p:txBody>
      </p:sp>
      <p:sp>
        <p:nvSpPr>
          <p:cNvPr id="21" name="Text 19"/>
          <p:cNvSpPr txBox="1"/>
          <p:nvPr/>
        </p:nvSpPr>
        <p:spPr>
          <a:xfrm>
            <a:off x="5410505" y="4190695"/>
            <a:ext cx="3525012" cy="286207"/>
          </a:xfrm>
          <a:prstGeom prst="rect">
            <a:avLst/>
          </a:prstGeom>
          <a:noFill/>
          <a:ln/>
        </p:spPr>
        <p:txBody>
          <a:bodyPr wrap="none" lIns="0" tIns="0" rIns="0" bIns="0" rtlCol="0" anchor="ctr"/>
          <a:lstStyle/>
          <a:p>
            <a:pPr marL="0" indent="0" algn="l">
              <a:buNone/>
            </a:pPr>
            <a:r>
              <a:rPr lang="en-US" sz="1600" b="1" dirty="0">
                <a:solidFill>
                  <a:srgbClr val="A78BFA"/>
                </a:solidFill>
                <a:latin typeface="Manrope" pitchFamily="34" charset="0"/>
                <a:ea typeface="Manrope" pitchFamily="34" charset="-122"/>
                <a:cs typeface="Manrope" pitchFamily="34" charset="-120"/>
              </a:rPr>
              <a:t>Motos / livreurs</a:t>
            </a:r>
            <a:endParaRPr lang="en-US" sz="1600" dirty="0"/>
          </a:p>
        </p:txBody>
      </p:sp>
      <p:sp>
        <p:nvSpPr>
          <p:cNvPr id="22" name="Text 20"/>
          <p:cNvSpPr txBox="1"/>
          <p:nvPr/>
        </p:nvSpPr>
        <p:spPr>
          <a:xfrm>
            <a:off x="5410505" y="4610405"/>
            <a:ext cx="3777386" cy="191110"/>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Missions colis · récupération · livraison · preuve.</a:t>
            </a:r>
            <a:endParaRPr lang="en-US" sz="900" dirty="0"/>
          </a:p>
        </p:txBody>
      </p:sp>
      <p:sp>
        <p:nvSpPr>
          <p:cNvPr id="23" name="Shape 21"/>
          <p:cNvSpPr/>
          <p:nvPr/>
        </p:nvSpPr>
        <p:spPr>
          <a:xfrm>
            <a:off x="9372600" y="2762402"/>
            <a:ext cx="4000500" cy="2667305"/>
          </a:xfrm>
          <a:prstGeom prst="roundRect">
            <a:avLst>
              <a:gd name="adj" fmla="val 5005"/>
            </a:avLst>
          </a:prstGeom>
          <a:solidFill>
            <a:srgbClr val="6D28D9"/>
          </a:solidFill>
          <a:ln w="12700">
            <a:solidFill>
              <a:srgbClr val="FFFFFF">
                <a:alpha val="0"/>
              </a:srgbClr>
            </a:solidFill>
            <a:prstDash val="solid"/>
          </a:ln>
        </p:spPr>
        <p:txBody>
          <a:bodyPr/>
          <a:lstStyle/>
          <a:p>
            <a:endParaRPr lang="fr-CI"/>
          </a:p>
        </p:txBody>
      </p:sp>
      <p:sp>
        <p:nvSpPr>
          <p:cNvPr id="24" name="Text 22"/>
          <p:cNvSpPr txBox="1"/>
          <p:nvPr/>
        </p:nvSpPr>
        <p:spPr>
          <a:xfrm>
            <a:off x="9639605" y="3010205"/>
            <a:ext cx="3525012" cy="152705"/>
          </a:xfrm>
          <a:prstGeom prst="rect">
            <a:avLst/>
          </a:prstGeom>
          <a:noFill/>
          <a:ln/>
        </p:spPr>
        <p:txBody>
          <a:bodyPr wrap="none" lIns="0" tIns="0" rIns="0" bIns="0" rtlCol="0" anchor="ctr"/>
          <a:lstStyle/>
          <a:p>
            <a:pPr marL="0" indent="0" algn="l">
              <a:buNone/>
            </a:pPr>
            <a:r>
              <a:rPr lang="en-US" sz="900" b="1" kern="0" spc="126" dirty="0">
                <a:solidFill>
                  <a:srgbClr val="C4B5FD"/>
                </a:solidFill>
                <a:latin typeface="JetBrains Mono" pitchFamily="34" charset="0"/>
                <a:ea typeface="JetBrains Mono" pitchFamily="34" charset="-122"/>
                <a:cs typeface="JetBrains Mono" pitchFamily="34" charset="-120"/>
              </a:rPr>
              <a:t>Location</a:t>
            </a:r>
            <a:endParaRPr lang="en-US" sz="900" dirty="0"/>
          </a:p>
        </p:txBody>
      </p:sp>
      <p:sp>
        <p:nvSpPr>
          <p:cNvPr id="25" name="Text 23"/>
          <p:cNvSpPr txBox="1"/>
          <p:nvPr/>
        </p:nvSpPr>
        <p:spPr>
          <a:xfrm>
            <a:off x="9639605" y="3238805"/>
            <a:ext cx="3525012" cy="914400"/>
          </a:xfrm>
          <a:prstGeom prst="rect">
            <a:avLst/>
          </a:prstGeom>
          <a:noFill/>
          <a:ln/>
        </p:spPr>
        <p:txBody>
          <a:bodyPr wrap="none" lIns="0" tIns="0" rIns="0" bIns="0" rtlCol="0" anchor="ctr"/>
          <a:lstStyle/>
          <a:p>
            <a:pPr marL="0" indent="0" algn="l">
              <a:buNone/>
            </a:pPr>
            <a:r>
              <a:rPr lang="en-US" sz="7200" b="1" kern="0" spc="-216" dirty="0">
                <a:solidFill>
                  <a:srgbClr val="FFFFFF"/>
                </a:solidFill>
                <a:latin typeface="Manrope" pitchFamily="34" charset="0"/>
                <a:ea typeface="Manrope" pitchFamily="34" charset="-122"/>
                <a:cs typeface="Manrope" pitchFamily="34" charset="-120"/>
              </a:rPr>
              <a:t>5</a:t>
            </a:r>
            <a:endParaRPr lang="en-US" sz="7200" dirty="0"/>
          </a:p>
        </p:txBody>
      </p:sp>
      <p:sp>
        <p:nvSpPr>
          <p:cNvPr id="26" name="Text 24"/>
          <p:cNvSpPr txBox="1"/>
          <p:nvPr/>
        </p:nvSpPr>
        <p:spPr>
          <a:xfrm>
            <a:off x="9639605" y="4190695"/>
            <a:ext cx="3525012" cy="286207"/>
          </a:xfrm>
          <a:prstGeom prst="rect">
            <a:avLst/>
          </a:prstGeom>
          <a:noFill/>
          <a:ln/>
        </p:spPr>
        <p:txBody>
          <a:bodyPr wrap="none" lIns="0" tIns="0" rIns="0" bIns="0" rtlCol="0" anchor="ctr"/>
          <a:lstStyle/>
          <a:p>
            <a:pPr marL="0" indent="0" algn="l">
              <a:buNone/>
            </a:pPr>
            <a:r>
              <a:rPr lang="en-US" sz="1600" b="1" dirty="0">
                <a:solidFill>
                  <a:srgbClr val="C4B5FD"/>
                </a:solidFill>
                <a:latin typeface="Manrope" pitchFamily="34" charset="0"/>
                <a:ea typeface="Manrope" pitchFamily="34" charset="-122"/>
                <a:cs typeface="Manrope" pitchFamily="34" charset="-120"/>
              </a:rPr>
              <a:t>Véhicules location</a:t>
            </a:r>
            <a:endParaRPr lang="en-US" sz="1600" dirty="0"/>
          </a:p>
        </p:txBody>
      </p:sp>
      <p:sp>
        <p:nvSpPr>
          <p:cNvPr id="27" name="Text 25"/>
          <p:cNvSpPr txBox="1"/>
          <p:nvPr/>
        </p:nvSpPr>
        <p:spPr>
          <a:xfrm>
            <a:off x="9639605" y="4610405"/>
            <a:ext cx="3706063" cy="191110"/>
          </a:xfrm>
          <a:prstGeom prst="rect">
            <a:avLst/>
          </a:prstGeom>
          <a:noFill/>
          <a:ln/>
        </p:spPr>
        <p:txBody>
          <a:bodyPr wrap="none" lIns="0" tIns="0" rIns="0" bIns="0" rtlCol="0" anchor="ctr"/>
          <a:lstStyle/>
          <a:p>
            <a:pPr marL="0" indent="0" algn="l">
              <a:buNone/>
            </a:pPr>
            <a:r>
              <a:rPr lang="en-US" sz="900" dirty="0">
                <a:solidFill>
                  <a:srgbClr val="DDD6FE"/>
                </a:solidFill>
                <a:latin typeface="Manrope" pitchFamily="34" charset="0"/>
                <a:ea typeface="Manrope" pitchFamily="34" charset="-122"/>
                <a:cs typeface="Manrope" pitchFamily="34" charset="-120"/>
              </a:rPr>
              <a:t>Avec ou sans chauffeur · réservation · validation.</a:t>
            </a:r>
            <a:endParaRPr lang="en-US" sz="900" dirty="0"/>
          </a:p>
        </p:txBody>
      </p:sp>
      <p:sp>
        <p:nvSpPr>
          <p:cNvPr id="28" name="Shape 26"/>
          <p:cNvSpPr/>
          <p:nvPr/>
        </p:nvSpPr>
        <p:spPr>
          <a:xfrm>
            <a:off x="13601700" y="2762402"/>
            <a:ext cx="3810305" cy="2667305"/>
          </a:xfrm>
          <a:prstGeom prst="roundRect">
            <a:avLst>
              <a:gd name="adj" fmla="val 5005"/>
            </a:avLst>
          </a:prstGeom>
          <a:solidFill>
            <a:srgbClr val="A78BFA"/>
          </a:solidFill>
          <a:ln w="12700">
            <a:solidFill>
              <a:srgbClr val="FFFFFF">
                <a:alpha val="0"/>
              </a:srgbClr>
            </a:solidFill>
            <a:prstDash val="solid"/>
          </a:ln>
        </p:spPr>
        <p:txBody>
          <a:bodyPr/>
          <a:lstStyle/>
          <a:p>
            <a:endParaRPr lang="fr-CI"/>
          </a:p>
        </p:txBody>
      </p:sp>
      <p:sp>
        <p:nvSpPr>
          <p:cNvPr id="29" name="Text 27"/>
          <p:cNvSpPr txBox="1"/>
          <p:nvPr/>
        </p:nvSpPr>
        <p:spPr>
          <a:xfrm>
            <a:off x="13868705" y="3010205"/>
            <a:ext cx="3333902" cy="152705"/>
          </a:xfrm>
          <a:prstGeom prst="rect">
            <a:avLst/>
          </a:prstGeom>
          <a:noFill/>
          <a:ln/>
        </p:spPr>
        <p:txBody>
          <a:bodyPr wrap="none" lIns="0" tIns="0" rIns="0" bIns="0" rtlCol="0" anchor="ctr"/>
          <a:lstStyle/>
          <a:p>
            <a:pPr marL="0" indent="0" algn="l">
              <a:buNone/>
            </a:pPr>
            <a:r>
              <a:rPr lang="en-US" sz="900" b="1" kern="0" spc="126" dirty="0">
                <a:solidFill>
                  <a:srgbClr val="1F2937"/>
                </a:solidFill>
                <a:latin typeface="JetBrains Mono" pitchFamily="34" charset="0"/>
                <a:ea typeface="JetBrains Mono" pitchFamily="34" charset="-122"/>
                <a:cs typeface="JetBrains Mono" pitchFamily="34" charset="-120"/>
              </a:rPr>
              <a:t>Fret urbain</a:t>
            </a:r>
            <a:endParaRPr lang="en-US" sz="900" dirty="0"/>
          </a:p>
        </p:txBody>
      </p:sp>
      <p:sp>
        <p:nvSpPr>
          <p:cNvPr id="30" name="Text 28"/>
          <p:cNvSpPr txBox="1"/>
          <p:nvPr/>
        </p:nvSpPr>
        <p:spPr>
          <a:xfrm>
            <a:off x="13868705" y="3238805"/>
            <a:ext cx="3333902" cy="914400"/>
          </a:xfrm>
          <a:prstGeom prst="rect">
            <a:avLst/>
          </a:prstGeom>
          <a:noFill/>
          <a:ln/>
        </p:spPr>
        <p:txBody>
          <a:bodyPr wrap="none" lIns="0" tIns="0" rIns="0" bIns="0" rtlCol="0" anchor="ctr"/>
          <a:lstStyle/>
          <a:p>
            <a:pPr marL="0" indent="0" algn="l">
              <a:buNone/>
            </a:pPr>
            <a:r>
              <a:rPr lang="en-US" sz="7200" b="1" kern="0" spc="-216" dirty="0">
                <a:solidFill>
                  <a:srgbClr val="1F2937"/>
                </a:solidFill>
                <a:latin typeface="Manrope" pitchFamily="34" charset="0"/>
                <a:ea typeface="Manrope" pitchFamily="34" charset="-122"/>
                <a:cs typeface="Manrope" pitchFamily="34" charset="-120"/>
              </a:rPr>
              <a:t>5</a:t>
            </a:r>
            <a:endParaRPr lang="en-US" sz="7200" dirty="0"/>
          </a:p>
        </p:txBody>
      </p:sp>
      <p:sp>
        <p:nvSpPr>
          <p:cNvPr id="31" name="Text 29"/>
          <p:cNvSpPr txBox="1"/>
          <p:nvPr/>
        </p:nvSpPr>
        <p:spPr>
          <a:xfrm>
            <a:off x="13868705" y="4190695"/>
            <a:ext cx="3333902" cy="286207"/>
          </a:xfrm>
          <a:prstGeom prst="rect">
            <a:avLst/>
          </a:prstGeom>
          <a:noFill/>
          <a:ln/>
        </p:spPr>
        <p:txBody>
          <a:bodyPr wrap="none" lIns="0" tIns="0" rIns="0" bIns="0" rtlCol="0" anchor="ctr"/>
          <a:lstStyle/>
          <a:p>
            <a:pPr marL="0" indent="0" algn="l">
              <a:buNone/>
            </a:pPr>
            <a:r>
              <a:rPr lang="en-US" sz="1600" b="1" dirty="0">
                <a:solidFill>
                  <a:srgbClr val="4C1D95"/>
                </a:solidFill>
                <a:latin typeface="Manrope" pitchFamily="34" charset="0"/>
                <a:ea typeface="Manrope" pitchFamily="34" charset="-122"/>
                <a:cs typeface="Manrope" pitchFamily="34" charset="-120"/>
              </a:rPr>
              <a:t>Véhicules fret</a:t>
            </a:r>
            <a:endParaRPr lang="en-US" sz="1600" dirty="0"/>
          </a:p>
        </p:txBody>
      </p:sp>
      <p:sp>
        <p:nvSpPr>
          <p:cNvPr id="32" name="Text 30"/>
          <p:cNvSpPr txBox="1"/>
          <p:nvPr/>
        </p:nvSpPr>
        <p:spPr>
          <a:xfrm>
            <a:off x="13868705" y="4610405"/>
            <a:ext cx="3561588" cy="191110"/>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Marchandises · volume / poids · véhicule adapté.</a:t>
            </a:r>
            <a:endParaRPr lang="en-US" sz="900" dirty="0"/>
          </a:p>
        </p:txBody>
      </p:sp>
      <p:sp>
        <p:nvSpPr>
          <p:cNvPr id="33" name="Text 31"/>
          <p:cNvSpPr txBox="1"/>
          <p:nvPr/>
        </p:nvSpPr>
        <p:spPr>
          <a:xfrm>
            <a:off x="914400" y="5810098"/>
            <a:ext cx="5781751" cy="409651"/>
          </a:xfrm>
          <a:prstGeom prst="rect">
            <a:avLst/>
          </a:prstGeom>
          <a:solidFill>
            <a:srgbClr val="1F2937"/>
          </a:solidFill>
          <a:ln>
            <a:solidFill>
              <a:srgbClr val="FFFFFF">
                <a:alpha val="0"/>
              </a:srgbClr>
            </a:solidFill>
          </a:ln>
        </p:spPr>
        <p:txBody>
          <a:bodyPr wrap="none" lIns="152400" tIns="114300" rIns="152400" bIns="114300" rtlCol="0" anchor="ctr"/>
          <a:lstStyle/>
          <a:p>
            <a:pPr marL="0" indent="0" algn="l">
              <a:buNone/>
            </a:pPr>
            <a:r>
              <a:rPr lang="en-US" sz="1000" b="1" kern="0" spc="42" dirty="0">
                <a:solidFill>
                  <a:srgbClr val="FFFFFF"/>
                </a:solidFill>
                <a:latin typeface="Manrope" pitchFamily="34" charset="0"/>
                <a:ea typeface="Manrope" pitchFamily="34" charset="-122"/>
                <a:cs typeface="Manrope" pitchFamily="34" charset="-120"/>
              </a:rPr>
              <a:t>Type d'engin</a:t>
            </a:r>
            <a:endParaRPr lang="en-US" sz="1000" dirty="0"/>
          </a:p>
        </p:txBody>
      </p:sp>
      <p:sp>
        <p:nvSpPr>
          <p:cNvPr id="34" name="Text 32"/>
          <p:cNvSpPr txBox="1"/>
          <p:nvPr/>
        </p:nvSpPr>
        <p:spPr>
          <a:xfrm>
            <a:off x="6687922" y="5810098"/>
            <a:ext cx="2477110" cy="409651"/>
          </a:xfrm>
          <a:prstGeom prst="rect">
            <a:avLst/>
          </a:prstGeom>
          <a:solidFill>
            <a:srgbClr val="1F2937"/>
          </a:solidFill>
          <a:ln>
            <a:solidFill>
              <a:srgbClr val="FFFFFF">
                <a:alpha val="0"/>
              </a:srgbClr>
            </a:solidFill>
          </a:ln>
        </p:spPr>
        <p:txBody>
          <a:bodyPr wrap="none" lIns="152400" tIns="114300" rIns="152400" bIns="114300" rtlCol="0" anchor="ctr"/>
          <a:lstStyle/>
          <a:p>
            <a:pPr marL="0" indent="0" algn="r">
              <a:buNone/>
            </a:pPr>
            <a:r>
              <a:rPr lang="en-US" sz="1000" b="1" kern="0" spc="42" dirty="0">
                <a:solidFill>
                  <a:srgbClr val="FFFFFF"/>
                </a:solidFill>
                <a:latin typeface="Manrope" pitchFamily="34" charset="0"/>
                <a:ea typeface="Manrope" pitchFamily="34" charset="-122"/>
                <a:cs typeface="Manrope" pitchFamily="34" charset="-120"/>
              </a:rPr>
              <a:t>Nombre</a:t>
            </a:r>
            <a:endParaRPr lang="en-US" sz="1000" dirty="0"/>
          </a:p>
        </p:txBody>
      </p:sp>
      <p:sp>
        <p:nvSpPr>
          <p:cNvPr id="35" name="Text 33"/>
          <p:cNvSpPr txBox="1"/>
          <p:nvPr/>
        </p:nvSpPr>
        <p:spPr>
          <a:xfrm>
            <a:off x="9163202" y="5810098"/>
            <a:ext cx="8258861" cy="409651"/>
          </a:xfrm>
          <a:prstGeom prst="rect">
            <a:avLst/>
          </a:prstGeom>
          <a:solidFill>
            <a:srgbClr val="1F2937"/>
          </a:solidFill>
          <a:ln>
            <a:solidFill>
              <a:srgbClr val="FFFFFF">
                <a:alpha val="0"/>
              </a:srgbClr>
            </a:solidFill>
          </a:ln>
        </p:spPr>
        <p:txBody>
          <a:bodyPr wrap="none" lIns="152400" tIns="114300" rIns="152400" bIns="114300" rtlCol="0" anchor="ctr"/>
          <a:lstStyle/>
          <a:p>
            <a:pPr marL="0" indent="0" algn="l">
              <a:buNone/>
            </a:pPr>
            <a:r>
              <a:rPr lang="en-US" sz="1000" b="1" kern="0" spc="42" dirty="0">
                <a:solidFill>
                  <a:srgbClr val="FFFFFF"/>
                </a:solidFill>
                <a:latin typeface="Manrope" pitchFamily="34" charset="0"/>
                <a:ea typeface="Manrope" pitchFamily="34" charset="-122"/>
                <a:cs typeface="Manrope" pitchFamily="34" charset="-120"/>
              </a:rPr>
              <a:t>Usage en journée test</a:t>
            </a:r>
            <a:endParaRPr lang="en-US" sz="1000" dirty="0"/>
          </a:p>
        </p:txBody>
      </p:sp>
      <p:sp>
        <p:nvSpPr>
          <p:cNvPr id="36" name="Shape 34"/>
          <p:cNvSpPr/>
          <p:nvPr/>
        </p:nvSpPr>
        <p:spPr>
          <a:xfrm>
            <a:off x="914400" y="6734556"/>
            <a:ext cx="5781751" cy="9144"/>
          </a:xfrm>
          <a:prstGeom prst="rect">
            <a:avLst/>
          </a:prstGeom>
          <a:solidFill>
            <a:srgbClr val="E5E7EB"/>
          </a:solidFill>
          <a:ln w="12700">
            <a:solidFill>
              <a:srgbClr val="E5E7EB">
                <a:alpha val="0"/>
              </a:srgbClr>
            </a:solidFill>
            <a:prstDash val="solid"/>
          </a:ln>
        </p:spPr>
        <p:txBody>
          <a:bodyPr/>
          <a:lstStyle/>
          <a:p>
            <a:endParaRPr lang="fr-CI"/>
          </a:p>
        </p:txBody>
      </p:sp>
      <p:sp>
        <p:nvSpPr>
          <p:cNvPr id="37" name="Text 35"/>
          <p:cNvSpPr txBox="1"/>
          <p:nvPr/>
        </p:nvSpPr>
        <p:spPr>
          <a:xfrm>
            <a:off x="914400" y="6219749"/>
            <a:ext cx="5781751" cy="400507"/>
          </a:xfrm>
          <a:prstGeom prst="rect">
            <a:avLst/>
          </a:prstGeom>
          <a:solidFill>
            <a:srgbClr val="FFFFFF">
              <a:alpha val="0"/>
            </a:srgbClr>
          </a:solidFill>
          <a:ln>
            <a:solidFill>
              <a:srgbClr val="FFFFFF">
                <a:alpha val="0"/>
              </a:srgbClr>
            </a:solidFill>
          </a:ln>
        </p:spPr>
        <p:txBody>
          <a:bodyPr wrap="square" lIns="152400" tIns="114300" rIns="152400" bIns="0" rtlCol="0" anchor="ctr"/>
          <a:lstStyle/>
          <a:p>
            <a:pPr marL="0" indent="0" algn="l">
              <a:buNone/>
            </a:pPr>
            <a:r>
              <a:rPr lang="en-US" sz="1100" b="1" dirty="0">
                <a:solidFill>
                  <a:srgbClr val="4B5563"/>
                </a:solidFill>
                <a:latin typeface="Manrope" pitchFamily="34" charset="0"/>
                <a:ea typeface="Manrope" pitchFamily="34" charset="-122"/>
                <a:cs typeface="Manrope" pitchFamily="34" charset="-120"/>
              </a:rPr>
              <a:t>Taxis / VTC</a:t>
            </a:r>
            <a:endParaRPr lang="en-US" sz="1100" dirty="0"/>
          </a:p>
        </p:txBody>
      </p:sp>
      <p:sp>
        <p:nvSpPr>
          <p:cNvPr id="38" name="Shape 36"/>
          <p:cNvSpPr/>
          <p:nvPr/>
        </p:nvSpPr>
        <p:spPr>
          <a:xfrm>
            <a:off x="6687922" y="6734556"/>
            <a:ext cx="2476195" cy="9144"/>
          </a:xfrm>
          <a:prstGeom prst="rect">
            <a:avLst/>
          </a:prstGeom>
          <a:solidFill>
            <a:srgbClr val="E5E7EB"/>
          </a:solidFill>
          <a:ln w="12700">
            <a:solidFill>
              <a:srgbClr val="E5E7EB">
                <a:alpha val="0"/>
              </a:srgbClr>
            </a:solidFill>
            <a:prstDash val="solid"/>
          </a:ln>
        </p:spPr>
        <p:txBody>
          <a:bodyPr/>
          <a:lstStyle/>
          <a:p>
            <a:endParaRPr lang="fr-CI"/>
          </a:p>
        </p:txBody>
      </p:sp>
      <p:sp>
        <p:nvSpPr>
          <p:cNvPr id="39" name="Shape 37"/>
          <p:cNvSpPr/>
          <p:nvPr/>
        </p:nvSpPr>
        <p:spPr>
          <a:xfrm>
            <a:off x="8543239" y="6334049"/>
            <a:ext cx="553212" cy="286207"/>
          </a:xfrm>
          <a:prstGeom prst="roundRect">
            <a:avLst>
              <a:gd name="adj" fmla="val 49840"/>
            </a:avLst>
          </a:prstGeom>
          <a:solidFill>
            <a:srgbClr val="6D28D9"/>
          </a:solidFill>
          <a:ln w="12700">
            <a:solidFill>
              <a:srgbClr val="FFFFFF">
                <a:alpha val="0"/>
              </a:srgbClr>
            </a:solidFill>
            <a:prstDash val="solid"/>
          </a:ln>
        </p:spPr>
        <p:txBody>
          <a:bodyPr/>
          <a:lstStyle/>
          <a:p>
            <a:endParaRPr lang="fr-CI"/>
          </a:p>
        </p:txBody>
      </p:sp>
      <p:sp>
        <p:nvSpPr>
          <p:cNvPr id="40" name="Text 38"/>
          <p:cNvSpPr/>
          <p:nvPr/>
        </p:nvSpPr>
        <p:spPr>
          <a:xfrm>
            <a:off x="8543239" y="6334049"/>
            <a:ext cx="554126"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r">
              <a:buNone/>
            </a:pPr>
            <a:r>
              <a:rPr lang="en-US" sz="900" b="1" kern="0" spc="20" dirty="0">
                <a:solidFill>
                  <a:srgbClr val="FFFFFF"/>
                </a:solidFill>
                <a:latin typeface="Manrope" pitchFamily="34" charset="0"/>
                <a:ea typeface="Manrope" pitchFamily="34" charset="-122"/>
                <a:cs typeface="Manrope" pitchFamily="34" charset="-120"/>
              </a:rPr>
              <a:t>20</a:t>
            </a:r>
            <a:endParaRPr lang="en-US" sz="900" dirty="0"/>
          </a:p>
        </p:txBody>
      </p:sp>
      <p:sp>
        <p:nvSpPr>
          <p:cNvPr id="41" name="Shape 39"/>
          <p:cNvSpPr/>
          <p:nvPr/>
        </p:nvSpPr>
        <p:spPr>
          <a:xfrm>
            <a:off x="9163202" y="6734556"/>
            <a:ext cx="8257946" cy="9144"/>
          </a:xfrm>
          <a:prstGeom prst="rect">
            <a:avLst/>
          </a:prstGeom>
          <a:solidFill>
            <a:srgbClr val="E5E7EB"/>
          </a:solidFill>
          <a:ln w="12700">
            <a:solidFill>
              <a:srgbClr val="E5E7EB">
                <a:alpha val="0"/>
              </a:srgbClr>
            </a:solidFill>
            <a:prstDash val="solid"/>
          </a:ln>
        </p:spPr>
        <p:txBody>
          <a:bodyPr/>
          <a:lstStyle/>
          <a:p>
            <a:endParaRPr lang="fr-CI"/>
          </a:p>
        </p:txBody>
      </p:sp>
      <p:sp>
        <p:nvSpPr>
          <p:cNvPr id="42" name="Text 40"/>
          <p:cNvSpPr txBox="1"/>
          <p:nvPr/>
        </p:nvSpPr>
        <p:spPr>
          <a:xfrm>
            <a:off x="9163202" y="6219749"/>
            <a:ext cx="8258861" cy="400507"/>
          </a:xfrm>
          <a:prstGeom prst="rect">
            <a:avLst/>
          </a:prstGeom>
          <a:solidFill>
            <a:srgbClr val="FFFFFF">
              <a:alpha val="0"/>
            </a:srgbClr>
          </a:solidFill>
          <a:ln>
            <a:solidFill>
              <a:srgbClr val="FFFFFF">
                <a:alpha val="0"/>
              </a:srgbClr>
            </a:solidFill>
          </a:ln>
        </p:spPr>
        <p:txBody>
          <a:bodyPr wrap="square" lIns="152400" tIns="114300" rIns="152400" bIns="0" rtlCol="0" anchor="ctr"/>
          <a:lstStyle/>
          <a:p>
            <a:pPr marL="0" indent="0" algn="l">
              <a:buNone/>
            </a:pPr>
            <a:r>
              <a:rPr lang="en-US" sz="1100" dirty="0">
                <a:solidFill>
                  <a:srgbClr val="4B5563"/>
                </a:solidFill>
                <a:latin typeface="Manrope" pitchFamily="34" charset="0"/>
                <a:ea typeface="Manrope" pitchFamily="34" charset="-122"/>
                <a:cs typeface="Manrope" pitchFamily="34" charset="-120"/>
              </a:rPr>
              <a:t>Courses clients · tester UC-T01 à UC-T05</a:t>
            </a:r>
            <a:endParaRPr lang="en-US" sz="1100" dirty="0"/>
          </a:p>
        </p:txBody>
      </p:sp>
      <p:sp>
        <p:nvSpPr>
          <p:cNvPr id="43" name="Shape 41"/>
          <p:cNvSpPr/>
          <p:nvPr/>
        </p:nvSpPr>
        <p:spPr>
          <a:xfrm>
            <a:off x="914400" y="6739128"/>
            <a:ext cx="5781751" cy="523951"/>
          </a:xfrm>
          <a:prstGeom prst="rect">
            <a:avLst/>
          </a:prstGeom>
          <a:solidFill>
            <a:srgbClr val="FAFAFC"/>
          </a:solidFill>
          <a:ln/>
        </p:spPr>
        <p:txBody>
          <a:bodyPr/>
          <a:lstStyle/>
          <a:p>
            <a:endParaRPr lang="fr-CI"/>
          </a:p>
        </p:txBody>
      </p:sp>
      <p:sp>
        <p:nvSpPr>
          <p:cNvPr id="44" name="Shape 42"/>
          <p:cNvSpPr/>
          <p:nvPr/>
        </p:nvSpPr>
        <p:spPr>
          <a:xfrm>
            <a:off x="914400" y="7253935"/>
            <a:ext cx="5781751" cy="9144"/>
          </a:xfrm>
          <a:prstGeom prst="rect">
            <a:avLst/>
          </a:prstGeom>
          <a:solidFill>
            <a:srgbClr val="E5E7EB"/>
          </a:solidFill>
          <a:ln w="12700">
            <a:solidFill>
              <a:srgbClr val="E5E7EB">
                <a:alpha val="0"/>
              </a:srgbClr>
            </a:solidFill>
            <a:prstDash val="solid"/>
          </a:ln>
        </p:spPr>
        <p:txBody>
          <a:bodyPr/>
          <a:lstStyle/>
          <a:p>
            <a:endParaRPr lang="fr-CI"/>
          </a:p>
        </p:txBody>
      </p:sp>
      <p:sp>
        <p:nvSpPr>
          <p:cNvPr id="45" name="Text 43"/>
          <p:cNvSpPr txBox="1"/>
          <p:nvPr/>
        </p:nvSpPr>
        <p:spPr>
          <a:xfrm>
            <a:off x="914400" y="6739128"/>
            <a:ext cx="5781751" cy="400507"/>
          </a:xfrm>
          <a:prstGeom prst="rect">
            <a:avLst/>
          </a:prstGeom>
          <a:solidFill>
            <a:srgbClr val="FFFFFF">
              <a:alpha val="0"/>
            </a:srgbClr>
          </a:solidFill>
          <a:ln>
            <a:solidFill>
              <a:srgbClr val="FFFFFF">
                <a:alpha val="0"/>
              </a:srgbClr>
            </a:solidFill>
          </a:ln>
        </p:spPr>
        <p:txBody>
          <a:bodyPr wrap="square" lIns="152400" tIns="114300" rIns="152400" bIns="0" rtlCol="0" anchor="ctr"/>
          <a:lstStyle/>
          <a:p>
            <a:pPr marL="0" indent="0" algn="l">
              <a:buNone/>
            </a:pPr>
            <a:r>
              <a:rPr lang="en-US" sz="1100" b="1" dirty="0">
                <a:solidFill>
                  <a:srgbClr val="4B5563"/>
                </a:solidFill>
                <a:latin typeface="Manrope" pitchFamily="34" charset="0"/>
                <a:ea typeface="Manrope" pitchFamily="34" charset="-122"/>
                <a:cs typeface="Manrope" pitchFamily="34" charset="-120"/>
              </a:rPr>
              <a:t>Motos / livreurs</a:t>
            </a:r>
            <a:endParaRPr lang="en-US" sz="1100" dirty="0"/>
          </a:p>
        </p:txBody>
      </p:sp>
      <p:sp>
        <p:nvSpPr>
          <p:cNvPr id="46" name="Shape 44"/>
          <p:cNvSpPr/>
          <p:nvPr/>
        </p:nvSpPr>
        <p:spPr>
          <a:xfrm>
            <a:off x="6687922" y="6739128"/>
            <a:ext cx="2476195" cy="523951"/>
          </a:xfrm>
          <a:prstGeom prst="rect">
            <a:avLst/>
          </a:prstGeom>
          <a:solidFill>
            <a:srgbClr val="FAFAFC"/>
          </a:solidFill>
          <a:ln/>
        </p:spPr>
        <p:txBody>
          <a:bodyPr/>
          <a:lstStyle/>
          <a:p>
            <a:endParaRPr lang="fr-CI"/>
          </a:p>
        </p:txBody>
      </p:sp>
      <p:sp>
        <p:nvSpPr>
          <p:cNvPr id="47" name="Shape 45"/>
          <p:cNvSpPr/>
          <p:nvPr/>
        </p:nvSpPr>
        <p:spPr>
          <a:xfrm>
            <a:off x="6687922" y="7253935"/>
            <a:ext cx="2476195" cy="9144"/>
          </a:xfrm>
          <a:prstGeom prst="rect">
            <a:avLst/>
          </a:prstGeom>
          <a:solidFill>
            <a:srgbClr val="E5E7EB"/>
          </a:solidFill>
          <a:ln w="12700">
            <a:solidFill>
              <a:srgbClr val="E5E7EB">
                <a:alpha val="0"/>
              </a:srgbClr>
            </a:solidFill>
            <a:prstDash val="solid"/>
          </a:ln>
        </p:spPr>
        <p:txBody>
          <a:bodyPr/>
          <a:lstStyle/>
          <a:p>
            <a:endParaRPr lang="fr-CI"/>
          </a:p>
        </p:txBody>
      </p:sp>
      <p:sp>
        <p:nvSpPr>
          <p:cNvPr id="48" name="Shape 46"/>
          <p:cNvSpPr/>
          <p:nvPr/>
        </p:nvSpPr>
        <p:spPr>
          <a:xfrm>
            <a:off x="8552383" y="6858000"/>
            <a:ext cx="553212" cy="286207"/>
          </a:xfrm>
          <a:prstGeom prst="roundRect">
            <a:avLst>
              <a:gd name="adj" fmla="val 49840"/>
            </a:avLst>
          </a:prstGeom>
          <a:solidFill>
            <a:srgbClr val="6D28D9"/>
          </a:solidFill>
          <a:ln w="12700">
            <a:solidFill>
              <a:srgbClr val="FFFFFF">
                <a:alpha val="0"/>
              </a:srgbClr>
            </a:solidFill>
            <a:prstDash val="solid"/>
          </a:ln>
        </p:spPr>
        <p:txBody>
          <a:bodyPr/>
          <a:lstStyle/>
          <a:p>
            <a:endParaRPr lang="fr-CI"/>
          </a:p>
        </p:txBody>
      </p:sp>
      <p:sp>
        <p:nvSpPr>
          <p:cNvPr id="49" name="Text 47"/>
          <p:cNvSpPr/>
          <p:nvPr/>
        </p:nvSpPr>
        <p:spPr>
          <a:xfrm>
            <a:off x="8552383" y="6858000"/>
            <a:ext cx="554126"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r">
              <a:buNone/>
            </a:pPr>
            <a:r>
              <a:rPr lang="en-US" sz="900" b="1" kern="0" spc="20" dirty="0">
                <a:solidFill>
                  <a:srgbClr val="FFFFFF"/>
                </a:solidFill>
                <a:latin typeface="Manrope" pitchFamily="34" charset="0"/>
                <a:ea typeface="Manrope" pitchFamily="34" charset="-122"/>
                <a:cs typeface="Manrope" pitchFamily="34" charset="-120"/>
              </a:rPr>
              <a:t>10</a:t>
            </a:r>
            <a:endParaRPr lang="en-US" sz="900" dirty="0"/>
          </a:p>
        </p:txBody>
      </p:sp>
      <p:sp>
        <p:nvSpPr>
          <p:cNvPr id="50" name="Shape 48"/>
          <p:cNvSpPr/>
          <p:nvPr/>
        </p:nvSpPr>
        <p:spPr>
          <a:xfrm>
            <a:off x="9163202" y="6739128"/>
            <a:ext cx="8257946" cy="523951"/>
          </a:xfrm>
          <a:prstGeom prst="rect">
            <a:avLst/>
          </a:prstGeom>
          <a:solidFill>
            <a:srgbClr val="FAFAFC"/>
          </a:solidFill>
          <a:ln/>
        </p:spPr>
        <p:txBody>
          <a:bodyPr/>
          <a:lstStyle/>
          <a:p>
            <a:endParaRPr lang="fr-CI"/>
          </a:p>
        </p:txBody>
      </p:sp>
      <p:sp>
        <p:nvSpPr>
          <p:cNvPr id="51" name="Shape 49"/>
          <p:cNvSpPr/>
          <p:nvPr/>
        </p:nvSpPr>
        <p:spPr>
          <a:xfrm>
            <a:off x="9163202" y="7253935"/>
            <a:ext cx="8257946" cy="9144"/>
          </a:xfrm>
          <a:prstGeom prst="rect">
            <a:avLst/>
          </a:prstGeom>
          <a:solidFill>
            <a:srgbClr val="E5E7EB"/>
          </a:solidFill>
          <a:ln w="12700">
            <a:solidFill>
              <a:srgbClr val="E5E7EB">
                <a:alpha val="0"/>
              </a:srgbClr>
            </a:solidFill>
            <a:prstDash val="solid"/>
          </a:ln>
        </p:spPr>
        <p:txBody>
          <a:bodyPr/>
          <a:lstStyle/>
          <a:p>
            <a:endParaRPr lang="fr-CI"/>
          </a:p>
        </p:txBody>
      </p:sp>
      <p:sp>
        <p:nvSpPr>
          <p:cNvPr id="52" name="Text 50"/>
          <p:cNvSpPr txBox="1"/>
          <p:nvPr/>
        </p:nvSpPr>
        <p:spPr>
          <a:xfrm>
            <a:off x="9163202" y="6739128"/>
            <a:ext cx="8258861" cy="400507"/>
          </a:xfrm>
          <a:prstGeom prst="rect">
            <a:avLst/>
          </a:prstGeom>
          <a:solidFill>
            <a:srgbClr val="FFFFFF">
              <a:alpha val="0"/>
            </a:srgbClr>
          </a:solidFill>
          <a:ln>
            <a:solidFill>
              <a:srgbClr val="FFFFFF">
                <a:alpha val="0"/>
              </a:srgbClr>
            </a:solidFill>
          </a:ln>
        </p:spPr>
        <p:txBody>
          <a:bodyPr wrap="square" lIns="152400" tIns="114300" rIns="152400" bIns="0" rtlCol="0" anchor="ctr"/>
          <a:lstStyle/>
          <a:p>
            <a:pPr marL="0" indent="0" algn="l">
              <a:buNone/>
            </a:pPr>
            <a:r>
              <a:rPr lang="en-US" sz="1100" dirty="0">
                <a:solidFill>
                  <a:srgbClr val="4B5563"/>
                </a:solidFill>
                <a:latin typeface="Manrope" pitchFamily="34" charset="0"/>
                <a:ea typeface="Manrope" pitchFamily="34" charset="-122"/>
                <a:cs typeface="Manrope" pitchFamily="34" charset="-120"/>
              </a:rPr>
              <a:t>Livraisons · tester UC-L01 à UC-L04</a:t>
            </a:r>
            <a:endParaRPr lang="en-US" sz="1100" dirty="0"/>
          </a:p>
        </p:txBody>
      </p:sp>
      <p:sp>
        <p:nvSpPr>
          <p:cNvPr id="53" name="Shape 51"/>
          <p:cNvSpPr/>
          <p:nvPr/>
        </p:nvSpPr>
        <p:spPr>
          <a:xfrm>
            <a:off x="914400" y="7777886"/>
            <a:ext cx="5781751" cy="9144"/>
          </a:xfrm>
          <a:prstGeom prst="rect">
            <a:avLst/>
          </a:prstGeom>
          <a:solidFill>
            <a:srgbClr val="E5E7EB"/>
          </a:solidFill>
          <a:ln w="12700">
            <a:solidFill>
              <a:srgbClr val="E5E7EB">
                <a:alpha val="0"/>
              </a:srgbClr>
            </a:solidFill>
            <a:prstDash val="solid"/>
          </a:ln>
        </p:spPr>
        <p:txBody>
          <a:bodyPr/>
          <a:lstStyle/>
          <a:p>
            <a:endParaRPr lang="fr-CI"/>
          </a:p>
        </p:txBody>
      </p:sp>
      <p:sp>
        <p:nvSpPr>
          <p:cNvPr id="54" name="Text 52"/>
          <p:cNvSpPr txBox="1"/>
          <p:nvPr/>
        </p:nvSpPr>
        <p:spPr>
          <a:xfrm>
            <a:off x="914400" y="7263079"/>
            <a:ext cx="5781751" cy="400507"/>
          </a:xfrm>
          <a:prstGeom prst="rect">
            <a:avLst/>
          </a:prstGeom>
          <a:solidFill>
            <a:srgbClr val="FFFFFF">
              <a:alpha val="0"/>
            </a:srgbClr>
          </a:solidFill>
          <a:ln>
            <a:solidFill>
              <a:srgbClr val="FFFFFF">
                <a:alpha val="0"/>
              </a:srgbClr>
            </a:solidFill>
          </a:ln>
        </p:spPr>
        <p:txBody>
          <a:bodyPr wrap="square" lIns="152400" tIns="114300" rIns="152400" bIns="0" rtlCol="0" anchor="ctr"/>
          <a:lstStyle/>
          <a:p>
            <a:pPr marL="0" indent="0" algn="l">
              <a:buNone/>
            </a:pPr>
            <a:r>
              <a:rPr lang="en-US" sz="1100" b="1" dirty="0">
                <a:solidFill>
                  <a:srgbClr val="4B5563"/>
                </a:solidFill>
                <a:latin typeface="Manrope" pitchFamily="34" charset="0"/>
                <a:ea typeface="Manrope" pitchFamily="34" charset="-122"/>
                <a:cs typeface="Manrope" pitchFamily="34" charset="-120"/>
              </a:rPr>
              <a:t>Véhicules location</a:t>
            </a:r>
            <a:endParaRPr lang="en-US" sz="1100" dirty="0"/>
          </a:p>
        </p:txBody>
      </p:sp>
      <p:sp>
        <p:nvSpPr>
          <p:cNvPr id="55" name="Shape 53"/>
          <p:cNvSpPr/>
          <p:nvPr/>
        </p:nvSpPr>
        <p:spPr>
          <a:xfrm>
            <a:off x="6687922" y="7777886"/>
            <a:ext cx="2476195" cy="9144"/>
          </a:xfrm>
          <a:prstGeom prst="rect">
            <a:avLst/>
          </a:prstGeom>
          <a:solidFill>
            <a:srgbClr val="E5E7EB"/>
          </a:solidFill>
          <a:ln w="12700">
            <a:solidFill>
              <a:srgbClr val="E5E7EB">
                <a:alpha val="0"/>
              </a:srgbClr>
            </a:solidFill>
            <a:prstDash val="solid"/>
          </a:ln>
        </p:spPr>
        <p:txBody>
          <a:bodyPr/>
          <a:lstStyle/>
          <a:p>
            <a:endParaRPr lang="fr-CI"/>
          </a:p>
        </p:txBody>
      </p:sp>
      <p:sp>
        <p:nvSpPr>
          <p:cNvPr id="56" name="Shape 54"/>
          <p:cNvSpPr/>
          <p:nvPr/>
        </p:nvSpPr>
        <p:spPr>
          <a:xfrm>
            <a:off x="8620963" y="7381951"/>
            <a:ext cx="476402" cy="286207"/>
          </a:xfrm>
          <a:prstGeom prst="roundRect">
            <a:avLst>
              <a:gd name="adj" fmla="val 49840"/>
            </a:avLst>
          </a:prstGeom>
          <a:solidFill>
            <a:srgbClr val="6D28D9"/>
          </a:solidFill>
          <a:ln w="12700">
            <a:solidFill>
              <a:srgbClr val="FFFFFF">
                <a:alpha val="0"/>
              </a:srgbClr>
            </a:solidFill>
            <a:prstDash val="solid"/>
          </a:ln>
        </p:spPr>
        <p:txBody>
          <a:bodyPr/>
          <a:lstStyle/>
          <a:p>
            <a:endParaRPr lang="fr-CI"/>
          </a:p>
        </p:txBody>
      </p:sp>
      <p:sp>
        <p:nvSpPr>
          <p:cNvPr id="57" name="Text 55"/>
          <p:cNvSpPr/>
          <p:nvPr/>
        </p:nvSpPr>
        <p:spPr>
          <a:xfrm>
            <a:off x="8620963" y="7381951"/>
            <a:ext cx="477317"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r">
              <a:buNone/>
            </a:pPr>
            <a:r>
              <a:rPr lang="en-US" sz="900" b="1" kern="0" spc="20" dirty="0">
                <a:solidFill>
                  <a:srgbClr val="FFFFFF"/>
                </a:solidFill>
                <a:latin typeface="Manrope" pitchFamily="34" charset="0"/>
                <a:ea typeface="Manrope" pitchFamily="34" charset="-122"/>
                <a:cs typeface="Manrope" pitchFamily="34" charset="-120"/>
              </a:rPr>
              <a:t>5</a:t>
            </a:r>
            <a:endParaRPr lang="en-US" sz="900" dirty="0"/>
          </a:p>
        </p:txBody>
      </p:sp>
      <p:sp>
        <p:nvSpPr>
          <p:cNvPr id="58" name="Shape 56"/>
          <p:cNvSpPr/>
          <p:nvPr/>
        </p:nvSpPr>
        <p:spPr>
          <a:xfrm>
            <a:off x="9163202" y="7777886"/>
            <a:ext cx="8257946" cy="9144"/>
          </a:xfrm>
          <a:prstGeom prst="rect">
            <a:avLst/>
          </a:prstGeom>
          <a:solidFill>
            <a:srgbClr val="E5E7EB"/>
          </a:solidFill>
          <a:ln w="12700">
            <a:solidFill>
              <a:srgbClr val="E5E7EB">
                <a:alpha val="0"/>
              </a:srgbClr>
            </a:solidFill>
            <a:prstDash val="solid"/>
          </a:ln>
        </p:spPr>
        <p:txBody>
          <a:bodyPr/>
          <a:lstStyle/>
          <a:p>
            <a:endParaRPr lang="fr-CI"/>
          </a:p>
        </p:txBody>
      </p:sp>
      <p:sp>
        <p:nvSpPr>
          <p:cNvPr id="59" name="Text 57"/>
          <p:cNvSpPr txBox="1"/>
          <p:nvPr/>
        </p:nvSpPr>
        <p:spPr>
          <a:xfrm>
            <a:off x="9163202" y="7263079"/>
            <a:ext cx="8258861" cy="400507"/>
          </a:xfrm>
          <a:prstGeom prst="rect">
            <a:avLst/>
          </a:prstGeom>
          <a:solidFill>
            <a:srgbClr val="FFFFFF">
              <a:alpha val="0"/>
            </a:srgbClr>
          </a:solidFill>
          <a:ln>
            <a:solidFill>
              <a:srgbClr val="FFFFFF">
                <a:alpha val="0"/>
              </a:srgbClr>
            </a:solidFill>
          </a:ln>
        </p:spPr>
        <p:txBody>
          <a:bodyPr wrap="square" lIns="152400" tIns="114300" rIns="152400" bIns="0" rtlCol="0" anchor="ctr"/>
          <a:lstStyle/>
          <a:p>
            <a:pPr marL="0" indent="0" algn="l">
              <a:buNone/>
            </a:pPr>
            <a:r>
              <a:rPr lang="en-US" sz="1100" dirty="0">
                <a:solidFill>
                  <a:srgbClr val="4B5563"/>
                </a:solidFill>
                <a:latin typeface="Manrope" pitchFamily="34" charset="0"/>
                <a:ea typeface="Manrope" pitchFamily="34" charset="-122"/>
                <a:cs typeface="Manrope" pitchFamily="34" charset="-120"/>
              </a:rPr>
              <a:t>Réservations &amp; location avec/sans chauffeur · tester UC-LO01, UC-LO02</a:t>
            </a:r>
            <a:endParaRPr lang="en-US" sz="1100" dirty="0"/>
          </a:p>
        </p:txBody>
      </p:sp>
      <p:sp>
        <p:nvSpPr>
          <p:cNvPr id="60" name="Shape 58"/>
          <p:cNvSpPr/>
          <p:nvPr/>
        </p:nvSpPr>
        <p:spPr>
          <a:xfrm>
            <a:off x="914400" y="7787030"/>
            <a:ext cx="5781751" cy="523951"/>
          </a:xfrm>
          <a:prstGeom prst="rect">
            <a:avLst/>
          </a:prstGeom>
          <a:solidFill>
            <a:srgbClr val="FAFAFC"/>
          </a:solidFill>
          <a:ln/>
        </p:spPr>
        <p:txBody>
          <a:bodyPr/>
          <a:lstStyle/>
          <a:p>
            <a:endParaRPr lang="fr-CI"/>
          </a:p>
        </p:txBody>
      </p:sp>
      <p:sp>
        <p:nvSpPr>
          <p:cNvPr id="61" name="Shape 59"/>
          <p:cNvSpPr/>
          <p:nvPr/>
        </p:nvSpPr>
        <p:spPr>
          <a:xfrm>
            <a:off x="914400" y="8301838"/>
            <a:ext cx="5781751"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2" name="Text 60"/>
          <p:cNvSpPr txBox="1"/>
          <p:nvPr/>
        </p:nvSpPr>
        <p:spPr>
          <a:xfrm>
            <a:off x="914400" y="7787030"/>
            <a:ext cx="5781751" cy="400507"/>
          </a:xfrm>
          <a:prstGeom prst="rect">
            <a:avLst/>
          </a:prstGeom>
          <a:solidFill>
            <a:srgbClr val="FFFFFF">
              <a:alpha val="0"/>
            </a:srgbClr>
          </a:solidFill>
          <a:ln>
            <a:solidFill>
              <a:srgbClr val="FFFFFF">
                <a:alpha val="0"/>
              </a:srgbClr>
            </a:solidFill>
          </a:ln>
        </p:spPr>
        <p:txBody>
          <a:bodyPr wrap="square" lIns="152400" tIns="114300" rIns="152400" bIns="0" rtlCol="0" anchor="ctr"/>
          <a:lstStyle/>
          <a:p>
            <a:pPr marL="0" indent="0" algn="l">
              <a:buNone/>
            </a:pPr>
            <a:r>
              <a:rPr lang="en-US" sz="1100" b="1" dirty="0">
                <a:solidFill>
                  <a:srgbClr val="4B5563"/>
                </a:solidFill>
                <a:latin typeface="Manrope" pitchFamily="34" charset="0"/>
                <a:ea typeface="Manrope" pitchFamily="34" charset="-122"/>
                <a:cs typeface="Manrope" pitchFamily="34" charset="-120"/>
              </a:rPr>
              <a:t>Véhicules fret</a:t>
            </a:r>
            <a:endParaRPr lang="en-US" sz="1100" dirty="0"/>
          </a:p>
        </p:txBody>
      </p:sp>
      <p:sp>
        <p:nvSpPr>
          <p:cNvPr id="63" name="Shape 61"/>
          <p:cNvSpPr/>
          <p:nvPr/>
        </p:nvSpPr>
        <p:spPr>
          <a:xfrm>
            <a:off x="6687922" y="7787030"/>
            <a:ext cx="2476195" cy="523951"/>
          </a:xfrm>
          <a:prstGeom prst="rect">
            <a:avLst/>
          </a:prstGeom>
          <a:solidFill>
            <a:srgbClr val="FAFAFC"/>
          </a:solidFill>
          <a:ln/>
        </p:spPr>
        <p:txBody>
          <a:bodyPr/>
          <a:lstStyle/>
          <a:p>
            <a:endParaRPr lang="fr-CI"/>
          </a:p>
        </p:txBody>
      </p:sp>
      <p:sp>
        <p:nvSpPr>
          <p:cNvPr id="64" name="Shape 62"/>
          <p:cNvSpPr/>
          <p:nvPr/>
        </p:nvSpPr>
        <p:spPr>
          <a:xfrm>
            <a:off x="6687922" y="8301838"/>
            <a:ext cx="2476195"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5" name="Shape 63"/>
          <p:cNvSpPr/>
          <p:nvPr/>
        </p:nvSpPr>
        <p:spPr>
          <a:xfrm>
            <a:off x="8620963" y="7905902"/>
            <a:ext cx="476402" cy="286207"/>
          </a:xfrm>
          <a:prstGeom prst="roundRect">
            <a:avLst>
              <a:gd name="adj" fmla="val 49840"/>
            </a:avLst>
          </a:prstGeom>
          <a:solidFill>
            <a:srgbClr val="6D28D9"/>
          </a:solidFill>
          <a:ln w="12700">
            <a:solidFill>
              <a:srgbClr val="FFFFFF">
                <a:alpha val="0"/>
              </a:srgbClr>
            </a:solidFill>
            <a:prstDash val="solid"/>
          </a:ln>
        </p:spPr>
        <p:txBody>
          <a:bodyPr/>
          <a:lstStyle/>
          <a:p>
            <a:endParaRPr lang="fr-CI"/>
          </a:p>
        </p:txBody>
      </p:sp>
      <p:sp>
        <p:nvSpPr>
          <p:cNvPr id="66" name="Text 64"/>
          <p:cNvSpPr/>
          <p:nvPr/>
        </p:nvSpPr>
        <p:spPr>
          <a:xfrm>
            <a:off x="8620963" y="7905902"/>
            <a:ext cx="477317"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r">
              <a:buNone/>
            </a:pPr>
            <a:r>
              <a:rPr lang="en-US" sz="900" b="1" kern="0" spc="20" dirty="0">
                <a:solidFill>
                  <a:srgbClr val="FFFFFF"/>
                </a:solidFill>
                <a:latin typeface="Manrope" pitchFamily="34" charset="0"/>
                <a:ea typeface="Manrope" pitchFamily="34" charset="-122"/>
                <a:cs typeface="Manrope" pitchFamily="34" charset="-120"/>
              </a:rPr>
              <a:t>5</a:t>
            </a:r>
            <a:endParaRPr lang="en-US" sz="900" dirty="0"/>
          </a:p>
        </p:txBody>
      </p:sp>
      <p:sp>
        <p:nvSpPr>
          <p:cNvPr id="67" name="Shape 65"/>
          <p:cNvSpPr/>
          <p:nvPr/>
        </p:nvSpPr>
        <p:spPr>
          <a:xfrm>
            <a:off x="9163202" y="7787030"/>
            <a:ext cx="8257946" cy="523951"/>
          </a:xfrm>
          <a:prstGeom prst="rect">
            <a:avLst/>
          </a:prstGeom>
          <a:solidFill>
            <a:srgbClr val="FAFAFC"/>
          </a:solidFill>
          <a:ln/>
        </p:spPr>
        <p:txBody>
          <a:bodyPr/>
          <a:lstStyle/>
          <a:p>
            <a:endParaRPr lang="fr-CI"/>
          </a:p>
        </p:txBody>
      </p:sp>
      <p:sp>
        <p:nvSpPr>
          <p:cNvPr id="68" name="Shape 66"/>
          <p:cNvSpPr/>
          <p:nvPr/>
        </p:nvSpPr>
        <p:spPr>
          <a:xfrm>
            <a:off x="9163202" y="8301838"/>
            <a:ext cx="8257946"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9" name="Text 67"/>
          <p:cNvSpPr txBox="1"/>
          <p:nvPr/>
        </p:nvSpPr>
        <p:spPr>
          <a:xfrm>
            <a:off x="9163202" y="7787030"/>
            <a:ext cx="8258861" cy="400507"/>
          </a:xfrm>
          <a:prstGeom prst="rect">
            <a:avLst/>
          </a:prstGeom>
          <a:solidFill>
            <a:srgbClr val="FFFFFF">
              <a:alpha val="0"/>
            </a:srgbClr>
          </a:solidFill>
          <a:ln>
            <a:solidFill>
              <a:srgbClr val="FFFFFF">
                <a:alpha val="0"/>
              </a:srgbClr>
            </a:solidFill>
          </a:ln>
        </p:spPr>
        <p:txBody>
          <a:bodyPr wrap="square" lIns="152400" tIns="114300" rIns="152400" bIns="0" rtlCol="0" anchor="ctr"/>
          <a:lstStyle/>
          <a:p>
            <a:pPr marL="0" indent="0" algn="l">
              <a:buNone/>
            </a:pPr>
            <a:r>
              <a:rPr lang="en-US" sz="1100" dirty="0">
                <a:solidFill>
                  <a:srgbClr val="4B5563"/>
                </a:solidFill>
                <a:latin typeface="Manrope" pitchFamily="34" charset="0"/>
                <a:ea typeface="Manrope" pitchFamily="34" charset="-122"/>
                <a:cs typeface="Manrope" pitchFamily="34" charset="-120"/>
              </a:rPr>
              <a:t>Transport de marchandises · tester UC-F01, UC-F02</a:t>
            </a:r>
            <a:endParaRPr lang="en-US" sz="1100" dirty="0"/>
          </a:p>
        </p:txBody>
      </p:sp>
      <p:sp>
        <p:nvSpPr>
          <p:cNvPr id="70" name="Shape 68"/>
          <p:cNvSpPr/>
          <p:nvPr/>
        </p:nvSpPr>
        <p:spPr>
          <a:xfrm>
            <a:off x="914400" y="8310982"/>
            <a:ext cx="16497605" cy="523951"/>
          </a:xfrm>
          <a:prstGeom prst="roundRect">
            <a:avLst>
              <a:gd name="adj" fmla="val 25480"/>
            </a:avLst>
          </a:prstGeom>
          <a:solidFill>
            <a:srgbClr val="1F2937"/>
          </a:solidFill>
          <a:ln w="12700">
            <a:solidFill>
              <a:srgbClr val="FFFFFF">
                <a:alpha val="0"/>
              </a:srgbClr>
            </a:solidFill>
            <a:prstDash val="solid"/>
          </a:ln>
        </p:spPr>
        <p:txBody>
          <a:bodyPr/>
          <a:lstStyle/>
          <a:p>
            <a:endParaRPr lang="fr-CI"/>
          </a:p>
        </p:txBody>
      </p:sp>
      <p:sp>
        <p:nvSpPr>
          <p:cNvPr id="71" name="Shape 69"/>
          <p:cNvSpPr/>
          <p:nvPr/>
        </p:nvSpPr>
        <p:spPr>
          <a:xfrm>
            <a:off x="914400" y="8825789"/>
            <a:ext cx="5781751" cy="9144"/>
          </a:xfrm>
          <a:prstGeom prst="rect">
            <a:avLst/>
          </a:prstGeom>
          <a:solidFill>
            <a:srgbClr val="E5E7EB"/>
          </a:solidFill>
          <a:ln w="12700">
            <a:solidFill>
              <a:srgbClr val="E5E7EB">
                <a:alpha val="0"/>
              </a:srgbClr>
            </a:solidFill>
            <a:prstDash val="solid"/>
          </a:ln>
        </p:spPr>
        <p:txBody>
          <a:bodyPr/>
          <a:lstStyle/>
          <a:p>
            <a:endParaRPr lang="fr-CI"/>
          </a:p>
        </p:txBody>
      </p:sp>
      <p:sp>
        <p:nvSpPr>
          <p:cNvPr id="72" name="Text 70"/>
          <p:cNvSpPr txBox="1"/>
          <p:nvPr/>
        </p:nvSpPr>
        <p:spPr>
          <a:xfrm>
            <a:off x="914400" y="8310982"/>
            <a:ext cx="5781751" cy="400507"/>
          </a:xfrm>
          <a:prstGeom prst="rect">
            <a:avLst/>
          </a:prstGeom>
          <a:solidFill>
            <a:srgbClr val="FFFFFF">
              <a:alpha val="0"/>
            </a:srgbClr>
          </a:solidFill>
          <a:ln>
            <a:solidFill>
              <a:srgbClr val="FFFFFF">
                <a:alpha val="0"/>
              </a:srgbClr>
            </a:solidFill>
          </a:ln>
        </p:spPr>
        <p:txBody>
          <a:bodyPr wrap="square" lIns="152400" tIns="114300" rIns="152400" bIns="0" rtlCol="0" anchor="ctr"/>
          <a:lstStyle/>
          <a:p>
            <a:pPr marL="0" indent="0" algn="l">
              <a:buNone/>
            </a:pPr>
            <a:r>
              <a:rPr lang="en-US" sz="1100" b="1" dirty="0">
                <a:solidFill>
                  <a:srgbClr val="FFFFFF"/>
                </a:solidFill>
                <a:latin typeface="Manrope" pitchFamily="34" charset="0"/>
                <a:ea typeface="Manrope" pitchFamily="34" charset="-122"/>
                <a:cs typeface="Manrope" pitchFamily="34" charset="-120"/>
              </a:rPr>
              <a:t>TOTAL</a:t>
            </a:r>
            <a:endParaRPr lang="en-US" sz="1100" dirty="0"/>
          </a:p>
        </p:txBody>
      </p:sp>
      <p:sp>
        <p:nvSpPr>
          <p:cNvPr id="73" name="Shape 71"/>
          <p:cNvSpPr/>
          <p:nvPr/>
        </p:nvSpPr>
        <p:spPr>
          <a:xfrm>
            <a:off x="6687922" y="8825789"/>
            <a:ext cx="2476195" cy="9144"/>
          </a:xfrm>
          <a:prstGeom prst="rect">
            <a:avLst/>
          </a:prstGeom>
          <a:solidFill>
            <a:srgbClr val="E5E7EB"/>
          </a:solidFill>
          <a:ln w="12700">
            <a:solidFill>
              <a:srgbClr val="E5E7EB">
                <a:alpha val="0"/>
              </a:srgbClr>
            </a:solidFill>
            <a:prstDash val="solid"/>
          </a:ln>
        </p:spPr>
        <p:txBody>
          <a:bodyPr/>
          <a:lstStyle/>
          <a:p>
            <a:endParaRPr lang="fr-CI"/>
          </a:p>
        </p:txBody>
      </p:sp>
      <p:sp>
        <p:nvSpPr>
          <p:cNvPr id="74" name="Shape 72"/>
          <p:cNvSpPr/>
          <p:nvPr/>
        </p:nvSpPr>
        <p:spPr>
          <a:xfrm>
            <a:off x="8014716" y="8429854"/>
            <a:ext cx="1090879" cy="286207"/>
          </a:xfrm>
          <a:prstGeom prst="roundRect">
            <a:avLst>
              <a:gd name="adj" fmla="val 49840"/>
            </a:avLst>
          </a:prstGeom>
          <a:solidFill>
            <a:srgbClr val="A78BFA"/>
          </a:solidFill>
          <a:ln w="12700">
            <a:solidFill>
              <a:srgbClr val="FFFFFF">
                <a:alpha val="0"/>
              </a:srgbClr>
            </a:solidFill>
            <a:prstDash val="solid"/>
          </a:ln>
        </p:spPr>
        <p:txBody>
          <a:bodyPr/>
          <a:lstStyle/>
          <a:p>
            <a:endParaRPr lang="fr-CI"/>
          </a:p>
        </p:txBody>
      </p:sp>
      <p:sp>
        <p:nvSpPr>
          <p:cNvPr id="75" name="Text 73"/>
          <p:cNvSpPr/>
          <p:nvPr/>
        </p:nvSpPr>
        <p:spPr>
          <a:xfrm>
            <a:off x="8014716" y="8429854"/>
            <a:ext cx="1091794"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r">
              <a:buNone/>
            </a:pPr>
            <a:r>
              <a:rPr lang="en-US" sz="900" b="1" kern="0" spc="20" dirty="0">
                <a:solidFill>
                  <a:srgbClr val="1F2937"/>
                </a:solidFill>
                <a:latin typeface="Manrope" pitchFamily="34" charset="0"/>
                <a:ea typeface="Manrope" pitchFamily="34" charset="-122"/>
                <a:cs typeface="Manrope" pitchFamily="34" charset="-120"/>
              </a:rPr>
              <a:t>40 engins</a:t>
            </a:r>
            <a:endParaRPr lang="en-US" sz="900" dirty="0"/>
          </a:p>
        </p:txBody>
      </p:sp>
      <p:sp>
        <p:nvSpPr>
          <p:cNvPr id="76" name="Shape 74"/>
          <p:cNvSpPr/>
          <p:nvPr/>
        </p:nvSpPr>
        <p:spPr>
          <a:xfrm>
            <a:off x="9163202" y="8825789"/>
            <a:ext cx="8257946" cy="9144"/>
          </a:xfrm>
          <a:prstGeom prst="rect">
            <a:avLst/>
          </a:prstGeom>
          <a:solidFill>
            <a:srgbClr val="E5E7EB"/>
          </a:solidFill>
          <a:ln w="12700">
            <a:solidFill>
              <a:srgbClr val="E5E7EB">
                <a:alpha val="0"/>
              </a:srgbClr>
            </a:solidFill>
            <a:prstDash val="solid"/>
          </a:ln>
        </p:spPr>
        <p:txBody>
          <a:bodyPr/>
          <a:lstStyle/>
          <a:p>
            <a:endParaRPr lang="fr-CI"/>
          </a:p>
        </p:txBody>
      </p:sp>
      <p:sp>
        <p:nvSpPr>
          <p:cNvPr id="77" name="Text 75"/>
          <p:cNvSpPr txBox="1"/>
          <p:nvPr/>
        </p:nvSpPr>
        <p:spPr>
          <a:xfrm>
            <a:off x="9163202" y="8310982"/>
            <a:ext cx="8258861" cy="400507"/>
          </a:xfrm>
          <a:prstGeom prst="rect">
            <a:avLst/>
          </a:prstGeom>
          <a:solidFill>
            <a:srgbClr val="FFFFFF">
              <a:alpha val="0"/>
            </a:srgbClr>
          </a:solidFill>
          <a:ln>
            <a:solidFill>
              <a:srgbClr val="FFFFFF">
                <a:alpha val="0"/>
              </a:srgbClr>
            </a:solidFill>
          </a:ln>
        </p:spPr>
        <p:txBody>
          <a:bodyPr wrap="square" lIns="152400" tIns="114300" rIns="152400" bIns="0" rtlCol="0" anchor="ctr"/>
          <a:lstStyle/>
          <a:p>
            <a:pPr marL="0" indent="0" algn="l">
              <a:buNone/>
            </a:pPr>
            <a:r>
              <a:rPr lang="en-US" sz="1100" dirty="0">
                <a:solidFill>
                  <a:srgbClr val="FFFFFF"/>
                </a:solidFill>
                <a:latin typeface="Manrope" pitchFamily="34" charset="0"/>
                <a:ea typeface="Manrope" pitchFamily="34" charset="-122"/>
                <a:cs typeface="Manrope" pitchFamily="34" charset="-120"/>
              </a:rPr>
              <a:t>Couverture multiservices intégrale — tous les services en simultané</a:t>
            </a:r>
            <a:endParaRPr lang="en-US" sz="1100" dirty="0"/>
          </a:p>
        </p:txBody>
      </p:sp>
      <p:sp>
        <p:nvSpPr>
          <p:cNvPr id="78" name="Shape 76"/>
          <p:cNvSpPr/>
          <p:nvPr/>
        </p:nvSpPr>
        <p:spPr>
          <a:xfrm>
            <a:off x="0" y="9791395"/>
            <a:ext cx="18288000" cy="495605"/>
          </a:xfrm>
          <a:prstGeom prst="rect">
            <a:avLst/>
          </a:prstGeom>
          <a:solidFill>
            <a:srgbClr val="FFFFFF"/>
          </a:solidFill>
          <a:ln/>
        </p:spPr>
        <p:txBody>
          <a:bodyPr/>
          <a:lstStyle/>
          <a:p>
            <a:endParaRPr lang="fr-CI"/>
          </a:p>
        </p:txBody>
      </p:sp>
      <p:sp>
        <p:nvSpPr>
          <p:cNvPr id="79" name="Shape 77"/>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80" name="Text 78"/>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81" name="Text 79"/>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46 / 59</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5492679" y="256946"/>
            <a:ext cx="2607869"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Partie VII — §19.2 Participants</a:t>
            </a:r>
            <a:endParaRPr lang="en-US" sz="900" dirty="0"/>
          </a:p>
        </p:txBody>
      </p:sp>
      <p:sp>
        <p:nvSpPr>
          <p:cNvPr id="10" name="Text 8"/>
          <p:cNvSpPr txBox="1"/>
          <p:nvPr/>
        </p:nvSpPr>
        <p:spPr>
          <a:xfrm>
            <a:off x="914400" y="1205179"/>
            <a:ext cx="3397910"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19.2 · Participants à mobiliser</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8479110"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~90 participants — 5 catégories d'acteurs terrain et équipes pilotes.</a:t>
            </a:r>
            <a:endParaRPr lang="en-US" sz="3900" dirty="0"/>
          </a:p>
        </p:txBody>
      </p:sp>
      <p:sp>
        <p:nvSpPr>
          <p:cNvPr id="13" name="Shape 11"/>
          <p:cNvSpPr/>
          <p:nvPr/>
        </p:nvSpPr>
        <p:spPr>
          <a:xfrm>
            <a:off x="914400" y="2857500"/>
            <a:ext cx="3200400" cy="2667305"/>
          </a:xfrm>
          <a:prstGeom prst="roundRect">
            <a:avLst>
              <a:gd name="adj" fmla="val 5005"/>
            </a:avLst>
          </a:prstGeom>
          <a:solidFill>
            <a:srgbClr val="6D28D9"/>
          </a:solidFill>
          <a:ln w="12700">
            <a:solidFill>
              <a:srgbClr val="FFFFFF">
                <a:alpha val="0"/>
              </a:srgbClr>
            </a:solidFill>
            <a:prstDash val="solid"/>
          </a:ln>
        </p:spPr>
        <p:txBody>
          <a:bodyPr/>
          <a:lstStyle/>
          <a:p>
            <a:endParaRPr lang="fr-CI"/>
          </a:p>
        </p:txBody>
      </p:sp>
      <p:sp>
        <p:nvSpPr>
          <p:cNvPr id="14" name="Text 12"/>
          <p:cNvSpPr txBox="1"/>
          <p:nvPr/>
        </p:nvSpPr>
        <p:spPr>
          <a:xfrm>
            <a:off x="1143000" y="3086100"/>
            <a:ext cx="2743200" cy="133502"/>
          </a:xfrm>
          <a:prstGeom prst="rect">
            <a:avLst/>
          </a:prstGeom>
          <a:noFill/>
          <a:ln/>
        </p:spPr>
        <p:txBody>
          <a:bodyPr wrap="none" lIns="0" tIns="0" rIns="0" bIns="0" rtlCol="0" anchor="ctr"/>
          <a:lstStyle/>
          <a:p>
            <a:pPr marL="0" indent="0" algn="l">
              <a:buNone/>
            </a:pPr>
            <a:r>
              <a:rPr lang="en-US" sz="800" b="1" kern="0" spc="99" dirty="0">
                <a:solidFill>
                  <a:srgbClr val="C4B5FD"/>
                </a:solidFill>
                <a:latin typeface="JetBrains Mono" pitchFamily="34" charset="0"/>
                <a:ea typeface="JetBrains Mono" pitchFamily="34" charset="-122"/>
                <a:cs typeface="JetBrains Mono" pitchFamily="34" charset="-120"/>
              </a:rPr>
              <a:t>CATÉGORIE 01</a:t>
            </a:r>
            <a:endParaRPr lang="en-US" sz="800" dirty="0"/>
          </a:p>
        </p:txBody>
      </p:sp>
      <p:sp>
        <p:nvSpPr>
          <p:cNvPr id="15" name="Text 13"/>
          <p:cNvSpPr txBox="1"/>
          <p:nvPr/>
        </p:nvSpPr>
        <p:spPr>
          <a:xfrm>
            <a:off x="1143000" y="3295498"/>
            <a:ext cx="2743200" cy="457200"/>
          </a:xfrm>
          <a:prstGeom prst="rect">
            <a:avLst/>
          </a:prstGeom>
          <a:noFill/>
          <a:ln/>
        </p:spPr>
        <p:txBody>
          <a:bodyPr wrap="none" lIns="0" tIns="0" rIns="0" bIns="0" rtlCol="0" anchor="ctr"/>
          <a:lstStyle/>
          <a:p>
            <a:pPr marL="0" indent="0" algn="l">
              <a:buNone/>
            </a:pPr>
            <a:r>
              <a:rPr lang="en-US" sz="3600" b="1" dirty="0">
                <a:solidFill>
                  <a:srgbClr val="FFFFFF"/>
                </a:solidFill>
                <a:latin typeface="Manrope" pitchFamily="34" charset="0"/>
                <a:ea typeface="Manrope" pitchFamily="34" charset="-122"/>
                <a:cs typeface="Manrope" pitchFamily="34" charset="-120"/>
              </a:rPr>
              <a:t>40</a:t>
            </a:r>
            <a:endParaRPr lang="en-US" sz="3600" dirty="0"/>
          </a:p>
        </p:txBody>
      </p:sp>
      <p:sp>
        <p:nvSpPr>
          <p:cNvPr id="16" name="Text 14"/>
          <p:cNvSpPr txBox="1"/>
          <p:nvPr/>
        </p:nvSpPr>
        <p:spPr>
          <a:xfrm>
            <a:off x="1143000" y="3791102"/>
            <a:ext cx="2743200" cy="228600"/>
          </a:xfrm>
          <a:prstGeom prst="rect">
            <a:avLst/>
          </a:prstGeom>
          <a:noFill/>
          <a:ln/>
        </p:spPr>
        <p:txBody>
          <a:bodyPr wrap="none" lIns="0" tIns="0" rIns="0" bIns="0" rtlCol="0" anchor="ctr"/>
          <a:lstStyle/>
          <a:p>
            <a:pPr marL="0" indent="0" algn="l">
              <a:buNone/>
            </a:pPr>
            <a:r>
              <a:rPr lang="en-US" sz="1300" b="1" dirty="0">
                <a:solidFill>
                  <a:srgbClr val="FFFFFF"/>
                </a:solidFill>
                <a:latin typeface="Manrope" pitchFamily="34" charset="0"/>
                <a:ea typeface="Manrope" pitchFamily="34" charset="-122"/>
                <a:cs typeface="Manrope" pitchFamily="34" charset="-120"/>
              </a:rPr>
              <a:t>Chauffeurs / livreurs</a:t>
            </a:r>
            <a:endParaRPr lang="en-US" sz="1300" dirty="0"/>
          </a:p>
        </p:txBody>
      </p:sp>
      <p:sp>
        <p:nvSpPr>
          <p:cNvPr id="17" name="Text 15"/>
          <p:cNvSpPr txBox="1"/>
          <p:nvPr/>
        </p:nvSpPr>
        <p:spPr>
          <a:xfrm>
            <a:off x="1143000" y="4114800"/>
            <a:ext cx="2743200" cy="372161"/>
          </a:xfrm>
          <a:prstGeom prst="rect">
            <a:avLst/>
          </a:prstGeom>
          <a:noFill/>
          <a:ln/>
        </p:spPr>
        <p:txBody>
          <a:bodyPr wrap="square" lIns="0" tIns="0" rIns="0" bIns="0" rtlCol="0" anchor="ctr"/>
          <a:lstStyle/>
          <a:p>
            <a:pPr marL="0" indent="0" algn="l">
              <a:buNone/>
            </a:pPr>
            <a:r>
              <a:rPr lang="en-US" sz="900" dirty="0">
                <a:solidFill>
                  <a:srgbClr val="DDD6FE"/>
                </a:solidFill>
                <a:latin typeface="Manrope" pitchFamily="34" charset="0"/>
                <a:ea typeface="Manrope" pitchFamily="34" charset="-122"/>
                <a:cs typeface="Manrope" pitchFamily="34" charset="-120"/>
              </a:rPr>
              <a:t>20 taxis + 10 motos + 5 location + 5 fret. Formés samedi 20 juin.</a:t>
            </a:r>
            <a:endParaRPr lang="en-US" sz="900" dirty="0"/>
          </a:p>
        </p:txBody>
      </p:sp>
      <p:sp>
        <p:nvSpPr>
          <p:cNvPr id="18" name="Shape 16"/>
          <p:cNvSpPr/>
          <p:nvPr/>
        </p:nvSpPr>
        <p:spPr>
          <a:xfrm>
            <a:off x="4240073" y="2857500"/>
            <a:ext cx="3200400" cy="2667305"/>
          </a:xfrm>
          <a:prstGeom prst="roundRect">
            <a:avLst>
              <a:gd name="adj" fmla="val 5005"/>
            </a:avLst>
          </a:prstGeom>
          <a:solidFill>
            <a:srgbClr val="FFFFFF"/>
          </a:solidFill>
          <a:ln w="12700">
            <a:solidFill>
              <a:srgbClr val="E5E7EB"/>
            </a:solidFill>
            <a:prstDash val="solid"/>
          </a:ln>
        </p:spPr>
        <p:txBody>
          <a:bodyPr/>
          <a:lstStyle/>
          <a:p>
            <a:endParaRPr lang="fr-CI"/>
          </a:p>
        </p:txBody>
      </p:sp>
      <p:sp>
        <p:nvSpPr>
          <p:cNvPr id="19" name="Text 17"/>
          <p:cNvSpPr txBox="1"/>
          <p:nvPr/>
        </p:nvSpPr>
        <p:spPr>
          <a:xfrm>
            <a:off x="4478731" y="3095244"/>
            <a:ext cx="2724912" cy="133502"/>
          </a:xfrm>
          <a:prstGeom prst="rect">
            <a:avLst/>
          </a:prstGeom>
          <a:noFill/>
          <a:ln/>
        </p:spPr>
        <p:txBody>
          <a:bodyPr wrap="none" lIns="0" tIns="0" rIns="0" bIns="0" rtlCol="0" anchor="ctr"/>
          <a:lstStyle/>
          <a:p>
            <a:pPr marL="0" indent="0" algn="l">
              <a:buNone/>
            </a:pPr>
            <a:r>
              <a:rPr lang="en-US" sz="800" b="1" kern="0" spc="99" dirty="0">
                <a:solidFill>
                  <a:srgbClr val="6D28D9"/>
                </a:solidFill>
                <a:latin typeface="JetBrains Mono" pitchFamily="34" charset="0"/>
                <a:ea typeface="JetBrains Mono" pitchFamily="34" charset="-122"/>
                <a:cs typeface="JetBrains Mono" pitchFamily="34" charset="-120"/>
              </a:rPr>
              <a:t>CATÉGORIE 02</a:t>
            </a:r>
            <a:endParaRPr lang="en-US" sz="800" dirty="0"/>
          </a:p>
        </p:txBody>
      </p:sp>
      <p:sp>
        <p:nvSpPr>
          <p:cNvPr id="20" name="Text 18"/>
          <p:cNvSpPr txBox="1"/>
          <p:nvPr/>
        </p:nvSpPr>
        <p:spPr>
          <a:xfrm>
            <a:off x="4478731" y="3305556"/>
            <a:ext cx="2724912" cy="457200"/>
          </a:xfrm>
          <a:prstGeom prst="rect">
            <a:avLst/>
          </a:prstGeom>
          <a:noFill/>
          <a:ln/>
        </p:spPr>
        <p:txBody>
          <a:bodyPr wrap="none" lIns="0" tIns="0" rIns="0" bIns="0" rtlCol="0" anchor="ctr"/>
          <a:lstStyle/>
          <a:p>
            <a:pPr marL="0" indent="0" algn="l">
              <a:buNone/>
            </a:pPr>
            <a:r>
              <a:rPr lang="en-US" sz="3600" b="1" dirty="0">
                <a:solidFill>
                  <a:srgbClr val="1F2937"/>
                </a:solidFill>
                <a:latin typeface="Manrope" pitchFamily="34" charset="0"/>
                <a:ea typeface="Manrope" pitchFamily="34" charset="-122"/>
                <a:cs typeface="Manrope" pitchFamily="34" charset="-120"/>
              </a:rPr>
              <a:t>30-40</a:t>
            </a:r>
            <a:endParaRPr lang="en-US" sz="3600" dirty="0"/>
          </a:p>
        </p:txBody>
      </p:sp>
      <p:sp>
        <p:nvSpPr>
          <p:cNvPr id="21" name="Text 19"/>
          <p:cNvSpPr txBox="1"/>
          <p:nvPr/>
        </p:nvSpPr>
        <p:spPr>
          <a:xfrm>
            <a:off x="4478731" y="3800246"/>
            <a:ext cx="2724912"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Clients testeurs</a:t>
            </a:r>
            <a:endParaRPr lang="en-US" sz="1300" dirty="0"/>
          </a:p>
        </p:txBody>
      </p:sp>
      <p:sp>
        <p:nvSpPr>
          <p:cNvPr id="22" name="Text 20"/>
          <p:cNvSpPr txBox="1"/>
          <p:nvPr/>
        </p:nvSpPr>
        <p:spPr>
          <a:xfrm>
            <a:off x="4478731" y="4123944"/>
            <a:ext cx="2724912" cy="372161"/>
          </a:xfrm>
          <a:prstGeom prst="rect">
            <a:avLst/>
          </a:prstGeom>
          <a:noFill/>
          <a:ln/>
        </p:spPr>
        <p:txBody>
          <a:bodyPr wrap="squar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Mix interne &amp; externe — répartition équilibrée sur les 4 services.</a:t>
            </a:r>
            <a:endParaRPr lang="en-US" sz="900" dirty="0"/>
          </a:p>
        </p:txBody>
      </p:sp>
      <p:sp>
        <p:nvSpPr>
          <p:cNvPr id="23" name="Shape 21"/>
          <p:cNvSpPr/>
          <p:nvPr/>
        </p:nvSpPr>
        <p:spPr>
          <a:xfrm>
            <a:off x="7566660" y="2857500"/>
            <a:ext cx="3200400" cy="2667305"/>
          </a:xfrm>
          <a:prstGeom prst="roundRect">
            <a:avLst>
              <a:gd name="adj" fmla="val 5005"/>
            </a:avLst>
          </a:prstGeom>
          <a:solidFill>
            <a:srgbClr val="FFFFFF"/>
          </a:solidFill>
          <a:ln w="12700">
            <a:solidFill>
              <a:srgbClr val="E5E7EB"/>
            </a:solidFill>
            <a:prstDash val="solid"/>
          </a:ln>
        </p:spPr>
        <p:txBody>
          <a:bodyPr/>
          <a:lstStyle/>
          <a:p>
            <a:endParaRPr lang="fr-CI"/>
          </a:p>
        </p:txBody>
      </p:sp>
      <p:sp>
        <p:nvSpPr>
          <p:cNvPr id="24" name="Text 22"/>
          <p:cNvSpPr txBox="1"/>
          <p:nvPr/>
        </p:nvSpPr>
        <p:spPr>
          <a:xfrm>
            <a:off x="7804404" y="3095244"/>
            <a:ext cx="2724912" cy="133502"/>
          </a:xfrm>
          <a:prstGeom prst="rect">
            <a:avLst/>
          </a:prstGeom>
          <a:noFill/>
          <a:ln/>
        </p:spPr>
        <p:txBody>
          <a:bodyPr wrap="none" lIns="0" tIns="0" rIns="0" bIns="0" rtlCol="0" anchor="ctr"/>
          <a:lstStyle/>
          <a:p>
            <a:pPr marL="0" indent="0" algn="l">
              <a:buNone/>
            </a:pPr>
            <a:r>
              <a:rPr lang="en-US" sz="800" b="1" kern="0" spc="99" dirty="0">
                <a:solidFill>
                  <a:srgbClr val="6D28D9"/>
                </a:solidFill>
                <a:latin typeface="JetBrains Mono" pitchFamily="34" charset="0"/>
                <a:ea typeface="JetBrains Mono" pitchFamily="34" charset="-122"/>
                <a:cs typeface="JetBrains Mono" pitchFamily="34" charset="-120"/>
              </a:rPr>
              <a:t>CATÉGORIE 03</a:t>
            </a:r>
            <a:endParaRPr lang="en-US" sz="800" dirty="0"/>
          </a:p>
        </p:txBody>
      </p:sp>
      <p:sp>
        <p:nvSpPr>
          <p:cNvPr id="25" name="Text 23"/>
          <p:cNvSpPr txBox="1"/>
          <p:nvPr/>
        </p:nvSpPr>
        <p:spPr>
          <a:xfrm>
            <a:off x="7804404" y="3305556"/>
            <a:ext cx="2724912" cy="457200"/>
          </a:xfrm>
          <a:prstGeom prst="rect">
            <a:avLst/>
          </a:prstGeom>
          <a:noFill/>
          <a:ln/>
        </p:spPr>
        <p:txBody>
          <a:bodyPr wrap="none" lIns="0" tIns="0" rIns="0" bIns="0" rtlCol="0" anchor="ctr"/>
          <a:lstStyle/>
          <a:p>
            <a:pPr marL="0" indent="0" algn="l">
              <a:buNone/>
            </a:pPr>
            <a:r>
              <a:rPr lang="en-US" sz="3600" b="1" dirty="0">
                <a:solidFill>
                  <a:srgbClr val="1F2937"/>
                </a:solidFill>
                <a:latin typeface="Manrope" pitchFamily="34" charset="0"/>
                <a:ea typeface="Manrope" pitchFamily="34" charset="-122"/>
                <a:cs typeface="Manrope" pitchFamily="34" charset="-120"/>
              </a:rPr>
              <a:t>3-5</a:t>
            </a:r>
            <a:endParaRPr lang="en-US" sz="3600" dirty="0"/>
          </a:p>
        </p:txBody>
      </p:sp>
      <p:sp>
        <p:nvSpPr>
          <p:cNvPr id="26" name="Text 24"/>
          <p:cNvSpPr txBox="1"/>
          <p:nvPr/>
        </p:nvSpPr>
        <p:spPr>
          <a:xfrm>
            <a:off x="7804404" y="3800246"/>
            <a:ext cx="2724912"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Partenaires</a:t>
            </a:r>
            <a:endParaRPr lang="en-US" sz="1300" dirty="0"/>
          </a:p>
        </p:txBody>
      </p:sp>
      <p:sp>
        <p:nvSpPr>
          <p:cNvPr id="27" name="Text 25"/>
          <p:cNvSpPr txBox="1"/>
          <p:nvPr/>
        </p:nvSpPr>
        <p:spPr>
          <a:xfrm>
            <a:off x="7804404" y="4123944"/>
            <a:ext cx="2724912" cy="372161"/>
          </a:xfrm>
          <a:prstGeom prst="rect">
            <a:avLst/>
          </a:prstGeom>
          <a:noFill/>
          <a:ln/>
        </p:spPr>
        <p:txBody>
          <a:bodyPr wrap="squar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Propriétaires de flotte pilotes — tester rattachement, supervision, recharge wallet.</a:t>
            </a:r>
            <a:endParaRPr lang="en-US" sz="900" dirty="0"/>
          </a:p>
        </p:txBody>
      </p:sp>
      <p:sp>
        <p:nvSpPr>
          <p:cNvPr id="28" name="Shape 26"/>
          <p:cNvSpPr/>
          <p:nvPr/>
        </p:nvSpPr>
        <p:spPr>
          <a:xfrm>
            <a:off x="10892333" y="2857500"/>
            <a:ext cx="3200400" cy="2667305"/>
          </a:xfrm>
          <a:prstGeom prst="roundRect">
            <a:avLst>
              <a:gd name="adj" fmla="val 5005"/>
            </a:avLst>
          </a:prstGeom>
          <a:solidFill>
            <a:srgbClr val="FFFFFF"/>
          </a:solidFill>
          <a:ln w="12700">
            <a:solidFill>
              <a:srgbClr val="E5E7EB"/>
            </a:solidFill>
            <a:prstDash val="solid"/>
          </a:ln>
        </p:spPr>
        <p:txBody>
          <a:bodyPr/>
          <a:lstStyle/>
          <a:p>
            <a:endParaRPr lang="fr-CI"/>
          </a:p>
        </p:txBody>
      </p:sp>
      <p:sp>
        <p:nvSpPr>
          <p:cNvPr id="29" name="Text 27"/>
          <p:cNvSpPr txBox="1"/>
          <p:nvPr/>
        </p:nvSpPr>
        <p:spPr>
          <a:xfrm>
            <a:off x="11130991" y="3095244"/>
            <a:ext cx="2724912" cy="133502"/>
          </a:xfrm>
          <a:prstGeom prst="rect">
            <a:avLst/>
          </a:prstGeom>
          <a:noFill/>
          <a:ln/>
        </p:spPr>
        <p:txBody>
          <a:bodyPr wrap="none" lIns="0" tIns="0" rIns="0" bIns="0" rtlCol="0" anchor="ctr"/>
          <a:lstStyle/>
          <a:p>
            <a:pPr marL="0" indent="0" algn="l">
              <a:buNone/>
            </a:pPr>
            <a:r>
              <a:rPr lang="en-US" sz="800" b="1" kern="0" spc="99" dirty="0">
                <a:solidFill>
                  <a:srgbClr val="6D28D9"/>
                </a:solidFill>
                <a:latin typeface="JetBrains Mono" pitchFamily="34" charset="0"/>
                <a:ea typeface="JetBrains Mono" pitchFamily="34" charset="-122"/>
                <a:cs typeface="JetBrains Mono" pitchFamily="34" charset="-120"/>
              </a:rPr>
              <a:t>CATÉGORIE 04</a:t>
            </a:r>
            <a:endParaRPr lang="en-US" sz="800" dirty="0"/>
          </a:p>
        </p:txBody>
      </p:sp>
      <p:sp>
        <p:nvSpPr>
          <p:cNvPr id="30" name="Text 28"/>
          <p:cNvSpPr txBox="1"/>
          <p:nvPr/>
        </p:nvSpPr>
        <p:spPr>
          <a:xfrm>
            <a:off x="11130991" y="3305556"/>
            <a:ext cx="2724912" cy="457200"/>
          </a:xfrm>
          <a:prstGeom prst="rect">
            <a:avLst/>
          </a:prstGeom>
          <a:noFill/>
          <a:ln/>
        </p:spPr>
        <p:txBody>
          <a:bodyPr wrap="none" lIns="0" tIns="0" rIns="0" bIns="0" rtlCol="0" anchor="ctr"/>
          <a:lstStyle/>
          <a:p>
            <a:pPr marL="0" indent="0" algn="l">
              <a:buNone/>
            </a:pPr>
            <a:r>
              <a:rPr lang="en-US" sz="3600" b="1" dirty="0">
                <a:solidFill>
                  <a:srgbClr val="1F2937"/>
                </a:solidFill>
                <a:latin typeface="Manrope" pitchFamily="34" charset="0"/>
                <a:ea typeface="Manrope" pitchFamily="34" charset="-122"/>
                <a:cs typeface="Manrope" pitchFamily="34" charset="-120"/>
              </a:rPr>
              <a:t>1</a:t>
            </a:r>
            <a:endParaRPr lang="en-US" sz="3600" dirty="0"/>
          </a:p>
        </p:txBody>
      </p:sp>
      <p:sp>
        <p:nvSpPr>
          <p:cNvPr id="31" name="Text 29"/>
          <p:cNvSpPr txBox="1"/>
          <p:nvPr/>
        </p:nvSpPr>
        <p:spPr>
          <a:xfrm>
            <a:off x="11130991" y="3800246"/>
            <a:ext cx="2724912"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Franchise pilote</a:t>
            </a:r>
            <a:endParaRPr lang="en-US" sz="1300" dirty="0"/>
          </a:p>
        </p:txBody>
      </p:sp>
      <p:sp>
        <p:nvSpPr>
          <p:cNvPr id="32" name="Text 30"/>
          <p:cNvSpPr txBox="1"/>
          <p:nvPr/>
        </p:nvSpPr>
        <p:spPr>
          <a:xfrm>
            <a:off x="11130991" y="4123944"/>
            <a:ext cx="2724912" cy="372161"/>
          </a:xfrm>
          <a:prstGeom prst="rect">
            <a:avLst/>
          </a:prstGeom>
          <a:noFill/>
          <a:ln/>
        </p:spPr>
        <p:txBody>
          <a:bodyPr wrap="squar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Zone Abidjan · supervision &amp; reporting zone · cloisonnement testé.</a:t>
            </a:r>
            <a:endParaRPr lang="en-US" sz="900" dirty="0"/>
          </a:p>
        </p:txBody>
      </p:sp>
      <p:sp>
        <p:nvSpPr>
          <p:cNvPr id="33" name="Shape 31"/>
          <p:cNvSpPr/>
          <p:nvPr/>
        </p:nvSpPr>
        <p:spPr>
          <a:xfrm>
            <a:off x="14218920" y="2857500"/>
            <a:ext cx="3200400" cy="2667305"/>
          </a:xfrm>
          <a:prstGeom prst="roundRect">
            <a:avLst>
              <a:gd name="adj" fmla="val 5005"/>
            </a:avLst>
          </a:prstGeom>
          <a:solidFill>
            <a:srgbClr val="1F2937"/>
          </a:solidFill>
          <a:ln w="12700">
            <a:solidFill>
              <a:srgbClr val="FFFFFF">
                <a:alpha val="0"/>
              </a:srgbClr>
            </a:solidFill>
            <a:prstDash val="solid"/>
          </a:ln>
        </p:spPr>
        <p:txBody>
          <a:bodyPr/>
          <a:lstStyle/>
          <a:p>
            <a:endParaRPr lang="fr-CI"/>
          </a:p>
        </p:txBody>
      </p:sp>
      <p:sp>
        <p:nvSpPr>
          <p:cNvPr id="34" name="Text 32"/>
          <p:cNvSpPr txBox="1"/>
          <p:nvPr/>
        </p:nvSpPr>
        <p:spPr>
          <a:xfrm>
            <a:off x="14447520" y="3086100"/>
            <a:ext cx="2743200" cy="133502"/>
          </a:xfrm>
          <a:prstGeom prst="rect">
            <a:avLst/>
          </a:prstGeom>
          <a:noFill/>
          <a:ln/>
        </p:spPr>
        <p:txBody>
          <a:bodyPr wrap="none" lIns="0" tIns="0" rIns="0" bIns="0" rtlCol="0" anchor="ctr"/>
          <a:lstStyle/>
          <a:p>
            <a:pPr marL="0" indent="0" algn="l">
              <a:buNone/>
            </a:pPr>
            <a:r>
              <a:rPr lang="en-US" sz="800" b="1" kern="0" spc="99" dirty="0">
                <a:solidFill>
                  <a:srgbClr val="A78BFA"/>
                </a:solidFill>
                <a:latin typeface="JetBrains Mono" pitchFamily="34" charset="0"/>
                <a:ea typeface="JetBrains Mono" pitchFamily="34" charset="-122"/>
                <a:cs typeface="JetBrains Mono" pitchFamily="34" charset="-120"/>
              </a:rPr>
              <a:t>CATÉGORIE 05</a:t>
            </a:r>
            <a:endParaRPr lang="en-US" sz="800" dirty="0"/>
          </a:p>
        </p:txBody>
      </p:sp>
      <p:sp>
        <p:nvSpPr>
          <p:cNvPr id="35" name="Text 33"/>
          <p:cNvSpPr txBox="1"/>
          <p:nvPr/>
        </p:nvSpPr>
        <p:spPr>
          <a:xfrm>
            <a:off x="14447520" y="3295498"/>
            <a:ext cx="2743200" cy="457200"/>
          </a:xfrm>
          <a:prstGeom prst="rect">
            <a:avLst/>
          </a:prstGeom>
          <a:noFill/>
          <a:ln/>
        </p:spPr>
        <p:txBody>
          <a:bodyPr wrap="none" lIns="0" tIns="0" rIns="0" bIns="0" rtlCol="0" anchor="ctr"/>
          <a:lstStyle/>
          <a:p>
            <a:pPr marL="0" indent="0" algn="l">
              <a:buNone/>
            </a:pPr>
            <a:r>
              <a:rPr lang="en-US" sz="3600" b="1" dirty="0">
                <a:solidFill>
                  <a:srgbClr val="FFFFFF"/>
                </a:solidFill>
                <a:latin typeface="Manrope" pitchFamily="34" charset="0"/>
                <a:ea typeface="Manrope" pitchFamily="34" charset="-122"/>
                <a:cs typeface="Manrope" pitchFamily="34" charset="-120"/>
              </a:rPr>
              <a:t>7+</a:t>
            </a:r>
            <a:endParaRPr lang="en-US" sz="3600" dirty="0"/>
          </a:p>
        </p:txBody>
      </p:sp>
      <p:sp>
        <p:nvSpPr>
          <p:cNvPr id="36" name="Text 34"/>
          <p:cNvSpPr txBox="1"/>
          <p:nvPr/>
        </p:nvSpPr>
        <p:spPr>
          <a:xfrm>
            <a:off x="14447520" y="3791102"/>
            <a:ext cx="2743200" cy="228600"/>
          </a:xfrm>
          <a:prstGeom prst="rect">
            <a:avLst/>
          </a:prstGeom>
          <a:noFill/>
          <a:ln/>
        </p:spPr>
        <p:txBody>
          <a:bodyPr wrap="none" lIns="0" tIns="0" rIns="0" bIns="0" rtlCol="0" anchor="ctr"/>
          <a:lstStyle/>
          <a:p>
            <a:pPr marL="0" indent="0" algn="l">
              <a:buNone/>
            </a:pPr>
            <a:r>
              <a:rPr lang="en-US" sz="1300" b="1" dirty="0">
                <a:solidFill>
                  <a:srgbClr val="FFFFFF"/>
                </a:solidFill>
                <a:latin typeface="Manrope" pitchFamily="34" charset="0"/>
                <a:ea typeface="Manrope" pitchFamily="34" charset="-122"/>
                <a:cs typeface="Manrope" pitchFamily="34" charset="-120"/>
              </a:rPr>
              <a:t>Équipes centrales</a:t>
            </a:r>
            <a:endParaRPr lang="en-US" sz="1300" dirty="0"/>
          </a:p>
        </p:txBody>
      </p:sp>
      <p:sp>
        <p:nvSpPr>
          <p:cNvPr id="37" name="Text 35"/>
          <p:cNvSpPr txBox="1"/>
          <p:nvPr/>
        </p:nvSpPr>
        <p:spPr>
          <a:xfrm>
            <a:off x="14447520" y="4114800"/>
            <a:ext cx="2743200" cy="372161"/>
          </a:xfrm>
          <a:prstGeom prst="rect">
            <a:avLst/>
          </a:prstGeom>
          <a:noFill/>
          <a:ln/>
        </p:spPr>
        <p:txBody>
          <a:bodyPr wrap="squar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Central · support · finance · technique · éditeur · direction projet.</a:t>
            </a:r>
            <a:endParaRPr lang="en-US" sz="900" dirty="0"/>
          </a:p>
        </p:txBody>
      </p:sp>
      <p:sp>
        <p:nvSpPr>
          <p:cNvPr id="38" name="Text 36"/>
          <p:cNvSpPr txBox="1"/>
          <p:nvPr/>
        </p:nvSpPr>
        <p:spPr>
          <a:xfrm>
            <a:off x="914400" y="5905195"/>
            <a:ext cx="16497605" cy="238658"/>
          </a:xfrm>
          <a:prstGeom prst="rect">
            <a:avLst/>
          </a:prstGeom>
          <a:noFill/>
          <a:ln/>
        </p:spPr>
        <p:txBody>
          <a:bodyPr wrap="none" lIns="0" tIns="0" rIns="0" bIns="0" rtlCol="0" anchor="ctr"/>
          <a:lstStyle/>
          <a:p>
            <a:pPr marL="0" indent="0" algn="l">
              <a:buNone/>
            </a:pPr>
            <a:r>
              <a:rPr lang="en-US" sz="1500" b="1" dirty="0">
                <a:solidFill>
                  <a:srgbClr val="1F2937"/>
                </a:solidFill>
                <a:latin typeface="Manrope" pitchFamily="34" charset="0"/>
                <a:ea typeface="Manrope" pitchFamily="34" charset="-122"/>
                <a:cs typeface="Manrope" pitchFamily="34" charset="-120"/>
              </a:rPr>
              <a:t>Composition détaillée des équipes encadrantes</a:t>
            </a:r>
            <a:endParaRPr lang="en-US" sz="1500" dirty="0"/>
          </a:p>
        </p:txBody>
      </p:sp>
      <p:sp>
        <p:nvSpPr>
          <p:cNvPr id="39" name="Shape 37"/>
          <p:cNvSpPr/>
          <p:nvPr/>
        </p:nvSpPr>
        <p:spPr>
          <a:xfrm>
            <a:off x="914400" y="6381598"/>
            <a:ext cx="5391302" cy="1733702"/>
          </a:xfrm>
          <a:prstGeom prst="roundRect">
            <a:avLst>
              <a:gd name="adj" fmla="val 7700"/>
            </a:avLst>
          </a:prstGeom>
          <a:solidFill>
            <a:srgbClr val="F5F4FB"/>
          </a:solidFill>
          <a:ln w="12700">
            <a:solidFill>
              <a:srgbClr val="E5E7EB"/>
            </a:solidFill>
            <a:prstDash val="solid"/>
          </a:ln>
        </p:spPr>
        <p:txBody>
          <a:bodyPr/>
          <a:lstStyle/>
          <a:p>
            <a:endParaRPr lang="fr-CI"/>
          </a:p>
        </p:txBody>
      </p:sp>
      <p:sp>
        <p:nvSpPr>
          <p:cNvPr id="40" name="Text 38"/>
          <p:cNvSpPr txBox="1"/>
          <p:nvPr/>
        </p:nvSpPr>
        <p:spPr>
          <a:xfrm>
            <a:off x="1114654" y="6581851"/>
            <a:ext cx="4991710"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Côté éditeur &amp; technique</a:t>
            </a:r>
            <a:endParaRPr lang="en-US" sz="1300" dirty="0"/>
          </a:p>
        </p:txBody>
      </p:sp>
      <p:sp>
        <p:nvSpPr>
          <p:cNvPr id="41" name="Text 39"/>
          <p:cNvSpPr txBox="1"/>
          <p:nvPr/>
        </p:nvSpPr>
        <p:spPr>
          <a:xfrm>
            <a:off x="1114654" y="6924751"/>
            <a:ext cx="499171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Éditeur (livraison version &amp; support N3)</a:t>
            </a:r>
            <a:endParaRPr lang="en-US" sz="1200" dirty="0"/>
          </a:p>
        </p:txBody>
      </p:sp>
      <p:sp>
        <p:nvSpPr>
          <p:cNvPr id="42" name="Shape 40"/>
          <p:cNvSpPr/>
          <p:nvPr/>
        </p:nvSpPr>
        <p:spPr>
          <a:xfrm>
            <a:off x="1114654" y="7019849"/>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43" name="Text 41"/>
          <p:cNvSpPr txBox="1"/>
          <p:nvPr/>
        </p:nvSpPr>
        <p:spPr>
          <a:xfrm>
            <a:off x="1114654" y="7254850"/>
            <a:ext cx="499171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Équipe technique interne</a:t>
            </a:r>
            <a:endParaRPr lang="en-US" sz="1200" dirty="0"/>
          </a:p>
        </p:txBody>
      </p:sp>
      <p:sp>
        <p:nvSpPr>
          <p:cNvPr id="44" name="Shape 42"/>
          <p:cNvSpPr/>
          <p:nvPr/>
        </p:nvSpPr>
        <p:spPr>
          <a:xfrm>
            <a:off x="1114654" y="7349947"/>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45" name="Text 43"/>
          <p:cNvSpPr txBox="1"/>
          <p:nvPr/>
        </p:nvSpPr>
        <p:spPr>
          <a:xfrm>
            <a:off x="1114654" y="7584948"/>
            <a:ext cx="499171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Référent monitoring &amp; logs</a:t>
            </a:r>
            <a:endParaRPr lang="en-US" sz="1200" dirty="0"/>
          </a:p>
        </p:txBody>
      </p:sp>
      <p:sp>
        <p:nvSpPr>
          <p:cNvPr id="46" name="Shape 44"/>
          <p:cNvSpPr/>
          <p:nvPr/>
        </p:nvSpPr>
        <p:spPr>
          <a:xfrm>
            <a:off x="1114654" y="7680046"/>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47" name="Shape 45"/>
          <p:cNvSpPr/>
          <p:nvPr/>
        </p:nvSpPr>
        <p:spPr>
          <a:xfrm>
            <a:off x="6470294" y="6381598"/>
            <a:ext cx="5391302" cy="1733702"/>
          </a:xfrm>
          <a:prstGeom prst="roundRect">
            <a:avLst>
              <a:gd name="adj" fmla="val 7700"/>
            </a:avLst>
          </a:prstGeom>
          <a:solidFill>
            <a:srgbClr val="F5F4FB"/>
          </a:solidFill>
          <a:ln w="12700">
            <a:solidFill>
              <a:srgbClr val="E5E7EB"/>
            </a:solidFill>
            <a:prstDash val="solid"/>
          </a:ln>
        </p:spPr>
        <p:txBody>
          <a:bodyPr/>
          <a:lstStyle/>
          <a:p>
            <a:endParaRPr lang="fr-CI"/>
          </a:p>
        </p:txBody>
      </p:sp>
      <p:sp>
        <p:nvSpPr>
          <p:cNvPr id="48" name="Text 46"/>
          <p:cNvSpPr txBox="1"/>
          <p:nvPr/>
        </p:nvSpPr>
        <p:spPr>
          <a:xfrm>
            <a:off x="6670548" y="6581851"/>
            <a:ext cx="4991710"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Côté métier &amp; exploitation</a:t>
            </a:r>
            <a:endParaRPr lang="en-US" sz="1300" dirty="0"/>
          </a:p>
        </p:txBody>
      </p:sp>
      <p:sp>
        <p:nvSpPr>
          <p:cNvPr id="49" name="Text 47"/>
          <p:cNvSpPr txBox="1"/>
          <p:nvPr/>
        </p:nvSpPr>
        <p:spPr>
          <a:xfrm>
            <a:off x="6670548" y="6924751"/>
            <a:ext cx="499171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Équipe exploitation (animation terrain)</a:t>
            </a:r>
            <a:endParaRPr lang="en-US" sz="1200" dirty="0"/>
          </a:p>
        </p:txBody>
      </p:sp>
      <p:sp>
        <p:nvSpPr>
          <p:cNvPr id="50" name="Shape 48"/>
          <p:cNvSpPr/>
          <p:nvPr/>
        </p:nvSpPr>
        <p:spPr>
          <a:xfrm>
            <a:off x="6670548" y="7019849"/>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51" name="Text 49"/>
          <p:cNvSpPr txBox="1"/>
          <p:nvPr/>
        </p:nvSpPr>
        <p:spPr>
          <a:xfrm>
            <a:off x="6670548" y="7254850"/>
            <a:ext cx="499171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Équipe support (incidents &amp; réclamations)</a:t>
            </a:r>
            <a:endParaRPr lang="en-US" sz="1200" dirty="0"/>
          </a:p>
        </p:txBody>
      </p:sp>
      <p:sp>
        <p:nvSpPr>
          <p:cNvPr id="52" name="Shape 50"/>
          <p:cNvSpPr/>
          <p:nvPr/>
        </p:nvSpPr>
        <p:spPr>
          <a:xfrm>
            <a:off x="6670548" y="7349947"/>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53" name="Text 51"/>
          <p:cNvSpPr txBox="1"/>
          <p:nvPr/>
        </p:nvSpPr>
        <p:spPr>
          <a:xfrm>
            <a:off x="6670548" y="7584948"/>
            <a:ext cx="499171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Équipe finance (wallet &amp; commissions)</a:t>
            </a:r>
            <a:endParaRPr lang="en-US" sz="1200" dirty="0"/>
          </a:p>
        </p:txBody>
      </p:sp>
      <p:sp>
        <p:nvSpPr>
          <p:cNvPr id="54" name="Shape 52"/>
          <p:cNvSpPr/>
          <p:nvPr/>
        </p:nvSpPr>
        <p:spPr>
          <a:xfrm>
            <a:off x="6670548" y="7680046"/>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55" name="Shape 53"/>
          <p:cNvSpPr/>
          <p:nvPr/>
        </p:nvSpPr>
        <p:spPr>
          <a:xfrm>
            <a:off x="12027103" y="6381598"/>
            <a:ext cx="5391302" cy="1733702"/>
          </a:xfrm>
          <a:prstGeom prst="roundRect">
            <a:avLst>
              <a:gd name="adj" fmla="val 7700"/>
            </a:avLst>
          </a:prstGeom>
          <a:solidFill>
            <a:srgbClr val="F5F3FF"/>
          </a:solidFill>
          <a:ln w="12700">
            <a:solidFill>
              <a:srgbClr val="DDD6FE"/>
            </a:solidFill>
            <a:prstDash val="solid"/>
          </a:ln>
        </p:spPr>
        <p:txBody>
          <a:bodyPr/>
          <a:lstStyle/>
          <a:p>
            <a:endParaRPr lang="fr-CI"/>
          </a:p>
        </p:txBody>
      </p:sp>
      <p:sp>
        <p:nvSpPr>
          <p:cNvPr id="56" name="Text 54"/>
          <p:cNvSpPr txBox="1"/>
          <p:nvPr/>
        </p:nvSpPr>
        <p:spPr>
          <a:xfrm>
            <a:off x="12226442" y="6581851"/>
            <a:ext cx="4991710"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Côté pilotage</a:t>
            </a:r>
            <a:endParaRPr lang="en-US" sz="1300" dirty="0"/>
          </a:p>
        </p:txBody>
      </p:sp>
      <p:sp>
        <p:nvSpPr>
          <p:cNvPr id="57" name="Text 55"/>
          <p:cNvSpPr txBox="1"/>
          <p:nvPr/>
        </p:nvSpPr>
        <p:spPr>
          <a:xfrm>
            <a:off x="12226442" y="6924751"/>
            <a:ext cx="499171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Direction projet UPJUNOO PRO</a:t>
            </a:r>
            <a:endParaRPr lang="en-US" sz="1200" dirty="0"/>
          </a:p>
        </p:txBody>
      </p:sp>
      <p:sp>
        <p:nvSpPr>
          <p:cNvPr id="58" name="Shape 56"/>
          <p:cNvSpPr/>
          <p:nvPr/>
        </p:nvSpPr>
        <p:spPr>
          <a:xfrm>
            <a:off x="12226442" y="7019849"/>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59" name="Text 57"/>
          <p:cNvSpPr txBox="1"/>
          <p:nvPr/>
        </p:nvSpPr>
        <p:spPr>
          <a:xfrm>
            <a:off x="12226442" y="7254850"/>
            <a:ext cx="499171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Chef de projet (coordination)</a:t>
            </a:r>
            <a:endParaRPr lang="en-US" sz="1200" dirty="0"/>
          </a:p>
        </p:txBody>
      </p:sp>
      <p:sp>
        <p:nvSpPr>
          <p:cNvPr id="60" name="Shape 58"/>
          <p:cNvSpPr/>
          <p:nvPr/>
        </p:nvSpPr>
        <p:spPr>
          <a:xfrm>
            <a:off x="12226442" y="7349947"/>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61" name="Text 59"/>
          <p:cNvSpPr txBox="1"/>
          <p:nvPr/>
        </p:nvSpPr>
        <p:spPr>
          <a:xfrm>
            <a:off x="12226442" y="7584948"/>
            <a:ext cx="4991710" cy="238658"/>
          </a:xfrm>
          <a:prstGeom prst="rect">
            <a:avLst/>
          </a:prstGeom>
          <a:noFill/>
          <a:ln/>
        </p:spPr>
        <p:txBody>
          <a:bodyPr wrap="none" lIns="0" tIns="0" rIns="0" bIns="0" rtlCol="0" anchor="ctr"/>
          <a:lstStyle/>
          <a:p>
            <a:pPr marL="0" indent="0" algn="l">
              <a:buNone/>
            </a:pPr>
            <a:r>
              <a:rPr lang="en-US" sz="1200" dirty="0">
                <a:solidFill>
                  <a:srgbClr val="4B5563"/>
                </a:solidFill>
                <a:latin typeface="Manrope" pitchFamily="34" charset="0"/>
                <a:ea typeface="Manrope" pitchFamily="34" charset="-122"/>
                <a:cs typeface="Manrope" pitchFamily="34" charset="-120"/>
              </a:rPr>
              <a:t>Direction (validation Go / No-Go)</a:t>
            </a:r>
            <a:endParaRPr lang="en-US" sz="1200" dirty="0"/>
          </a:p>
        </p:txBody>
      </p:sp>
      <p:sp>
        <p:nvSpPr>
          <p:cNvPr id="62" name="Shape 60"/>
          <p:cNvSpPr/>
          <p:nvPr/>
        </p:nvSpPr>
        <p:spPr>
          <a:xfrm>
            <a:off x="12226442" y="7680046"/>
            <a:ext cx="75895" cy="75895"/>
          </a:xfrm>
          <a:prstGeom prst="roundRect">
            <a:avLst>
              <a:gd name="adj" fmla="val 25301"/>
            </a:avLst>
          </a:prstGeom>
          <a:solidFill>
            <a:srgbClr val="8B5CF6"/>
          </a:solidFill>
          <a:ln w="12700">
            <a:solidFill>
              <a:srgbClr val="FFFFFF">
                <a:alpha val="0"/>
              </a:srgbClr>
            </a:solidFill>
            <a:prstDash val="solid"/>
          </a:ln>
        </p:spPr>
        <p:txBody>
          <a:bodyPr/>
          <a:lstStyle/>
          <a:p>
            <a:endParaRPr lang="fr-CI"/>
          </a:p>
        </p:txBody>
      </p:sp>
      <p:sp>
        <p:nvSpPr>
          <p:cNvPr id="63" name="Shape 61"/>
          <p:cNvSpPr/>
          <p:nvPr/>
        </p:nvSpPr>
        <p:spPr>
          <a:xfrm>
            <a:off x="0" y="9791395"/>
            <a:ext cx="18288000" cy="495605"/>
          </a:xfrm>
          <a:prstGeom prst="rect">
            <a:avLst/>
          </a:prstGeom>
          <a:solidFill>
            <a:srgbClr val="FFFFFF"/>
          </a:solidFill>
          <a:ln/>
        </p:spPr>
        <p:txBody>
          <a:bodyPr/>
          <a:lstStyle/>
          <a:p>
            <a:endParaRPr lang="fr-CI"/>
          </a:p>
        </p:txBody>
      </p:sp>
      <p:sp>
        <p:nvSpPr>
          <p:cNvPr id="64" name="Shape 62"/>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5" name="Text 63"/>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66" name="Text 64"/>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47 / 59</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4775790" y="256946"/>
            <a:ext cx="3220517"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§20 Déroulement dimanche 21 juin 2026</a:t>
            </a:r>
            <a:endParaRPr lang="en-US" sz="900" dirty="0"/>
          </a:p>
        </p:txBody>
      </p:sp>
      <p:sp>
        <p:nvSpPr>
          <p:cNvPr id="10" name="Text 8"/>
          <p:cNvSpPr txBox="1"/>
          <p:nvPr/>
        </p:nvSpPr>
        <p:spPr>
          <a:xfrm>
            <a:off x="914400" y="1205179"/>
            <a:ext cx="3200400"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20. Déroulement journée test</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6193110"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Dimanche 21 juin 2026 — chronogramme 08h00 → 19h00.</a:t>
            </a:r>
            <a:endParaRPr lang="en-US" sz="3900" dirty="0"/>
          </a:p>
        </p:txBody>
      </p:sp>
      <p:pic>
        <p:nvPicPr>
          <p:cNvPr id="13" name="Image 0" descr="gen-dedup-0ad6322f9b8f3721e9a6f2b8aed37e63.jpg"/>
          <p:cNvPicPr>
            <a:picLocks noChangeAspect="1"/>
          </p:cNvPicPr>
          <p:nvPr/>
        </p:nvPicPr>
        <p:blipFill>
          <a:blip r:embed="rId2"/>
          <a:srcRect t="-19568" b="-19568"/>
          <a:stretch/>
        </p:blipFill>
        <p:spPr>
          <a:xfrm>
            <a:off x="914400" y="2667305"/>
            <a:ext cx="8762695" cy="6858000"/>
          </a:xfrm>
          <a:prstGeom prst="rect">
            <a:avLst/>
          </a:prstGeom>
        </p:spPr>
      </p:pic>
      <p:sp>
        <p:nvSpPr>
          <p:cNvPr id="14" name="Shape 11"/>
          <p:cNvSpPr/>
          <p:nvPr/>
        </p:nvSpPr>
        <p:spPr>
          <a:xfrm>
            <a:off x="9982505" y="2667305"/>
            <a:ext cx="7429500" cy="6858000"/>
          </a:xfrm>
          <a:prstGeom prst="roundRect">
            <a:avLst>
              <a:gd name="adj" fmla="val 1947"/>
            </a:avLst>
          </a:prstGeom>
          <a:solidFill>
            <a:srgbClr val="FAFAFC"/>
          </a:solidFill>
          <a:ln w="12700">
            <a:solidFill>
              <a:srgbClr val="E5E7EB"/>
            </a:solidFill>
            <a:prstDash val="solid"/>
          </a:ln>
        </p:spPr>
        <p:txBody>
          <a:bodyPr/>
          <a:lstStyle/>
          <a:p>
            <a:endParaRPr lang="fr-CI"/>
          </a:p>
        </p:txBody>
      </p:sp>
      <p:sp>
        <p:nvSpPr>
          <p:cNvPr id="15" name="Text 12"/>
          <p:cNvSpPr txBox="1"/>
          <p:nvPr/>
        </p:nvSpPr>
        <p:spPr>
          <a:xfrm>
            <a:off x="10267798" y="2857500"/>
            <a:ext cx="6858000" cy="219456"/>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11 séquences chronométrées</a:t>
            </a:r>
            <a:endParaRPr lang="en-US" sz="1300" dirty="0"/>
          </a:p>
        </p:txBody>
      </p:sp>
      <p:sp>
        <p:nvSpPr>
          <p:cNvPr id="16" name="Shape 13"/>
          <p:cNvSpPr/>
          <p:nvPr/>
        </p:nvSpPr>
        <p:spPr>
          <a:xfrm>
            <a:off x="10267798" y="3204972"/>
            <a:ext cx="6858000" cy="523951"/>
          </a:xfrm>
          <a:prstGeom prst="roundRect">
            <a:avLst>
              <a:gd name="adj" fmla="val 14485"/>
            </a:avLst>
          </a:prstGeom>
          <a:solidFill>
            <a:srgbClr val="FFFFFF"/>
          </a:solidFill>
          <a:ln/>
        </p:spPr>
        <p:txBody>
          <a:bodyPr/>
          <a:lstStyle/>
          <a:p>
            <a:endParaRPr lang="fr-CI"/>
          </a:p>
        </p:txBody>
      </p:sp>
      <p:sp>
        <p:nvSpPr>
          <p:cNvPr id="17" name="Shape 14"/>
          <p:cNvSpPr/>
          <p:nvPr/>
        </p:nvSpPr>
        <p:spPr>
          <a:xfrm>
            <a:off x="10267798" y="3204972"/>
            <a:ext cx="28346" cy="523951"/>
          </a:xfrm>
          <a:prstGeom prst="roundRect">
            <a:avLst>
              <a:gd name="adj" fmla="val 267746"/>
            </a:avLst>
          </a:prstGeom>
          <a:solidFill>
            <a:srgbClr val="C4B5FD"/>
          </a:solidFill>
          <a:ln w="12700">
            <a:solidFill>
              <a:srgbClr val="C4B5FD">
                <a:alpha val="0"/>
              </a:srgbClr>
            </a:solidFill>
            <a:prstDash val="solid"/>
          </a:ln>
        </p:spPr>
        <p:txBody>
          <a:bodyPr/>
          <a:lstStyle/>
          <a:p>
            <a:endParaRPr lang="fr-CI"/>
          </a:p>
        </p:txBody>
      </p:sp>
      <p:sp>
        <p:nvSpPr>
          <p:cNvPr id="18" name="Text 15"/>
          <p:cNvSpPr txBox="1"/>
          <p:nvPr/>
        </p:nvSpPr>
        <p:spPr>
          <a:xfrm>
            <a:off x="10429646" y="3390595"/>
            <a:ext cx="1047902" cy="152705"/>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08h00-08h30</a:t>
            </a:r>
            <a:endParaRPr lang="en-US" sz="900" dirty="0"/>
          </a:p>
        </p:txBody>
      </p:sp>
      <p:sp>
        <p:nvSpPr>
          <p:cNvPr id="19" name="Text 16"/>
          <p:cNvSpPr txBox="1"/>
          <p:nvPr/>
        </p:nvSpPr>
        <p:spPr>
          <a:xfrm>
            <a:off x="11611051" y="3300070"/>
            <a:ext cx="5382158" cy="171907"/>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Briefing général</a:t>
            </a:r>
            <a:endParaRPr lang="en-US" sz="900" dirty="0"/>
          </a:p>
        </p:txBody>
      </p:sp>
      <p:sp>
        <p:nvSpPr>
          <p:cNvPr id="20" name="Text 17"/>
          <p:cNvSpPr txBox="1"/>
          <p:nvPr/>
        </p:nvSpPr>
        <p:spPr>
          <a:xfrm>
            <a:off x="11611051" y="3471977"/>
            <a:ext cx="5382158" cy="162763"/>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Chef de projet · Direction</a:t>
            </a:r>
            <a:endParaRPr lang="en-US" sz="900" dirty="0"/>
          </a:p>
        </p:txBody>
      </p:sp>
      <p:sp>
        <p:nvSpPr>
          <p:cNvPr id="21" name="Shape 18"/>
          <p:cNvSpPr/>
          <p:nvPr/>
        </p:nvSpPr>
        <p:spPr>
          <a:xfrm>
            <a:off x="10267798" y="3804818"/>
            <a:ext cx="6858000" cy="523951"/>
          </a:xfrm>
          <a:prstGeom prst="roundRect">
            <a:avLst>
              <a:gd name="adj" fmla="val 14485"/>
            </a:avLst>
          </a:prstGeom>
          <a:solidFill>
            <a:srgbClr val="FFFFFF"/>
          </a:solidFill>
          <a:ln/>
        </p:spPr>
        <p:txBody>
          <a:bodyPr/>
          <a:lstStyle/>
          <a:p>
            <a:endParaRPr lang="fr-CI"/>
          </a:p>
        </p:txBody>
      </p:sp>
      <p:sp>
        <p:nvSpPr>
          <p:cNvPr id="22" name="Shape 19"/>
          <p:cNvSpPr/>
          <p:nvPr/>
        </p:nvSpPr>
        <p:spPr>
          <a:xfrm>
            <a:off x="10267798" y="3804818"/>
            <a:ext cx="28346" cy="523951"/>
          </a:xfrm>
          <a:prstGeom prst="roundRect">
            <a:avLst>
              <a:gd name="adj" fmla="val 267746"/>
            </a:avLst>
          </a:prstGeom>
          <a:solidFill>
            <a:srgbClr val="C4B5FD"/>
          </a:solidFill>
          <a:ln w="12700">
            <a:solidFill>
              <a:srgbClr val="C4B5FD">
                <a:alpha val="0"/>
              </a:srgbClr>
            </a:solidFill>
            <a:prstDash val="solid"/>
          </a:ln>
        </p:spPr>
        <p:txBody>
          <a:bodyPr/>
          <a:lstStyle/>
          <a:p>
            <a:endParaRPr lang="fr-CI"/>
          </a:p>
        </p:txBody>
      </p:sp>
      <p:sp>
        <p:nvSpPr>
          <p:cNvPr id="23" name="Text 20"/>
          <p:cNvSpPr txBox="1"/>
          <p:nvPr/>
        </p:nvSpPr>
        <p:spPr>
          <a:xfrm>
            <a:off x="10429646" y="3991356"/>
            <a:ext cx="1047902" cy="152705"/>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08h30-09h00</a:t>
            </a:r>
            <a:endParaRPr lang="en-US" sz="900" dirty="0"/>
          </a:p>
        </p:txBody>
      </p:sp>
      <p:sp>
        <p:nvSpPr>
          <p:cNvPr id="24" name="Text 21"/>
          <p:cNvSpPr txBox="1"/>
          <p:nvPr/>
        </p:nvSpPr>
        <p:spPr>
          <a:xfrm>
            <a:off x="11611051" y="3900830"/>
            <a:ext cx="5382158" cy="171907"/>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Vérification applications &amp; connexions</a:t>
            </a:r>
            <a:endParaRPr lang="en-US" sz="900" dirty="0"/>
          </a:p>
        </p:txBody>
      </p:sp>
      <p:sp>
        <p:nvSpPr>
          <p:cNvPr id="25" name="Text 22"/>
          <p:cNvSpPr txBox="1"/>
          <p:nvPr/>
        </p:nvSpPr>
        <p:spPr>
          <a:xfrm>
            <a:off x="11611051" y="4071823"/>
            <a:ext cx="5382158" cy="162763"/>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Technique · Support</a:t>
            </a:r>
            <a:endParaRPr lang="en-US" sz="900" dirty="0"/>
          </a:p>
        </p:txBody>
      </p:sp>
      <p:sp>
        <p:nvSpPr>
          <p:cNvPr id="26" name="Shape 23"/>
          <p:cNvSpPr/>
          <p:nvPr/>
        </p:nvSpPr>
        <p:spPr>
          <a:xfrm>
            <a:off x="10267798" y="4405579"/>
            <a:ext cx="6858000" cy="523951"/>
          </a:xfrm>
          <a:prstGeom prst="roundRect">
            <a:avLst>
              <a:gd name="adj" fmla="val 14485"/>
            </a:avLst>
          </a:prstGeom>
          <a:solidFill>
            <a:srgbClr val="FFFFFF"/>
          </a:solidFill>
          <a:ln/>
        </p:spPr>
        <p:txBody>
          <a:bodyPr/>
          <a:lstStyle/>
          <a:p>
            <a:endParaRPr lang="fr-CI"/>
          </a:p>
        </p:txBody>
      </p:sp>
      <p:sp>
        <p:nvSpPr>
          <p:cNvPr id="27" name="Shape 24"/>
          <p:cNvSpPr/>
          <p:nvPr/>
        </p:nvSpPr>
        <p:spPr>
          <a:xfrm>
            <a:off x="10267798" y="4405579"/>
            <a:ext cx="28346" cy="523951"/>
          </a:xfrm>
          <a:prstGeom prst="roundRect">
            <a:avLst>
              <a:gd name="adj" fmla="val 267746"/>
            </a:avLst>
          </a:prstGeom>
          <a:solidFill>
            <a:srgbClr val="A78BFA"/>
          </a:solidFill>
          <a:ln w="12700">
            <a:solidFill>
              <a:srgbClr val="A78BFA">
                <a:alpha val="0"/>
              </a:srgbClr>
            </a:solidFill>
            <a:prstDash val="solid"/>
          </a:ln>
        </p:spPr>
        <p:txBody>
          <a:bodyPr/>
          <a:lstStyle/>
          <a:p>
            <a:endParaRPr lang="fr-CI"/>
          </a:p>
        </p:txBody>
      </p:sp>
      <p:sp>
        <p:nvSpPr>
          <p:cNvPr id="28" name="Text 25"/>
          <p:cNvSpPr txBox="1"/>
          <p:nvPr/>
        </p:nvSpPr>
        <p:spPr>
          <a:xfrm>
            <a:off x="10429646" y="4591202"/>
            <a:ext cx="1047902" cy="152705"/>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09h00-10h00</a:t>
            </a:r>
            <a:endParaRPr lang="en-US" sz="900" dirty="0"/>
          </a:p>
        </p:txBody>
      </p:sp>
      <p:sp>
        <p:nvSpPr>
          <p:cNvPr id="29" name="Text 26"/>
          <p:cNvSpPr txBox="1"/>
          <p:nvPr/>
        </p:nvSpPr>
        <p:spPr>
          <a:xfrm>
            <a:off x="11611051" y="4500677"/>
            <a:ext cx="5382158" cy="171907"/>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Mise en ligne des 40 engins</a:t>
            </a:r>
            <a:endParaRPr lang="en-US" sz="900" dirty="0"/>
          </a:p>
        </p:txBody>
      </p:sp>
      <p:sp>
        <p:nvSpPr>
          <p:cNvPr id="30" name="Text 27"/>
          <p:cNvSpPr txBox="1"/>
          <p:nvPr/>
        </p:nvSpPr>
        <p:spPr>
          <a:xfrm>
            <a:off x="11611051" y="4671670"/>
            <a:ext cx="5382158" cy="162763"/>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Exploitation — 40 visibles en ligne</a:t>
            </a:r>
            <a:endParaRPr lang="en-US" sz="900" dirty="0"/>
          </a:p>
        </p:txBody>
      </p:sp>
      <p:sp>
        <p:nvSpPr>
          <p:cNvPr id="31" name="Shape 28"/>
          <p:cNvSpPr/>
          <p:nvPr/>
        </p:nvSpPr>
        <p:spPr>
          <a:xfrm>
            <a:off x="10267798" y="5005426"/>
            <a:ext cx="6858000" cy="523951"/>
          </a:xfrm>
          <a:prstGeom prst="roundRect">
            <a:avLst>
              <a:gd name="adj" fmla="val 14485"/>
            </a:avLst>
          </a:prstGeom>
          <a:solidFill>
            <a:srgbClr val="F5F3FF"/>
          </a:solidFill>
          <a:ln/>
        </p:spPr>
        <p:txBody>
          <a:bodyPr/>
          <a:lstStyle/>
          <a:p>
            <a:endParaRPr lang="fr-CI"/>
          </a:p>
        </p:txBody>
      </p:sp>
      <p:sp>
        <p:nvSpPr>
          <p:cNvPr id="32" name="Shape 29"/>
          <p:cNvSpPr/>
          <p:nvPr/>
        </p:nvSpPr>
        <p:spPr>
          <a:xfrm>
            <a:off x="10267798" y="5005426"/>
            <a:ext cx="28346" cy="523951"/>
          </a:xfrm>
          <a:prstGeom prst="roundRect">
            <a:avLst>
              <a:gd name="adj" fmla="val 267746"/>
            </a:avLst>
          </a:prstGeom>
          <a:solidFill>
            <a:srgbClr val="6D28D9"/>
          </a:solidFill>
          <a:ln w="12700">
            <a:solidFill>
              <a:srgbClr val="6D28D9">
                <a:alpha val="0"/>
              </a:srgbClr>
            </a:solidFill>
            <a:prstDash val="solid"/>
          </a:ln>
        </p:spPr>
        <p:txBody>
          <a:bodyPr/>
          <a:lstStyle/>
          <a:p>
            <a:endParaRPr lang="fr-CI"/>
          </a:p>
        </p:txBody>
      </p:sp>
      <p:sp>
        <p:nvSpPr>
          <p:cNvPr id="33" name="Text 30"/>
          <p:cNvSpPr txBox="1"/>
          <p:nvPr/>
        </p:nvSpPr>
        <p:spPr>
          <a:xfrm>
            <a:off x="10429646" y="5191049"/>
            <a:ext cx="1047902" cy="152705"/>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10h00-12h00</a:t>
            </a:r>
            <a:endParaRPr lang="en-US" sz="900" dirty="0"/>
          </a:p>
        </p:txBody>
      </p:sp>
      <p:sp>
        <p:nvSpPr>
          <p:cNvPr id="34" name="Text 31"/>
          <p:cNvSpPr txBox="1"/>
          <p:nvPr/>
        </p:nvSpPr>
        <p:spPr>
          <a:xfrm>
            <a:off x="11611051" y="5100523"/>
            <a:ext cx="5382158" cy="171907"/>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Tests Transport · Taxi · VTC</a:t>
            </a:r>
            <a:endParaRPr lang="en-US" sz="900" dirty="0"/>
          </a:p>
        </p:txBody>
      </p:sp>
      <p:sp>
        <p:nvSpPr>
          <p:cNvPr id="35" name="Text 32"/>
          <p:cNvSpPr txBox="1"/>
          <p:nvPr/>
        </p:nvSpPr>
        <p:spPr>
          <a:xfrm>
            <a:off x="11611051" y="5272430"/>
            <a:ext cx="5382158" cy="162763"/>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Clients · Chauffeurs (20 engins)</a:t>
            </a:r>
            <a:endParaRPr lang="en-US" sz="900" dirty="0"/>
          </a:p>
        </p:txBody>
      </p:sp>
      <p:sp>
        <p:nvSpPr>
          <p:cNvPr id="36" name="Shape 33"/>
          <p:cNvSpPr/>
          <p:nvPr/>
        </p:nvSpPr>
        <p:spPr>
          <a:xfrm>
            <a:off x="10267798" y="5605272"/>
            <a:ext cx="6858000" cy="523951"/>
          </a:xfrm>
          <a:prstGeom prst="roundRect">
            <a:avLst>
              <a:gd name="adj" fmla="val 14485"/>
            </a:avLst>
          </a:prstGeom>
          <a:solidFill>
            <a:srgbClr val="F5F3FF"/>
          </a:solidFill>
          <a:ln/>
        </p:spPr>
        <p:txBody>
          <a:bodyPr/>
          <a:lstStyle/>
          <a:p>
            <a:endParaRPr lang="fr-CI"/>
          </a:p>
        </p:txBody>
      </p:sp>
      <p:sp>
        <p:nvSpPr>
          <p:cNvPr id="37" name="Shape 34"/>
          <p:cNvSpPr/>
          <p:nvPr/>
        </p:nvSpPr>
        <p:spPr>
          <a:xfrm>
            <a:off x="10267798" y="5605272"/>
            <a:ext cx="28346" cy="523951"/>
          </a:xfrm>
          <a:prstGeom prst="roundRect">
            <a:avLst>
              <a:gd name="adj" fmla="val 267746"/>
            </a:avLst>
          </a:prstGeom>
          <a:solidFill>
            <a:srgbClr val="A78BFA"/>
          </a:solidFill>
          <a:ln w="12700">
            <a:solidFill>
              <a:srgbClr val="A78BFA">
                <a:alpha val="0"/>
              </a:srgbClr>
            </a:solidFill>
            <a:prstDash val="solid"/>
          </a:ln>
        </p:spPr>
        <p:txBody>
          <a:bodyPr/>
          <a:lstStyle/>
          <a:p>
            <a:endParaRPr lang="fr-CI"/>
          </a:p>
        </p:txBody>
      </p:sp>
      <p:sp>
        <p:nvSpPr>
          <p:cNvPr id="38" name="Text 35"/>
          <p:cNvSpPr txBox="1"/>
          <p:nvPr/>
        </p:nvSpPr>
        <p:spPr>
          <a:xfrm>
            <a:off x="10429646" y="5790895"/>
            <a:ext cx="1047902" cy="152705"/>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12h00-13h00</a:t>
            </a:r>
            <a:endParaRPr lang="en-US" sz="900" dirty="0"/>
          </a:p>
        </p:txBody>
      </p:sp>
      <p:sp>
        <p:nvSpPr>
          <p:cNvPr id="39" name="Text 36"/>
          <p:cNvSpPr txBox="1"/>
          <p:nvPr/>
        </p:nvSpPr>
        <p:spPr>
          <a:xfrm>
            <a:off x="11611051" y="5700370"/>
            <a:ext cx="5382158" cy="171907"/>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Tests Livraison</a:t>
            </a:r>
            <a:endParaRPr lang="en-US" sz="900" dirty="0"/>
          </a:p>
        </p:txBody>
      </p:sp>
      <p:sp>
        <p:nvSpPr>
          <p:cNvPr id="40" name="Text 37"/>
          <p:cNvSpPr txBox="1"/>
          <p:nvPr/>
        </p:nvSpPr>
        <p:spPr>
          <a:xfrm>
            <a:off x="11611051" y="5872277"/>
            <a:ext cx="5382158" cy="162763"/>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Clients · Livreurs (10 motos)</a:t>
            </a:r>
            <a:endParaRPr lang="en-US" sz="900" dirty="0"/>
          </a:p>
        </p:txBody>
      </p:sp>
      <p:sp>
        <p:nvSpPr>
          <p:cNvPr id="41" name="Shape 38"/>
          <p:cNvSpPr/>
          <p:nvPr/>
        </p:nvSpPr>
        <p:spPr>
          <a:xfrm>
            <a:off x="10267798" y="6205118"/>
            <a:ext cx="6858000" cy="523951"/>
          </a:xfrm>
          <a:prstGeom prst="roundRect">
            <a:avLst>
              <a:gd name="adj" fmla="val 14485"/>
            </a:avLst>
          </a:prstGeom>
          <a:solidFill>
            <a:srgbClr val="FFFFFF"/>
          </a:solidFill>
          <a:ln/>
        </p:spPr>
        <p:txBody>
          <a:bodyPr/>
          <a:lstStyle/>
          <a:p>
            <a:endParaRPr lang="fr-CI"/>
          </a:p>
        </p:txBody>
      </p:sp>
      <p:sp>
        <p:nvSpPr>
          <p:cNvPr id="42" name="Shape 39"/>
          <p:cNvSpPr/>
          <p:nvPr/>
        </p:nvSpPr>
        <p:spPr>
          <a:xfrm>
            <a:off x="10267798" y="6205118"/>
            <a:ext cx="28346" cy="523951"/>
          </a:xfrm>
          <a:prstGeom prst="roundRect">
            <a:avLst>
              <a:gd name="adj" fmla="val 267746"/>
            </a:avLst>
          </a:prstGeom>
          <a:solidFill>
            <a:srgbClr val="D1D5DB"/>
          </a:solidFill>
          <a:ln w="12700">
            <a:solidFill>
              <a:srgbClr val="D1D5DB">
                <a:alpha val="0"/>
              </a:srgbClr>
            </a:solidFill>
            <a:prstDash val="solid"/>
          </a:ln>
        </p:spPr>
        <p:txBody>
          <a:bodyPr/>
          <a:lstStyle/>
          <a:p>
            <a:endParaRPr lang="fr-CI"/>
          </a:p>
        </p:txBody>
      </p:sp>
      <p:sp>
        <p:nvSpPr>
          <p:cNvPr id="43" name="Text 40"/>
          <p:cNvSpPr txBox="1"/>
          <p:nvPr/>
        </p:nvSpPr>
        <p:spPr>
          <a:xfrm>
            <a:off x="10429646" y="6391656"/>
            <a:ext cx="1047902" cy="152705"/>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13h00-14h00</a:t>
            </a:r>
            <a:endParaRPr lang="en-US" sz="900" dirty="0"/>
          </a:p>
        </p:txBody>
      </p:sp>
      <p:sp>
        <p:nvSpPr>
          <p:cNvPr id="44" name="Text 41"/>
          <p:cNvSpPr txBox="1"/>
          <p:nvPr/>
        </p:nvSpPr>
        <p:spPr>
          <a:xfrm>
            <a:off x="11611051" y="6301130"/>
            <a:ext cx="5382158" cy="171907"/>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Pause + collecte anomalies intermédiaire</a:t>
            </a:r>
            <a:endParaRPr lang="en-US" sz="900" dirty="0"/>
          </a:p>
        </p:txBody>
      </p:sp>
      <p:sp>
        <p:nvSpPr>
          <p:cNvPr id="45" name="Text 42"/>
          <p:cNvSpPr txBox="1"/>
          <p:nvPr/>
        </p:nvSpPr>
        <p:spPr>
          <a:xfrm>
            <a:off x="11611051" y="6472123"/>
            <a:ext cx="5382158" cy="162763"/>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Support · Technique</a:t>
            </a:r>
            <a:endParaRPr lang="en-US" sz="900" dirty="0"/>
          </a:p>
        </p:txBody>
      </p:sp>
      <p:sp>
        <p:nvSpPr>
          <p:cNvPr id="46" name="Shape 43"/>
          <p:cNvSpPr/>
          <p:nvPr/>
        </p:nvSpPr>
        <p:spPr>
          <a:xfrm>
            <a:off x="10267798" y="6805879"/>
            <a:ext cx="6858000" cy="523951"/>
          </a:xfrm>
          <a:prstGeom prst="roundRect">
            <a:avLst>
              <a:gd name="adj" fmla="val 14485"/>
            </a:avLst>
          </a:prstGeom>
          <a:solidFill>
            <a:srgbClr val="F5F3FF"/>
          </a:solidFill>
          <a:ln/>
        </p:spPr>
        <p:txBody>
          <a:bodyPr/>
          <a:lstStyle/>
          <a:p>
            <a:endParaRPr lang="fr-CI"/>
          </a:p>
        </p:txBody>
      </p:sp>
      <p:sp>
        <p:nvSpPr>
          <p:cNvPr id="47" name="Shape 44"/>
          <p:cNvSpPr/>
          <p:nvPr/>
        </p:nvSpPr>
        <p:spPr>
          <a:xfrm>
            <a:off x="10267798" y="6805879"/>
            <a:ext cx="28346" cy="523951"/>
          </a:xfrm>
          <a:prstGeom prst="roundRect">
            <a:avLst>
              <a:gd name="adj" fmla="val 267746"/>
            </a:avLst>
          </a:prstGeom>
          <a:solidFill>
            <a:srgbClr val="6D28D9"/>
          </a:solidFill>
          <a:ln w="12700">
            <a:solidFill>
              <a:srgbClr val="6D28D9">
                <a:alpha val="0"/>
              </a:srgbClr>
            </a:solidFill>
            <a:prstDash val="solid"/>
          </a:ln>
        </p:spPr>
        <p:txBody>
          <a:bodyPr/>
          <a:lstStyle/>
          <a:p>
            <a:endParaRPr lang="fr-CI"/>
          </a:p>
        </p:txBody>
      </p:sp>
      <p:sp>
        <p:nvSpPr>
          <p:cNvPr id="48" name="Text 45"/>
          <p:cNvSpPr txBox="1"/>
          <p:nvPr/>
        </p:nvSpPr>
        <p:spPr>
          <a:xfrm>
            <a:off x="10429646" y="6991502"/>
            <a:ext cx="1047902" cy="152705"/>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14h00-15h00</a:t>
            </a:r>
            <a:endParaRPr lang="en-US" sz="900" dirty="0"/>
          </a:p>
        </p:txBody>
      </p:sp>
      <p:sp>
        <p:nvSpPr>
          <p:cNvPr id="49" name="Text 46"/>
          <p:cNvSpPr txBox="1"/>
          <p:nvPr/>
        </p:nvSpPr>
        <p:spPr>
          <a:xfrm>
            <a:off x="11611051" y="6900977"/>
            <a:ext cx="5382158" cy="171907"/>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Tests Wallet · Commission · Solde insuffisant</a:t>
            </a:r>
            <a:endParaRPr lang="en-US" sz="900" dirty="0"/>
          </a:p>
        </p:txBody>
      </p:sp>
      <p:sp>
        <p:nvSpPr>
          <p:cNvPr id="50" name="Text 47"/>
          <p:cNvSpPr txBox="1"/>
          <p:nvPr/>
        </p:nvSpPr>
        <p:spPr>
          <a:xfrm>
            <a:off x="11611051" y="7071970"/>
            <a:ext cx="5382158" cy="162763"/>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Finance · Chauffeurs</a:t>
            </a:r>
            <a:endParaRPr lang="en-US" sz="900" dirty="0"/>
          </a:p>
        </p:txBody>
      </p:sp>
      <p:sp>
        <p:nvSpPr>
          <p:cNvPr id="51" name="Shape 48"/>
          <p:cNvSpPr/>
          <p:nvPr/>
        </p:nvSpPr>
        <p:spPr>
          <a:xfrm>
            <a:off x="10267798" y="7405726"/>
            <a:ext cx="6858000" cy="523951"/>
          </a:xfrm>
          <a:prstGeom prst="roundRect">
            <a:avLst>
              <a:gd name="adj" fmla="val 14485"/>
            </a:avLst>
          </a:prstGeom>
          <a:solidFill>
            <a:srgbClr val="FFFFFF"/>
          </a:solidFill>
          <a:ln/>
        </p:spPr>
        <p:txBody>
          <a:bodyPr/>
          <a:lstStyle/>
          <a:p>
            <a:endParaRPr lang="fr-CI"/>
          </a:p>
        </p:txBody>
      </p:sp>
      <p:sp>
        <p:nvSpPr>
          <p:cNvPr id="52" name="Shape 49"/>
          <p:cNvSpPr/>
          <p:nvPr/>
        </p:nvSpPr>
        <p:spPr>
          <a:xfrm>
            <a:off x="10267798" y="7405726"/>
            <a:ext cx="28346" cy="523951"/>
          </a:xfrm>
          <a:prstGeom prst="roundRect">
            <a:avLst>
              <a:gd name="adj" fmla="val 267746"/>
            </a:avLst>
          </a:prstGeom>
          <a:solidFill>
            <a:srgbClr val="A78BFA"/>
          </a:solidFill>
          <a:ln w="12700">
            <a:solidFill>
              <a:srgbClr val="A78BFA">
                <a:alpha val="0"/>
              </a:srgbClr>
            </a:solidFill>
            <a:prstDash val="solid"/>
          </a:ln>
        </p:spPr>
        <p:txBody>
          <a:bodyPr/>
          <a:lstStyle/>
          <a:p>
            <a:endParaRPr lang="fr-CI"/>
          </a:p>
        </p:txBody>
      </p:sp>
      <p:sp>
        <p:nvSpPr>
          <p:cNvPr id="53" name="Text 50"/>
          <p:cNvSpPr txBox="1"/>
          <p:nvPr/>
        </p:nvSpPr>
        <p:spPr>
          <a:xfrm>
            <a:off x="10429646" y="7591349"/>
            <a:ext cx="1047902" cy="152705"/>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15h00-16h00</a:t>
            </a:r>
            <a:endParaRPr lang="en-US" sz="900" dirty="0"/>
          </a:p>
        </p:txBody>
      </p:sp>
      <p:sp>
        <p:nvSpPr>
          <p:cNvPr id="54" name="Text 51"/>
          <p:cNvSpPr txBox="1"/>
          <p:nvPr/>
        </p:nvSpPr>
        <p:spPr>
          <a:xfrm>
            <a:off x="11611051" y="7500823"/>
            <a:ext cx="5382158" cy="171907"/>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Tests Partenaires</a:t>
            </a:r>
            <a:endParaRPr lang="en-US" sz="900" dirty="0"/>
          </a:p>
        </p:txBody>
      </p:sp>
      <p:sp>
        <p:nvSpPr>
          <p:cNvPr id="55" name="Text 52"/>
          <p:cNvSpPr txBox="1"/>
          <p:nvPr/>
        </p:nvSpPr>
        <p:spPr>
          <a:xfrm>
            <a:off x="11611051" y="7672730"/>
            <a:ext cx="5382158" cy="162763"/>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Partenaires · Central</a:t>
            </a:r>
            <a:endParaRPr lang="en-US" sz="900" dirty="0"/>
          </a:p>
        </p:txBody>
      </p:sp>
      <p:sp>
        <p:nvSpPr>
          <p:cNvPr id="56" name="Shape 53"/>
          <p:cNvSpPr/>
          <p:nvPr/>
        </p:nvSpPr>
        <p:spPr>
          <a:xfrm>
            <a:off x="10267798" y="8005572"/>
            <a:ext cx="6858000" cy="523951"/>
          </a:xfrm>
          <a:prstGeom prst="roundRect">
            <a:avLst>
              <a:gd name="adj" fmla="val 14485"/>
            </a:avLst>
          </a:prstGeom>
          <a:solidFill>
            <a:srgbClr val="FFFFFF"/>
          </a:solidFill>
          <a:ln/>
        </p:spPr>
        <p:txBody>
          <a:bodyPr/>
          <a:lstStyle/>
          <a:p>
            <a:endParaRPr lang="fr-CI"/>
          </a:p>
        </p:txBody>
      </p:sp>
      <p:sp>
        <p:nvSpPr>
          <p:cNvPr id="57" name="Shape 54"/>
          <p:cNvSpPr/>
          <p:nvPr/>
        </p:nvSpPr>
        <p:spPr>
          <a:xfrm>
            <a:off x="10267798" y="8005572"/>
            <a:ext cx="28346" cy="523951"/>
          </a:xfrm>
          <a:prstGeom prst="roundRect">
            <a:avLst>
              <a:gd name="adj" fmla="val 267746"/>
            </a:avLst>
          </a:prstGeom>
          <a:solidFill>
            <a:srgbClr val="A78BFA"/>
          </a:solidFill>
          <a:ln w="12700">
            <a:solidFill>
              <a:srgbClr val="A78BFA">
                <a:alpha val="0"/>
              </a:srgbClr>
            </a:solidFill>
            <a:prstDash val="solid"/>
          </a:ln>
        </p:spPr>
        <p:txBody>
          <a:bodyPr/>
          <a:lstStyle/>
          <a:p>
            <a:endParaRPr lang="fr-CI"/>
          </a:p>
        </p:txBody>
      </p:sp>
      <p:sp>
        <p:nvSpPr>
          <p:cNvPr id="58" name="Text 55"/>
          <p:cNvSpPr txBox="1"/>
          <p:nvPr/>
        </p:nvSpPr>
        <p:spPr>
          <a:xfrm>
            <a:off x="10429646" y="8191195"/>
            <a:ext cx="1047902" cy="152705"/>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16h00-17h00</a:t>
            </a:r>
            <a:endParaRPr lang="en-US" sz="900" dirty="0"/>
          </a:p>
        </p:txBody>
      </p:sp>
      <p:sp>
        <p:nvSpPr>
          <p:cNvPr id="59" name="Text 56"/>
          <p:cNvSpPr txBox="1"/>
          <p:nvPr/>
        </p:nvSpPr>
        <p:spPr>
          <a:xfrm>
            <a:off x="11611051" y="8100670"/>
            <a:ext cx="5382158" cy="171907"/>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Tests Franchise &amp; reporting zone</a:t>
            </a:r>
            <a:endParaRPr lang="en-US" sz="900" dirty="0"/>
          </a:p>
        </p:txBody>
      </p:sp>
      <p:sp>
        <p:nvSpPr>
          <p:cNvPr id="60" name="Text 57"/>
          <p:cNvSpPr txBox="1"/>
          <p:nvPr/>
        </p:nvSpPr>
        <p:spPr>
          <a:xfrm>
            <a:off x="11611051" y="8272577"/>
            <a:ext cx="5382158" cy="162763"/>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Franchise · Central</a:t>
            </a:r>
            <a:endParaRPr lang="en-US" sz="900" dirty="0"/>
          </a:p>
        </p:txBody>
      </p:sp>
      <p:sp>
        <p:nvSpPr>
          <p:cNvPr id="61" name="Shape 58"/>
          <p:cNvSpPr/>
          <p:nvPr/>
        </p:nvSpPr>
        <p:spPr>
          <a:xfrm>
            <a:off x="10267798" y="8605418"/>
            <a:ext cx="6858000" cy="523951"/>
          </a:xfrm>
          <a:prstGeom prst="roundRect">
            <a:avLst>
              <a:gd name="adj" fmla="val 14485"/>
            </a:avLst>
          </a:prstGeom>
          <a:solidFill>
            <a:srgbClr val="F5F3FF"/>
          </a:solidFill>
          <a:ln/>
        </p:spPr>
        <p:txBody>
          <a:bodyPr/>
          <a:lstStyle/>
          <a:p>
            <a:endParaRPr lang="fr-CI"/>
          </a:p>
        </p:txBody>
      </p:sp>
      <p:sp>
        <p:nvSpPr>
          <p:cNvPr id="62" name="Shape 59"/>
          <p:cNvSpPr/>
          <p:nvPr/>
        </p:nvSpPr>
        <p:spPr>
          <a:xfrm>
            <a:off x="10267798" y="8605418"/>
            <a:ext cx="28346" cy="523951"/>
          </a:xfrm>
          <a:prstGeom prst="roundRect">
            <a:avLst>
              <a:gd name="adj" fmla="val 267746"/>
            </a:avLst>
          </a:prstGeom>
          <a:solidFill>
            <a:srgbClr val="6D28D9"/>
          </a:solidFill>
          <a:ln w="12700">
            <a:solidFill>
              <a:srgbClr val="6D28D9">
                <a:alpha val="0"/>
              </a:srgbClr>
            </a:solidFill>
            <a:prstDash val="solid"/>
          </a:ln>
        </p:spPr>
        <p:txBody>
          <a:bodyPr/>
          <a:lstStyle/>
          <a:p>
            <a:endParaRPr lang="fr-CI"/>
          </a:p>
        </p:txBody>
      </p:sp>
      <p:sp>
        <p:nvSpPr>
          <p:cNvPr id="63" name="Text 60"/>
          <p:cNvSpPr txBox="1"/>
          <p:nvPr/>
        </p:nvSpPr>
        <p:spPr>
          <a:xfrm>
            <a:off x="10429646" y="8791956"/>
            <a:ext cx="1047902" cy="152705"/>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17h00-18h00</a:t>
            </a:r>
            <a:endParaRPr lang="en-US" sz="900" dirty="0"/>
          </a:p>
        </p:txBody>
      </p:sp>
      <p:sp>
        <p:nvSpPr>
          <p:cNvPr id="64" name="Text 61"/>
          <p:cNvSpPr txBox="1"/>
          <p:nvPr/>
        </p:nvSpPr>
        <p:spPr>
          <a:xfrm>
            <a:off x="11611051" y="8701430"/>
            <a:ext cx="5382158" cy="171907"/>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Tests Reporting central consolidé</a:t>
            </a:r>
            <a:endParaRPr lang="en-US" sz="900" dirty="0"/>
          </a:p>
        </p:txBody>
      </p:sp>
      <p:sp>
        <p:nvSpPr>
          <p:cNvPr id="65" name="Text 62"/>
          <p:cNvSpPr txBox="1"/>
          <p:nvPr/>
        </p:nvSpPr>
        <p:spPr>
          <a:xfrm>
            <a:off x="11611051" y="8872423"/>
            <a:ext cx="5382158" cy="162763"/>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Direction · Finance</a:t>
            </a:r>
            <a:endParaRPr lang="en-US" sz="900" dirty="0"/>
          </a:p>
        </p:txBody>
      </p:sp>
      <p:sp>
        <p:nvSpPr>
          <p:cNvPr id="66" name="Shape 63"/>
          <p:cNvSpPr/>
          <p:nvPr/>
        </p:nvSpPr>
        <p:spPr>
          <a:xfrm>
            <a:off x="10267798" y="9206179"/>
            <a:ext cx="6858000" cy="523951"/>
          </a:xfrm>
          <a:prstGeom prst="roundRect">
            <a:avLst>
              <a:gd name="adj" fmla="val 14485"/>
            </a:avLst>
          </a:prstGeom>
          <a:solidFill>
            <a:srgbClr val="1F2937"/>
          </a:solidFill>
          <a:ln/>
        </p:spPr>
        <p:txBody>
          <a:bodyPr/>
          <a:lstStyle/>
          <a:p>
            <a:endParaRPr lang="fr-CI"/>
          </a:p>
        </p:txBody>
      </p:sp>
      <p:sp>
        <p:nvSpPr>
          <p:cNvPr id="67" name="Shape 64"/>
          <p:cNvSpPr/>
          <p:nvPr/>
        </p:nvSpPr>
        <p:spPr>
          <a:xfrm>
            <a:off x="10267798" y="9206179"/>
            <a:ext cx="28346" cy="523951"/>
          </a:xfrm>
          <a:prstGeom prst="roundRect">
            <a:avLst>
              <a:gd name="adj" fmla="val 267746"/>
            </a:avLst>
          </a:prstGeom>
          <a:solidFill>
            <a:srgbClr val="A78BFA"/>
          </a:solidFill>
          <a:ln w="12700">
            <a:solidFill>
              <a:srgbClr val="A78BFA">
                <a:alpha val="0"/>
              </a:srgbClr>
            </a:solidFill>
            <a:prstDash val="solid"/>
          </a:ln>
        </p:spPr>
        <p:txBody>
          <a:bodyPr/>
          <a:lstStyle/>
          <a:p>
            <a:endParaRPr lang="fr-CI"/>
          </a:p>
        </p:txBody>
      </p:sp>
      <p:sp>
        <p:nvSpPr>
          <p:cNvPr id="68" name="Text 65"/>
          <p:cNvSpPr txBox="1"/>
          <p:nvPr/>
        </p:nvSpPr>
        <p:spPr>
          <a:xfrm>
            <a:off x="10429646" y="9391802"/>
            <a:ext cx="1047902" cy="152705"/>
          </a:xfrm>
          <a:prstGeom prst="rect">
            <a:avLst/>
          </a:prstGeom>
          <a:noFill/>
          <a:ln/>
        </p:spPr>
        <p:txBody>
          <a:bodyPr wrap="none" lIns="0" tIns="0" rIns="0" bIns="0" rtlCol="0" anchor="ctr"/>
          <a:lstStyle/>
          <a:p>
            <a:pPr marL="0" indent="0" algn="l">
              <a:buNone/>
            </a:pPr>
            <a:r>
              <a:rPr lang="en-US" sz="900" b="1" dirty="0">
                <a:solidFill>
                  <a:srgbClr val="A78BFA"/>
                </a:solidFill>
                <a:latin typeface="JetBrains Mono" pitchFamily="34" charset="0"/>
                <a:ea typeface="JetBrains Mono" pitchFamily="34" charset="-122"/>
                <a:cs typeface="JetBrains Mono" pitchFamily="34" charset="-120"/>
              </a:rPr>
              <a:t>18h00-19h00</a:t>
            </a:r>
            <a:endParaRPr lang="en-US" sz="900" dirty="0"/>
          </a:p>
        </p:txBody>
      </p:sp>
      <p:sp>
        <p:nvSpPr>
          <p:cNvPr id="69" name="Text 66"/>
          <p:cNvSpPr txBox="1"/>
          <p:nvPr/>
        </p:nvSpPr>
        <p:spPr>
          <a:xfrm>
            <a:off x="11611051" y="9301277"/>
            <a:ext cx="5382158" cy="171907"/>
          </a:xfrm>
          <a:prstGeom prst="rect">
            <a:avLst/>
          </a:prstGeom>
          <a:noFill/>
          <a:ln/>
        </p:spPr>
        <p:txBody>
          <a:bodyPr wrap="none" lIns="0" tIns="0" rIns="0" bIns="0" rtlCol="0" anchor="ctr"/>
          <a:lstStyle/>
          <a:p>
            <a:pPr marL="0" indent="0" algn="l">
              <a:buNone/>
            </a:pPr>
            <a:r>
              <a:rPr lang="en-US" sz="900" b="1" dirty="0">
                <a:solidFill>
                  <a:srgbClr val="FFFFFF"/>
                </a:solidFill>
                <a:latin typeface="Manrope" pitchFamily="34" charset="0"/>
                <a:ea typeface="Manrope" pitchFamily="34" charset="-122"/>
                <a:cs typeface="Manrope" pitchFamily="34" charset="-120"/>
              </a:rPr>
              <a:t>Débriefing général — synthèse anomalies</a:t>
            </a:r>
            <a:endParaRPr lang="en-US" sz="900" dirty="0"/>
          </a:p>
        </p:txBody>
      </p:sp>
      <p:sp>
        <p:nvSpPr>
          <p:cNvPr id="70" name="Text 67"/>
          <p:cNvSpPr txBox="1"/>
          <p:nvPr/>
        </p:nvSpPr>
        <p:spPr>
          <a:xfrm>
            <a:off x="11611051" y="9472270"/>
            <a:ext cx="5382158" cy="162763"/>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Tous les participants</a:t>
            </a:r>
            <a:endParaRPr lang="en-US" sz="900" dirty="0"/>
          </a:p>
        </p:txBody>
      </p:sp>
      <p:sp>
        <p:nvSpPr>
          <p:cNvPr id="71" name="Shape 68"/>
          <p:cNvSpPr/>
          <p:nvPr/>
        </p:nvSpPr>
        <p:spPr>
          <a:xfrm>
            <a:off x="0" y="9791395"/>
            <a:ext cx="18288000" cy="495605"/>
          </a:xfrm>
          <a:prstGeom prst="rect">
            <a:avLst/>
          </a:prstGeom>
          <a:solidFill>
            <a:srgbClr val="FFFFFF"/>
          </a:solidFill>
          <a:ln/>
        </p:spPr>
        <p:txBody>
          <a:bodyPr/>
          <a:lstStyle/>
          <a:p>
            <a:endParaRPr lang="fr-CI"/>
          </a:p>
        </p:txBody>
      </p:sp>
      <p:sp>
        <p:nvSpPr>
          <p:cNvPr id="72" name="Shape 69"/>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73" name="Text 70"/>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74" name="Text 71"/>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48 / 59</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5265908" y="256946"/>
            <a:ext cx="2879446"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Partie VIII — §21 Planning J-3 → J0</a:t>
            </a:r>
            <a:endParaRPr lang="en-US" sz="900" dirty="0"/>
          </a:p>
        </p:txBody>
      </p:sp>
      <p:sp>
        <p:nvSpPr>
          <p:cNvPr id="10" name="Text 8"/>
          <p:cNvSpPr txBox="1"/>
          <p:nvPr/>
        </p:nvSpPr>
        <p:spPr>
          <a:xfrm>
            <a:off x="914400" y="1205179"/>
            <a:ext cx="3610966"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21. Planning détaillé — Phase 1/2</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8479110"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Du jeudi 18 juin au dimanche 21 juin 2026 — préparation &amp; test réel.</a:t>
            </a:r>
            <a:endParaRPr lang="en-US" sz="3900" dirty="0"/>
          </a:p>
        </p:txBody>
      </p:sp>
      <p:pic>
        <p:nvPicPr>
          <p:cNvPr id="13" name="Image 0" descr="gen-dedup-ecb6464f664fa3063198422bbf8b5838.jpg"/>
          <p:cNvPicPr>
            <a:picLocks noChangeAspect="1"/>
          </p:cNvPicPr>
          <p:nvPr/>
        </p:nvPicPr>
        <p:blipFill>
          <a:blip r:embed="rId2"/>
          <a:srcRect l="-112378" r="-112378"/>
          <a:stretch/>
        </p:blipFill>
        <p:spPr>
          <a:xfrm>
            <a:off x="914400" y="2667305"/>
            <a:ext cx="16497605" cy="2857500"/>
          </a:xfrm>
          <a:prstGeom prst="rect">
            <a:avLst/>
          </a:prstGeom>
        </p:spPr>
      </p:pic>
      <p:sp>
        <p:nvSpPr>
          <p:cNvPr id="14" name="Shape 11"/>
          <p:cNvSpPr/>
          <p:nvPr/>
        </p:nvSpPr>
        <p:spPr>
          <a:xfrm>
            <a:off x="914400" y="5810098"/>
            <a:ext cx="4028846" cy="3619195"/>
          </a:xfrm>
          <a:prstGeom prst="roundRect">
            <a:avLst>
              <a:gd name="adj" fmla="val 3689"/>
            </a:avLst>
          </a:prstGeom>
          <a:solidFill>
            <a:srgbClr val="FFFFFF"/>
          </a:solidFill>
          <a:ln w="12700">
            <a:solidFill>
              <a:srgbClr val="E5E7EB"/>
            </a:solidFill>
            <a:prstDash val="solid"/>
          </a:ln>
        </p:spPr>
        <p:txBody>
          <a:bodyPr/>
          <a:lstStyle/>
          <a:p>
            <a:endParaRPr lang="fr-CI"/>
          </a:p>
        </p:txBody>
      </p:sp>
      <p:sp>
        <p:nvSpPr>
          <p:cNvPr id="15" name="Shape 12"/>
          <p:cNvSpPr/>
          <p:nvPr/>
        </p:nvSpPr>
        <p:spPr>
          <a:xfrm>
            <a:off x="1114654" y="6010351"/>
            <a:ext cx="418795" cy="418795"/>
          </a:xfrm>
          <a:prstGeom prst="roundRect">
            <a:avLst>
              <a:gd name="adj" fmla="val 22707"/>
            </a:avLst>
          </a:prstGeom>
          <a:solidFill>
            <a:srgbClr val="C4B5FD"/>
          </a:solidFill>
          <a:ln w="12700">
            <a:solidFill>
              <a:srgbClr val="FFFFFF">
                <a:alpha val="0"/>
              </a:srgbClr>
            </a:solidFill>
            <a:prstDash val="solid"/>
          </a:ln>
        </p:spPr>
        <p:txBody>
          <a:bodyPr/>
          <a:lstStyle/>
          <a:p>
            <a:endParaRPr lang="fr-CI"/>
          </a:p>
        </p:txBody>
      </p:sp>
      <p:sp>
        <p:nvSpPr>
          <p:cNvPr id="16" name="Text 13"/>
          <p:cNvSpPr txBox="1"/>
          <p:nvPr/>
        </p:nvSpPr>
        <p:spPr>
          <a:xfrm>
            <a:off x="1114654" y="6010351"/>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300" b="1" dirty="0">
                <a:solidFill>
                  <a:srgbClr val="1F2937"/>
                </a:solidFill>
                <a:latin typeface="JetBrains Mono" pitchFamily="34" charset="0"/>
                <a:ea typeface="JetBrains Mono" pitchFamily="34" charset="-122"/>
                <a:cs typeface="JetBrains Mono" pitchFamily="34" charset="-120"/>
              </a:rPr>
              <a:t>J-3</a:t>
            </a:r>
            <a:endParaRPr lang="en-US" sz="1300" dirty="0"/>
          </a:p>
        </p:txBody>
      </p:sp>
      <p:sp>
        <p:nvSpPr>
          <p:cNvPr id="17" name="Text 14"/>
          <p:cNvSpPr txBox="1"/>
          <p:nvPr/>
        </p:nvSpPr>
        <p:spPr>
          <a:xfrm>
            <a:off x="1647749" y="6048756"/>
            <a:ext cx="876910"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JEUDI</a:t>
            </a:r>
            <a:endParaRPr lang="en-US" sz="800" dirty="0"/>
          </a:p>
        </p:txBody>
      </p:sp>
      <p:sp>
        <p:nvSpPr>
          <p:cNvPr id="18" name="Text 15"/>
          <p:cNvSpPr txBox="1"/>
          <p:nvPr/>
        </p:nvSpPr>
        <p:spPr>
          <a:xfrm>
            <a:off x="1647749" y="6181344"/>
            <a:ext cx="1043330" cy="210312"/>
          </a:xfrm>
          <a:prstGeom prst="rect">
            <a:avLst/>
          </a:prstGeom>
          <a:noFill/>
          <a:ln/>
        </p:spPr>
        <p:txBody>
          <a:bodyPr wrap="non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18 juin 2026</a:t>
            </a:r>
            <a:endParaRPr lang="en-US" sz="1200" dirty="0"/>
          </a:p>
        </p:txBody>
      </p:sp>
      <p:sp>
        <p:nvSpPr>
          <p:cNvPr id="19" name="Text 16"/>
          <p:cNvSpPr txBox="1"/>
          <p:nvPr/>
        </p:nvSpPr>
        <p:spPr>
          <a:xfrm>
            <a:off x="1114654" y="6562649"/>
            <a:ext cx="3629254"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Préparation &amp; cadrage</a:t>
            </a:r>
            <a:endParaRPr lang="en-US" sz="1300" dirty="0"/>
          </a:p>
        </p:txBody>
      </p:sp>
      <p:sp>
        <p:nvSpPr>
          <p:cNvPr id="20" name="Text 17"/>
          <p:cNvSpPr txBox="1"/>
          <p:nvPr/>
        </p:nvSpPr>
        <p:spPr>
          <a:xfrm>
            <a:off x="1114654" y="6867144"/>
            <a:ext cx="3629254"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Validation du plan de recette</a:t>
            </a:r>
            <a:endParaRPr lang="en-US" sz="900" dirty="0"/>
          </a:p>
        </p:txBody>
      </p:sp>
      <p:sp>
        <p:nvSpPr>
          <p:cNvPr id="21" name="Text 18"/>
          <p:cNvSpPr txBox="1"/>
          <p:nvPr/>
        </p:nvSpPr>
        <p:spPr>
          <a:xfrm>
            <a:off x="1114654" y="7039051"/>
            <a:ext cx="3629254"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Confirmation version éditeur</a:t>
            </a:r>
            <a:endParaRPr lang="en-US" sz="900" dirty="0"/>
          </a:p>
        </p:txBody>
      </p:sp>
      <p:sp>
        <p:nvSpPr>
          <p:cNvPr id="22" name="Text 19"/>
          <p:cNvSpPr txBox="1"/>
          <p:nvPr/>
        </p:nvSpPr>
        <p:spPr>
          <a:xfrm>
            <a:off x="1114654" y="7210044"/>
            <a:ext cx="3629254"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Vérification accès préprod</a:t>
            </a:r>
            <a:endParaRPr lang="en-US" sz="900" dirty="0"/>
          </a:p>
        </p:txBody>
      </p:sp>
      <p:sp>
        <p:nvSpPr>
          <p:cNvPr id="23" name="Text 20"/>
          <p:cNvSpPr txBox="1"/>
          <p:nvPr/>
        </p:nvSpPr>
        <p:spPr>
          <a:xfrm>
            <a:off x="1114654" y="7381951"/>
            <a:ext cx="3629254"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Préparation comptes tests</a:t>
            </a:r>
            <a:endParaRPr lang="en-US" sz="900" dirty="0"/>
          </a:p>
        </p:txBody>
      </p:sp>
      <p:sp>
        <p:nvSpPr>
          <p:cNvPr id="24" name="Text 21"/>
          <p:cNvSpPr txBox="1"/>
          <p:nvPr/>
        </p:nvSpPr>
        <p:spPr>
          <a:xfrm>
            <a:off x="1114654" y="7552944"/>
            <a:ext cx="3629254"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Définition zones de test</a:t>
            </a:r>
            <a:endParaRPr lang="en-US" sz="900" dirty="0"/>
          </a:p>
        </p:txBody>
      </p:sp>
      <p:sp>
        <p:nvSpPr>
          <p:cNvPr id="25" name="Text 22"/>
          <p:cNvSpPr txBox="1"/>
          <p:nvPr/>
        </p:nvSpPr>
        <p:spPr>
          <a:xfrm>
            <a:off x="1114654" y="7724851"/>
            <a:ext cx="3629254"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Confirmation 40 engins</a:t>
            </a:r>
            <a:endParaRPr lang="en-US" sz="900" dirty="0"/>
          </a:p>
        </p:txBody>
      </p:sp>
      <p:sp>
        <p:nvSpPr>
          <p:cNvPr id="26" name="Text 23"/>
          <p:cNvSpPr txBox="1"/>
          <p:nvPr/>
        </p:nvSpPr>
        <p:spPr>
          <a:xfrm>
            <a:off x="1114654" y="7895844"/>
            <a:ext cx="3629254"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Mise en place registre anomalies</a:t>
            </a:r>
            <a:endParaRPr lang="en-US" sz="900" dirty="0"/>
          </a:p>
        </p:txBody>
      </p:sp>
      <p:sp>
        <p:nvSpPr>
          <p:cNvPr id="27" name="Shape 24"/>
          <p:cNvSpPr/>
          <p:nvPr/>
        </p:nvSpPr>
        <p:spPr>
          <a:xfrm>
            <a:off x="1114654" y="8201254"/>
            <a:ext cx="3629254" cy="647395"/>
          </a:xfrm>
          <a:prstGeom prst="roundRect">
            <a:avLst>
              <a:gd name="adj" fmla="val 11723"/>
            </a:avLst>
          </a:prstGeom>
          <a:solidFill>
            <a:srgbClr val="F5F3FF"/>
          </a:solidFill>
          <a:ln w="12700">
            <a:solidFill>
              <a:srgbClr val="FFFFFF">
                <a:alpha val="0"/>
              </a:srgbClr>
            </a:solidFill>
            <a:prstDash val="solid"/>
          </a:ln>
        </p:spPr>
        <p:txBody>
          <a:bodyPr/>
          <a:lstStyle/>
          <a:p>
            <a:endParaRPr lang="fr-CI"/>
          </a:p>
        </p:txBody>
      </p:sp>
      <p:sp>
        <p:nvSpPr>
          <p:cNvPr id="28" name="Text 25"/>
          <p:cNvSpPr txBox="1"/>
          <p:nvPr/>
        </p:nvSpPr>
        <p:spPr>
          <a:xfrm>
            <a:off x="1209751" y="8296351"/>
            <a:ext cx="3439058"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LIVRABLES</a:t>
            </a:r>
            <a:endParaRPr lang="en-US" sz="800" dirty="0"/>
          </a:p>
        </p:txBody>
      </p:sp>
      <p:sp>
        <p:nvSpPr>
          <p:cNvPr id="29" name="Text 26"/>
          <p:cNvSpPr txBox="1"/>
          <p:nvPr/>
        </p:nvSpPr>
        <p:spPr>
          <a:xfrm>
            <a:off x="1209751" y="8458200"/>
            <a:ext cx="3439058" cy="295351"/>
          </a:xfrm>
          <a:prstGeom prst="rect">
            <a:avLst/>
          </a:prstGeom>
          <a:noFill/>
          <a:ln/>
        </p:spPr>
        <p:txBody>
          <a:bodyPr wrap="square" lIns="0" tIns="0" rIns="0" bIns="0" rtlCol="0" anchor="ctr"/>
          <a:lstStyle/>
          <a:p>
            <a:pPr marL="0" indent="0" algn="l">
              <a:buNone/>
            </a:pPr>
            <a:r>
              <a:rPr lang="en-US" sz="800" dirty="0">
                <a:solidFill>
                  <a:srgbClr val="1F2937"/>
                </a:solidFill>
                <a:latin typeface="Manrope" pitchFamily="34" charset="0"/>
                <a:ea typeface="Manrope" pitchFamily="34" charset="-122"/>
                <a:cs typeface="Manrope" pitchFamily="34" charset="-120"/>
              </a:rPr>
              <a:t>Liste testeurs · liste engins · accès préprod · grille recette · planning confirmé.</a:t>
            </a:r>
            <a:endParaRPr lang="en-US" sz="800" dirty="0"/>
          </a:p>
        </p:txBody>
      </p:sp>
      <p:sp>
        <p:nvSpPr>
          <p:cNvPr id="30" name="Shape 27"/>
          <p:cNvSpPr/>
          <p:nvPr/>
        </p:nvSpPr>
        <p:spPr>
          <a:xfrm>
            <a:off x="5072177" y="5810098"/>
            <a:ext cx="4028846" cy="3619195"/>
          </a:xfrm>
          <a:prstGeom prst="roundRect">
            <a:avLst>
              <a:gd name="adj" fmla="val 3689"/>
            </a:avLst>
          </a:prstGeom>
          <a:solidFill>
            <a:srgbClr val="FFFFFF"/>
          </a:solidFill>
          <a:ln w="12700">
            <a:solidFill>
              <a:srgbClr val="E5E7EB"/>
            </a:solidFill>
            <a:prstDash val="solid"/>
          </a:ln>
        </p:spPr>
        <p:txBody>
          <a:bodyPr/>
          <a:lstStyle/>
          <a:p>
            <a:endParaRPr lang="fr-CI"/>
          </a:p>
        </p:txBody>
      </p:sp>
      <p:sp>
        <p:nvSpPr>
          <p:cNvPr id="31" name="Shape 28"/>
          <p:cNvSpPr/>
          <p:nvPr/>
        </p:nvSpPr>
        <p:spPr>
          <a:xfrm>
            <a:off x="5272430" y="6010351"/>
            <a:ext cx="418795" cy="418795"/>
          </a:xfrm>
          <a:prstGeom prst="roundRect">
            <a:avLst>
              <a:gd name="adj" fmla="val 22707"/>
            </a:avLst>
          </a:prstGeom>
          <a:solidFill>
            <a:srgbClr val="A78BFA"/>
          </a:solidFill>
          <a:ln w="12700">
            <a:solidFill>
              <a:srgbClr val="FFFFFF">
                <a:alpha val="0"/>
              </a:srgbClr>
            </a:solidFill>
            <a:prstDash val="solid"/>
          </a:ln>
        </p:spPr>
        <p:txBody>
          <a:bodyPr/>
          <a:lstStyle/>
          <a:p>
            <a:endParaRPr lang="fr-CI"/>
          </a:p>
        </p:txBody>
      </p:sp>
      <p:sp>
        <p:nvSpPr>
          <p:cNvPr id="32" name="Text 29"/>
          <p:cNvSpPr txBox="1"/>
          <p:nvPr/>
        </p:nvSpPr>
        <p:spPr>
          <a:xfrm>
            <a:off x="5272430" y="6010351"/>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300" b="1" dirty="0">
                <a:solidFill>
                  <a:srgbClr val="FFFFFF"/>
                </a:solidFill>
                <a:latin typeface="JetBrains Mono" pitchFamily="34" charset="0"/>
                <a:ea typeface="JetBrains Mono" pitchFamily="34" charset="-122"/>
                <a:cs typeface="JetBrains Mono" pitchFamily="34" charset="-120"/>
              </a:rPr>
              <a:t>J-2</a:t>
            </a:r>
            <a:endParaRPr lang="en-US" sz="1300" dirty="0"/>
          </a:p>
        </p:txBody>
      </p:sp>
      <p:sp>
        <p:nvSpPr>
          <p:cNvPr id="33" name="Text 30"/>
          <p:cNvSpPr txBox="1"/>
          <p:nvPr/>
        </p:nvSpPr>
        <p:spPr>
          <a:xfrm>
            <a:off x="5805526" y="6048756"/>
            <a:ext cx="876910"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VENDREDI</a:t>
            </a:r>
            <a:endParaRPr lang="en-US" sz="800" dirty="0"/>
          </a:p>
        </p:txBody>
      </p:sp>
      <p:sp>
        <p:nvSpPr>
          <p:cNvPr id="34" name="Text 31"/>
          <p:cNvSpPr txBox="1"/>
          <p:nvPr/>
        </p:nvSpPr>
        <p:spPr>
          <a:xfrm>
            <a:off x="5805526" y="6181344"/>
            <a:ext cx="1043330" cy="210312"/>
          </a:xfrm>
          <a:prstGeom prst="rect">
            <a:avLst/>
          </a:prstGeom>
          <a:noFill/>
          <a:ln/>
        </p:spPr>
        <p:txBody>
          <a:bodyPr wrap="non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19 juin 2026</a:t>
            </a:r>
            <a:endParaRPr lang="en-US" sz="1200" dirty="0"/>
          </a:p>
        </p:txBody>
      </p:sp>
      <p:sp>
        <p:nvSpPr>
          <p:cNvPr id="35" name="Text 32"/>
          <p:cNvSpPr txBox="1"/>
          <p:nvPr/>
        </p:nvSpPr>
        <p:spPr>
          <a:xfrm>
            <a:off x="5272430" y="6562649"/>
            <a:ext cx="3629254"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Recette interne préprod</a:t>
            </a:r>
            <a:endParaRPr lang="en-US" sz="1300" dirty="0"/>
          </a:p>
        </p:txBody>
      </p:sp>
      <p:sp>
        <p:nvSpPr>
          <p:cNvPr id="36" name="Text 33"/>
          <p:cNvSpPr txBox="1"/>
          <p:nvPr/>
        </p:nvSpPr>
        <p:spPr>
          <a:xfrm>
            <a:off x="5272430" y="6867144"/>
            <a:ext cx="3629254"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Installation applis pilotes</a:t>
            </a:r>
            <a:endParaRPr lang="en-US" sz="900" dirty="0"/>
          </a:p>
        </p:txBody>
      </p:sp>
      <p:sp>
        <p:nvSpPr>
          <p:cNvPr id="37" name="Text 34"/>
          <p:cNvSpPr txBox="1"/>
          <p:nvPr/>
        </p:nvSpPr>
        <p:spPr>
          <a:xfrm>
            <a:off x="5272430" y="7039051"/>
            <a:ext cx="3629254"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Tests OTP client / chauffeur</a:t>
            </a:r>
            <a:endParaRPr lang="en-US" sz="900" dirty="0"/>
          </a:p>
        </p:txBody>
      </p:sp>
      <p:sp>
        <p:nvSpPr>
          <p:cNvPr id="38" name="Text 35"/>
          <p:cNvSpPr txBox="1"/>
          <p:nvPr/>
        </p:nvSpPr>
        <p:spPr>
          <a:xfrm>
            <a:off x="5272430" y="7210044"/>
            <a:ext cx="3629254"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Tests création comptes</a:t>
            </a:r>
            <a:endParaRPr lang="en-US" sz="900" dirty="0"/>
          </a:p>
        </p:txBody>
      </p:sp>
      <p:sp>
        <p:nvSpPr>
          <p:cNvPr id="39" name="Text 36"/>
          <p:cNvSpPr txBox="1"/>
          <p:nvPr/>
        </p:nvSpPr>
        <p:spPr>
          <a:xfrm>
            <a:off x="5272430" y="7381951"/>
            <a:ext cx="3629254"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Tests validation administrative</a:t>
            </a:r>
            <a:endParaRPr lang="en-US" sz="900" dirty="0"/>
          </a:p>
        </p:txBody>
      </p:sp>
      <p:sp>
        <p:nvSpPr>
          <p:cNvPr id="40" name="Text 37"/>
          <p:cNvSpPr txBox="1"/>
          <p:nvPr/>
        </p:nvSpPr>
        <p:spPr>
          <a:xfrm>
            <a:off x="5272430" y="7552944"/>
            <a:ext cx="3629254"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Tests demandes 4 services</a:t>
            </a:r>
            <a:endParaRPr lang="en-US" sz="900" dirty="0"/>
          </a:p>
        </p:txBody>
      </p:sp>
      <p:sp>
        <p:nvSpPr>
          <p:cNvPr id="41" name="Text 38"/>
          <p:cNvSpPr txBox="1"/>
          <p:nvPr/>
        </p:nvSpPr>
        <p:spPr>
          <a:xfrm>
            <a:off x="5272430" y="7724851"/>
            <a:ext cx="3629254"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Tests wallet · commission</a:t>
            </a:r>
            <a:endParaRPr lang="en-US" sz="900" dirty="0"/>
          </a:p>
        </p:txBody>
      </p:sp>
      <p:sp>
        <p:nvSpPr>
          <p:cNvPr id="42" name="Text 39"/>
          <p:cNvSpPr txBox="1"/>
          <p:nvPr/>
        </p:nvSpPr>
        <p:spPr>
          <a:xfrm>
            <a:off x="5272430" y="7895844"/>
            <a:ext cx="3629254"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Tests reporting · réclamations</a:t>
            </a:r>
            <a:endParaRPr lang="en-US" sz="900" dirty="0"/>
          </a:p>
        </p:txBody>
      </p:sp>
      <p:sp>
        <p:nvSpPr>
          <p:cNvPr id="43" name="Text 40"/>
          <p:cNvSpPr txBox="1"/>
          <p:nvPr/>
        </p:nvSpPr>
        <p:spPr>
          <a:xfrm>
            <a:off x="5272430" y="8067751"/>
            <a:ext cx="3629254"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Correction anomalies bloquantes</a:t>
            </a:r>
            <a:endParaRPr lang="en-US" sz="900" dirty="0"/>
          </a:p>
        </p:txBody>
      </p:sp>
      <p:sp>
        <p:nvSpPr>
          <p:cNvPr id="44" name="Shape 41"/>
          <p:cNvSpPr/>
          <p:nvPr/>
        </p:nvSpPr>
        <p:spPr>
          <a:xfrm>
            <a:off x="5272430" y="8372246"/>
            <a:ext cx="3629254" cy="647395"/>
          </a:xfrm>
          <a:prstGeom prst="roundRect">
            <a:avLst>
              <a:gd name="adj" fmla="val 11723"/>
            </a:avLst>
          </a:prstGeom>
          <a:solidFill>
            <a:srgbClr val="F5F3FF"/>
          </a:solidFill>
          <a:ln w="12700">
            <a:solidFill>
              <a:srgbClr val="FFFFFF">
                <a:alpha val="0"/>
              </a:srgbClr>
            </a:solidFill>
            <a:prstDash val="solid"/>
          </a:ln>
        </p:spPr>
        <p:txBody>
          <a:bodyPr/>
          <a:lstStyle/>
          <a:p>
            <a:endParaRPr lang="fr-CI"/>
          </a:p>
        </p:txBody>
      </p:sp>
      <p:sp>
        <p:nvSpPr>
          <p:cNvPr id="45" name="Text 42"/>
          <p:cNvSpPr txBox="1"/>
          <p:nvPr/>
        </p:nvSpPr>
        <p:spPr>
          <a:xfrm>
            <a:off x="5367528" y="8467344"/>
            <a:ext cx="3439058"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LIVRABLES</a:t>
            </a:r>
            <a:endParaRPr lang="en-US" sz="800" dirty="0"/>
          </a:p>
        </p:txBody>
      </p:sp>
      <p:sp>
        <p:nvSpPr>
          <p:cNvPr id="46" name="Text 43"/>
          <p:cNvSpPr txBox="1"/>
          <p:nvPr/>
        </p:nvSpPr>
        <p:spPr>
          <a:xfrm>
            <a:off x="5367528" y="8630107"/>
            <a:ext cx="3439058" cy="295351"/>
          </a:xfrm>
          <a:prstGeom prst="rect">
            <a:avLst/>
          </a:prstGeom>
          <a:noFill/>
          <a:ln/>
        </p:spPr>
        <p:txBody>
          <a:bodyPr wrap="square" lIns="0" tIns="0" rIns="0" bIns="0" rtlCol="0" anchor="ctr"/>
          <a:lstStyle/>
          <a:p>
            <a:pPr marL="0" indent="0" algn="l">
              <a:buNone/>
            </a:pPr>
            <a:r>
              <a:rPr lang="en-US" sz="800" dirty="0">
                <a:solidFill>
                  <a:srgbClr val="1F2937"/>
                </a:solidFill>
                <a:latin typeface="Manrope" pitchFamily="34" charset="0"/>
                <a:ea typeface="Manrope" pitchFamily="34" charset="-122"/>
                <a:cs typeface="Manrope" pitchFamily="34" charset="-120"/>
              </a:rPr>
              <a:t>Rapport recette interne · listes anomalies critiques &amp; majeures · décision poursuite.</a:t>
            </a:r>
            <a:endParaRPr lang="en-US" sz="800" dirty="0"/>
          </a:p>
        </p:txBody>
      </p:sp>
      <p:sp>
        <p:nvSpPr>
          <p:cNvPr id="47" name="Shape 44"/>
          <p:cNvSpPr/>
          <p:nvPr/>
        </p:nvSpPr>
        <p:spPr>
          <a:xfrm>
            <a:off x="9229954" y="5810098"/>
            <a:ext cx="4028846" cy="3619195"/>
          </a:xfrm>
          <a:prstGeom prst="roundRect">
            <a:avLst>
              <a:gd name="adj" fmla="val 3689"/>
            </a:avLst>
          </a:prstGeom>
          <a:solidFill>
            <a:srgbClr val="FFFFFF"/>
          </a:solidFill>
          <a:ln w="12700">
            <a:solidFill>
              <a:srgbClr val="E5E7EB"/>
            </a:solidFill>
            <a:prstDash val="solid"/>
          </a:ln>
        </p:spPr>
        <p:txBody>
          <a:bodyPr/>
          <a:lstStyle/>
          <a:p>
            <a:endParaRPr lang="fr-CI"/>
          </a:p>
        </p:txBody>
      </p:sp>
      <p:sp>
        <p:nvSpPr>
          <p:cNvPr id="48" name="Shape 45"/>
          <p:cNvSpPr/>
          <p:nvPr/>
        </p:nvSpPr>
        <p:spPr>
          <a:xfrm>
            <a:off x="9430207" y="6010351"/>
            <a:ext cx="418795" cy="418795"/>
          </a:xfrm>
          <a:prstGeom prst="roundRect">
            <a:avLst>
              <a:gd name="adj" fmla="val 22707"/>
            </a:avLst>
          </a:prstGeom>
          <a:solidFill>
            <a:srgbClr val="8B5CF6"/>
          </a:solidFill>
          <a:ln w="12700">
            <a:solidFill>
              <a:srgbClr val="FFFFFF">
                <a:alpha val="0"/>
              </a:srgbClr>
            </a:solidFill>
            <a:prstDash val="solid"/>
          </a:ln>
        </p:spPr>
        <p:txBody>
          <a:bodyPr/>
          <a:lstStyle/>
          <a:p>
            <a:endParaRPr lang="fr-CI"/>
          </a:p>
        </p:txBody>
      </p:sp>
      <p:sp>
        <p:nvSpPr>
          <p:cNvPr id="49" name="Text 46"/>
          <p:cNvSpPr txBox="1"/>
          <p:nvPr/>
        </p:nvSpPr>
        <p:spPr>
          <a:xfrm>
            <a:off x="9430207" y="6010351"/>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300" b="1" dirty="0">
                <a:solidFill>
                  <a:srgbClr val="FFFFFF"/>
                </a:solidFill>
                <a:latin typeface="JetBrains Mono" pitchFamily="34" charset="0"/>
                <a:ea typeface="JetBrains Mono" pitchFamily="34" charset="-122"/>
                <a:cs typeface="JetBrains Mono" pitchFamily="34" charset="-120"/>
              </a:rPr>
              <a:t>J-1</a:t>
            </a:r>
            <a:endParaRPr lang="en-US" sz="1300" dirty="0"/>
          </a:p>
        </p:txBody>
      </p:sp>
      <p:sp>
        <p:nvSpPr>
          <p:cNvPr id="50" name="Text 47"/>
          <p:cNvSpPr txBox="1"/>
          <p:nvPr/>
        </p:nvSpPr>
        <p:spPr>
          <a:xfrm>
            <a:off x="9963302" y="6048756"/>
            <a:ext cx="914400"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SAMEDI</a:t>
            </a:r>
            <a:endParaRPr lang="en-US" sz="800" dirty="0"/>
          </a:p>
        </p:txBody>
      </p:sp>
      <p:sp>
        <p:nvSpPr>
          <p:cNvPr id="51" name="Text 48"/>
          <p:cNvSpPr txBox="1"/>
          <p:nvPr/>
        </p:nvSpPr>
        <p:spPr>
          <a:xfrm>
            <a:off x="9963302" y="6181344"/>
            <a:ext cx="1088136" cy="210312"/>
          </a:xfrm>
          <a:prstGeom prst="rect">
            <a:avLst/>
          </a:prstGeom>
          <a:noFill/>
          <a:ln/>
        </p:spPr>
        <p:txBody>
          <a:bodyPr wrap="non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20 juin 2026</a:t>
            </a:r>
            <a:endParaRPr lang="en-US" sz="1200" dirty="0"/>
          </a:p>
        </p:txBody>
      </p:sp>
      <p:sp>
        <p:nvSpPr>
          <p:cNvPr id="52" name="Text 49"/>
          <p:cNvSpPr txBox="1"/>
          <p:nvPr/>
        </p:nvSpPr>
        <p:spPr>
          <a:xfrm>
            <a:off x="9430207" y="6562649"/>
            <a:ext cx="3629254"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Pré-test terrain &amp; formation</a:t>
            </a:r>
            <a:endParaRPr lang="en-US" sz="1300" dirty="0"/>
          </a:p>
        </p:txBody>
      </p:sp>
      <p:sp>
        <p:nvSpPr>
          <p:cNvPr id="53" name="Text 50"/>
          <p:cNvSpPr txBox="1"/>
          <p:nvPr/>
        </p:nvSpPr>
        <p:spPr>
          <a:xfrm>
            <a:off x="9430207" y="6867144"/>
            <a:ext cx="3629254"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Formation chauffeurs</a:t>
            </a:r>
            <a:endParaRPr lang="en-US" sz="900" dirty="0"/>
          </a:p>
        </p:txBody>
      </p:sp>
      <p:sp>
        <p:nvSpPr>
          <p:cNvPr id="54" name="Text 51"/>
          <p:cNvSpPr txBox="1"/>
          <p:nvPr/>
        </p:nvSpPr>
        <p:spPr>
          <a:xfrm>
            <a:off x="9430207" y="7039051"/>
            <a:ext cx="3629254"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Formation livreurs</a:t>
            </a:r>
            <a:endParaRPr lang="en-US" sz="900" dirty="0"/>
          </a:p>
        </p:txBody>
      </p:sp>
      <p:sp>
        <p:nvSpPr>
          <p:cNvPr id="55" name="Text 52"/>
          <p:cNvSpPr txBox="1"/>
          <p:nvPr/>
        </p:nvSpPr>
        <p:spPr>
          <a:xfrm>
            <a:off x="9430207" y="7210044"/>
            <a:ext cx="3629254"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Formation partenaires</a:t>
            </a:r>
            <a:endParaRPr lang="en-US" sz="900" dirty="0"/>
          </a:p>
        </p:txBody>
      </p:sp>
      <p:sp>
        <p:nvSpPr>
          <p:cNvPr id="56" name="Text 53"/>
          <p:cNvSpPr txBox="1"/>
          <p:nvPr/>
        </p:nvSpPr>
        <p:spPr>
          <a:xfrm>
            <a:off x="9430207" y="7381951"/>
            <a:ext cx="3629254"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Briefing franchise</a:t>
            </a:r>
            <a:endParaRPr lang="en-US" sz="900" dirty="0"/>
          </a:p>
        </p:txBody>
      </p:sp>
      <p:sp>
        <p:nvSpPr>
          <p:cNvPr id="57" name="Text 54"/>
          <p:cNvSpPr txBox="1"/>
          <p:nvPr/>
        </p:nvSpPr>
        <p:spPr>
          <a:xfrm>
            <a:off x="9430207" y="7552944"/>
            <a:ext cx="3629254"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Briefing support &amp; finance</a:t>
            </a:r>
            <a:endParaRPr lang="en-US" sz="900" dirty="0"/>
          </a:p>
        </p:txBody>
      </p:sp>
      <p:sp>
        <p:nvSpPr>
          <p:cNvPr id="58" name="Text 55"/>
          <p:cNvSpPr txBox="1"/>
          <p:nvPr/>
        </p:nvSpPr>
        <p:spPr>
          <a:xfrm>
            <a:off x="9430207" y="7724851"/>
            <a:ext cx="3629254"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Test connexion tous participants</a:t>
            </a:r>
            <a:endParaRPr lang="en-US" sz="900" dirty="0"/>
          </a:p>
        </p:txBody>
      </p:sp>
      <p:sp>
        <p:nvSpPr>
          <p:cNvPr id="59" name="Text 56"/>
          <p:cNvSpPr txBox="1"/>
          <p:nvPr/>
        </p:nvSpPr>
        <p:spPr>
          <a:xfrm>
            <a:off x="9430207" y="7895844"/>
            <a:ext cx="3629254"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Vérification GPS · data · wallet</a:t>
            </a:r>
            <a:endParaRPr lang="en-US" sz="900" dirty="0"/>
          </a:p>
        </p:txBody>
      </p:sp>
      <p:sp>
        <p:nvSpPr>
          <p:cNvPr id="60" name="Text 57"/>
          <p:cNvSpPr txBox="1"/>
          <p:nvPr/>
        </p:nvSpPr>
        <p:spPr>
          <a:xfrm>
            <a:off x="9430207" y="8067751"/>
            <a:ext cx="3629254"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Tests courses &amp; livraisons à blanc</a:t>
            </a:r>
            <a:endParaRPr lang="en-US" sz="900" dirty="0"/>
          </a:p>
        </p:txBody>
      </p:sp>
      <p:sp>
        <p:nvSpPr>
          <p:cNvPr id="61" name="Shape 58"/>
          <p:cNvSpPr/>
          <p:nvPr/>
        </p:nvSpPr>
        <p:spPr>
          <a:xfrm>
            <a:off x="9430207" y="8372246"/>
            <a:ext cx="3629254" cy="504749"/>
          </a:xfrm>
          <a:prstGeom prst="roundRect">
            <a:avLst>
              <a:gd name="adj" fmla="val 15036"/>
            </a:avLst>
          </a:prstGeom>
          <a:solidFill>
            <a:srgbClr val="F5F3FF"/>
          </a:solidFill>
          <a:ln w="12700">
            <a:solidFill>
              <a:srgbClr val="FFFFFF">
                <a:alpha val="0"/>
              </a:srgbClr>
            </a:solidFill>
            <a:prstDash val="solid"/>
          </a:ln>
        </p:spPr>
        <p:txBody>
          <a:bodyPr/>
          <a:lstStyle/>
          <a:p>
            <a:endParaRPr lang="fr-CI"/>
          </a:p>
        </p:txBody>
      </p:sp>
      <p:sp>
        <p:nvSpPr>
          <p:cNvPr id="62" name="Text 59"/>
          <p:cNvSpPr txBox="1"/>
          <p:nvPr/>
        </p:nvSpPr>
        <p:spPr>
          <a:xfrm>
            <a:off x="9525305" y="8467344"/>
            <a:ext cx="3439058"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LIVRABLES + DÉCISION</a:t>
            </a:r>
            <a:endParaRPr lang="en-US" sz="800" dirty="0"/>
          </a:p>
        </p:txBody>
      </p:sp>
      <p:sp>
        <p:nvSpPr>
          <p:cNvPr id="63" name="Text 60"/>
          <p:cNvSpPr txBox="1"/>
          <p:nvPr/>
        </p:nvSpPr>
        <p:spPr>
          <a:xfrm>
            <a:off x="9525305" y="8630107"/>
            <a:ext cx="4012387" cy="152705"/>
          </a:xfrm>
          <a:prstGeom prst="rect">
            <a:avLst/>
          </a:prstGeom>
          <a:noFill/>
          <a:ln/>
        </p:spPr>
        <p:txBody>
          <a:bodyPr wrap="none" lIns="0" tIns="0" rIns="0" bIns="0" rtlCol="0" anchor="ctr"/>
          <a:lstStyle/>
          <a:p>
            <a:pPr marL="0" indent="0" algn="l">
              <a:buNone/>
            </a:pPr>
            <a:r>
              <a:rPr lang="en-US" sz="800" dirty="0">
                <a:solidFill>
                  <a:srgbClr val="1F2937"/>
                </a:solidFill>
                <a:latin typeface="Manrope" pitchFamily="34" charset="0"/>
                <a:ea typeface="Manrope" pitchFamily="34" charset="-122"/>
                <a:cs typeface="Manrope" pitchFamily="34" charset="-120"/>
              </a:rPr>
              <a:t>Feuille de présence · checklist validée · </a:t>
            </a:r>
            <a:r>
              <a:rPr lang="en-US" sz="800" b="1" dirty="0">
                <a:solidFill>
                  <a:srgbClr val="1F2937"/>
                </a:solidFill>
                <a:latin typeface="Manrope" pitchFamily="34" charset="0"/>
                <a:ea typeface="Manrope" pitchFamily="34" charset="-122"/>
                <a:cs typeface="Manrope" pitchFamily="34" charset="-120"/>
              </a:rPr>
              <a:t>Go / No-Go pour J0</a:t>
            </a:r>
            <a:r>
              <a:rPr lang="en-US" sz="800" dirty="0">
                <a:solidFill>
                  <a:srgbClr val="1F2937"/>
                </a:solidFill>
                <a:latin typeface="Manrope" pitchFamily="34" charset="0"/>
                <a:ea typeface="Manrope" pitchFamily="34" charset="-122"/>
                <a:cs typeface="Manrope" pitchFamily="34" charset="-120"/>
              </a:rPr>
              <a:t>.</a:t>
            </a:r>
            <a:endParaRPr lang="en-US" sz="800" dirty="0"/>
          </a:p>
        </p:txBody>
      </p:sp>
      <p:sp>
        <p:nvSpPr>
          <p:cNvPr id="64" name="Shape 61"/>
          <p:cNvSpPr/>
          <p:nvPr/>
        </p:nvSpPr>
        <p:spPr>
          <a:xfrm>
            <a:off x="13387730" y="5810098"/>
            <a:ext cx="4028846" cy="3619195"/>
          </a:xfrm>
          <a:prstGeom prst="roundRect">
            <a:avLst>
              <a:gd name="adj" fmla="val 3689"/>
            </a:avLst>
          </a:prstGeom>
          <a:solidFill>
            <a:srgbClr val="1F2937"/>
          </a:solidFill>
          <a:ln w="12700">
            <a:solidFill>
              <a:srgbClr val="FFFFFF">
                <a:alpha val="0"/>
              </a:srgbClr>
            </a:solidFill>
            <a:prstDash val="solid"/>
          </a:ln>
        </p:spPr>
        <p:txBody>
          <a:bodyPr/>
          <a:lstStyle/>
          <a:p>
            <a:endParaRPr lang="fr-CI"/>
          </a:p>
        </p:txBody>
      </p:sp>
      <p:sp>
        <p:nvSpPr>
          <p:cNvPr id="65" name="Shape 62"/>
          <p:cNvSpPr/>
          <p:nvPr/>
        </p:nvSpPr>
        <p:spPr>
          <a:xfrm>
            <a:off x="13577926" y="6001207"/>
            <a:ext cx="418795" cy="418795"/>
          </a:xfrm>
          <a:prstGeom prst="roundRect">
            <a:avLst>
              <a:gd name="adj" fmla="val 22707"/>
            </a:avLst>
          </a:prstGeom>
          <a:solidFill>
            <a:srgbClr val="A78BFA"/>
          </a:solidFill>
          <a:ln w="12700">
            <a:solidFill>
              <a:srgbClr val="FFFFFF">
                <a:alpha val="0"/>
              </a:srgbClr>
            </a:solidFill>
            <a:prstDash val="solid"/>
          </a:ln>
        </p:spPr>
        <p:txBody>
          <a:bodyPr/>
          <a:lstStyle/>
          <a:p>
            <a:endParaRPr lang="fr-CI"/>
          </a:p>
        </p:txBody>
      </p:sp>
      <p:sp>
        <p:nvSpPr>
          <p:cNvPr id="66" name="Text 63"/>
          <p:cNvSpPr txBox="1"/>
          <p:nvPr/>
        </p:nvSpPr>
        <p:spPr>
          <a:xfrm>
            <a:off x="13577926" y="6001207"/>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300" b="1" dirty="0">
                <a:solidFill>
                  <a:srgbClr val="1F2937"/>
                </a:solidFill>
                <a:latin typeface="JetBrains Mono" pitchFamily="34" charset="0"/>
                <a:ea typeface="JetBrains Mono" pitchFamily="34" charset="-122"/>
                <a:cs typeface="JetBrains Mono" pitchFamily="34" charset="-120"/>
              </a:rPr>
              <a:t>J0</a:t>
            </a:r>
            <a:endParaRPr lang="en-US" sz="1300" dirty="0"/>
          </a:p>
        </p:txBody>
      </p:sp>
      <p:sp>
        <p:nvSpPr>
          <p:cNvPr id="67" name="Text 64"/>
          <p:cNvSpPr txBox="1"/>
          <p:nvPr/>
        </p:nvSpPr>
        <p:spPr>
          <a:xfrm>
            <a:off x="14111021" y="6034126"/>
            <a:ext cx="876910" cy="143561"/>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DIMANCHE ★</a:t>
            </a:r>
            <a:endParaRPr lang="en-US" sz="800" dirty="0"/>
          </a:p>
        </p:txBody>
      </p:sp>
      <p:sp>
        <p:nvSpPr>
          <p:cNvPr id="68" name="Text 65"/>
          <p:cNvSpPr txBox="1"/>
          <p:nvPr/>
        </p:nvSpPr>
        <p:spPr>
          <a:xfrm>
            <a:off x="14111021" y="6176772"/>
            <a:ext cx="1043330" cy="210312"/>
          </a:xfrm>
          <a:prstGeom prst="rect">
            <a:avLst/>
          </a:prstGeom>
          <a:noFill/>
          <a:ln/>
        </p:spPr>
        <p:txBody>
          <a:bodyPr wrap="none" lIns="0" tIns="0" rIns="0" bIns="0" rtlCol="0" anchor="ctr"/>
          <a:lstStyle/>
          <a:p>
            <a:pPr marL="0" indent="0" algn="l">
              <a:buNone/>
            </a:pPr>
            <a:r>
              <a:rPr lang="en-US" sz="1200" b="1" dirty="0">
                <a:solidFill>
                  <a:srgbClr val="FFFFFF"/>
                </a:solidFill>
                <a:latin typeface="Manrope" pitchFamily="34" charset="0"/>
                <a:ea typeface="Manrope" pitchFamily="34" charset="-122"/>
                <a:cs typeface="Manrope" pitchFamily="34" charset="-120"/>
              </a:rPr>
              <a:t>21 juin 2026</a:t>
            </a:r>
            <a:endParaRPr lang="en-US" sz="1200" dirty="0"/>
          </a:p>
        </p:txBody>
      </p:sp>
      <p:sp>
        <p:nvSpPr>
          <p:cNvPr id="69" name="Text 66"/>
          <p:cNvSpPr txBox="1"/>
          <p:nvPr/>
        </p:nvSpPr>
        <p:spPr>
          <a:xfrm>
            <a:off x="13577926" y="6553505"/>
            <a:ext cx="3648456" cy="228600"/>
          </a:xfrm>
          <a:prstGeom prst="rect">
            <a:avLst/>
          </a:prstGeom>
          <a:noFill/>
          <a:ln/>
        </p:spPr>
        <p:txBody>
          <a:bodyPr wrap="none" lIns="0" tIns="0" rIns="0" bIns="0" rtlCol="0" anchor="ctr"/>
          <a:lstStyle/>
          <a:p>
            <a:pPr marL="0" indent="0" algn="l">
              <a:buNone/>
            </a:pPr>
            <a:r>
              <a:rPr lang="en-US" sz="1300" b="1" dirty="0">
                <a:solidFill>
                  <a:srgbClr val="FFFFFF"/>
                </a:solidFill>
                <a:latin typeface="Manrope" pitchFamily="34" charset="0"/>
                <a:ea typeface="Manrope" pitchFamily="34" charset="-122"/>
                <a:cs typeface="Manrope" pitchFamily="34" charset="-120"/>
              </a:rPr>
              <a:t>Journée de test réel</a:t>
            </a:r>
            <a:endParaRPr lang="en-US" sz="1300" dirty="0"/>
          </a:p>
        </p:txBody>
      </p:sp>
      <p:sp>
        <p:nvSpPr>
          <p:cNvPr id="70" name="Text 67"/>
          <p:cNvSpPr txBox="1"/>
          <p:nvPr/>
        </p:nvSpPr>
        <p:spPr>
          <a:xfrm>
            <a:off x="13577926" y="6858000"/>
            <a:ext cx="3648456" cy="171907"/>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 Mise en ligne des 40 engins</a:t>
            </a:r>
            <a:endParaRPr lang="en-US" sz="900" dirty="0"/>
          </a:p>
        </p:txBody>
      </p:sp>
      <p:sp>
        <p:nvSpPr>
          <p:cNvPr id="71" name="Text 68"/>
          <p:cNvSpPr txBox="1"/>
          <p:nvPr/>
        </p:nvSpPr>
        <p:spPr>
          <a:xfrm>
            <a:off x="13577926" y="7029907"/>
            <a:ext cx="3648456" cy="171907"/>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 Tests Transport · Livraison</a:t>
            </a:r>
            <a:endParaRPr lang="en-US" sz="900" dirty="0"/>
          </a:p>
        </p:txBody>
      </p:sp>
      <p:sp>
        <p:nvSpPr>
          <p:cNvPr id="72" name="Text 69"/>
          <p:cNvSpPr txBox="1"/>
          <p:nvPr/>
        </p:nvSpPr>
        <p:spPr>
          <a:xfrm>
            <a:off x="13577926" y="7200900"/>
            <a:ext cx="3648456" cy="171907"/>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 Tests Fret · Location</a:t>
            </a:r>
            <a:endParaRPr lang="en-US" sz="900" dirty="0"/>
          </a:p>
        </p:txBody>
      </p:sp>
      <p:sp>
        <p:nvSpPr>
          <p:cNvPr id="73" name="Text 70"/>
          <p:cNvSpPr txBox="1"/>
          <p:nvPr/>
        </p:nvSpPr>
        <p:spPr>
          <a:xfrm>
            <a:off x="13577926" y="7372807"/>
            <a:ext cx="3648456" cy="171907"/>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 Tests Partenaires &amp; Franchise</a:t>
            </a:r>
            <a:endParaRPr lang="en-US" sz="900" dirty="0"/>
          </a:p>
        </p:txBody>
      </p:sp>
      <p:sp>
        <p:nvSpPr>
          <p:cNvPr id="74" name="Text 71"/>
          <p:cNvSpPr txBox="1"/>
          <p:nvPr/>
        </p:nvSpPr>
        <p:spPr>
          <a:xfrm>
            <a:off x="13577926" y="7543800"/>
            <a:ext cx="3648456" cy="171907"/>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 Tests Wallet · Commission</a:t>
            </a:r>
            <a:endParaRPr lang="en-US" sz="900" dirty="0"/>
          </a:p>
        </p:txBody>
      </p:sp>
      <p:sp>
        <p:nvSpPr>
          <p:cNvPr id="75" name="Text 72"/>
          <p:cNvSpPr txBox="1"/>
          <p:nvPr/>
        </p:nvSpPr>
        <p:spPr>
          <a:xfrm>
            <a:off x="13577926" y="7715707"/>
            <a:ext cx="3648456" cy="171907"/>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 Tests Reporting central</a:t>
            </a:r>
            <a:endParaRPr lang="en-US" sz="900" dirty="0"/>
          </a:p>
        </p:txBody>
      </p:sp>
      <p:sp>
        <p:nvSpPr>
          <p:cNvPr id="76" name="Text 73"/>
          <p:cNvSpPr txBox="1"/>
          <p:nvPr/>
        </p:nvSpPr>
        <p:spPr>
          <a:xfrm>
            <a:off x="13577926" y="7886700"/>
            <a:ext cx="3648456" cy="171907"/>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 Tests Réclamations</a:t>
            </a:r>
            <a:endParaRPr lang="en-US" sz="900" dirty="0"/>
          </a:p>
        </p:txBody>
      </p:sp>
      <p:sp>
        <p:nvSpPr>
          <p:cNvPr id="77" name="Text 74"/>
          <p:cNvSpPr txBox="1"/>
          <p:nvPr/>
        </p:nvSpPr>
        <p:spPr>
          <a:xfrm>
            <a:off x="13577926" y="8058607"/>
            <a:ext cx="3648456" cy="171907"/>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 Suivi anomalies · débriefing</a:t>
            </a:r>
            <a:endParaRPr lang="en-US" sz="900" dirty="0"/>
          </a:p>
        </p:txBody>
      </p:sp>
      <p:sp>
        <p:nvSpPr>
          <p:cNvPr id="78" name="Shape 75"/>
          <p:cNvSpPr/>
          <p:nvPr/>
        </p:nvSpPr>
        <p:spPr>
          <a:xfrm>
            <a:off x="13577926" y="8363102"/>
            <a:ext cx="3648456" cy="647395"/>
          </a:xfrm>
          <a:prstGeom prst="roundRect">
            <a:avLst>
              <a:gd name="adj" fmla="val 11723"/>
            </a:avLst>
          </a:prstGeom>
          <a:solidFill>
            <a:srgbClr val="4C1D95"/>
          </a:solidFill>
          <a:ln w="12700">
            <a:solidFill>
              <a:srgbClr val="FFFFFF">
                <a:alpha val="0"/>
              </a:srgbClr>
            </a:solidFill>
            <a:prstDash val="solid"/>
          </a:ln>
        </p:spPr>
        <p:txBody>
          <a:bodyPr/>
          <a:lstStyle/>
          <a:p>
            <a:endParaRPr lang="fr-CI"/>
          </a:p>
        </p:txBody>
      </p:sp>
      <p:sp>
        <p:nvSpPr>
          <p:cNvPr id="79" name="Text 76"/>
          <p:cNvSpPr txBox="1"/>
          <p:nvPr/>
        </p:nvSpPr>
        <p:spPr>
          <a:xfrm>
            <a:off x="13673023" y="8458200"/>
            <a:ext cx="3458261" cy="124358"/>
          </a:xfrm>
          <a:prstGeom prst="rect">
            <a:avLst/>
          </a:prstGeom>
          <a:noFill/>
          <a:ln/>
        </p:spPr>
        <p:txBody>
          <a:bodyPr wrap="none" lIns="0" tIns="0" rIns="0" bIns="0" rtlCol="0" anchor="ctr"/>
          <a:lstStyle/>
          <a:p>
            <a:pPr marL="0" indent="0" algn="l">
              <a:buNone/>
            </a:pPr>
            <a:r>
              <a:rPr lang="en-US" sz="800" b="1" dirty="0">
                <a:solidFill>
                  <a:srgbClr val="C4B5FD"/>
                </a:solidFill>
                <a:latin typeface="JetBrains Mono" pitchFamily="34" charset="0"/>
                <a:ea typeface="JetBrains Mono" pitchFamily="34" charset="-122"/>
                <a:cs typeface="JetBrains Mono" pitchFamily="34" charset="-120"/>
              </a:rPr>
              <a:t>LIVRABLES</a:t>
            </a:r>
            <a:endParaRPr lang="en-US" sz="800" dirty="0"/>
          </a:p>
        </p:txBody>
      </p:sp>
      <p:sp>
        <p:nvSpPr>
          <p:cNvPr id="80" name="Text 77"/>
          <p:cNvSpPr txBox="1"/>
          <p:nvPr/>
        </p:nvSpPr>
        <p:spPr>
          <a:xfrm>
            <a:off x="13673023" y="8620049"/>
            <a:ext cx="3458261" cy="295351"/>
          </a:xfrm>
          <a:prstGeom prst="rect">
            <a:avLst/>
          </a:prstGeom>
          <a:noFill/>
          <a:ln/>
        </p:spPr>
        <p:txBody>
          <a:bodyPr wrap="square" lIns="0" tIns="0" rIns="0" bIns="0" rtlCol="0" anchor="ctr"/>
          <a:lstStyle/>
          <a:p>
            <a:pPr marL="0" indent="0" algn="l">
              <a:buNone/>
            </a:pPr>
            <a:r>
              <a:rPr lang="en-US" sz="800" dirty="0">
                <a:solidFill>
                  <a:srgbClr val="FFFFFF"/>
                </a:solidFill>
                <a:latin typeface="Manrope" pitchFamily="34" charset="0"/>
                <a:ea typeface="Manrope" pitchFamily="34" charset="-122"/>
                <a:cs typeface="Manrope" pitchFamily="34" charset="-120"/>
              </a:rPr>
              <a:t>Rapport test réel · listes activités · rapports wallet · rapports partenaires &amp; franchise · recommandations.</a:t>
            </a:r>
            <a:endParaRPr lang="en-US" sz="800" dirty="0"/>
          </a:p>
        </p:txBody>
      </p:sp>
      <p:sp>
        <p:nvSpPr>
          <p:cNvPr id="81" name="Shape 78"/>
          <p:cNvSpPr/>
          <p:nvPr/>
        </p:nvSpPr>
        <p:spPr>
          <a:xfrm>
            <a:off x="0" y="9791395"/>
            <a:ext cx="18288000" cy="495605"/>
          </a:xfrm>
          <a:prstGeom prst="rect">
            <a:avLst/>
          </a:prstGeom>
          <a:solidFill>
            <a:srgbClr val="FFFFFF"/>
          </a:solidFill>
          <a:ln/>
        </p:spPr>
        <p:txBody>
          <a:bodyPr/>
          <a:lstStyle/>
          <a:p>
            <a:endParaRPr lang="fr-CI"/>
          </a:p>
        </p:txBody>
      </p:sp>
      <p:sp>
        <p:nvSpPr>
          <p:cNvPr id="82" name="Shape 79"/>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83" name="Text 80"/>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84" name="Text 81"/>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49 / 59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6067837" y="256946"/>
            <a:ext cx="1907438"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§21 Planning J+1 → J+4</a:t>
            </a:r>
            <a:endParaRPr lang="en-US" sz="900" dirty="0"/>
          </a:p>
        </p:txBody>
      </p:sp>
      <p:sp>
        <p:nvSpPr>
          <p:cNvPr id="10" name="Text 8"/>
          <p:cNvSpPr txBox="1"/>
          <p:nvPr/>
        </p:nvSpPr>
        <p:spPr>
          <a:xfrm>
            <a:off x="914400" y="1205179"/>
            <a:ext cx="3610966"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21. Planning détaillé — Phase 2/2</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6193110" cy="1095451"/>
          </a:xfrm>
          <a:prstGeom prst="rect">
            <a:avLst/>
          </a:prstGeom>
          <a:noFill/>
          <a:ln/>
        </p:spPr>
        <p:txBody>
          <a:bodyPr wrap="squar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Du lundi 22 juin au jeudi 25 juin 2026 — analyse, retest, migration à blanc, Go/No-Go.</a:t>
            </a:r>
            <a:endParaRPr lang="en-US" sz="3900" dirty="0"/>
          </a:p>
        </p:txBody>
      </p:sp>
      <p:sp>
        <p:nvSpPr>
          <p:cNvPr id="13" name="Shape 11"/>
          <p:cNvSpPr/>
          <p:nvPr/>
        </p:nvSpPr>
        <p:spPr>
          <a:xfrm>
            <a:off x="914400" y="2857500"/>
            <a:ext cx="4028846" cy="6476695"/>
          </a:xfrm>
          <a:prstGeom prst="roundRect">
            <a:avLst>
              <a:gd name="adj" fmla="val 3314"/>
            </a:avLst>
          </a:prstGeom>
          <a:solidFill>
            <a:srgbClr val="FFFFFF"/>
          </a:solidFill>
          <a:ln w="12700">
            <a:solidFill>
              <a:srgbClr val="E5E7EB"/>
            </a:solidFill>
            <a:prstDash val="solid"/>
          </a:ln>
        </p:spPr>
        <p:txBody>
          <a:bodyPr/>
          <a:lstStyle/>
          <a:p>
            <a:endParaRPr lang="fr-CI"/>
          </a:p>
        </p:txBody>
      </p:sp>
      <p:sp>
        <p:nvSpPr>
          <p:cNvPr id="14" name="Shape 12"/>
          <p:cNvSpPr/>
          <p:nvPr/>
        </p:nvSpPr>
        <p:spPr>
          <a:xfrm>
            <a:off x="1152144" y="3095244"/>
            <a:ext cx="418795" cy="418795"/>
          </a:xfrm>
          <a:prstGeom prst="roundRect">
            <a:avLst>
              <a:gd name="adj" fmla="val 22707"/>
            </a:avLst>
          </a:prstGeom>
          <a:solidFill>
            <a:srgbClr val="A78BFA"/>
          </a:solidFill>
          <a:ln w="12700">
            <a:solidFill>
              <a:srgbClr val="FFFFFF">
                <a:alpha val="0"/>
              </a:srgbClr>
            </a:solidFill>
            <a:prstDash val="solid"/>
          </a:ln>
        </p:spPr>
        <p:txBody>
          <a:bodyPr/>
          <a:lstStyle/>
          <a:p>
            <a:endParaRPr lang="fr-CI"/>
          </a:p>
        </p:txBody>
      </p:sp>
      <p:sp>
        <p:nvSpPr>
          <p:cNvPr id="15" name="Text 13"/>
          <p:cNvSpPr txBox="1"/>
          <p:nvPr/>
        </p:nvSpPr>
        <p:spPr>
          <a:xfrm>
            <a:off x="1152144" y="3095244"/>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300" b="1" dirty="0">
                <a:solidFill>
                  <a:srgbClr val="FFFFFF"/>
                </a:solidFill>
                <a:latin typeface="JetBrains Mono" pitchFamily="34" charset="0"/>
                <a:ea typeface="JetBrains Mono" pitchFamily="34" charset="-122"/>
                <a:cs typeface="JetBrains Mono" pitchFamily="34" charset="-120"/>
              </a:rPr>
              <a:t>J+1</a:t>
            </a:r>
            <a:endParaRPr lang="en-US" sz="1300" dirty="0"/>
          </a:p>
        </p:txBody>
      </p:sp>
      <p:sp>
        <p:nvSpPr>
          <p:cNvPr id="16" name="Text 14"/>
          <p:cNvSpPr txBox="1"/>
          <p:nvPr/>
        </p:nvSpPr>
        <p:spPr>
          <a:xfrm>
            <a:off x="1686154" y="3133649"/>
            <a:ext cx="905256"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LUNDI</a:t>
            </a:r>
            <a:endParaRPr lang="en-US" sz="800" dirty="0"/>
          </a:p>
        </p:txBody>
      </p:sp>
      <p:sp>
        <p:nvSpPr>
          <p:cNvPr id="17" name="Text 15"/>
          <p:cNvSpPr txBox="1"/>
          <p:nvPr/>
        </p:nvSpPr>
        <p:spPr>
          <a:xfrm>
            <a:off x="1686154" y="3267151"/>
            <a:ext cx="1077163" cy="210312"/>
          </a:xfrm>
          <a:prstGeom prst="rect">
            <a:avLst/>
          </a:prstGeom>
          <a:noFill/>
          <a:ln/>
        </p:spPr>
        <p:txBody>
          <a:bodyPr wrap="non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22 juin 2026</a:t>
            </a:r>
            <a:endParaRPr lang="en-US" sz="1200" dirty="0"/>
          </a:p>
        </p:txBody>
      </p:sp>
      <p:sp>
        <p:nvSpPr>
          <p:cNvPr id="18" name="Text 16"/>
          <p:cNvSpPr txBox="1"/>
          <p:nvPr/>
        </p:nvSpPr>
        <p:spPr>
          <a:xfrm>
            <a:off x="1152144" y="3666744"/>
            <a:ext cx="3553358" cy="495605"/>
          </a:xfrm>
          <a:prstGeom prst="rect">
            <a:avLst/>
          </a:prstGeom>
          <a:noFill/>
          <a:ln/>
        </p:spPr>
        <p:txBody>
          <a:bodyPr wrap="square" lIns="0" tIns="0" rIns="0" bIns="0" rtlCol="0" anchor="ctr"/>
          <a:lstStyle/>
          <a:p>
            <a:pPr marL="0" indent="0" algn="l">
              <a:buNone/>
            </a:pPr>
            <a:r>
              <a:rPr lang="en-US" sz="1400" b="1" dirty="0">
                <a:solidFill>
                  <a:srgbClr val="1F2937"/>
                </a:solidFill>
                <a:latin typeface="Manrope" pitchFamily="34" charset="0"/>
                <a:ea typeface="Manrope" pitchFamily="34" charset="-122"/>
                <a:cs typeface="Manrope" pitchFamily="34" charset="-120"/>
              </a:rPr>
              <a:t>Analyse résultats &amp; correction prioritaire</a:t>
            </a:r>
            <a:endParaRPr lang="en-US" sz="1400" dirty="0"/>
          </a:p>
        </p:txBody>
      </p:sp>
      <p:pic>
        <p:nvPicPr>
          <p:cNvPr id="19" name="Image 0" descr="gen-dedup-f07bb3bbc30382f69fe6e1471c427d6b.png"/>
          <p:cNvPicPr>
            <a:picLocks noChangeAspect="1"/>
          </p:cNvPicPr>
          <p:nvPr/>
        </p:nvPicPr>
        <p:blipFill>
          <a:blip r:embed="rId2"/>
          <a:srcRect l="-385" r="-385"/>
          <a:stretch/>
        </p:blipFill>
        <p:spPr>
          <a:xfrm>
            <a:off x="1152144" y="4219956"/>
            <a:ext cx="761695" cy="28346"/>
          </a:xfrm>
          <a:prstGeom prst="rect">
            <a:avLst/>
          </a:prstGeom>
        </p:spPr>
      </p:pic>
      <p:sp>
        <p:nvSpPr>
          <p:cNvPr id="20" name="Text 17"/>
          <p:cNvSpPr txBox="1"/>
          <p:nvPr/>
        </p:nvSpPr>
        <p:spPr>
          <a:xfrm>
            <a:off x="1152144" y="4381805"/>
            <a:ext cx="3553358"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ACTIVITÉS</a:t>
            </a:r>
            <a:endParaRPr lang="en-US" sz="800" dirty="0"/>
          </a:p>
        </p:txBody>
      </p:sp>
      <p:sp>
        <p:nvSpPr>
          <p:cNvPr id="21" name="Text 18"/>
          <p:cNvSpPr txBox="1"/>
          <p:nvPr/>
        </p:nvSpPr>
        <p:spPr>
          <a:xfrm>
            <a:off x="1152144" y="4591202"/>
            <a:ext cx="35533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Consolidation des anomalies</a:t>
            </a:r>
            <a:endParaRPr lang="en-US" sz="900" dirty="0"/>
          </a:p>
        </p:txBody>
      </p:sp>
      <p:sp>
        <p:nvSpPr>
          <p:cNvPr id="22" name="Text 19"/>
          <p:cNvSpPr txBox="1"/>
          <p:nvPr/>
        </p:nvSpPr>
        <p:spPr>
          <a:xfrm>
            <a:off x="1152144" y="4783226"/>
            <a:ext cx="35533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Classement par criticité</a:t>
            </a:r>
            <a:endParaRPr lang="en-US" sz="900" dirty="0"/>
          </a:p>
        </p:txBody>
      </p:sp>
      <p:sp>
        <p:nvSpPr>
          <p:cNvPr id="23" name="Text 20"/>
          <p:cNvSpPr txBox="1"/>
          <p:nvPr/>
        </p:nvSpPr>
        <p:spPr>
          <a:xfrm>
            <a:off x="1152144" y="4975250"/>
            <a:ext cx="35533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Analyse technique avec éditeur</a:t>
            </a:r>
            <a:endParaRPr lang="en-US" sz="900" dirty="0"/>
          </a:p>
        </p:txBody>
      </p:sp>
      <p:sp>
        <p:nvSpPr>
          <p:cNvPr id="24" name="Text 21"/>
          <p:cNvSpPr txBox="1"/>
          <p:nvPr/>
        </p:nvSpPr>
        <p:spPr>
          <a:xfrm>
            <a:off x="1152144" y="5167274"/>
            <a:ext cx="35533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Analyse métier avec exploitation</a:t>
            </a:r>
            <a:endParaRPr lang="en-US" sz="900" dirty="0"/>
          </a:p>
        </p:txBody>
      </p:sp>
      <p:sp>
        <p:nvSpPr>
          <p:cNvPr id="25" name="Text 22"/>
          <p:cNvSpPr txBox="1"/>
          <p:nvPr/>
        </p:nvSpPr>
        <p:spPr>
          <a:xfrm>
            <a:off x="1152144" y="5359298"/>
            <a:ext cx="35533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Analyse financière</a:t>
            </a:r>
            <a:endParaRPr lang="en-US" sz="900" dirty="0"/>
          </a:p>
        </p:txBody>
      </p:sp>
      <p:sp>
        <p:nvSpPr>
          <p:cNvPr id="26" name="Text 23"/>
          <p:cNvSpPr txBox="1"/>
          <p:nvPr/>
        </p:nvSpPr>
        <p:spPr>
          <a:xfrm>
            <a:off x="1152144" y="5551322"/>
            <a:ext cx="35533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Correction des anomalies critiques</a:t>
            </a:r>
            <a:endParaRPr lang="en-US" sz="900" dirty="0"/>
          </a:p>
        </p:txBody>
      </p:sp>
      <p:sp>
        <p:nvSpPr>
          <p:cNvPr id="27" name="Text 24"/>
          <p:cNvSpPr txBox="1"/>
          <p:nvPr/>
        </p:nvSpPr>
        <p:spPr>
          <a:xfrm>
            <a:off x="1152144" y="5743346"/>
            <a:ext cx="35533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Préparation des retests</a:t>
            </a:r>
            <a:endParaRPr lang="en-US" sz="900" dirty="0"/>
          </a:p>
        </p:txBody>
      </p:sp>
      <p:sp>
        <p:nvSpPr>
          <p:cNvPr id="28" name="Shape 25"/>
          <p:cNvSpPr/>
          <p:nvPr/>
        </p:nvSpPr>
        <p:spPr>
          <a:xfrm>
            <a:off x="1152144" y="6106363"/>
            <a:ext cx="3552444" cy="1276502"/>
          </a:xfrm>
          <a:prstGeom prst="roundRect">
            <a:avLst>
              <a:gd name="adj" fmla="val 5946"/>
            </a:avLst>
          </a:prstGeom>
          <a:solidFill>
            <a:srgbClr val="F5F3FF"/>
          </a:solidFill>
          <a:ln w="12700">
            <a:solidFill>
              <a:srgbClr val="FFFFFF">
                <a:alpha val="0"/>
              </a:srgbClr>
            </a:solidFill>
            <a:prstDash val="solid"/>
          </a:ln>
        </p:spPr>
        <p:txBody>
          <a:bodyPr/>
          <a:lstStyle/>
          <a:p>
            <a:endParaRPr lang="fr-CI"/>
          </a:p>
        </p:txBody>
      </p:sp>
      <p:sp>
        <p:nvSpPr>
          <p:cNvPr id="29" name="Text 26"/>
          <p:cNvSpPr txBox="1"/>
          <p:nvPr/>
        </p:nvSpPr>
        <p:spPr>
          <a:xfrm>
            <a:off x="1266444" y="6220663"/>
            <a:ext cx="3324758"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LIVRABLES</a:t>
            </a:r>
            <a:endParaRPr lang="en-US" sz="800" dirty="0"/>
          </a:p>
        </p:txBody>
      </p:sp>
      <p:sp>
        <p:nvSpPr>
          <p:cNvPr id="30" name="Text 27"/>
          <p:cNvSpPr txBox="1"/>
          <p:nvPr/>
        </p:nvSpPr>
        <p:spPr>
          <a:xfrm>
            <a:off x="1266444" y="6410858"/>
            <a:ext cx="3324758" cy="171907"/>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 Rapport d'analyse</a:t>
            </a:r>
            <a:endParaRPr lang="en-US" sz="900" dirty="0"/>
          </a:p>
        </p:txBody>
      </p:sp>
      <p:sp>
        <p:nvSpPr>
          <p:cNvPr id="31" name="Text 28"/>
          <p:cNvSpPr txBox="1"/>
          <p:nvPr/>
        </p:nvSpPr>
        <p:spPr>
          <a:xfrm>
            <a:off x="1266444" y="6582766"/>
            <a:ext cx="3324758" cy="171907"/>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 Plan de correction</a:t>
            </a:r>
            <a:endParaRPr lang="en-US" sz="900" dirty="0"/>
          </a:p>
        </p:txBody>
      </p:sp>
      <p:sp>
        <p:nvSpPr>
          <p:cNvPr id="32" name="Text 29"/>
          <p:cNvSpPr txBox="1"/>
          <p:nvPr/>
        </p:nvSpPr>
        <p:spPr>
          <a:xfrm>
            <a:off x="1266444" y="6753758"/>
            <a:ext cx="3324758" cy="171907"/>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 Liste anomalies bloquantes</a:t>
            </a:r>
            <a:endParaRPr lang="en-US" sz="900" dirty="0"/>
          </a:p>
        </p:txBody>
      </p:sp>
      <p:sp>
        <p:nvSpPr>
          <p:cNvPr id="33" name="Text 30"/>
          <p:cNvSpPr txBox="1"/>
          <p:nvPr/>
        </p:nvSpPr>
        <p:spPr>
          <a:xfrm>
            <a:off x="1266444" y="6925666"/>
            <a:ext cx="3324758" cy="171907"/>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 Liste anomalies acceptables</a:t>
            </a:r>
            <a:endParaRPr lang="en-US" sz="900" dirty="0"/>
          </a:p>
        </p:txBody>
      </p:sp>
      <p:sp>
        <p:nvSpPr>
          <p:cNvPr id="34" name="Text 31"/>
          <p:cNvSpPr txBox="1"/>
          <p:nvPr/>
        </p:nvSpPr>
        <p:spPr>
          <a:xfrm>
            <a:off x="1266444" y="7096658"/>
            <a:ext cx="3324758" cy="171907"/>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 Planning de retest</a:t>
            </a:r>
            <a:endParaRPr lang="en-US" sz="900" dirty="0"/>
          </a:p>
        </p:txBody>
      </p:sp>
      <p:sp>
        <p:nvSpPr>
          <p:cNvPr id="35" name="Shape 32"/>
          <p:cNvSpPr/>
          <p:nvPr/>
        </p:nvSpPr>
        <p:spPr>
          <a:xfrm>
            <a:off x="5072177" y="2857500"/>
            <a:ext cx="4028846" cy="6476695"/>
          </a:xfrm>
          <a:prstGeom prst="roundRect">
            <a:avLst>
              <a:gd name="adj" fmla="val 3314"/>
            </a:avLst>
          </a:prstGeom>
          <a:solidFill>
            <a:srgbClr val="FFFFFF"/>
          </a:solidFill>
          <a:ln w="12700">
            <a:solidFill>
              <a:srgbClr val="E5E7EB"/>
            </a:solidFill>
            <a:prstDash val="solid"/>
          </a:ln>
        </p:spPr>
        <p:txBody>
          <a:bodyPr/>
          <a:lstStyle/>
          <a:p>
            <a:endParaRPr lang="fr-CI"/>
          </a:p>
        </p:txBody>
      </p:sp>
      <p:sp>
        <p:nvSpPr>
          <p:cNvPr id="36" name="Shape 33"/>
          <p:cNvSpPr/>
          <p:nvPr/>
        </p:nvSpPr>
        <p:spPr>
          <a:xfrm>
            <a:off x="5309921" y="3095244"/>
            <a:ext cx="418795" cy="418795"/>
          </a:xfrm>
          <a:prstGeom prst="roundRect">
            <a:avLst>
              <a:gd name="adj" fmla="val 22707"/>
            </a:avLst>
          </a:prstGeom>
          <a:solidFill>
            <a:srgbClr val="8B5CF6"/>
          </a:solidFill>
          <a:ln w="12700">
            <a:solidFill>
              <a:srgbClr val="FFFFFF">
                <a:alpha val="0"/>
              </a:srgbClr>
            </a:solidFill>
            <a:prstDash val="solid"/>
          </a:ln>
        </p:spPr>
        <p:txBody>
          <a:bodyPr/>
          <a:lstStyle/>
          <a:p>
            <a:endParaRPr lang="fr-CI"/>
          </a:p>
        </p:txBody>
      </p:sp>
      <p:sp>
        <p:nvSpPr>
          <p:cNvPr id="37" name="Text 34"/>
          <p:cNvSpPr txBox="1"/>
          <p:nvPr/>
        </p:nvSpPr>
        <p:spPr>
          <a:xfrm>
            <a:off x="5309921" y="3095244"/>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300" b="1" dirty="0">
                <a:solidFill>
                  <a:srgbClr val="FFFFFF"/>
                </a:solidFill>
                <a:latin typeface="JetBrains Mono" pitchFamily="34" charset="0"/>
                <a:ea typeface="JetBrains Mono" pitchFamily="34" charset="-122"/>
                <a:cs typeface="JetBrains Mono" pitchFamily="34" charset="-120"/>
              </a:rPr>
              <a:t>J+2</a:t>
            </a:r>
            <a:endParaRPr lang="en-US" sz="1300" dirty="0"/>
          </a:p>
        </p:txBody>
      </p:sp>
      <p:sp>
        <p:nvSpPr>
          <p:cNvPr id="38" name="Text 35"/>
          <p:cNvSpPr txBox="1"/>
          <p:nvPr/>
        </p:nvSpPr>
        <p:spPr>
          <a:xfrm>
            <a:off x="5843930" y="3133649"/>
            <a:ext cx="896112"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MARDI</a:t>
            </a:r>
            <a:endParaRPr lang="en-US" sz="800" dirty="0"/>
          </a:p>
        </p:txBody>
      </p:sp>
      <p:sp>
        <p:nvSpPr>
          <p:cNvPr id="39" name="Text 36"/>
          <p:cNvSpPr txBox="1"/>
          <p:nvPr/>
        </p:nvSpPr>
        <p:spPr>
          <a:xfrm>
            <a:off x="5843930" y="3267151"/>
            <a:ext cx="1066190" cy="210312"/>
          </a:xfrm>
          <a:prstGeom prst="rect">
            <a:avLst/>
          </a:prstGeom>
          <a:noFill/>
          <a:ln/>
        </p:spPr>
        <p:txBody>
          <a:bodyPr wrap="non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23 juin 2026</a:t>
            </a:r>
            <a:endParaRPr lang="en-US" sz="1200" dirty="0"/>
          </a:p>
        </p:txBody>
      </p:sp>
      <p:sp>
        <p:nvSpPr>
          <p:cNvPr id="40" name="Text 37"/>
          <p:cNvSpPr txBox="1"/>
          <p:nvPr/>
        </p:nvSpPr>
        <p:spPr>
          <a:xfrm>
            <a:off x="5309921" y="3666744"/>
            <a:ext cx="3553358" cy="247802"/>
          </a:xfrm>
          <a:prstGeom prst="rect">
            <a:avLst/>
          </a:prstGeom>
          <a:noFill/>
          <a:ln/>
        </p:spPr>
        <p:txBody>
          <a:bodyPr wrap="none" lIns="0" tIns="0" rIns="0" bIns="0" rtlCol="0" anchor="ctr"/>
          <a:lstStyle/>
          <a:p>
            <a:pPr marL="0" indent="0" algn="l">
              <a:buNone/>
            </a:pPr>
            <a:r>
              <a:rPr lang="en-US" sz="1400" b="1" dirty="0">
                <a:solidFill>
                  <a:srgbClr val="1F2937"/>
                </a:solidFill>
                <a:latin typeface="Manrope" pitchFamily="34" charset="0"/>
                <a:ea typeface="Manrope" pitchFamily="34" charset="-122"/>
                <a:cs typeface="Manrope" pitchFamily="34" charset="-120"/>
              </a:rPr>
              <a:t>Retest des corrections</a:t>
            </a:r>
            <a:endParaRPr lang="en-US" sz="1400" dirty="0"/>
          </a:p>
        </p:txBody>
      </p:sp>
      <p:pic>
        <p:nvPicPr>
          <p:cNvPr id="41" name="Image 1" descr="gen-dedup-f07bb3bbc30382f69fe6e1471c427d6b.png"/>
          <p:cNvPicPr>
            <a:picLocks noChangeAspect="1"/>
          </p:cNvPicPr>
          <p:nvPr/>
        </p:nvPicPr>
        <p:blipFill>
          <a:blip r:embed="rId2"/>
          <a:srcRect l="-385" r="-385"/>
          <a:stretch/>
        </p:blipFill>
        <p:spPr>
          <a:xfrm>
            <a:off x="5309921" y="3972154"/>
            <a:ext cx="761695" cy="28346"/>
          </a:xfrm>
          <a:prstGeom prst="rect">
            <a:avLst/>
          </a:prstGeom>
        </p:spPr>
      </p:pic>
      <p:sp>
        <p:nvSpPr>
          <p:cNvPr id="42" name="Text 38"/>
          <p:cNvSpPr txBox="1"/>
          <p:nvPr/>
        </p:nvSpPr>
        <p:spPr>
          <a:xfrm>
            <a:off x="5309921" y="4134002"/>
            <a:ext cx="3553358"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ACTIVITÉS</a:t>
            </a:r>
            <a:endParaRPr lang="en-US" sz="800" dirty="0"/>
          </a:p>
        </p:txBody>
      </p:sp>
      <p:sp>
        <p:nvSpPr>
          <p:cNvPr id="43" name="Text 39"/>
          <p:cNvSpPr txBox="1"/>
          <p:nvPr/>
        </p:nvSpPr>
        <p:spPr>
          <a:xfrm>
            <a:off x="5309921" y="4343400"/>
            <a:ext cx="35533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Retest anomalies critiques</a:t>
            </a:r>
            <a:endParaRPr lang="en-US" sz="900" dirty="0"/>
          </a:p>
        </p:txBody>
      </p:sp>
      <p:sp>
        <p:nvSpPr>
          <p:cNvPr id="44" name="Text 40"/>
          <p:cNvSpPr txBox="1"/>
          <p:nvPr/>
        </p:nvSpPr>
        <p:spPr>
          <a:xfrm>
            <a:off x="5309921" y="4535424"/>
            <a:ext cx="35533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Retest wallet</a:t>
            </a:r>
            <a:endParaRPr lang="en-US" sz="900" dirty="0"/>
          </a:p>
        </p:txBody>
      </p:sp>
      <p:sp>
        <p:nvSpPr>
          <p:cNvPr id="45" name="Text 41"/>
          <p:cNvSpPr txBox="1"/>
          <p:nvPr/>
        </p:nvSpPr>
        <p:spPr>
          <a:xfrm>
            <a:off x="5309921" y="4727448"/>
            <a:ext cx="35533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Retest commission</a:t>
            </a:r>
            <a:endParaRPr lang="en-US" sz="900" dirty="0"/>
          </a:p>
        </p:txBody>
      </p:sp>
      <p:sp>
        <p:nvSpPr>
          <p:cNvPr id="46" name="Text 42"/>
          <p:cNvSpPr txBox="1"/>
          <p:nvPr/>
        </p:nvSpPr>
        <p:spPr>
          <a:xfrm>
            <a:off x="5309921" y="4919472"/>
            <a:ext cx="35533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Retest reporting</a:t>
            </a:r>
            <a:endParaRPr lang="en-US" sz="900" dirty="0"/>
          </a:p>
        </p:txBody>
      </p:sp>
      <p:sp>
        <p:nvSpPr>
          <p:cNvPr id="47" name="Text 43"/>
          <p:cNvSpPr txBox="1"/>
          <p:nvPr/>
        </p:nvSpPr>
        <p:spPr>
          <a:xfrm>
            <a:off x="5309921" y="5111496"/>
            <a:ext cx="35533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Retest connexion utilisateurs</a:t>
            </a:r>
            <a:endParaRPr lang="en-US" sz="900" dirty="0"/>
          </a:p>
        </p:txBody>
      </p:sp>
      <p:sp>
        <p:nvSpPr>
          <p:cNvPr id="48" name="Text 44"/>
          <p:cNvSpPr txBox="1"/>
          <p:nvPr/>
        </p:nvSpPr>
        <p:spPr>
          <a:xfrm>
            <a:off x="5309921" y="5303520"/>
            <a:ext cx="35533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Retest partenaires</a:t>
            </a:r>
            <a:endParaRPr lang="en-US" sz="900" dirty="0"/>
          </a:p>
        </p:txBody>
      </p:sp>
      <p:sp>
        <p:nvSpPr>
          <p:cNvPr id="49" name="Text 45"/>
          <p:cNvSpPr txBox="1"/>
          <p:nvPr/>
        </p:nvSpPr>
        <p:spPr>
          <a:xfrm>
            <a:off x="5309921" y="5495544"/>
            <a:ext cx="35533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Retest franchise</a:t>
            </a:r>
            <a:endParaRPr lang="en-US" sz="900" dirty="0"/>
          </a:p>
        </p:txBody>
      </p:sp>
      <p:sp>
        <p:nvSpPr>
          <p:cNvPr id="50" name="Text 46"/>
          <p:cNvSpPr txBox="1"/>
          <p:nvPr/>
        </p:nvSpPr>
        <p:spPr>
          <a:xfrm>
            <a:off x="5309921" y="5687568"/>
            <a:ext cx="35533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Validation ou rejet des corrections</a:t>
            </a:r>
            <a:endParaRPr lang="en-US" sz="900" dirty="0"/>
          </a:p>
        </p:txBody>
      </p:sp>
      <p:sp>
        <p:nvSpPr>
          <p:cNvPr id="51" name="Shape 47"/>
          <p:cNvSpPr/>
          <p:nvPr/>
        </p:nvSpPr>
        <p:spPr>
          <a:xfrm>
            <a:off x="5309921" y="6050585"/>
            <a:ext cx="3552444" cy="1104595"/>
          </a:xfrm>
          <a:prstGeom prst="roundRect">
            <a:avLst>
              <a:gd name="adj" fmla="val 6871"/>
            </a:avLst>
          </a:prstGeom>
          <a:solidFill>
            <a:srgbClr val="F5F3FF"/>
          </a:solidFill>
          <a:ln w="12700">
            <a:solidFill>
              <a:srgbClr val="FFFFFF">
                <a:alpha val="0"/>
              </a:srgbClr>
            </a:solidFill>
            <a:prstDash val="solid"/>
          </a:ln>
        </p:spPr>
        <p:txBody>
          <a:bodyPr/>
          <a:lstStyle/>
          <a:p>
            <a:endParaRPr lang="fr-CI"/>
          </a:p>
        </p:txBody>
      </p:sp>
      <p:sp>
        <p:nvSpPr>
          <p:cNvPr id="52" name="Text 48"/>
          <p:cNvSpPr txBox="1"/>
          <p:nvPr/>
        </p:nvSpPr>
        <p:spPr>
          <a:xfrm>
            <a:off x="5424221" y="6164885"/>
            <a:ext cx="3324758"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LIVRABLES</a:t>
            </a:r>
            <a:endParaRPr lang="en-US" sz="800" dirty="0"/>
          </a:p>
        </p:txBody>
      </p:sp>
      <p:sp>
        <p:nvSpPr>
          <p:cNvPr id="53" name="Text 49"/>
          <p:cNvSpPr txBox="1"/>
          <p:nvPr/>
        </p:nvSpPr>
        <p:spPr>
          <a:xfrm>
            <a:off x="5424221" y="6355994"/>
            <a:ext cx="3324758" cy="171907"/>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 Rapport de retest</a:t>
            </a:r>
            <a:endParaRPr lang="en-US" sz="900" dirty="0"/>
          </a:p>
        </p:txBody>
      </p:sp>
      <p:sp>
        <p:nvSpPr>
          <p:cNvPr id="54" name="Text 50"/>
          <p:cNvSpPr txBox="1"/>
          <p:nvPr/>
        </p:nvSpPr>
        <p:spPr>
          <a:xfrm>
            <a:off x="5424221" y="6526987"/>
            <a:ext cx="3324758" cy="171907"/>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 Anomalies clôturées</a:t>
            </a:r>
            <a:endParaRPr lang="en-US" sz="900" dirty="0"/>
          </a:p>
        </p:txBody>
      </p:sp>
      <p:sp>
        <p:nvSpPr>
          <p:cNvPr id="55" name="Text 51"/>
          <p:cNvSpPr txBox="1"/>
          <p:nvPr/>
        </p:nvSpPr>
        <p:spPr>
          <a:xfrm>
            <a:off x="5424221" y="6698894"/>
            <a:ext cx="3324758" cy="171907"/>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 Anomalies restantes</a:t>
            </a:r>
            <a:endParaRPr lang="en-US" sz="900" dirty="0"/>
          </a:p>
        </p:txBody>
      </p:sp>
      <p:sp>
        <p:nvSpPr>
          <p:cNvPr id="56" name="Text 52"/>
          <p:cNvSpPr txBox="1"/>
          <p:nvPr/>
        </p:nvSpPr>
        <p:spPr>
          <a:xfrm>
            <a:off x="5424221" y="6869887"/>
            <a:ext cx="3324758" cy="171907"/>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 Avis technique provisoire</a:t>
            </a:r>
            <a:endParaRPr lang="en-US" sz="900" dirty="0"/>
          </a:p>
        </p:txBody>
      </p:sp>
      <p:sp>
        <p:nvSpPr>
          <p:cNvPr id="57" name="Shape 53"/>
          <p:cNvSpPr/>
          <p:nvPr/>
        </p:nvSpPr>
        <p:spPr>
          <a:xfrm>
            <a:off x="9229954" y="2857500"/>
            <a:ext cx="4028846" cy="6476695"/>
          </a:xfrm>
          <a:prstGeom prst="roundRect">
            <a:avLst>
              <a:gd name="adj" fmla="val 3314"/>
            </a:avLst>
          </a:prstGeom>
          <a:solidFill>
            <a:srgbClr val="F5F3FF"/>
          </a:solidFill>
          <a:ln w="12700">
            <a:solidFill>
              <a:srgbClr val="DDD6FE"/>
            </a:solidFill>
            <a:prstDash val="solid"/>
          </a:ln>
        </p:spPr>
        <p:txBody>
          <a:bodyPr/>
          <a:lstStyle/>
          <a:p>
            <a:endParaRPr lang="fr-CI"/>
          </a:p>
        </p:txBody>
      </p:sp>
      <p:sp>
        <p:nvSpPr>
          <p:cNvPr id="58" name="Shape 54"/>
          <p:cNvSpPr/>
          <p:nvPr/>
        </p:nvSpPr>
        <p:spPr>
          <a:xfrm>
            <a:off x="9467698" y="3095244"/>
            <a:ext cx="418795" cy="418795"/>
          </a:xfrm>
          <a:prstGeom prst="roundRect">
            <a:avLst>
              <a:gd name="adj" fmla="val 22707"/>
            </a:avLst>
          </a:prstGeom>
          <a:solidFill>
            <a:srgbClr val="6D28D9"/>
          </a:solidFill>
          <a:ln w="12700">
            <a:solidFill>
              <a:srgbClr val="FFFFFF">
                <a:alpha val="0"/>
              </a:srgbClr>
            </a:solidFill>
            <a:prstDash val="solid"/>
          </a:ln>
        </p:spPr>
        <p:txBody>
          <a:bodyPr/>
          <a:lstStyle/>
          <a:p>
            <a:endParaRPr lang="fr-CI"/>
          </a:p>
        </p:txBody>
      </p:sp>
      <p:sp>
        <p:nvSpPr>
          <p:cNvPr id="59" name="Text 55"/>
          <p:cNvSpPr txBox="1"/>
          <p:nvPr/>
        </p:nvSpPr>
        <p:spPr>
          <a:xfrm>
            <a:off x="9467698" y="3095244"/>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300" b="1" dirty="0">
                <a:solidFill>
                  <a:srgbClr val="FFFFFF"/>
                </a:solidFill>
                <a:latin typeface="JetBrains Mono" pitchFamily="34" charset="0"/>
                <a:ea typeface="JetBrains Mono" pitchFamily="34" charset="-122"/>
                <a:cs typeface="JetBrains Mono" pitchFamily="34" charset="-120"/>
              </a:rPr>
              <a:t>J+3</a:t>
            </a:r>
            <a:endParaRPr lang="en-US" sz="1300" dirty="0"/>
          </a:p>
        </p:txBody>
      </p:sp>
      <p:sp>
        <p:nvSpPr>
          <p:cNvPr id="60" name="Text 56"/>
          <p:cNvSpPr txBox="1"/>
          <p:nvPr/>
        </p:nvSpPr>
        <p:spPr>
          <a:xfrm>
            <a:off x="10001707" y="3133649"/>
            <a:ext cx="896112"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MERCREDI</a:t>
            </a:r>
            <a:endParaRPr lang="en-US" sz="800" dirty="0"/>
          </a:p>
        </p:txBody>
      </p:sp>
      <p:sp>
        <p:nvSpPr>
          <p:cNvPr id="61" name="Text 57"/>
          <p:cNvSpPr txBox="1"/>
          <p:nvPr/>
        </p:nvSpPr>
        <p:spPr>
          <a:xfrm>
            <a:off x="10001707" y="3267151"/>
            <a:ext cx="1066190" cy="210312"/>
          </a:xfrm>
          <a:prstGeom prst="rect">
            <a:avLst/>
          </a:prstGeom>
          <a:noFill/>
          <a:ln/>
        </p:spPr>
        <p:txBody>
          <a:bodyPr wrap="none" lIns="0" tIns="0" rIns="0" bIns="0" rtlCol="0" anchor="ctr"/>
          <a:lstStyle/>
          <a:p>
            <a:pPr marL="0" indent="0" algn="l">
              <a:buNone/>
            </a:pPr>
            <a:r>
              <a:rPr lang="en-US" sz="1200" b="1" dirty="0">
                <a:solidFill>
                  <a:srgbClr val="1F2937"/>
                </a:solidFill>
                <a:latin typeface="Manrope" pitchFamily="34" charset="0"/>
                <a:ea typeface="Manrope" pitchFamily="34" charset="-122"/>
                <a:cs typeface="Manrope" pitchFamily="34" charset="-120"/>
              </a:rPr>
              <a:t>24 juin 2026</a:t>
            </a:r>
            <a:endParaRPr lang="en-US" sz="1200" dirty="0"/>
          </a:p>
        </p:txBody>
      </p:sp>
      <p:sp>
        <p:nvSpPr>
          <p:cNvPr id="62" name="Text 58"/>
          <p:cNvSpPr txBox="1"/>
          <p:nvPr/>
        </p:nvSpPr>
        <p:spPr>
          <a:xfrm>
            <a:off x="9467698" y="3666744"/>
            <a:ext cx="3553358" cy="247802"/>
          </a:xfrm>
          <a:prstGeom prst="rect">
            <a:avLst/>
          </a:prstGeom>
          <a:noFill/>
          <a:ln/>
        </p:spPr>
        <p:txBody>
          <a:bodyPr wrap="none" lIns="0" tIns="0" rIns="0" bIns="0" rtlCol="0" anchor="ctr"/>
          <a:lstStyle/>
          <a:p>
            <a:pPr marL="0" indent="0" algn="l">
              <a:buNone/>
            </a:pPr>
            <a:r>
              <a:rPr lang="en-US" sz="1400" b="1" dirty="0">
                <a:solidFill>
                  <a:srgbClr val="1F2937"/>
                </a:solidFill>
                <a:latin typeface="Manrope" pitchFamily="34" charset="0"/>
                <a:ea typeface="Manrope" pitchFamily="34" charset="-122"/>
                <a:cs typeface="Manrope" pitchFamily="34" charset="-120"/>
              </a:rPr>
              <a:t>Migration à blanc</a:t>
            </a:r>
            <a:endParaRPr lang="en-US" sz="1400" dirty="0"/>
          </a:p>
        </p:txBody>
      </p:sp>
      <p:pic>
        <p:nvPicPr>
          <p:cNvPr id="63" name="Image 2" descr="gen-dedup-f07bb3bbc30382f69fe6e1471c427d6b.png"/>
          <p:cNvPicPr>
            <a:picLocks noChangeAspect="1"/>
          </p:cNvPicPr>
          <p:nvPr/>
        </p:nvPicPr>
        <p:blipFill>
          <a:blip r:embed="rId2"/>
          <a:srcRect l="-385" r="-385"/>
          <a:stretch/>
        </p:blipFill>
        <p:spPr>
          <a:xfrm>
            <a:off x="9467698" y="3972154"/>
            <a:ext cx="761695" cy="28346"/>
          </a:xfrm>
          <a:prstGeom prst="rect">
            <a:avLst/>
          </a:prstGeom>
        </p:spPr>
      </p:pic>
      <p:sp>
        <p:nvSpPr>
          <p:cNvPr id="64" name="Text 59"/>
          <p:cNvSpPr txBox="1"/>
          <p:nvPr/>
        </p:nvSpPr>
        <p:spPr>
          <a:xfrm>
            <a:off x="9467698" y="4134002"/>
            <a:ext cx="3553358"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ACTIVITÉS</a:t>
            </a:r>
            <a:endParaRPr lang="en-US" sz="800" dirty="0"/>
          </a:p>
        </p:txBody>
      </p:sp>
      <p:sp>
        <p:nvSpPr>
          <p:cNvPr id="65" name="Text 60"/>
          <p:cNvSpPr txBox="1"/>
          <p:nvPr/>
        </p:nvSpPr>
        <p:spPr>
          <a:xfrm>
            <a:off x="9467698" y="4343400"/>
            <a:ext cx="35533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Extraction données production</a:t>
            </a:r>
            <a:endParaRPr lang="en-US" sz="900" dirty="0"/>
          </a:p>
        </p:txBody>
      </p:sp>
      <p:sp>
        <p:nvSpPr>
          <p:cNvPr id="66" name="Text 61"/>
          <p:cNvSpPr txBox="1"/>
          <p:nvPr/>
        </p:nvSpPr>
        <p:spPr>
          <a:xfrm>
            <a:off x="9467698" y="4535424"/>
            <a:ext cx="35533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Copie contrôlée → préprod</a:t>
            </a:r>
            <a:endParaRPr lang="en-US" sz="900" dirty="0"/>
          </a:p>
        </p:txBody>
      </p:sp>
      <p:sp>
        <p:nvSpPr>
          <p:cNvPr id="67" name="Text 62"/>
          <p:cNvSpPr txBox="1"/>
          <p:nvPr/>
        </p:nvSpPr>
        <p:spPr>
          <a:xfrm>
            <a:off x="9467698" y="4727448"/>
            <a:ext cx="35533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Mapping anciennes/nouvelles</a:t>
            </a:r>
            <a:endParaRPr lang="en-US" sz="900" dirty="0"/>
          </a:p>
        </p:txBody>
      </p:sp>
      <p:sp>
        <p:nvSpPr>
          <p:cNvPr id="68" name="Text 63"/>
          <p:cNvSpPr txBox="1"/>
          <p:nvPr/>
        </p:nvSpPr>
        <p:spPr>
          <a:xfrm>
            <a:off x="9467698" y="4919472"/>
            <a:ext cx="35533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Migration test</a:t>
            </a:r>
            <a:endParaRPr lang="en-US" sz="900" dirty="0"/>
          </a:p>
        </p:txBody>
      </p:sp>
      <p:sp>
        <p:nvSpPr>
          <p:cNvPr id="69" name="Text 64"/>
          <p:cNvSpPr txBox="1"/>
          <p:nvPr/>
        </p:nvSpPr>
        <p:spPr>
          <a:xfrm>
            <a:off x="9467698" y="5111496"/>
            <a:ext cx="35533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Contrôle clients · chauffeurs</a:t>
            </a:r>
            <a:endParaRPr lang="en-US" sz="900" dirty="0"/>
          </a:p>
        </p:txBody>
      </p:sp>
      <p:sp>
        <p:nvSpPr>
          <p:cNvPr id="70" name="Text 65"/>
          <p:cNvSpPr txBox="1"/>
          <p:nvPr/>
        </p:nvSpPr>
        <p:spPr>
          <a:xfrm>
            <a:off x="9467698" y="5303520"/>
            <a:ext cx="35533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Contrôle partenaires · véhicules</a:t>
            </a:r>
            <a:endParaRPr lang="en-US" sz="900" dirty="0"/>
          </a:p>
        </p:txBody>
      </p:sp>
      <p:sp>
        <p:nvSpPr>
          <p:cNvPr id="71" name="Text 66"/>
          <p:cNvSpPr txBox="1"/>
          <p:nvPr/>
        </p:nvSpPr>
        <p:spPr>
          <a:xfrm>
            <a:off x="9467698" y="5495544"/>
            <a:ext cx="35533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Contrôle soldes wallet</a:t>
            </a:r>
            <a:endParaRPr lang="en-US" sz="900" dirty="0"/>
          </a:p>
        </p:txBody>
      </p:sp>
      <p:sp>
        <p:nvSpPr>
          <p:cNvPr id="72" name="Text 67"/>
          <p:cNvSpPr txBox="1"/>
          <p:nvPr/>
        </p:nvSpPr>
        <p:spPr>
          <a:xfrm>
            <a:off x="9467698" y="5687568"/>
            <a:ext cx="3553358"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Contrôle historiques · documents</a:t>
            </a:r>
            <a:endParaRPr lang="en-US" sz="900" dirty="0"/>
          </a:p>
        </p:txBody>
      </p:sp>
      <p:sp>
        <p:nvSpPr>
          <p:cNvPr id="73" name="Shape 68"/>
          <p:cNvSpPr/>
          <p:nvPr/>
        </p:nvSpPr>
        <p:spPr>
          <a:xfrm>
            <a:off x="9467698" y="6050585"/>
            <a:ext cx="3552444" cy="1276502"/>
          </a:xfrm>
          <a:prstGeom prst="roundRect">
            <a:avLst>
              <a:gd name="adj" fmla="val 5946"/>
            </a:avLst>
          </a:prstGeom>
          <a:solidFill>
            <a:srgbClr val="FFFFFF"/>
          </a:solidFill>
          <a:ln w="12700">
            <a:solidFill>
              <a:srgbClr val="FFFFFF">
                <a:alpha val="0"/>
              </a:srgbClr>
            </a:solidFill>
            <a:prstDash val="solid"/>
          </a:ln>
        </p:spPr>
        <p:txBody>
          <a:bodyPr/>
          <a:lstStyle/>
          <a:p>
            <a:endParaRPr lang="fr-CI"/>
          </a:p>
        </p:txBody>
      </p:sp>
      <p:sp>
        <p:nvSpPr>
          <p:cNvPr id="74" name="Text 69"/>
          <p:cNvSpPr txBox="1"/>
          <p:nvPr/>
        </p:nvSpPr>
        <p:spPr>
          <a:xfrm>
            <a:off x="9581998" y="6164885"/>
            <a:ext cx="3324758"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LIVRABLES</a:t>
            </a:r>
            <a:endParaRPr lang="en-US" sz="800" dirty="0"/>
          </a:p>
        </p:txBody>
      </p:sp>
      <p:sp>
        <p:nvSpPr>
          <p:cNvPr id="75" name="Text 70"/>
          <p:cNvSpPr txBox="1"/>
          <p:nvPr/>
        </p:nvSpPr>
        <p:spPr>
          <a:xfrm>
            <a:off x="9581998" y="6355994"/>
            <a:ext cx="3324758" cy="171907"/>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 Rapport migration à blanc</a:t>
            </a:r>
            <a:endParaRPr lang="en-US" sz="900" dirty="0"/>
          </a:p>
        </p:txBody>
      </p:sp>
      <p:sp>
        <p:nvSpPr>
          <p:cNvPr id="76" name="Text 71"/>
          <p:cNvSpPr txBox="1"/>
          <p:nvPr/>
        </p:nvSpPr>
        <p:spPr>
          <a:xfrm>
            <a:off x="9581998" y="6526987"/>
            <a:ext cx="3324758" cy="171907"/>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 Écarts détectés</a:t>
            </a:r>
            <a:endParaRPr lang="en-US" sz="900" dirty="0"/>
          </a:p>
        </p:txBody>
      </p:sp>
      <p:sp>
        <p:nvSpPr>
          <p:cNvPr id="77" name="Text 72"/>
          <p:cNvSpPr txBox="1"/>
          <p:nvPr/>
        </p:nvSpPr>
        <p:spPr>
          <a:xfrm>
            <a:off x="9581998" y="6698894"/>
            <a:ext cx="3324758" cy="171907"/>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 Temps de migration estimé</a:t>
            </a:r>
            <a:endParaRPr lang="en-US" sz="900" dirty="0"/>
          </a:p>
        </p:txBody>
      </p:sp>
      <p:sp>
        <p:nvSpPr>
          <p:cNvPr id="78" name="Text 73"/>
          <p:cNvSpPr txBox="1"/>
          <p:nvPr/>
        </p:nvSpPr>
        <p:spPr>
          <a:xfrm>
            <a:off x="9581998" y="6869887"/>
            <a:ext cx="3324758" cy="171907"/>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 Points de correction</a:t>
            </a:r>
            <a:endParaRPr lang="en-US" sz="900" dirty="0"/>
          </a:p>
        </p:txBody>
      </p:sp>
      <p:sp>
        <p:nvSpPr>
          <p:cNvPr id="79" name="Text 74"/>
          <p:cNvSpPr txBox="1"/>
          <p:nvPr/>
        </p:nvSpPr>
        <p:spPr>
          <a:xfrm>
            <a:off x="9581998" y="7041794"/>
            <a:ext cx="3324758" cy="171907"/>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 Recommandation basculement</a:t>
            </a:r>
            <a:endParaRPr lang="en-US" sz="900" dirty="0"/>
          </a:p>
        </p:txBody>
      </p:sp>
      <p:sp>
        <p:nvSpPr>
          <p:cNvPr id="80" name="Shape 75"/>
          <p:cNvSpPr/>
          <p:nvPr/>
        </p:nvSpPr>
        <p:spPr>
          <a:xfrm>
            <a:off x="13387730" y="2857500"/>
            <a:ext cx="4028846" cy="6476695"/>
          </a:xfrm>
          <a:prstGeom prst="roundRect">
            <a:avLst>
              <a:gd name="adj" fmla="val 3314"/>
            </a:avLst>
          </a:prstGeom>
          <a:solidFill>
            <a:srgbClr val="1F2937"/>
          </a:solidFill>
          <a:ln w="12700">
            <a:solidFill>
              <a:srgbClr val="FFFFFF">
                <a:alpha val="0"/>
              </a:srgbClr>
            </a:solidFill>
            <a:prstDash val="solid"/>
          </a:ln>
        </p:spPr>
        <p:txBody>
          <a:bodyPr/>
          <a:lstStyle/>
          <a:p>
            <a:endParaRPr lang="fr-CI"/>
          </a:p>
        </p:txBody>
      </p:sp>
      <p:sp>
        <p:nvSpPr>
          <p:cNvPr id="81" name="Shape 76"/>
          <p:cNvSpPr/>
          <p:nvPr/>
        </p:nvSpPr>
        <p:spPr>
          <a:xfrm>
            <a:off x="13616330" y="3086100"/>
            <a:ext cx="418795" cy="418795"/>
          </a:xfrm>
          <a:prstGeom prst="roundRect">
            <a:avLst>
              <a:gd name="adj" fmla="val 22707"/>
            </a:avLst>
          </a:prstGeom>
          <a:solidFill>
            <a:srgbClr val="A78BFA"/>
          </a:solidFill>
          <a:ln w="12700">
            <a:solidFill>
              <a:srgbClr val="FFFFFF">
                <a:alpha val="0"/>
              </a:srgbClr>
            </a:solidFill>
            <a:prstDash val="solid"/>
          </a:ln>
        </p:spPr>
        <p:txBody>
          <a:bodyPr/>
          <a:lstStyle/>
          <a:p>
            <a:endParaRPr lang="fr-CI"/>
          </a:p>
        </p:txBody>
      </p:sp>
      <p:sp>
        <p:nvSpPr>
          <p:cNvPr id="82" name="Text 77"/>
          <p:cNvSpPr txBox="1"/>
          <p:nvPr/>
        </p:nvSpPr>
        <p:spPr>
          <a:xfrm>
            <a:off x="13616330" y="3086100"/>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300" b="1" dirty="0">
                <a:solidFill>
                  <a:srgbClr val="1F2937"/>
                </a:solidFill>
                <a:latin typeface="JetBrains Mono" pitchFamily="34" charset="0"/>
                <a:ea typeface="JetBrains Mono" pitchFamily="34" charset="-122"/>
                <a:cs typeface="JetBrains Mono" pitchFamily="34" charset="-120"/>
              </a:rPr>
              <a:t>J+4</a:t>
            </a:r>
            <a:endParaRPr lang="en-US" sz="1300" dirty="0"/>
          </a:p>
        </p:txBody>
      </p:sp>
      <p:sp>
        <p:nvSpPr>
          <p:cNvPr id="83" name="Text 78"/>
          <p:cNvSpPr txBox="1"/>
          <p:nvPr/>
        </p:nvSpPr>
        <p:spPr>
          <a:xfrm>
            <a:off x="14149426" y="3124505"/>
            <a:ext cx="896112"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JEUDI 🏁</a:t>
            </a:r>
            <a:endParaRPr lang="en-US" sz="800" dirty="0"/>
          </a:p>
        </p:txBody>
      </p:sp>
      <p:sp>
        <p:nvSpPr>
          <p:cNvPr id="84" name="Text 79"/>
          <p:cNvSpPr txBox="1"/>
          <p:nvPr/>
        </p:nvSpPr>
        <p:spPr>
          <a:xfrm>
            <a:off x="14149426" y="3258007"/>
            <a:ext cx="1066190" cy="210312"/>
          </a:xfrm>
          <a:prstGeom prst="rect">
            <a:avLst/>
          </a:prstGeom>
          <a:noFill/>
          <a:ln/>
        </p:spPr>
        <p:txBody>
          <a:bodyPr wrap="none" lIns="0" tIns="0" rIns="0" bIns="0" rtlCol="0" anchor="ctr"/>
          <a:lstStyle/>
          <a:p>
            <a:pPr marL="0" indent="0" algn="l">
              <a:buNone/>
            </a:pPr>
            <a:r>
              <a:rPr lang="en-US" sz="1200" b="1" dirty="0">
                <a:solidFill>
                  <a:srgbClr val="FFFFFF"/>
                </a:solidFill>
                <a:latin typeface="Manrope" pitchFamily="34" charset="0"/>
                <a:ea typeface="Manrope" pitchFamily="34" charset="-122"/>
                <a:cs typeface="Manrope" pitchFamily="34" charset="-120"/>
              </a:rPr>
              <a:t>25 juin 2026</a:t>
            </a:r>
            <a:endParaRPr lang="en-US" sz="1200" dirty="0"/>
          </a:p>
        </p:txBody>
      </p:sp>
      <p:sp>
        <p:nvSpPr>
          <p:cNvPr id="85" name="Text 80"/>
          <p:cNvSpPr txBox="1"/>
          <p:nvPr/>
        </p:nvSpPr>
        <p:spPr>
          <a:xfrm>
            <a:off x="13616330" y="3657600"/>
            <a:ext cx="3572561" cy="247802"/>
          </a:xfrm>
          <a:prstGeom prst="rect">
            <a:avLst/>
          </a:prstGeom>
          <a:noFill/>
          <a:ln/>
        </p:spPr>
        <p:txBody>
          <a:bodyPr wrap="none" lIns="0" tIns="0" rIns="0" bIns="0" rtlCol="0" anchor="ctr"/>
          <a:lstStyle/>
          <a:p>
            <a:pPr marL="0" indent="0" algn="l">
              <a:buNone/>
            </a:pPr>
            <a:r>
              <a:rPr lang="en-US" sz="1400" b="1" dirty="0">
                <a:solidFill>
                  <a:srgbClr val="FFFFFF"/>
                </a:solidFill>
                <a:latin typeface="Manrope" pitchFamily="34" charset="0"/>
                <a:ea typeface="Manrope" pitchFamily="34" charset="-122"/>
                <a:cs typeface="Manrope" pitchFamily="34" charset="-120"/>
              </a:rPr>
              <a:t>Go / No-Go migration production</a:t>
            </a:r>
            <a:endParaRPr lang="en-US" sz="1400" dirty="0"/>
          </a:p>
        </p:txBody>
      </p:sp>
      <p:pic>
        <p:nvPicPr>
          <p:cNvPr id="86" name="Image 3" descr="gen-dedup-dee1777222f4445c6e867fd9883ec3f5.png"/>
          <p:cNvPicPr>
            <a:picLocks noChangeAspect="1"/>
          </p:cNvPicPr>
          <p:nvPr/>
        </p:nvPicPr>
        <p:blipFill>
          <a:blip r:embed="rId3"/>
          <a:srcRect l="-353" r="-353"/>
          <a:stretch/>
        </p:blipFill>
        <p:spPr>
          <a:xfrm>
            <a:off x="13616330" y="3962095"/>
            <a:ext cx="304495" cy="28346"/>
          </a:xfrm>
          <a:prstGeom prst="rect">
            <a:avLst/>
          </a:prstGeom>
        </p:spPr>
      </p:pic>
      <p:sp>
        <p:nvSpPr>
          <p:cNvPr id="87" name="Text 81"/>
          <p:cNvSpPr txBox="1"/>
          <p:nvPr/>
        </p:nvSpPr>
        <p:spPr>
          <a:xfrm>
            <a:off x="13616330" y="4123944"/>
            <a:ext cx="3572561"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ACTIVITÉS</a:t>
            </a:r>
            <a:endParaRPr lang="en-US" sz="800" dirty="0"/>
          </a:p>
        </p:txBody>
      </p:sp>
      <p:sp>
        <p:nvSpPr>
          <p:cNvPr id="88" name="Text 82"/>
          <p:cNvSpPr txBox="1"/>
          <p:nvPr/>
        </p:nvSpPr>
        <p:spPr>
          <a:xfrm>
            <a:off x="13616330" y="4334256"/>
            <a:ext cx="3572561"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 Revue des rapports</a:t>
            </a:r>
            <a:endParaRPr lang="en-US" sz="900" dirty="0"/>
          </a:p>
        </p:txBody>
      </p:sp>
      <p:sp>
        <p:nvSpPr>
          <p:cNvPr id="89" name="Text 83"/>
          <p:cNvSpPr txBox="1"/>
          <p:nvPr/>
        </p:nvSpPr>
        <p:spPr>
          <a:xfrm>
            <a:off x="13616330" y="4526280"/>
            <a:ext cx="3572561"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 Revue des anomalies</a:t>
            </a:r>
            <a:endParaRPr lang="en-US" sz="900" dirty="0"/>
          </a:p>
        </p:txBody>
      </p:sp>
      <p:sp>
        <p:nvSpPr>
          <p:cNvPr id="90" name="Text 84"/>
          <p:cNvSpPr txBox="1"/>
          <p:nvPr/>
        </p:nvSpPr>
        <p:spPr>
          <a:xfrm>
            <a:off x="13616330" y="4718304"/>
            <a:ext cx="3572561"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 Revue rapport financier</a:t>
            </a:r>
            <a:endParaRPr lang="en-US" sz="900" dirty="0"/>
          </a:p>
        </p:txBody>
      </p:sp>
      <p:sp>
        <p:nvSpPr>
          <p:cNvPr id="91" name="Text 85"/>
          <p:cNvSpPr txBox="1"/>
          <p:nvPr/>
        </p:nvSpPr>
        <p:spPr>
          <a:xfrm>
            <a:off x="13616330" y="4909414"/>
            <a:ext cx="3572561"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 Revue rapport technique</a:t>
            </a:r>
            <a:endParaRPr lang="en-US" sz="900" dirty="0"/>
          </a:p>
        </p:txBody>
      </p:sp>
      <p:sp>
        <p:nvSpPr>
          <p:cNvPr id="92" name="Text 86"/>
          <p:cNvSpPr txBox="1"/>
          <p:nvPr/>
        </p:nvSpPr>
        <p:spPr>
          <a:xfrm>
            <a:off x="13616330" y="5101438"/>
            <a:ext cx="3572561"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 Revue rapport exploitation</a:t>
            </a:r>
            <a:endParaRPr lang="en-US" sz="900" dirty="0"/>
          </a:p>
        </p:txBody>
      </p:sp>
      <p:sp>
        <p:nvSpPr>
          <p:cNvPr id="93" name="Text 87"/>
          <p:cNvSpPr txBox="1"/>
          <p:nvPr/>
        </p:nvSpPr>
        <p:spPr>
          <a:xfrm>
            <a:off x="13616330" y="5293462"/>
            <a:ext cx="3572561"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 Validation plan retour arrière</a:t>
            </a:r>
            <a:endParaRPr lang="en-US" sz="900" dirty="0"/>
          </a:p>
        </p:txBody>
      </p:sp>
      <p:sp>
        <p:nvSpPr>
          <p:cNvPr id="94" name="Text 88"/>
          <p:cNvSpPr txBox="1"/>
          <p:nvPr/>
        </p:nvSpPr>
        <p:spPr>
          <a:xfrm>
            <a:off x="13616330" y="5485486"/>
            <a:ext cx="3572561"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 Validation plan communication</a:t>
            </a:r>
            <a:endParaRPr lang="en-US" sz="900" dirty="0"/>
          </a:p>
        </p:txBody>
      </p:sp>
      <p:sp>
        <p:nvSpPr>
          <p:cNvPr id="95" name="Text 89"/>
          <p:cNvSpPr txBox="1"/>
          <p:nvPr/>
        </p:nvSpPr>
        <p:spPr>
          <a:xfrm>
            <a:off x="13616330" y="5677510"/>
            <a:ext cx="3572561"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 Décision mise en production</a:t>
            </a:r>
            <a:endParaRPr lang="en-US" sz="900" dirty="0"/>
          </a:p>
        </p:txBody>
      </p:sp>
      <p:sp>
        <p:nvSpPr>
          <p:cNvPr id="96" name="Shape 90"/>
          <p:cNvSpPr/>
          <p:nvPr/>
        </p:nvSpPr>
        <p:spPr>
          <a:xfrm>
            <a:off x="13616330" y="6041441"/>
            <a:ext cx="3571646" cy="1104595"/>
          </a:xfrm>
          <a:prstGeom prst="roundRect">
            <a:avLst>
              <a:gd name="adj" fmla="val 6871"/>
            </a:avLst>
          </a:prstGeom>
          <a:solidFill>
            <a:srgbClr val="4C1D95"/>
          </a:solidFill>
          <a:ln w="12700">
            <a:solidFill>
              <a:srgbClr val="FFFFFF">
                <a:alpha val="0"/>
              </a:srgbClr>
            </a:solidFill>
            <a:prstDash val="solid"/>
          </a:ln>
        </p:spPr>
        <p:txBody>
          <a:bodyPr/>
          <a:lstStyle/>
          <a:p>
            <a:endParaRPr lang="fr-CI"/>
          </a:p>
        </p:txBody>
      </p:sp>
      <p:sp>
        <p:nvSpPr>
          <p:cNvPr id="97" name="Text 91"/>
          <p:cNvSpPr txBox="1"/>
          <p:nvPr/>
        </p:nvSpPr>
        <p:spPr>
          <a:xfrm>
            <a:off x="13730630" y="6155741"/>
            <a:ext cx="3343961" cy="133502"/>
          </a:xfrm>
          <a:prstGeom prst="rect">
            <a:avLst/>
          </a:prstGeom>
          <a:noFill/>
          <a:ln/>
        </p:spPr>
        <p:txBody>
          <a:bodyPr wrap="none" lIns="0" tIns="0" rIns="0" bIns="0" rtlCol="0" anchor="ctr"/>
          <a:lstStyle/>
          <a:p>
            <a:pPr marL="0" indent="0" algn="l">
              <a:buNone/>
            </a:pPr>
            <a:r>
              <a:rPr lang="en-US" sz="800" b="1" dirty="0">
                <a:solidFill>
                  <a:srgbClr val="C4B5FD"/>
                </a:solidFill>
                <a:latin typeface="JetBrains Mono" pitchFamily="34" charset="0"/>
                <a:ea typeface="JetBrains Mono" pitchFamily="34" charset="-122"/>
                <a:cs typeface="JetBrains Mono" pitchFamily="34" charset="-120"/>
              </a:rPr>
              <a:t>LIVRABLES DÉCISION</a:t>
            </a:r>
            <a:endParaRPr lang="en-US" sz="800" dirty="0"/>
          </a:p>
        </p:txBody>
      </p:sp>
      <p:sp>
        <p:nvSpPr>
          <p:cNvPr id="98" name="Text 92"/>
          <p:cNvSpPr txBox="1"/>
          <p:nvPr/>
        </p:nvSpPr>
        <p:spPr>
          <a:xfrm>
            <a:off x="13730630" y="6345936"/>
            <a:ext cx="3343961" cy="171907"/>
          </a:xfrm>
          <a:prstGeom prst="rect">
            <a:avLst/>
          </a:prstGeom>
          <a:noFill/>
          <a:ln/>
        </p:spPr>
        <p:txBody>
          <a:bodyPr wrap="non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 </a:t>
            </a:r>
            <a:r>
              <a:rPr lang="en-US" sz="900" b="1" dirty="0">
                <a:solidFill>
                  <a:srgbClr val="FFFFFF"/>
                </a:solidFill>
                <a:latin typeface="Manrope" pitchFamily="34" charset="0"/>
                <a:ea typeface="Manrope" pitchFamily="34" charset="-122"/>
                <a:cs typeface="Manrope" pitchFamily="34" charset="-120"/>
              </a:rPr>
              <a:t>Procès-verbal Go / No-Go</a:t>
            </a:r>
            <a:endParaRPr lang="en-US" sz="900" dirty="0"/>
          </a:p>
        </p:txBody>
      </p:sp>
      <p:sp>
        <p:nvSpPr>
          <p:cNvPr id="99" name="Text 93"/>
          <p:cNvSpPr txBox="1"/>
          <p:nvPr/>
        </p:nvSpPr>
        <p:spPr>
          <a:xfrm>
            <a:off x="13730630" y="6517843"/>
            <a:ext cx="3343961" cy="171907"/>
          </a:xfrm>
          <a:prstGeom prst="rect">
            <a:avLst/>
          </a:prstGeom>
          <a:noFill/>
          <a:ln/>
        </p:spPr>
        <p:txBody>
          <a:bodyPr wrap="non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 Liste des réserves</a:t>
            </a:r>
            <a:endParaRPr lang="en-US" sz="900" dirty="0"/>
          </a:p>
        </p:txBody>
      </p:sp>
      <p:sp>
        <p:nvSpPr>
          <p:cNvPr id="100" name="Text 94"/>
          <p:cNvSpPr txBox="1"/>
          <p:nvPr/>
        </p:nvSpPr>
        <p:spPr>
          <a:xfrm>
            <a:off x="13730630" y="6688836"/>
            <a:ext cx="3343961" cy="171907"/>
          </a:xfrm>
          <a:prstGeom prst="rect">
            <a:avLst/>
          </a:prstGeom>
          <a:noFill/>
          <a:ln/>
        </p:spPr>
        <p:txBody>
          <a:bodyPr wrap="non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 Plan d'action final</a:t>
            </a:r>
            <a:endParaRPr lang="en-US" sz="900" dirty="0"/>
          </a:p>
        </p:txBody>
      </p:sp>
      <p:sp>
        <p:nvSpPr>
          <p:cNvPr id="101" name="Text 95"/>
          <p:cNvSpPr txBox="1"/>
          <p:nvPr/>
        </p:nvSpPr>
        <p:spPr>
          <a:xfrm>
            <a:off x="13730630" y="6860743"/>
            <a:ext cx="3343961" cy="171907"/>
          </a:xfrm>
          <a:prstGeom prst="rect">
            <a:avLst/>
          </a:prstGeom>
          <a:noFill/>
          <a:ln/>
        </p:spPr>
        <p:txBody>
          <a:bodyPr wrap="non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 Décision direction</a:t>
            </a:r>
            <a:endParaRPr lang="en-US" sz="900" dirty="0"/>
          </a:p>
        </p:txBody>
      </p:sp>
      <p:sp>
        <p:nvSpPr>
          <p:cNvPr id="102" name="Shape 96"/>
          <p:cNvSpPr/>
          <p:nvPr/>
        </p:nvSpPr>
        <p:spPr>
          <a:xfrm>
            <a:off x="0" y="9791395"/>
            <a:ext cx="18288000" cy="495605"/>
          </a:xfrm>
          <a:prstGeom prst="rect">
            <a:avLst/>
          </a:prstGeom>
          <a:solidFill>
            <a:srgbClr val="FFFFFF"/>
          </a:solidFill>
          <a:ln/>
        </p:spPr>
        <p:txBody>
          <a:bodyPr/>
          <a:lstStyle/>
          <a:p>
            <a:endParaRPr lang="fr-CI"/>
          </a:p>
        </p:txBody>
      </p:sp>
      <p:sp>
        <p:nvSpPr>
          <p:cNvPr id="103" name="Shape 97"/>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104" name="Text 98"/>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105" name="Text 99"/>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50 / 59</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5425928" y="256946"/>
            <a:ext cx="2686507"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Partie IX — §22 à §25 Validation</a:t>
            </a:r>
            <a:endParaRPr lang="en-US" sz="900" dirty="0"/>
          </a:p>
        </p:txBody>
      </p:sp>
      <p:sp>
        <p:nvSpPr>
          <p:cNvPr id="10" name="Text 8"/>
          <p:cNvSpPr txBox="1"/>
          <p:nvPr/>
        </p:nvSpPr>
        <p:spPr>
          <a:xfrm>
            <a:off x="914400" y="1205179"/>
            <a:ext cx="3931006"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Critères de validation de la recette</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8479110"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4 familles de critères — la recette est validée si toutes le sont.</a:t>
            </a:r>
            <a:endParaRPr lang="en-US" sz="3900" dirty="0"/>
          </a:p>
        </p:txBody>
      </p:sp>
      <p:sp>
        <p:nvSpPr>
          <p:cNvPr id="13" name="Shape 11"/>
          <p:cNvSpPr/>
          <p:nvPr/>
        </p:nvSpPr>
        <p:spPr>
          <a:xfrm>
            <a:off x="914400" y="2762402"/>
            <a:ext cx="4009644" cy="6476695"/>
          </a:xfrm>
          <a:prstGeom prst="roundRect">
            <a:avLst>
              <a:gd name="adj" fmla="val 3330"/>
            </a:avLst>
          </a:prstGeom>
          <a:solidFill>
            <a:srgbClr val="F5F3FF"/>
          </a:solidFill>
          <a:ln w="12700">
            <a:solidFill>
              <a:srgbClr val="DDD6FE"/>
            </a:solidFill>
            <a:prstDash val="solid"/>
          </a:ln>
        </p:spPr>
        <p:txBody>
          <a:bodyPr/>
          <a:lstStyle/>
          <a:p>
            <a:endParaRPr lang="fr-CI"/>
          </a:p>
        </p:txBody>
      </p:sp>
      <p:sp>
        <p:nvSpPr>
          <p:cNvPr id="14" name="Text 12"/>
          <p:cNvSpPr txBox="1"/>
          <p:nvPr/>
        </p:nvSpPr>
        <p:spPr>
          <a:xfrm>
            <a:off x="1152144" y="3000146"/>
            <a:ext cx="3534156" cy="152705"/>
          </a:xfrm>
          <a:prstGeom prst="rect">
            <a:avLst/>
          </a:prstGeom>
          <a:noFill/>
          <a:ln/>
        </p:spPr>
        <p:txBody>
          <a:bodyPr wrap="none" lIns="0" tIns="0" rIns="0" bIns="0" rtlCol="0" anchor="ctr"/>
          <a:lstStyle/>
          <a:p>
            <a:pPr marL="0" indent="0" algn="l">
              <a:buNone/>
            </a:pPr>
            <a:r>
              <a:rPr lang="en-US" sz="900" b="1" kern="0" spc="108" dirty="0">
                <a:solidFill>
                  <a:srgbClr val="6D28D9"/>
                </a:solidFill>
                <a:latin typeface="JetBrains Mono" pitchFamily="34" charset="0"/>
                <a:ea typeface="JetBrains Mono" pitchFamily="34" charset="-122"/>
                <a:cs typeface="JetBrains Mono" pitchFamily="34" charset="-120"/>
              </a:rPr>
              <a:t>§22</a:t>
            </a:r>
            <a:endParaRPr lang="en-US" sz="900" dirty="0"/>
          </a:p>
        </p:txBody>
      </p:sp>
      <p:sp>
        <p:nvSpPr>
          <p:cNvPr id="15" name="Text 13"/>
          <p:cNvSpPr txBox="1"/>
          <p:nvPr/>
        </p:nvSpPr>
        <p:spPr>
          <a:xfrm>
            <a:off x="1152144" y="3209544"/>
            <a:ext cx="3534156" cy="314554"/>
          </a:xfrm>
          <a:prstGeom prst="rect">
            <a:avLst/>
          </a:prstGeom>
          <a:noFill/>
          <a:ln/>
        </p:spPr>
        <p:txBody>
          <a:bodyPr wrap="none" lIns="0" tIns="0" rIns="0" bIns="0" rtlCol="0" anchor="ctr"/>
          <a:lstStyle/>
          <a:p>
            <a:pPr marL="0" indent="0" algn="l">
              <a:buNone/>
            </a:pPr>
            <a:r>
              <a:rPr lang="en-US" sz="1800" b="1" dirty="0">
                <a:solidFill>
                  <a:srgbClr val="1F2937"/>
                </a:solidFill>
                <a:latin typeface="Manrope" pitchFamily="34" charset="0"/>
                <a:ea typeface="Manrope" pitchFamily="34" charset="-122"/>
                <a:cs typeface="Manrope" pitchFamily="34" charset="-120"/>
              </a:rPr>
              <a:t>Fonctionnels</a:t>
            </a:r>
            <a:endParaRPr lang="en-US" sz="1800" dirty="0"/>
          </a:p>
        </p:txBody>
      </p:sp>
      <p:pic>
        <p:nvPicPr>
          <p:cNvPr id="16" name="Image 0" descr="gen-dedup-f07bb3bbc30382f69fe6e1471c427d6b.png"/>
          <p:cNvPicPr>
            <a:picLocks noChangeAspect="1"/>
          </p:cNvPicPr>
          <p:nvPr/>
        </p:nvPicPr>
        <p:blipFill>
          <a:blip r:embed="rId2"/>
          <a:srcRect l="-385" r="-385"/>
          <a:stretch/>
        </p:blipFill>
        <p:spPr>
          <a:xfrm>
            <a:off x="1152144" y="3619195"/>
            <a:ext cx="761695" cy="28346"/>
          </a:xfrm>
          <a:prstGeom prst="rect">
            <a:avLst/>
          </a:prstGeom>
        </p:spPr>
      </p:pic>
      <p:sp>
        <p:nvSpPr>
          <p:cNvPr id="17" name="Text 14"/>
          <p:cNvSpPr txBox="1"/>
          <p:nvPr/>
        </p:nvSpPr>
        <p:spPr>
          <a:xfrm>
            <a:off x="1152144" y="3762756"/>
            <a:ext cx="3534156" cy="219456"/>
          </a:xfrm>
          <a:prstGeom prst="rect">
            <a:avLst/>
          </a:prstGeom>
          <a:noFill/>
          <a:ln/>
        </p:spPr>
        <p:txBody>
          <a:bodyPr wrap="none" lIns="0" tIns="0" rIns="0" bIns="0" rtlCol="0" anchor="ctr"/>
          <a:lstStyle/>
          <a:p>
            <a:pPr marL="0" indent="0" algn="l">
              <a:buNone/>
            </a:pPr>
            <a:r>
              <a:rPr lang="en-US" sz="1100" dirty="0">
                <a:solidFill>
                  <a:srgbClr val="6B7280"/>
                </a:solidFill>
                <a:latin typeface="Manrope" pitchFamily="34" charset="0"/>
                <a:ea typeface="Manrope" pitchFamily="34" charset="-122"/>
                <a:cs typeface="Manrope" pitchFamily="34" charset="-120"/>
              </a:rPr>
              <a:t>La recette fonctionnelle est validée si :</a:t>
            </a:r>
            <a:endParaRPr lang="en-US" sz="1100" dirty="0"/>
          </a:p>
        </p:txBody>
      </p:sp>
      <p:sp>
        <p:nvSpPr>
          <p:cNvPr id="18" name="Shape 15"/>
          <p:cNvSpPr/>
          <p:nvPr/>
        </p:nvSpPr>
        <p:spPr>
          <a:xfrm>
            <a:off x="1152144" y="4443984"/>
            <a:ext cx="3534156" cy="9144"/>
          </a:xfrm>
          <a:prstGeom prst="rect">
            <a:avLst/>
          </a:prstGeom>
          <a:solidFill>
            <a:srgbClr val="DDD6FE"/>
          </a:solidFill>
          <a:ln w="12700">
            <a:solidFill>
              <a:srgbClr val="DDD6FE">
                <a:alpha val="0"/>
              </a:srgbClr>
            </a:solidFill>
            <a:prstDash val="solid"/>
          </a:ln>
        </p:spPr>
        <p:txBody>
          <a:bodyPr/>
          <a:lstStyle/>
          <a:p>
            <a:endParaRPr lang="fr-CI"/>
          </a:p>
        </p:txBody>
      </p:sp>
      <p:sp>
        <p:nvSpPr>
          <p:cNvPr id="19" name="Text 16"/>
          <p:cNvSpPr txBox="1"/>
          <p:nvPr/>
        </p:nvSpPr>
        <p:spPr>
          <a:xfrm>
            <a:off x="1152144" y="4119372"/>
            <a:ext cx="3534156" cy="248717"/>
          </a:xfrm>
          <a:prstGeom prst="rect">
            <a:avLst/>
          </a:prstGeom>
          <a:solidFill>
            <a:srgbClr val="FFFFFF">
              <a:alpha val="0"/>
            </a:srgbClr>
          </a:solidFill>
          <a:ln>
            <a:solidFill>
              <a:srgbClr val="FFFFFF">
                <a:alpha val="0"/>
              </a:srgbClr>
            </a:solidFill>
          </a:ln>
        </p:spPr>
        <p:txBody>
          <a:bodyPr wrap="none" lIns="76200" tIns="76200" rIns="76200" bIns="0" rtlCol="0" anchor="ctr"/>
          <a:lstStyle/>
          <a:p>
            <a:pPr marL="0" indent="0" algn="l">
              <a:buNone/>
            </a:pPr>
            <a:r>
              <a:rPr lang="en-US" sz="900" b="1" dirty="0">
                <a:solidFill>
                  <a:srgbClr val="10B981"/>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Clients utilisent les services</a:t>
            </a:r>
            <a:endParaRPr lang="en-US" sz="900" dirty="0"/>
          </a:p>
        </p:txBody>
      </p:sp>
      <p:sp>
        <p:nvSpPr>
          <p:cNvPr id="20" name="Shape 17"/>
          <p:cNvSpPr/>
          <p:nvPr/>
        </p:nvSpPr>
        <p:spPr>
          <a:xfrm>
            <a:off x="1152144" y="4777740"/>
            <a:ext cx="3534156" cy="9144"/>
          </a:xfrm>
          <a:prstGeom prst="rect">
            <a:avLst/>
          </a:prstGeom>
          <a:solidFill>
            <a:srgbClr val="DDD6FE"/>
          </a:solidFill>
          <a:ln w="12700">
            <a:solidFill>
              <a:srgbClr val="DDD6FE">
                <a:alpha val="0"/>
              </a:srgbClr>
            </a:solidFill>
            <a:prstDash val="solid"/>
          </a:ln>
        </p:spPr>
        <p:txBody>
          <a:bodyPr/>
          <a:lstStyle/>
          <a:p>
            <a:endParaRPr lang="fr-CI"/>
          </a:p>
        </p:txBody>
      </p:sp>
      <p:sp>
        <p:nvSpPr>
          <p:cNvPr id="21" name="Text 18"/>
          <p:cNvSpPr txBox="1"/>
          <p:nvPr/>
        </p:nvSpPr>
        <p:spPr>
          <a:xfrm>
            <a:off x="1152144" y="4453128"/>
            <a:ext cx="3534156" cy="248717"/>
          </a:xfrm>
          <a:prstGeom prst="rect">
            <a:avLst/>
          </a:prstGeom>
          <a:solidFill>
            <a:srgbClr val="FFFFFF">
              <a:alpha val="0"/>
            </a:srgbClr>
          </a:solidFill>
          <a:ln>
            <a:solidFill>
              <a:srgbClr val="FFFFFF">
                <a:alpha val="0"/>
              </a:srgbClr>
            </a:solidFill>
          </a:ln>
        </p:spPr>
        <p:txBody>
          <a:bodyPr wrap="none" lIns="76200" tIns="76200" rIns="76200" bIns="0" rtlCol="0" anchor="ctr"/>
          <a:lstStyle/>
          <a:p>
            <a:pPr marL="0" indent="0" algn="l">
              <a:buNone/>
            </a:pPr>
            <a:r>
              <a:rPr lang="en-US" sz="900" b="1" dirty="0">
                <a:solidFill>
                  <a:srgbClr val="10B981"/>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Chauffeurs terminent leurs courses</a:t>
            </a:r>
            <a:endParaRPr lang="en-US" sz="900" dirty="0"/>
          </a:p>
        </p:txBody>
      </p:sp>
      <p:sp>
        <p:nvSpPr>
          <p:cNvPr id="22" name="Shape 19"/>
          <p:cNvSpPr/>
          <p:nvPr/>
        </p:nvSpPr>
        <p:spPr>
          <a:xfrm>
            <a:off x="1152144" y="5110582"/>
            <a:ext cx="3534156" cy="9144"/>
          </a:xfrm>
          <a:prstGeom prst="rect">
            <a:avLst/>
          </a:prstGeom>
          <a:solidFill>
            <a:srgbClr val="DDD6FE"/>
          </a:solidFill>
          <a:ln w="12700">
            <a:solidFill>
              <a:srgbClr val="DDD6FE">
                <a:alpha val="0"/>
              </a:srgbClr>
            </a:solidFill>
            <a:prstDash val="solid"/>
          </a:ln>
        </p:spPr>
        <p:txBody>
          <a:bodyPr/>
          <a:lstStyle/>
          <a:p>
            <a:endParaRPr lang="fr-CI"/>
          </a:p>
        </p:txBody>
      </p:sp>
      <p:sp>
        <p:nvSpPr>
          <p:cNvPr id="23" name="Text 20"/>
          <p:cNvSpPr txBox="1"/>
          <p:nvPr/>
        </p:nvSpPr>
        <p:spPr>
          <a:xfrm>
            <a:off x="1152144" y="4785970"/>
            <a:ext cx="3534156" cy="248717"/>
          </a:xfrm>
          <a:prstGeom prst="rect">
            <a:avLst/>
          </a:prstGeom>
          <a:solidFill>
            <a:srgbClr val="FFFFFF">
              <a:alpha val="0"/>
            </a:srgbClr>
          </a:solidFill>
          <a:ln>
            <a:solidFill>
              <a:srgbClr val="FFFFFF">
                <a:alpha val="0"/>
              </a:srgbClr>
            </a:solidFill>
          </a:ln>
        </p:spPr>
        <p:txBody>
          <a:bodyPr wrap="none" lIns="76200" tIns="76200" rIns="76200" bIns="0" rtlCol="0" anchor="ctr"/>
          <a:lstStyle/>
          <a:p>
            <a:pPr marL="0" indent="0" algn="l">
              <a:buNone/>
            </a:pPr>
            <a:r>
              <a:rPr lang="en-US" sz="900" b="1" dirty="0">
                <a:solidFill>
                  <a:srgbClr val="10B981"/>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Livreurs terminent leurs livraisons</a:t>
            </a:r>
            <a:endParaRPr lang="en-US" sz="900" dirty="0"/>
          </a:p>
        </p:txBody>
      </p:sp>
      <p:sp>
        <p:nvSpPr>
          <p:cNvPr id="24" name="Shape 21"/>
          <p:cNvSpPr/>
          <p:nvPr/>
        </p:nvSpPr>
        <p:spPr>
          <a:xfrm>
            <a:off x="1152144" y="5444338"/>
            <a:ext cx="3534156" cy="9144"/>
          </a:xfrm>
          <a:prstGeom prst="rect">
            <a:avLst/>
          </a:prstGeom>
          <a:solidFill>
            <a:srgbClr val="DDD6FE"/>
          </a:solidFill>
          <a:ln w="12700">
            <a:solidFill>
              <a:srgbClr val="DDD6FE">
                <a:alpha val="0"/>
              </a:srgbClr>
            </a:solidFill>
            <a:prstDash val="solid"/>
          </a:ln>
        </p:spPr>
        <p:txBody>
          <a:bodyPr/>
          <a:lstStyle/>
          <a:p>
            <a:endParaRPr lang="fr-CI"/>
          </a:p>
        </p:txBody>
      </p:sp>
      <p:sp>
        <p:nvSpPr>
          <p:cNvPr id="25" name="Text 22"/>
          <p:cNvSpPr txBox="1"/>
          <p:nvPr/>
        </p:nvSpPr>
        <p:spPr>
          <a:xfrm>
            <a:off x="1152144" y="5119726"/>
            <a:ext cx="3534156" cy="248717"/>
          </a:xfrm>
          <a:prstGeom prst="rect">
            <a:avLst/>
          </a:prstGeom>
          <a:solidFill>
            <a:srgbClr val="FFFFFF">
              <a:alpha val="0"/>
            </a:srgbClr>
          </a:solidFill>
          <a:ln>
            <a:solidFill>
              <a:srgbClr val="FFFFFF">
                <a:alpha val="0"/>
              </a:srgbClr>
            </a:solidFill>
          </a:ln>
        </p:spPr>
        <p:txBody>
          <a:bodyPr wrap="none" lIns="76200" tIns="76200" rIns="76200" bIns="0" rtlCol="0" anchor="ctr"/>
          <a:lstStyle/>
          <a:p>
            <a:pPr marL="0" indent="0" algn="l">
              <a:buNone/>
            </a:pPr>
            <a:r>
              <a:rPr lang="en-US" sz="900" b="1" dirty="0">
                <a:solidFill>
                  <a:srgbClr val="10B981"/>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Partenaires suivent leurs engins</a:t>
            </a:r>
            <a:endParaRPr lang="en-US" sz="900" dirty="0"/>
          </a:p>
        </p:txBody>
      </p:sp>
      <p:sp>
        <p:nvSpPr>
          <p:cNvPr id="26" name="Shape 23"/>
          <p:cNvSpPr/>
          <p:nvPr/>
        </p:nvSpPr>
        <p:spPr>
          <a:xfrm>
            <a:off x="1152144" y="5778094"/>
            <a:ext cx="3534156" cy="9144"/>
          </a:xfrm>
          <a:prstGeom prst="rect">
            <a:avLst/>
          </a:prstGeom>
          <a:solidFill>
            <a:srgbClr val="DDD6FE"/>
          </a:solidFill>
          <a:ln w="12700">
            <a:solidFill>
              <a:srgbClr val="DDD6FE">
                <a:alpha val="0"/>
              </a:srgbClr>
            </a:solidFill>
            <a:prstDash val="solid"/>
          </a:ln>
        </p:spPr>
        <p:txBody>
          <a:bodyPr/>
          <a:lstStyle/>
          <a:p>
            <a:endParaRPr lang="fr-CI"/>
          </a:p>
        </p:txBody>
      </p:sp>
      <p:sp>
        <p:nvSpPr>
          <p:cNvPr id="27" name="Text 24"/>
          <p:cNvSpPr txBox="1"/>
          <p:nvPr/>
        </p:nvSpPr>
        <p:spPr>
          <a:xfrm>
            <a:off x="1152144" y="5453482"/>
            <a:ext cx="3534156" cy="248717"/>
          </a:xfrm>
          <a:prstGeom prst="rect">
            <a:avLst/>
          </a:prstGeom>
          <a:solidFill>
            <a:srgbClr val="FFFFFF">
              <a:alpha val="0"/>
            </a:srgbClr>
          </a:solidFill>
          <a:ln>
            <a:solidFill>
              <a:srgbClr val="FFFFFF">
                <a:alpha val="0"/>
              </a:srgbClr>
            </a:solidFill>
          </a:ln>
        </p:spPr>
        <p:txBody>
          <a:bodyPr wrap="none" lIns="76200" tIns="76200" rIns="76200" bIns="0" rtlCol="0" anchor="ctr"/>
          <a:lstStyle/>
          <a:p>
            <a:pPr marL="0" indent="0" algn="l">
              <a:buNone/>
            </a:pPr>
            <a:r>
              <a:rPr lang="en-US" sz="900" b="1" dirty="0">
                <a:solidFill>
                  <a:srgbClr val="10B981"/>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Franchises suivent leur zone</a:t>
            </a:r>
            <a:endParaRPr lang="en-US" sz="900" dirty="0"/>
          </a:p>
        </p:txBody>
      </p:sp>
      <p:sp>
        <p:nvSpPr>
          <p:cNvPr id="28" name="Shape 25"/>
          <p:cNvSpPr/>
          <p:nvPr/>
        </p:nvSpPr>
        <p:spPr>
          <a:xfrm>
            <a:off x="1152144" y="6110935"/>
            <a:ext cx="3534156" cy="9144"/>
          </a:xfrm>
          <a:prstGeom prst="rect">
            <a:avLst/>
          </a:prstGeom>
          <a:solidFill>
            <a:srgbClr val="DDD6FE"/>
          </a:solidFill>
          <a:ln w="12700">
            <a:solidFill>
              <a:srgbClr val="DDD6FE">
                <a:alpha val="0"/>
              </a:srgbClr>
            </a:solidFill>
            <a:prstDash val="solid"/>
          </a:ln>
        </p:spPr>
        <p:txBody>
          <a:bodyPr/>
          <a:lstStyle/>
          <a:p>
            <a:endParaRPr lang="fr-CI"/>
          </a:p>
        </p:txBody>
      </p:sp>
      <p:sp>
        <p:nvSpPr>
          <p:cNvPr id="29" name="Text 26"/>
          <p:cNvSpPr txBox="1"/>
          <p:nvPr/>
        </p:nvSpPr>
        <p:spPr>
          <a:xfrm>
            <a:off x="1152144" y="5786323"/>
            <a:ext cx="3534156" cy="248717"/>
          </a:xfrm>
          <a:prstGeom prst="rect">
            <a:avLst/>
          </a:prstGeom>
          <a:solidFill>
            <a:srgbClr val="FFFFFF">
              <a:alpha val="0"/>
            </a:srgbClr>
          </a:solidFill>
          <a:ln>
            <a:solidFill>
              <a:srgbClr val="FFFFFF">
                <a:alpha val="0"/>
              </a:srgbClr>
            </a:solidFill>
          </a:ln>
        </p:spPr>
        <p:txBody>
          <a:bodyPr wrap="none" lIns="76200" tIns="76200" rIns="76200" bIns="0" rtlCol="0" anchor="ctr"/>
          <a:lstStyle/>
          <a:p>
            <a:pPr marL="0" indent="0" algn="l">
              <a:buNone/>
            </a:pPr>
            <a:r>
              <a:rPr lang="en-US" sz="900" b="1" dirty="0">
                <a:solidFill>
                  <a:srgbClr val="10B981"/>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Central supervise tout</a:t>
            </a:r>
            <a:endParaRPr lang="en-US" sz="900" dirty="0"/>
          </a:p>
        </p:txBody>
      </p:sp>
      <p:sp>
        <p:nvSpPr>
          <p:cNvPr id="30" name="Shape 27"/>
          <p:cNvSpPr/>
          <p:nvPr/>
        </p:nvSpPr>
        <p:spPr>
          <a:xfrm>
            <a:off x="1152144" y="6444691"/>
            <a:ext cx="3534156" cy="9144"/>
          </a:xfrm>
          <a:prstGeom prst="rect">
            <a:avLst/>
          </a:prstGeom>
          <a:solidFill>
            <a:srgbClr val="DDD6FE"/>
          </a:solidFill>
          <a:ln w="12700">
            <a:solidFill>
              <a:srgbClr val="DDD6FE">
                <a:alpha val="0"/>
              </a:srgbClr>
            </a:solidFill>
            <a:prstDash val="solid"/>
          </a:ln>
        </p:spPr>
        <p:txBody>
          <a:bodyPr/>
          <a:lstStyle/>
          <a:p>
            <a:endParaRPr lang="fr-CI"/>
          </a:p>
        </p:txBody>
      </p:sp>
      <p:sp>
        <p:nvSpPr>
          <p:cNvPr id="31" name="Text 28"/>
          <p:cNvSpPr txBox="1"/>
          <p:nvPr/>
        </p:nvSpPr>
        <p:spPr>
          <a:xfrm>
            <a:off x="1152144" y="6120079"/>
            <a:ext cx="3534156" cy="248717"/>
          </a:xfrm>
          <a:prstGeom prst="rect">
            <a:avLst/>
          </a:prstGeom>
          <a:solidFill>
            <a:srgbClr val="FFFFFF">
              <a:alpha val="0"/>
            </a:srgbClr>
          </a:solidFill>
          <a:ln>
            <a:solidFill>
              <a:srgbClr val="FFFFFF">
                <a:alpha val="0"/>
              </a:srgbClr>
            </a:solidFill>
          </a:ln>
        </p:spPr>
        <p:txBody>
          <a:bodyPr wrap="none" lIns="76200" tIns="76200" rIns="76200" bIns="0" rtlCol="0" anchor="ctr"/>
          <a:lstStyle/>
          <a:p>
            <a:pPr marL="0" indent="0" algn="l">
              <a:buNone/>
            </a:pPr>
            <a:r>
              <a:rPr lang="en-US" sz="900" b="1" dirty="0">
                <a:solidFill>
                  <a:srgbClr val="10B981"/>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Statuts cohérents</a:t>
            </a:r>
            <a:endParaRPr lang="en-US" sz="900" dirty="0"/>
          </a:p>
        </p:txBody>
      </p:sp>
      <p:sp>
        <p:nvSpPr>
          <p:cNvPr id="32" name="Shape 29"/>
          <p:cNvSpPr/>
          <p:nvPr/>
        </p:nvSpPr>
        <p:spPr>
          <a:xfrm>
            <a:off x="1152144" y="6777533"/>
            <a:ext cx="3534156" cy="9144"/>
          </a:xfrm>
          <a:prstGeom prst="rect">
            <a:avLst/>
          </a:prstGeom>
          <a:solidFill>
            <a:srgbClr val="DDD6FE"/>
          </a:solidFill>
          <a:ln w="12700">
            <a:solidFill>
              <a:srgbClr val="DDD6FE">
                <a:alpha val="0"/>
              </a:srgbClr>
            </a:solidFill>
            <a:prstDash val="solid"/>
          </a:ln>
        </p:spPr>
        <p:txBody>
          <a:bodyPr/>
          <a:lstStyle/>
          <a:p>
            <a:endParaRPr lang="fr-CI"/>
          </a:p>
        </p:txBody>
      </p:sp>
      <p:sp>
        <p:nvSpPr>
          <p:cNvPr id="33" name="Text 30"/>
          <p:cNvSpPr txBox="1"/>
          <p:nvPr/>
        </p:nvSpPr>
        <p:spPr>
          <a:xfrm>
            <a:off x="1152144" y="6452921"/>
            <a:ext cx="3534156" cy="248717"/>
          </a:xfrm>
          <a:prstGeom prst="rect">
            <a:avLst/>
          </a:prstGeom>
          <a:solidFill>
            <a:srgbClr val="FFFFFF">
              <a:alpha val="0"/>
            </a:srgbClr>
          </a:solidFill>
          <a:ln>
            <a:solidFill>
              <a:srgbClr val="FFFFFF">
                <a:alpha val="0"/>
              </a:srgbClr>
            </a:solidFill>
          </a:ln>
        </p:spPr>
        <p:txBody>
          <a:bodyPr wrap="none" lIns="76200" tIns="76200" rIns="76200" bIns="0" rtlCol="0" anchor="ctr"/>
          <a:lstStyle/>
          <a:p>
            <a:pPr marL="0" indent="0" algn="l">
              <a:buNone/>
            </a:pPr>
            <a:r>
              <a:rPr lang="en-US" sz="900" b="1" dirty="0">
                <a:solidFill>
                  <a:srgbClr val="10B981"/>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Historiques disponibles</a:t>
            </a:r>
            <a:endParaRPr lang="en-US" sz="900" dirty="0"/>
          </a:p>
        </p:txBody>
      </p:sp>
      <p:sp>
        <p:nvSpPr>
          <p:cNvPr id="34" name="Shape 31"/>
          <p:cNvSpPr/>
          <p:nvPr/>
        </p:nvSpPr>
        <p:spPr>
          <a:xfrm>
            <a:off x="1152144" y="7111289"/>
            <a:ext cx="3534156" cy="9144"/>
          </a:xfrm>
          <a:prstGeom prst="rect">
            <a:avLst/>
          </a:prstGeom>
          <a:solidFill>
            <a:srgbClr val="DDD6FE"/>
          </a:solidFill>
          <a:ln w="12700">
            <a:solidFill>
              <a:srgbClr val="DDD6FE">
                <a:alpha val="0"/>
              </a:srgbClr>
            </a:solidFill>
            <a:prstDash val="solid"/>
          </a:ln>
        </p:spPr>
        <p:txBody>
          <a:bodyPr/>
          <a:lstStyle/>
          <a:p>
            <a:endParaRPr lang="fr-CI"/>
          </a:p>
        </p:txBody>
      </p:sp>
      <p:sp>
        <p:nvSpPr>
          <p:cNvPr id="35" name="Text 32"/>
          <p:cNvSpPr txBox="1"/>
          <p:nvPr/>
        </p:nvSpPr>
        <p:spPr>
          <a:xfrm>
            <a:off x="1152144" y="6786677"/>
            <a:ext cx="3534156" cy="248717"/>
          </a:xfrm>
          <a:prstGeom prst="rect">
            <a:avLst/>
          </a:prstGeom>
          <a:solidFill>
            <a:srgbClr val="FFFFFF">
              <a:alpha val="0"/>
            </a:srgbClr>
          </a:solidFill>
          <a:ln>
            <a:solidFill>
              <a:srgbClr val="FFFFFF">
                <a:alpha val="0"/>
              </a:srgbClr>
            </a:solidFill>
          </a:ln>
        </p:spPr>
        <p:txBody>
          <a:bodyPr wrap="none" lIns="76200" tIns="76200" rIns="76200" bIns="0" rtlCol="0" anchor="ctr"/>
          <a:lstStyle/>
          <a:p>
            <a:pPr marL="0" indent="0" algn="l">
              <a:buNone/>
            </a:pPr>
            <a:r>
              <a:rPr lang="en-US" sz="900" b="1" dirty="0">
                <a:solidFill>
                  <a:srgbClr val="10B981"/>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Notifications reçues</a:t>
            </a:r>
            <a:endParaRPr lang="en-US" sz="900" dirty="0"/>
          </a:p>
        </p:txBody>
      </p:sp>
      <p:sp>
        <p:nvSpPr>
          <p:cNvPr id="36" name="Text 33"/>
          <p:cNvSpPr txBox="1"/>
          <p:nvPr/>
        </p:nvSpPr>
        <p:spPr>
          <a:xfrm>
            <a:off x="1152144" y="7119518"/>
            <a:ext cx="3534156" cy="324612"/>
          </a:xfrm>
          <a:prstGeom prst="rect">
            <a:avLst/>
          </a:prstGeom>
          <a:noFill/>
          <a:ln/>
        </p:spPr>
        <p:txBody>
          <a:bodyPr wrap="none" lIns="0" tIns="0" rIns="0" bIns="0" rtlCol="0" anchor="ctr"/>
          <a:lstStyle/>
          <a:p>
            <a:pPr marL="0" indent="0" algn="l">
              <a:buNone/>
            </a:pPr>
            <a:r>
              <a:rPr lang="en-US" sz="900" b="1" dirty="0">
                <a:solidFill>
                  <a:srgbClr val="10B981"/>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Réclamations traitables</a:t>
            </a:r>
            <a:endParaRPr lang="en-US" sz="900" dirty="0"/>
          </a:p>
        </p:txBody>
      </p:sp>
      <p:sp>
        <p:nvSpPr>
          <p:cNvPr id="37" name="Shape 34"/>
          <p:cNvSpPr/>
          <p:nvPr/>
        </p:nvSpPr>
        <p:spPr>
          <a:xfrm>
            <a:off x="5076749" y="2762402"/>
            <a:ext cx="4009644" cy="6476695"/>
          </a:xfrm>
          <a:prstGeom prst="roundRect">
            <a:avLst>
              <a:gd name="adj" fmla="val 3330"/>
            </a:avLst>
          </a:prstGeom>
          <a:solidFill>
            <a:srgbClr val="FFFFFF"/>
          </a:solidFill>
          <a:ln w="12700">
            <a:solidFill>
              <a:srgbClr val="E5E7EB"/>
            </a:solidFill>
            <a:prstDash val="solid"/>
          </a:ln>
        </p:spPr>
        <p:txBody>
          <a:bodyPr/>
          <a:lstStyle/>
          <a:p>
            <a:endParaRPr lang="fr-CI"/>
          </a:p>
        </p:txBody>
      </p:sp>
      <p:sp>
        <p:nvSpPr>
          <p:cNvPr id="38" name="Text 35"/>
          <p:cNvSpPr txBox="1"/>
          <p:nvPr/>
        </p:nvSpPr>
        <p:spPr>
          <a:xfrm>
            <a:off x="5315407" y="3000146"/>
            <a:ext cx="3534156" cy="152705"/>
          </a:xfrm>
          <a:prstGeom prst="rect">
            <a:avLst/>
          </a:prstGeom>
          <a:noFill/>
          <a:ln/>
        </p:spPr>
        <p:txBody>
          <a:bodyPr wrap="none" lIns="0" tIns="0" rIns="0" bIns="0" rtlCol="0" anchor="ctr"/>
          <a:lstStyle/>
          <a:p>
            <a:pPr marL="0" indent="0" algn="l">
              <a:buNone/>
            </a:pPr>
            <a:r>
              <a:rPr lang="en-US" sz="900" b="1" kern="0" spc="108" dirty="0">
                <a:solidFill>
                  <a:srgbClr val="6D28D9"/>
                </a:solidFill>
                <a:latin typeface="JetBrains Mono" pitchFamily="34" charset="0"/>
                <a:ea typeface="JetBrains Mono" pitchFamily="34" charset="-122"/>
                <a:cs typeface="JetBrains Mono" pitchFamily="34" charset="-120"/>
              </a:rPr>
              <a:t>§23</a:t>
            </a:r>
            <a:endParaRPr lang="en-US" sz="900" dirty="0"/>
          </a:p>
        </p:txBody>
      </p:sp>
      <p:sp>
        <p:nvSpPr>
          <p:cNvPr id="39" name="Text 36"/>
          <p:cNvSpPr txBox="1"/>
          <p:nvPr/>
        </p:nvSpPr>
        <p:spPr>
          <a:xfrm>
            <a:off x="5315407" y="3209544"/>
            <a:ext cx="3534156" cy="314554"/>
          </a:xfrm>
          <a:prstGeom prst="rect">
            <a:avLst/>
          </a:prstGeom>
          <a:noFill/>
          <a:ln/>
        </p:spPr>
        <p:txBody>
          <a:bodyPr wrap="none" lIns="0" tIns="0" rIns="0" bIns="0" rtlCol="0" anchor="ctr"/>
          <a:lstStyle/>
          <a:p>
            <a:pPr marL="0" indent="0" algn="l">
              <a:buNone/>
            </a:pPr>
            <a:r>
              <a:rPr lang="en-US" sz="1800" b="1" dirty="0">
                <a:solidFill>
                  <a:srgbClr val="1F2937"/>
                </a:solidFill>
                <a:latin typeface="Manrope" pitchFamily="34" charset="0"/>
                <a:ea typeface="Manrope" pitchFamily="34" charset="-122"/>
                <a:cs typeface="Manrope" pitchFamily="34" charset="-120"/>
              </a:rPr>
              <a:t>Techniques</a:t>
            </a:r>
            <a:endParaRPr lang="en-US" sz="1800" dirty="0"/>
          </a:p>
        </p:txBody>
      </p:sp>
      <p:pic>
        <p:nvPicPr>
          <p:cNvPr id="40" name="Image 1" descr="gen-dedup-f07bb3bbc30382f69fe6e1471c427d6b.png"/>
          <p:cNvPicPr>
            <a:picLocks noChangeAspect="1"/>
          </p:cNvPicPr>
          <p:nvPr/>
        </p:nvPicPr>
        <p:blipFill>
          <a:blip r:embed="rId2"/>
          <a:srcRect l="-385" r="-385"/>
          <a:stretch/>
        </p:blipFill>
        <p:spPr>
          <a:xfrm>
            <a:off x="5315407" y="3619195"/>
            <a:ext cx="761695" cy="28346"/>
          </a:xfrm>
          <a:prstGeom prst="rect">
            <a:avLst/>
          </a:prstGeom>
        </p:spPr>
      </p:pic>
      <p:sp>
        <p:nvSpPr>
          <p:cNvPr id="41" name="Text 37"/>
          <p:cNvSpPr txBox="1"/>
          <p:nvPr/>
        </p:nvSpPr>
        <p:spPr>
          <a:xfrm>
            <a:off x="5315407" y="3762756"/>
            <a:ext cx="3534156" cy="219456"/>
          </a:xfrm>
          <a:prstGeom prst="rect">
            <a:avLst/>
          </a:prstGeom>
          <a:noFill/>
          <a:ln/>
        </p:spPr>
        <p:txBody>
          <a:bodyPr wrap="none" lIns="0" tIns="0" rIns="0" bIns="0" rtlCol="0" anchor="ctr"/>
          <a:lstStyle/>
          <a:p>
            <a:pPr marL="0" indent="0" algn="l">
              <a:buNone/>
            </a:pPr>
            <a:r>
              <a:rPr lang="en-US" sz="1100" dirty="0">
                <a:solidFill>
                  <a:srgbClr val="6B7280"/>
                </a:solidFill>
                <a:latin typeface="Manrope" pitchFamily="34" charset="0"/>
                <a:ea typeface="Manrope" pitchFamily="34" charset="-122"/>
                <a:cs typeface="Manrope" pitchFamily="34" charset="-120"/>
              </a:rPr>
              <a:t>La recette technique est validée si :</a:t>
            </a:r>
            <a:endParaRPr lang="en-US" sz="1100" dirty="0"/>
          </a:p>
        </p:txBody>
      </p:sp>
      <p:sp>
        <p:nvSpPr>
          <p:cNvPr id="42" name="Shape 38"/>
          <p:cNvSpPr/>
          <p:nvPr/>
        </p:nvSpPr>
        <p:spPr>
          <a:xfrm>
            <a:off x="5315407" y="4443984"/>
            <a:ext cx="3534156" cy="9144"/>
          </a:xfrm>
          <a:prstGeom prst="rect">
            <a:avLst/>
          </a:prstGeom>
          <a:solidFill>
            <a:srgbClr val="E5E7EB"/>
          </a:solidFill>
          <a:ln w="12700">
            <a:solidFill>
              <a:srgbClr val="E5E7EB">
                <a:alpha val="0"/>
              </a:srgbClr>
            </a:solidFill>
            <a:prstDash val="solid"/>
          </a:ln>
        </p:spPr>
        <p:txBody>
          <a:bodyPr/>
          <a:lstStyle/>
          <a:p>
            <a:endParaRPr lang="fr-CI"/>
          </a:p>
        </p:txBody>
      </p:sp>
      <p:sp>
        <p:nvSpPr>
          <p:cNvPr id="43" name="Text 39"/>
          <p:cNvSpPr txBox="1"/>
          <p:nvPr/>
        </p:nvSpPr>
        <p:spPr>
          <a:xfrm>
            <a:off x="5315407" y="4119372"/>
            <a:ext cx="3534156" cy="248717"/>
          </a:xfrm>
          <a:prstGeom prst="rect">
            <a:avLst/>
          </a:prstGeom>
          <a:solidFill>
            <a:srgbClr val="FFFFFF">
              <a:alpha val="0"/>
            </a:srgbClr>
          </a:solidFill>
          <a:ln>
            <a:solidFill>
              <a:srgbClr val="FFFFFF">
                <a:alpha val="0"/>
              </a:srgbClr>
            </a:solidFill>
          </a:ln>
        </p:spPr>
        <p:txBody>
          <a:bodyPr wrap="none" lIns="76200" tIns="76200" rIns="76200" bIns="0" rtlCol="0" anchor="ctr"/>
          <a:lstStyle/>
          <a:p>
            <a:pPr marL="0" indent="0" algn="l">
              <a:buNone/>
            </a:pPr>
            <a:r>
              <a:rPr lang="en-US" sz="900" b="1" dirty="0">
                <a:solidFill>
                  <a:srgbClr val="10B981"/>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Pas de crashs répétés</a:t>
            </a:r>
            <a:endParaRPr lang="en-US" sz="900" dirty="0"/>
          </a:p>
        </p:txBody>
      </p:sp>
      <p:sp>
        <p:nvSpPr>
          <p:cNvPr id="44" name="Shape 40"/>
          <p:cNvSpPr/>
          <p:nvPr/>
        </p:nvSpPr>
        <p:spPr>
          <a:xfrm>
            <a:off x="5315407" y="4777740"/>
            <a:ext cx="3534156" cy="9144"/>
          </a:xfrm>
          <a:prstGeom prst="rect">
            <a:avLst/>
          </a:prstGeom>
          <a:solidFill>
            <a:srgbClr val="E5E7EB"/>
          </a:solidFill>
          <a:ln w="12700">
            <a:solidFill>
              <a:srgbClr val="E5E7EB">
                <a:alpha val="0"/>
              </a:srgbClr>
            </a:solidFill>
            <a:prstDash val="solid"/>
          </a:ln>
        </p:spPr>
        <p:txBody>
          <a:bodyPr/>
          <a:lstStyle/>
          <a:p>
            <a:endParaRPr lang="fr-CI"/>
          </a:p>
        </p:txBody>
      </p:sp>
      <p:sp>
        <p:nvSpPr>
          <p:cNvPr id="45" name="Text 41"/>
          <p:cNvSpPr txBox="1"/>
          <p:nvPr/>
        </p:nvSpPr>
        <p:spPr>
          <a:xfrm>
            <a:off x="5315407" y="4453128"/>
            <a:ext cx="3534156" cy="248717"/>
          </a:xfrm>
          <a:prstGeom prst="rect">
            <a:avLst/>
          </a:prstGeom>
          <a:solidFill>
            <a:srgbClr val="FFFFFF">
              <a:alpha val="0"/>
            </a:srgbClr>
          </a:solidFill>
          <a:ln>
            <a:solidFill>
              <a:srgbClr val="FFFFFF">
                <a:alpha val="0"/>
              </a:srgbClr>
            </a:solidFill>
          </a:ln>
        </p:spPr>
        <p:txBody>
          <a:bodyPr wrap="none" lIns="76200" tIns="76200" rIns="76200" bIns="0" rtlCol="0" anchor="ctr"/>
          <a:lstStyle/>
          <a:p>
            <a:pPr marL="0" indent="0" algn="l">
              <a:buNone/>
            </a:pPr>
            <a:r>
              <a:rPr lang="en-US" sz="900" b="1" dirty="0">
                <a:solidFill>
                  <a:srgbClr val="10B981"/>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APIs répondent correctement</a:t>
            </a:r>
            <a:endParaRPr lang="en-US" sz="900" dirty="0"/>
          </a:p>
        </p:txBody>
      </p:sp>
      <p:sp>
        <p:nvSpPr>
          <p:cNvPr id="46" name="Shape 42"/>
          <p:cNvSpPr/>
          <p:nvPr/>
        </p:nvSpPr>
        <p:spPr>
          <a:xfrm>
            <a:off x="5315407" y="5110582"/>
            <a:ext cx="3534156" cy="9144"/>
          </a:xfrm>
          <a:prstGeom prst="rect">
            <a:avLst/>
          </a:prstGeom>
          <a:solidFill>
            <a:srgbClr val="E5E7EB"/>
          </a:solidFill>
          <a:ln w="12700">
            <a:solidFill>
              <a:srgbClr val="E5E7EB">
                <a:alpha val="0"/>
              </a:srgbClr>
            </a:solidFill>
            <a:prstDash val="solid"/>
          </a:ln>
        </p:spPr>
        <p:txBody>
          <a:bodyPr/>
          <a:lstStyle/>
          <a:p>
            <a:endParaRPr lang="fr-CI"/>
          </a:p>
        </p:txBody>
      </p:sp>
      <p:sp>
        <p:nvSpPr>
          <p:cNvPr id="47" name="Text 43"/>
          <p:cNvSpPr txBox="1"/>
          <p:nvPr/>
        </p:nvSpPr>
        <p:spPr>
          <a:xfrm>
            <a:off x="5315407" y="4785970"/>
            <a:ext cx="3534156" cy="248717"/>
          </a:xfrm>
          <a:prstGeom prst="rect">
            <a:avLst/>
          </a:prstGeom>
          <a:solidFill>
            <a:srgbClr val="FFFFFF">
              <a:alpha val="0"/>
            </a:srgbClr>
          </a:solidFill>
          <a:ln>
            <a:solidFill>
              <a:srgbClr val="FFFFFF">
                <a:alpha val="0"/>
              </a:srgbClr>
            </a:solidFill>
          </a:ln>
        </p:spPr>
        <p:txBody>
          <a:bodyPr wrap="none" lIns="76200" tIns="76200" rIns="76200" bIns="0" rtlCol="0" anchor="ctr"/>
          <a:lstStyle/>
          <a:p>
            <a:pPr marL="0" indent="0" algn="l">
              <a:buNone/>
            </a:pPr>
            <a:r>
              <a:rPr lang="en-US" sz="900" b="1" dirty="0">
                <a:solidFill>
                  <a:srgbClr val="10B981"/>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Temps de réponse acceptables</a:t>
            </a:r>
            <a:endParaRPr lang="en-US" sz="900" dirty="0"/>
          </a:p>
        </p:txBody>
      </p:sp>
      <p:sp>
        <p:nvSpPr>
          <p:cNvPr id="48" name="Shape 44"/>
          <p:cNvSpPr/>
          <p:nvPr/>
        </p:nvSpPr>
        <p:spPr>
          <a:xfrm>
            <a:off x="5315407" y="5444338"/>
            <a:ext cx="3534156" cy="9144"/>
          </a:xfrm>
          <a:prstGeom prst="rect">
            <a:avLst/>
          </a:prstGeom>
          <a:solidFill>
            <a:srgbClr val="E5E7EB"/>
          </a:solidFill>
          <a:ln w="12700">
            <a:solidFill>
              <a:srgbClr val="E5E7EB">
                <a:alpha val="0"/>
              </a:srgbClr>
            </a:solidFill>
            <a:prstDash val="solid"/>
          </a:ln>
        </p:spPr>
        <p:txBody>
          <a:bodyPr/>
          <a:lstStyle/>
          <a:p>
            <a:endParaRPr lang="fr-CI"/>
          </a:p>
        </p:txBody>
      </p:sp>
      <p:sp>
        <p:nvSpPr>
          <p:cNvPr id="49" name="Text 45"/>
          <p:cNvSpPr txBox="1"/>
          <p:nvPr/>
        </p:nvSpPr>
        <p:spPr>
          <a:xfrm>
            <a:off x="5315407" y="5119726"/>
            <a:ext cx="3534156" cy="248717"/>
          </a:xfrm>
          <a:prstGeom prst="rect">
            <a:avLst/>
          </a:prstGeom>
          <a:solidFill>
            <a:srgbClr val="FFFFFF">
              <a:alpha val="0"/>
            </a:srgbClr>
          </a:solidFill>
          <a:ln>
            <a:solidFill>
              <a:srgbClr val="FFFFFF">
                <a:alpha val="0"/>
              </a:srgbClr>
            </a:solidFill>
          </a:ln>
        </p:spPr>
        <p:txBody>
          <a:bodyPr wrap="none" lIns="76200" tIns="76200" rIns="76200" bIns="0" rtlCol="0" anchor="ctr"/>
          <a:lstStyle/>
          <a:p>
            <a:pPr marL="0" indent="0" algn="l">
              <a:buNone/>
            </a:pPr>
            <a:r>
              <a:rPr lang="en-US" sz="900" b="1" dirty="0">
                <a:solidFill>
                  <a:srgbClr val="10B981"/>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Géolocalisation fonctionne</a:t>
            </a:r>
            <a:endParaRPr lang="en-US" sz="900" dirty="0"/>
          </a:p>
        </p:txBody>
      </p:sp>
      <p:sp>
        <p:nvSpPr>
          <p:cNvPr id="50" name="Shape 46"/>
          <p:cNvSpPr/>
          <p:nvPr/>
        </p:nvSpPr>
        <p:spPr>
          <a:xfrm>
            <a:off x="5315407" y="5778094"/>
            <a:ext cx="3534156" cy="9144"/>
          </a:xfrm>
          <a:prstGeom prst="rect">
            <a:avLst/>
          </a:prstGeom>
          <a:solidFill>
            <a:srgbClr val="E5E7EB"/>
          </a:solidFill>
          <a:ln w="12700">
            <a:solidFill>
              <a:srgbClr val="E5E7EB">
                <a:alpha val="0"/>
              </a:srgbClr>
            </a:solidFill>
            <a:prstDash val="solid"/>
          </a:ln>
        </p:spPr>
        <p:txBody>
          <a:bodyPr/>
          <a:lstStyle/>
          <a:p>
            <a:endParaRPr lang="fr-CI"/>
          </a:p>
        </p:txBody>
      </p:sp>
      <p:sp>
        <p:nvSpPr>
          <p:cNvPr id="51" name="Text 47"/>
          <p:cNvSpPr txBox="1"/>
          <p:nvPr/>
        </p:nvSpPr>
        <p:spPr>
          <a:xfrm>
            <a:off x="5315407" y="5453482"/>
            <a:ext cx="3534156" cy="248717"/>
          </a:xfrm>
          <a:prstGeom prst="rect">
            <a:avLst/>
          </a:prstGeom>
          <a:solidFill>
            <a:srgbClr val="FFFFFF">
              <a:alpha val="0"/>
            </a:srgbClr>
          </a:solidFill>
          <a:ln>
            <a:solidFill>
              <a:srgbClr val="FFFFFF">
                <a:alpha val="0"/>
              </a:srgbClr>
            </a:solidFill>
          </a:ln>
        </p:spPr>
        <p:txBody>
          <a:bodyPr wrap="none" lIns="76200" tIns="76200" rIns="76200" bIns="0" rtlCol="0" anchor="ctr"/>
          <a:lstStyle/>
          <a:p>
            <a:pPr marL="0" indent="0" algn="l">
              <a:buNone/>
            </a:pPr>
            <a:r>
              <a:rPr lang="en-US" sz="900" b="1" dirty="0">
                <a:solidFill>
                  <a:srgbClr val="10B981"/>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Notifications fonctionnent</a:t>
            </a:r>
            <a:endParaRPr lang="en-US" sz="900" dirty="0"/>
          </a:p>
        </p:txBody>
      </p:sp>
      <p:sp>
        <p:nvSpPr>
          <p:cNvPr id="52" name="Shape 48"/>
          <p:cNvSpPr/>
          <p:nvPr/>
        </p:nvSpPr>
        <p:spPr>
          <a:xfrm>
            <a:off x="5315407" y="6110935"/>
            <a:ext cx="3534156" cy="9144"/>
          </a:xfrm>
          <a:prstGeom prst="rect">
            <a:avLst/>
          </a:prstGeom>
          <a:solidFill>
            <a:srgbClr val="E5E7EB"/>
          </a:solidFill>
          <a:ln w="12700">
            <a:solidFill>
              <a:srgbClr val="E5E7EB">
                <a:alpha val="0"/>
              </a:srgbClr>
            </a:solidFill>
            <a:prstDash val="solid"/>
          </a:ln>
        </p:spPr>
        <p:txBody>
          <a:bodyPr/>
          <a:lstStyle/>
          <a:p>
            <a:endParaRPr lang="fr-CI"/>
          </a:p>
        </p:txBody>
      </p:sp>
      <p:sp>
        <p:nvSpPr>
          <p:cNvPr id="53" name="Text 49"/>
          <p:cNvSpPr txBox="1"/>
          <p:nvPr/>
        </p:nvSpPr>
        <p:spPr>
          <a:xfrm>
            <a:off x="5315407" y="5786323"/>
            <a:ext cx="3534156" cy="248717"/>
          </a:xfrm>
          <a:prstGeom prst="rect">
            <a:avLst/>
          </a:prstGeom>
          <a:solidFill>
            <a:srgbClr val="FFFFFF">
              <a:alpha val="0"/>
            </a:srgbClr>
          </a:solidFill>
          <a:ln>
            <a:solidFill>
              <a:srgbClr val="FFFFFF">
                <a:alpha val="0"/>
              </a:srgbClr>
            </a:solidFill>
          </a:ln>
        </p:spPr>
        <p:txBody>
          <a:bodyPr wrap="none" lIns="76200" tIns="76200" rIns="76200" bIns="0" rtlCol="0" anchor="ctr"/>
          <a:lstStyle/>
          <a:p>
            <a:pPr marL="0" indent="0" algn="l">
              <a:buNone/>
            </a:pPr>
            <a:r>
              <a:rPr lang="en-US" sz="900" b="1" dirty="0">
                <a:solidFill>
                  <a:srgbClr val="10B981"/>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Logs exploitables</a:t>
            </a:r>
            <a:endParaRPr lang="en-US" sz="900" dirty="0"/>
          </a:p>
        </p:txBody>
      </p:sp>
      <p:sp>
        <p:nvSpPr>
          <p:cNvPr id="54" name="Shape 50"/>
          <p:cNvSpPr/>
          <p:nvPr/>
        </p:nvSpPr>
        <p:spPr>
          <a:xfrm>
            <a:off x="5315407" y="6444691"/>
            <a:ext cx="3534156" cy="9144"/>
          </a:xfrm>
          <a:prstGeom prst="rect">
            <a:avLst/>
          </a:prstGeom>
          <a:solidFill>
            <a:srgbClr val="E5E7EB"/>
          </a:solidFill>
          <a:ln w="12700">
            <a:solidFill>
              <a:srgbClr val="E5E7EB">
                <a:alpha val="0"/>
              </a:srgbClr>
            </a:solidFill>
            <a:prstDash val="solid"/>
          </a:ln>
        </p:spPr>
        <p:txBody>
          <a:bodyPr/>
          <a:lstStyle/>
          <a:p>
            <a:endParaRPr lang="fr-CI"/>
          </a:p>
        </p:txBody>
      </p:sp>
      <p:sp>
        <p:nvSpPr>
          <p:cNvPr id="55" name="Text 51"/>
          <p:cNvSpPr txBox="1"/>
          <p:nvPr/>
        </p:nvSpPr>
        <p:spPr>
          <a:xfrm>
            <a:off x="5315407" y="6120079"/>
            <a:ext cx="3534156" cy="248717"/>
          </a:xfrm>
          <a:prstGeom prst="rect">
            <a:avLst/>
          </a:prstGeom>
          <a:solidFill>
            <a:srgbClr val="FFFFFF">
              <a:alpha val="0"/>
            </a:srgbClr>
          </a:solidFill>
          <a:ln>
            <a:solidFill>
              <a:srgbClr val="FFFFFF">
                <a:alpha val="0"/>
              </a:srgbClr>
            </a:solidFill>
          </a:ln>
        </p:spPr>
        <p:txBody>
          <a:bodyPr wrap="none" lIns="76200" tIns="76200" rIns="76200" bIns="0" rtlCol="0" anchor="ctr"/>
          <a:lstStyle/>
          <a:p>
            <a:pPr marL="0" indent="0" algn="l">
              <a:buNone/>
            </a:pPr>
            <a:r>
              <a:rPr lang="en-US" sz="900" b="1" dirty="0">
                <a:solidFill>
                  <a:srgbClr val="10B981"/>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Accès sécurisés</a:t>
            </a:r>
            <a:endParaRPr lang="en-US" sz="900" dirty="0"/>
          </a:p>
        </p:txBody>
      </p:sp>
      <p:sp>
        <p:nvSpPr>
          <p:cNvPr id="56" name="Shape 52"/>
          <p:cNvSpPr/>
          <p:nvPr/>
        </p:nvSpPr>
        <p:spPr>
          <a:xfrm>
            <a:off x="5315407" y="6777533"/>
            <a:ext cx="3534156" cy="9144"/>
          </a:xfrm>
          <a:prstGeom prst="rect">
            <a:avLst/>
          </a:prstGeom>
          <a:solidFill>
            <a:srgbClr val="E5E7EB"/>
          </a:solidFill>
          <a:ln w="12700">
            <a:solidFill>
              <a:srgbClr val="E5E7EB">
                <a:alpha val="0"/>
              </a:srgbClr>
            </a:solidFill>
            <a:prstDash val="solid"/>
          </a:ln>
        </p:spPr>
        <p:txBody>
          <a:bodyPr/>
          <a:lstStyle/>
          <a:p>
            <a:endParaRPr lang="fr-CI"/>
          </a:p>
        </p:txBody>
      </p:sp>
      <p:sp>
        <p:nvSpPr>
          <p:cNvPr id="57" name="Text 53"/>
          <p:cNvSpPr txBox="1"/>
          <p:nvPr/>
        </p:nvSpPr>
        <p:spPr>
          <a:xfrm>
            <a:off x="5315407" y="6452921"/>
            <a:ext cx="3534156" cy="248717"/>
          </a:xfrm>
          <a:prstGeom prst="rect">
            <a:avLst/>
          </a:prstGeom>
          <a:solidFill>
            <a:srgbClr val="FFFFFF">
              <a:alpha val="0"/>
            </a:srgbClr>
          </a:solidFill>
          <a:ln>
            <a:solidFill>
              <a:srgbClr val="FFFFFF">
                <a:alpha val="0"/>
              </a:srgbClr>
            </a:solidFill>
          </a:ln>
        </p:spPr>
        <p:txBody>
          <a:bodyPr wrap="none" lIns="76200" tIns="76200" rIns="76200" bIns="0" rtlCol="0" anchor="ctr"/>
          <a:lstStyle/>
          <a:p>
            <a:pPr marL="0" indent="0" algn="l">
              <a:buNone/>
            </a:pPr>
            <a:r>
              <a:rPr lang="en-US" sz="900" b="1" dirty="0">
                <a:solidFill>
                  <a:srgbClr val="10B981"/>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Sauvegardes disponibles</a:t>
            </a:r>
            <a:endParaRPr lang="en-US" sz="900" dirty="0"/>
          </a:p>
        </p:txBody>
      </p:sp>
      <p:sp>
        <p:nvSpPr>
          <p:cNvPr id="58" name="Text 54"/>
          <p:cNvSpPr txBox="1"/>
          <p:nvPr/>
        </p:nvSpPr>
        <p:spPr>
          <a:xfrm>
            <a:off x="5315407" y="6786677"/>
            <a:ext cx="3534156" cy="324612"/>
          </a:xfrm>
          <a:prstGeom prst="rect">
            <a:avLst/>
          </a:prstGeom>
          <a:noFill/>
          <a:ln/>
        </p:spPr>
        <p:txBody>
          <a:bodyPr wrap="none" lIns="0" tIns="0" rIns="0" bIns="0" rtlCol="0" anchor="ctr"/>
          <a:lstStyle/>
          <a:p>
            <a:pPr marL="0" indent="0" algn="l">
              <a:buNone/>
            </a:pPr>
            <a:r>
              <a:rPr lang="en-US" sz="900" b="1" dirty="0">
                <a:solidFill>
                  <a:srgbClr val="10B981"/>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Préproduction stable</a:t>
            </a:r>
            <a:endParaRPr lang="en-US" sz="900" dirty="0"/>
          </a:p>
        </p:txBody>
      </p:sp>
      <p:sp>
        <p:nvSpPr>
          <p:cNvPr id="59" name="Shape 55"/>
          <p:cNvSpPr/>
          <p:nvPr/>
        </p:nvSpPr>
        <p:spPr>
          <a:xfrm>
            <a:off x="9239098" y="2762402"/>
            <a:ext cx="4009644" cy="6476695"/>
          </a:xfrm>
          <a:prstGeom prst="roundRect">
            <a:avLst>
              <a:gd name="adj" fmla="val 3330"/>
            </a:avLst>
          </a:prstGeom>
          <a:solidFill>
            <a:srgbClr val="F5F3FF"/>
          </a:solidFill>
          <a:ln w="12700">
            <a:solidFill>
              <a:srgbClr val="DDD6FE"/>
            </a:solidFill>
            <a:prstDash val="solid"/>
          </a:ln>
        </p:spPr>
        <p:txBody>
          <a:bodyPr/>
          <a:lstStyle/>
          <a:p>
            <a:endParaRPr lang="fr-CI"/>
          </a:p>
        </p:txBody>
      </p:sp>
      <p:sp>
        <p:nvSpPr>
          <p:cNvPr id="60" name="Text 56"/>
          <p:cNvSpPr txBox="1"/>
          <p:nvPr/>
        </p:nvSpPr>
        <p:spPr>
          <a:xfrm>
            <a:off x="9477756" y="3000146"/>
            <a:ext cx="3534156" cy="152705"/>
          </a:xfrm>
          <a:prstGeom prst="rect">
            <a:avLst/>
          </a:prstGeom>
          <a:noFill/>
          <a:ln/>
        </p:spPr>
        <p:txBody>
          <a:bodyPr wrap="none" lIns="0" tIns="0" rIns="0" bIns="0" rtlCol="0" anchor="ctr"/>
          <a:lstStyle/>
          <a:p>
            <a:pPr marL="0" indent="0" algn="l">
              <a:buNone/>
            </a:pPr>
            <a:r>
              <a:rPr lang="en-US" sz="900" b="1" kern="0" spc="108" dirty="0">
                <a:solidFill>
                  <a:srgbClr val="6D28D9"/>
                </a:solidFill>
                <a:latin typeface="JetBrains Mono" pitchFamily="34" charset="0"/>
                <a:ea typeface="JetBrains Mono" pitchFamily="34" charset="-122"/>
                <a:cs typeface="JetBrains Mono" pitchFamily="34" charset="-120"/>
              </a:rPr>
              <a:t>§24</a:t>
            </a:r>
            <a:endParaRPr lang="en-US" sz="900" dirty="0"/>
          </a:p>
        </p:txBody>
      </p:sp>
      <p:sp>
        <p:nvSpPr>
          <p:cNvPr id="61" name="Text 57"/>
          <p:cNvSpPr txBox="1"/>
          <p:nvPr/>
        </p:nvSpPr>
        <p:spPr>
          <a:xfrm>
            <a:off x="9477756" y="3209544"/>
            <a:ext cx="3534156" cy="314554"/>
          </a:xfrm>
          <a:prstGeom prst="rect">
            <a:avLst/>
          </a:prstGeom>
          <a:noFill/>
          <a:ln/>
        </p:spPr>
        <p:txBody>
          <a:bodyPr wrap="none" lIns="0" tIns="0" rIns="0" bIns="0" rtlCol="0" anchor="ctr"/>
          <a:lstStyle/>
          <a:p>
            <a:pPr marL="0" indent="0" algn="l">
              <a:buNone/>
            </a:pPr>
            <a:r>
              <a:rPr lang="en-US" sz="1800" b="1" dirty="0">
                <a:solidFill>
                  <a:srgbClr val="1F2937"/>
                </a:solidFill>
                <a:latin typeface="Manrope" pitchFamily="34" charset="0"/>
                <a:ea typeface="Manrope" pitchFamily="34" charset="-122"/>
                <a:cs typeface="Manrope" pitchFamily="34" charset="-120"/>
              </a:rPr>
              <a:t>Financiers</a:t>
            </a:r>
            <a:endParaRPr lang="en-US" sz="1800" dirty="0"/>
          </a:p>
        </p:txBody>
      </p:sp>
      <p:pic>
        <p:nvPicPr>
          <p:cNvPr id="62" name="Image 2" descr="gen-dedup-f07bb3bbc30382f69fe6e1471c427d6b.png"/>
          <p:cNvPicPr>
            <a:picLocks noChangeAspect="1"/>
          </p:cNvPicPr>
          <p:nvPr/>
        </p:nvPicPr>
        <p:blipFill>
          <a:blip r:embed="rId2"/>
          <a:srcRect l="-385" r="-385"/>
          <a:stretch/>
        </p:blipFill>
        <p:spPr>
          <a:xfrm>
            <a:off x="9477756" y="3619195"/>
            <a:ext cx="761695" cy="28346"/>
          </a:xfrm>
          <a:prstGeom prst="rect">
            <a:avLst/>
          </a:prstGeom>
        </p:spPr>
      </p:pic>
      <p:sp>
        <p:nvSpPr>
          <p:cNvPr id="63" name="Text 58"/>
          <p:cNvSpPr txBox="1"/>
          <p:nvPr/>
        </p:nvSpPr>
        <p:spPr>
          <a:xfrm>
            <a:off x="9477756" y="3762756"/>
            <a:ext cx="3534156" cy="219456"/>
          </a:xfrm>
          <a:prstGeom prst="rect">
            <a:avLst/>
          </a:prstGeom>
          <a:noFill/>
          <a:ln/>
        </p:spPr>
        <p:txBody>
          <a:bodyPr wrap="none" lIns="0" tIns="0" rIns="0" bIns="0" rtlCol="0" anchor="ctr"/>
          <a:lstStyle/>
          <a:p>
            <a:pPr marL="0" indent="0" algn="l">
              <a:buNone/>
            </a:pPr>
            <a:r>
              <a:rPr lang="en-US" sz="1100" dirty="0">
                <a:solidFill>
                  <a:srgbClr val="6B7280"/>
                </a:solidFill>
                <a:latin typeface="Manrope" pitchFamily="34" charset="0"/>
                <a:ea typeface="Manrope" pitchFamily="34" charset="-122"/>
                <a:cs typeface="Manrope" pitchFamily="34" charset="-120"/>
              </a:rPr>
              <a:t>La recette financière est validée si :</a:t>
            </a:r>
            <a:endParaRPr lang="en-US" sz="1100" dirty="0"/>
          </a:p>
        </p:txBody>
      </p:sp>
      <p:sp>
        <p:nvSpPr>
          <p:cNvPr id="64" name="Shape 59"/>
          <p:cNvSpPr/>
          <p:nvPr/>
        </p:nvSpPr>
        <p:spPr>
          <a:xfrm>
            <a:off x="9477756" y="4443984"/>
            <a:ext cx="3534156" cy="9144"/>
          </a:xfrm>
          <a:prstGeom prst="rect">
            <a:avLst/>
          </a:prstGeom>
          <a:solidFill>
            <a:srgbClr val="DDD6FE"/>
          </a:solidFill>
          <a:ln w="12700">
            <a:solidFill>
              <a:srgbClr val="DDD6FE">
                <a:alpha val="0"/>
              </a:srgbClr>
            </a:solidFill>
            <a:prstDash val="solid"/>
          </a:ln>
        </p:spPr>
        <p:txBody>
          <a:bodyPr/>
          <a:lstStyle/>
          <a:p>
            <a:endParaRPr lang="fr-CI"/>
          </a:p>
        </p:txBody>
      </p:sp>
      <p:sp>
        <p:nvSpPr>
          <p:cNvPr id="65" name="Text 60"/>
          <p:cNvSpPr txBox="1"/>
          <p:nvPr/>
        </p:nvSpPr>
        <p:spPr>
          <a:xfrm>
            <a:off x="9477756" y="4119372"/>
            <a:ext cx="3534156" cy="248717"/>
          </a:xfrm>
          <a:prstGeom prst="rect">
            <a:avLst/>
          </a:prstGeom>
          <a:solidFill>
            <a:srgbClr val="FFFFFF">
              <a:alpha val="0"/>
            </a:srgbClr>
          </a:solidFill>
          <a:ln>
            <a:solidFill>
              <a:srgbClr val="FFFFFF">
                <a:alpha val="0"/>
              </a:srgbClr>
            </a:solidFill>
          </a:ln>
        </p:spPr>
        <p:txBody>
          <a:bodyPr wrap="none" lIns="76200" tIns="76200" rIns="76200" bIns="0" rtlCol="0" anchor="ctr"/>
          <a:lstStyle/>
          <a:p>
            <a:pPr marL="0" indent="0" algn="l">
              <a:buNone/>
            </a:pPr>
            <a:r>
              <a:rPr lang="en-US" sz="900" b="1" dirty="0">
                <a:solidFill>
                  <a:srgbClr val="10B981"/>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Recharges wallet correctes</a:t>
            </a:r>
            <a:endParaRPr lang="en-US" sz="900" dirty="0"/>
          </a:p>
        </p:txBody>
      </p:sp>
      <p:sp>
        <p:nvSpPr>
          <p:cNvPr id="66" name="Shape 61"/>
          <p:cNvSpPr/>
          <p:nvPr/>
        </p:nvSpPr>
        <p:spPr>
          <a:xfrm>
            <a:off x="9477756" y="4777740"/>
            <a:ext cx="3534156" cy="9144"/>
          </a:xfrm>
          <a:prstGeom prst="rect">
            <a:avLst/>
          </a:prstGeom>
          <a:solidFill>
            <a:srgbClr val="DDD6FE"/>
          </a:solidFill>
          <a:ln w="12700">
            <a:solidFill>
              <a:srgbClr val="DDD6FE">
                <a:alpha val="0"/>
              </a:srgbClr>
            </a:solidFill>
            <a:prstDash val="solid"/>
          </a:ln>
        </p:spPr>
        <p:txBody>
          <a:bodyPr/>
          <a:lstStyle/>
          <a:p>
            <a:endParaRPr lang="fr-CI"/>
          </a:p>
        </p:txBody>
      </p:sp>
      <p:sp>
        <p:nvSpPr>
          <p:cNvPr id="67" name="Text 62"/>
          <p:cNvSpPr txBox="1"/>
          <p:nvPr/>
        </p:nvSpPr>
        <p:spPr>
          <a:xfrm>
            <a:off x="9477756" y="4453128"/>
            <a:ext cx="3534156" cy="248717"/>
          </a:xfrm>
          <a:prstGeom prst="rect">
            <a:avLst/>
          </a:prstGeom>
          <a:solidFill>
            <a:srgbClr val="FFFFFF">
              <a:alpha val="0"/>
            </a:srgbClr>
          </a:solidFill>
          <a:ln>
            <a:solidFill>
              <a:srgbClr val="FFFFFF">
                <a:alpha val="0"/>
              </a:srgbClr>
            </a:solidFill>
          </a:ln>
        </p:spPr>
        <p:txBody>
          <a:bodyPr wrap="none" lIns="76200" tIns="76200" rIns="76200" bIns="0" rtlCol="0" anchor="ctr"/>
          <a:lstStyle/>
          <a:p>
            <a:pPr marL="0" indent="0" algn="l">
              <a:buNone/>
            </a:pPr>
            <a:r>
              <a:rPr lang="en-US" sz="900" b="1" dirty="0">
                <a:solidFill>
                  <a:srgbClr val="10B981"/>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Soldes exacts</a:t>
            </a:r>
            <a:endParaRPr lang="en-US" sz="900" dirty="0"/>
          </a:p>
        </p:txBody>
      </p:sp>
      <p:sp>
        <p:nvSpPr>
          <p:cNvPr id="68" name="Shape 63"/>
          <p:cNvSpPr/>
          <p:nvPr/>
        </p:nvSpPr>
        <p:spPr>
          <a:xfrm>
            <a:off x="9477756" y="5110582"/>
            <a:ext cx="3534156" cy="9144"/>
          </a:xfrm>
          <a:prstGeom prst="rect">
            <a:avLst/>
          </a:prstGeom>
          <a:solidFill>
            <a:srgbClr val="DDD6FE"/>
          </a:solidFill>
          <a:ln w="12700">
            <a:solidFill>
              <a:srgbClr val="DDD6FE">
                <a:alpha val="0"/>
              </a:srgbClr>
            </a:solidFill>
            <a:prstDash val="solid"/>
          </a:ln>
        </p:spPr>
        <p:txBody>
          <a:bodyPr/>
          <a:lstStyle/>
          <a:p>
            <a:endParaRPr lang="fr-CI"/>
          </a:p>
        </p:txBody>
      </p:sp>
      <p:sp>
        <p:nvSpPr>
          <p:cNvPr id="69" name="Text 64"/>
          <p:cNvSpPr txBox="1"/>
          <p:nvPr/>
        </p:nvSpPr>
        <p:spPr>
          <a:xfrm>
            <a:off x="9477756" y="4785970"/>
            <a:ext cx="3534156" cy="248717"/>
          </a:xfrm>
          <a:prstGeom prst="rect">
            <a:avLst/>
          </a:prstGeom>
          <a:solidFill>
            <a:srgbClr val="FFFFFF">
              <a:alpha val="0"/>
            </a:srgbClr>
          </a:solidFill>
          <a:ln>
            <a:solidFill>
              <a:srgbClr val="FFFFFF">
                <a:alpha val="0"/>
              </a:srgbClr>
            </a:solidFill>
          </a:ln>
        </p:spPr>
        <p:txBody>
          <a:bodyPr wrap="none" lIns="76200" tIns="76200" rIns="76200" bIns="0" rtlCol="0" anchor="ctr"/>
          <a:lstStyle/>
          <a:p>
            <a:pPr marL="0" indent="0" algn="l">
              <a:buNone/>
            </a:pPr>
            <a:r>
              <a:rPr lang="en-US" sz="900" b="1" dirty="0">
                <a:solidFill>
                  <a:srgbClr val="10B981"/>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Commissions calculées</a:t>
            </a:r>
            <a:endParaRPr lang="en-US" sz="900" dirty="0"/>
          </a:p>
        </p:txBody>
      </p:sp>
      <p:sp>
        <p:nvSpPr>
          <p:cNvPr id="70" name="Shape 65"/>
          <p:cNvSpPr/>
          <p:nvPr/>
        </p:nvSpPr>
        <p:spPr>
          <a:xfrm>
            <a:off x="9477756" y="5444338"/>
            <a:ext cx="3534156" cy="9144"/>
          </a:xfrm>
          <a:prstGeom prst="rect">
            <a:avLst/>
          </a:prstGeom>
          <a:solidFill>
            <a:srgbClr val="DDD6FE"/>
          </a:solidFill>
          <a:ln w="12700">
            <a:solidFill>
              <a:srgbClr val="DDD6FE">
                <a:alpha val="0"/>
              </a:srgbClr>
            </a:solidFill>
            <a:prstDash val="solid"/>
          </a:ln>
        </p:spPr>
        <p:txBody>
          <a:bodyPr/>
          <a:lstStyle/>
          <a:p>
            <a:endParaRPr lang="fr-CI"/>
          </a:p>
        </p:txBody>
      </p:sp>
      <p:sp>
        <p:nvSpPr>
          <p:cNvPr id="71" name="Text 66"/>
          <p:cNvSpPr txBox="1"/>
          <p:nvPr/>
        </p:nvSpPr>
        <p:spPr>
          <a:xfrm>
            <a:off x="9477756" y="5119726"/>
            <a:ext cx="3534156" cy="248717"/>
          </a:xfrm>
          <a:prstGeom prst="rect">
            <a:avLst/>
          </a:prstGeom>
          <a:solidFill>
            <a:srgbClr val="FFFFFF">
              <a:alpha val="0"/>
            </a:srgbClr>
          </a:solidFill>
          <a:ln>
            <a:solidFill>
              <a:srgbClr val="FFFFFF">
                <a:alpha val="0"/>
              </a:srgbClr>
            </a:solidFill>
          </a:ln>
        </p:spPr>
        <p:txBody>
          <a:bodyPr wrap="none" lIns="76200" tIns="76200" rIns="76200" bIns="0" rtlCol="0" anchor="ctr"/>
          <a:lstStyle/>
          <a:p>
            <a:pPr marL="0" indent="0" algn="l">
              <a:buNone/>
            </a:pPr>
            <a:r>
              <a:rPr lang="en-US" sz="900" b="1" dirty="0">
                <a:solidFill>
                  <a:srgbClr val="10B981"/>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Parts plateforme exactes</a:t>
            </a:r>
            <a:endParaRPr lang="en-US" sz="900" dirty="0"/>
          </a:p>
        </p:txBody>
      </p:sp>
      <p:sp>
        <p:nvSpPr>
          <p:cNvPr id="72" name="Shape 67"/>
          <p:cNvSpPr/>
          <p:nvPr/>
        </p:nvSpPr>
        <p:spPr>
          <a:xfrm>
            <a:off x="9477756" y="5778094"/>
            <a:ext cx="3534156" cy="9144"/>
          </a:xfrm>
          <a:prstGeom prst="rect">
            <a:avLst/>
          </a:prstGeom>
          <a:solidFill>
            <a:srgbClr val="DDD6FE"/>
          </a:solidFill>
          <a:ln w="12700">
            <a:solidFill>
              <a:srgbClr val="DDD6FE">
                <a:alpha val="0"/>
              </a:srgbClr>
            </a:solidFill>
            <a:prstDash val="solid"/>
          </a:ln>
        </p:spPr>
        <p:txBody>
          <a:bodyPr/>
          <a:lstStyle/>
          <a:p>
            <a:endParaRPr lang="fr-CI"/>
          </a:p>
        </p:txBody>
      </p:sp>
      <p:sp>
        <p:nvSpPr>
          <p:cNvPr id="73" name="Text 68"/>
          <p:cNvSpPr txBox="1"/>
          <p:nvPr/>
        </p:nvSpPr>
        <p:spPr>
          <a:xfrm>
            <a:off x="9477756" y="5453482"/>
            <a:ext cx="3534156" cy="248717"/>
          </a:xfrm>
          <a:prstGeom prst="rect">
            <a:avLst/>
          </a:prstGeom>
          <a:solidFill>
            <a:srgbClr val="FFFFFF">
              <a:alpha val="0"/>
            </a:srgbClr>
          </a:solidFill>
          <a:ln>
            <a:solidFill>
              <a:srgbClr val="FFFFFF">
                <a:alpha val="0"/>
              </a:srgbClr>
            </a:solidFill>
          </a:ln>
        </p:spPr>
        <p:txBody>
          <a:bodyPr wrap="none" lIns="76200" tIns="76200" rIns="76200" bIns="0" rtlCol="0" anchor="ctr"/>
          <a:lstStyle/>
          <a:p>
            <a:pPr marL="0" indent="0" algn="l">
              <a:buNone/>
            </a:pPr>
            <a:r>
              <a:rPr lang="en-US" sz="900" b="1" dirty="0">
                <a:solidFill>
                  <a:srgbClr val="10B981"/>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Parts partenaire exactes</a:t>
            </a:r>
            <a:endParaRPr lang="en-US" sz="900" dirty="0"/>
          </a:p>
        </p:txBody>
      </p:sp>
      <p:sp>
        <p:nvSpPr>
          <p:cNvPr id="74" name="Shape 69"/>
          <p:cNvSpPr/>
          <p:nvPr/>
        </p:nvSpPr>
        <p:spPr>
          <a:xfrm>
            <a:off x="9477756" y="6110935"/>
            <a:ext cx="3534156" cy="9144"/>
          </a:xfrm>
          <a:prstGeom prst="rect">
            <a:avLst/>
          </a:prstGeom>
          <a:solidFill>
            <a:srgbClr val="DDD6FE"/>
          </a:solidFill>
          <a:ln w="12700">
            <a:solidFill>
              <a:srgbClr val="DDD6FE">
                <a:alpha val="0"/>
              </a:srgbClr>
            </a:solidFill>
            <a:prstDash val="solid"/>
          </a:ln>
        </p:spPr>
        <p:txBody>
          <a:bodyPr/>
          <a:lstStyle/>
          <a:p>
            <a:endParaRPr lang="fr-CI"/>
          </a:p>
        </p:txBody>
      </p:sp>
      <p:sp>
        <p:nvSpPr>
          <p:cNvPr id="75" name="Text 70"/>
          <p:cNvSpPr txBox="1"/>
          <p:nvPr/>
        </p:nvSpPr>
        <p:spPr>
          <a:xfrm>
            <a:off x="9477756" y="5786323"/>
            <a:ext cx="3534156" cy="248717"/>
          </a:xfrm>
          <a:prstGeom prst="rect">
            <a:avLst/>
          </a:prstGeom>
          <a:solidFill>
            <a:srgbClr val="FFFFFF">
              <a:alpha val="0"/>
            </a:srgbClr>
          </a:solidFill>
          <a:ln>
            <a:solidFill>
              <a:srgbClr val="FFFFFF">
                <a:alpha val="0"/>
              </a:srgbClr>
            </a:solidFill>
          </a:ln>
        </p:spPr>
        <p:txBody>
          <a:bodyPr wrap="none" lIns="76200" tIns="76200" rIns="76200" bIns="0" rtlCol="0" anchor="ctr"/>
          <a:lstStyle/>
          <a:p>
            <a:pPr marL="0" indent="0" algn="l">
              <a:buNone/>
            </a:pPr>
            <a:r>
              <a:rPr lang="en-US" sz="900" b="1" dirty="0">
                <a:solidFill>
                  <a:srgbClr val="10B981"/>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Parts franchise exactes</a:t>
            </a:r>
            <a:endParaRPr lang="en-US" sz="900" dirty="0"/>
          </a:p>
        </p:txBody>
      </p:sp>
      <p:sp>
        <p:nvSpPr>
          <p:cNvPr id="76" name="Shape 71"/>
          <p:cNvSpPr/>
          <p:nvPr/>
        </p:nvSpPr>
        <p:spPr>
          <a:xfrm>
            <a:off x="9477756" y="6444691"/>
            <a:ext cx="3534156" cy="9144"/>
          </a:xfrm>
          <a:prstGeom prst="rect">
            <a:avLst/>
          </a:prstGeom>
          <a:solidFill>
            <a:srgbClr val="DDD6FE"/>
          </a:solidFill>
          <a:ln w="12700">
            <a:solidFill>
              <a:srgbClr val="DDD6FE">
                <a:alpha val="0"/>
              </a:srgbClr>
            </a:solidFill>
            <a:prstDash val="solid"/>
          </a:ln>
        </p:spPr>
        <p:txBody>
          <a:bodyPr/>
          <a:lstStyle/>
          <a:p>
            <a:endParaRPr lang="fr-CI"/>
          </a:p>
        </p:txBody>
      </p:sp>
      <p:sp>
        <p:nvSpPr>
          <p:cNvPr id="77" name="Text 72"/>
          <p:cNvSpPr txBox="1"/>
          <p:nvPr/>
        </p:nvSpPr>
        <p:spPr>
          <a:xfrm>
            <a:off x="9477756" y="6120079"/>
            <a:ext cx="3534156" cy="248717"/>
          </a:xfrm>
          <a:prstGeom prst="rect">
            <a:avLst/>
          </a:prstGeom>
          <a:solidFill>
            <a:srgbClr val="FFFFFF">
              <a:alpha val="0"/>
            </a:srgbClr>
          </a:solidFill>
          <a:ln>
            <a:solidFill>
              <a:srgbClr val="FFFFFF">
                <a:alpha val="0"/>
              </a:srgbClr>
            </a:solidFill>
          </a:ln>
        </p:spPr>
        <p:txBody>
          <a:bodyPr wrap="none" lIns="76200" tIns="76200" rIns="76200" bIns="0" rtlCol="0" anchor="ctr"/>
          <a:lstStyle/>
          <a:p>
            <a:pPr marL="0" indent="0" algn="l">
              <a:buNone/>
            </a:pPr>
            <a:r>
              <a:rPr lang="en-US" sz="900" b="1" dirty="0">
                <a:solidFill>
                  <a:srgbClr val="10B981"/>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Parts central exactes</a:t>
            </a:r>
            <a:endParaRPr lang="en-US" sz="900" dirty="0"/>
          </a:p>
        </p:txBody>
      </p:sp>
      <p:sp>
        <p:nvSpPr>
          <p:cNvPr id="78" name="Shape 73"/>
          <p:cNvSpPr/>
          <p:nvPr/>
        </p:nvSpPr>
        <p:spPr>
          <a:xfrm>
            <a:off x="9477756" y="6777533"/>
            <a:ext cx="3534156" cy="9144"/>
          </a:xfrm>
          <a:prstGeom prst="rect">
            <a:avLst/>
          </a:prstGeom>
          <a:solidFill>
            <a:srgbClr val="DDD6FE"/>
          </a:solidFill>
          <a:ln w="12700">
            <a:solidFill>
              <a:srgbClr val="DDD6FE">
                <a:alpha val="0"/>
              </a:srgbClr>
            </a:solidFill>
            <a:prstDash val="solid"/>
          </a:ln>
        </p:spPr>
        <p:txBody>
          <a:bodyPr/>
          <a:lstStyle/>
          <a:p>
            <a:endParaRPr lang="fr-CI"/>
          </a:p>
        </p:txBody>
      </p:sp>
      <p:sp>
        <p:nvSpPr>
          <p:cNvPr id="79" name="Text 74"/>
          <p:cNvSpPr txBox="1"/>
          <p:nvPr/>
        </p:nvSpPr>
        <p:spPr>
          <a:xfrm>
            <a:off x="9477756" y="6452921"/>
            <a:ext cx="3534156" cy="248717"/>
          </a:xfrm>
          <a:prstGeom prst="rect">
            <a:avLst/>
          </a:prstGeom>
          <a:solidFill>
            <a:srgbClr val="FFFFFF">
              <a:alpha val="0"/>
            </a:srgbClr>
          </a:solidFill>
          <a:ln>
            <a:solidFill>
              <a:srgbClr val="FFFFFF">
                <a:alpha val="0"/>
              </a:srgbClr>
            </a:solidFill>
          </a:ln>
        </p:spPr>
        <p:txBody>
          <a:bodyPr wrap="none" lIns="76200" tIns="76200" rIns="76200" bIns="0" rtlCol="0" anchor="ctr"/>
          <a:lstStyle/>
          <a:p>
            <a:pPr marL="0" indent="0" algn="l">
              <a:buNone/>
            </a:pPr>
            <a:r>
              <a:rPr lang="en-US" sz="900" b="1" dirty="0">
                <a:solidFill>
                  <a:srgbClr val="10B981"/>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Rapports cohérents</a:t>
            </a:r>
            <a:endParaRPr lang="en-US" sz="900" dirty="0"/>
          </a:p>
        </p:txBody>
      </p:sp>
      <p:sp>
        <p:nvSpPr>
          <p:cNvPr id="80" name="Shape 75"/>
          <p:cNvSpPr/>
          <p:nvPr/>
        </p:nvSpPr>
        <p:spPr>
          <a:xfrm>
            <a:off x="9477756" y="7111289"/>
            <a:ext cx="3534156" cy="9144"/>
          </a:xfrm>
          <a:prstGeom prst="rect">
            <a:avLst/>
          </a:prstGeom>
          <a:solidFill>
            <a:srgbClr val="DDD6FE"/>
          </a:solidFill>
          <a:ln w="12700">
            <a:solidFill>
              <a:srgbClr val="DDD6FE">
                <a:alpha val="0"/>
              </a:srgbClr>
            </a:solidFill>
            <a:prstDash val="solid"/>
          </a:ln>
        </p:spPr>
        <p:txBody>
          <a:bodyPr/>
          <a:lstStyle/>
          <a:p>
            <a:endParaRPr lang="fr-CI"/>
          </a:p>
        </p:txBody>
      </p:sp>
      <p:sp>
        <p:nvSpPr>
          <p:cNvPr id="81" name="Text 76"/>
          <p:cNvSpPr txBox="1"/>
          <p:nvPr/>
        </p:nvSpPr>
        <p:spPr>
          <a:xfrm>
            <a:off x="9477756" y="6786677"/>
            <a:ext cx="3534156" cy="248717"/>
          </a:xfrm>
          <a:prstGeom prst="rect">
            <a:avLst/>
          </a:prstGeom>
          <a:solidFill>
            <a:srgbClr val="FFFFFF">
              <a:alpha val="0"/>
            </a:srgbClr>
          </a:solidFill>
          <a:ln>
            <a:solidFill>
              <a:srgbClr val="FFFFFF">
                <a:alpha val="0"/>
              </a:srgbClr>
            </a:solidFill>
          </a:ln>
        </p:spPr>
        <p:txBody>
          <a:bodyPr wrap="none" lIns="76200" tIns="76200" rIns="76200" bIns="0" rtlCol="0" anchor="ctr"/>
          <a:lstStyle/>
          <a:p>
            <a:pPr marL="0" indent="0" algn="l">
              <a:buNone/>
            </a:pPr>
            <a:r>
              <a:rPr lang="en-US" sz="900" b="1" dirty="0">
                <a:solidFill>
                  <a:srgbClr val="10B981"/>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Exports exploitables</a:t>
            </a:r>
            <a:endParaRPr lang="en-US" sz="900" dirty="0"/>
          </a:p>
        </p:txBody>
      </p:sp>
      <p:sp>
        <p:nvSpPr>
          <p:cNvPr id="82" name="Text 77"/>
          <p:cNvSpPr txBox="1"/>
          <p:nvPr/>
        </p:nvSpPr>
        <p:spPr>
          <a:xfrm>
            <a:off x="9477756" y="7119518"/>
            <a:ext cx="3534156" cy="324612"/>
          </a:xfrm>
          <a:prstGeom prst="rect">
            <a:avLst/>
          </a:prstGeom>
          <a:noFill/>
          <a:ln/>
        </p:spPr>
        <p:txBody>
          <a:bodyPr wrap="none" lIns="0" tIns="0" rIns="0" bIns="0" rtlCol="0" anchor="ctr"/>
          <a:lstStyle/>
          <a:p>
            <a:pPr marL="0" indent="0" algn="l">
              <a:buNone/>
            </a:pPr>
            <a:r>
              <a:rPr lang="en-US" sz="900" b="1" dirty="0">
                <a:solidFill>
                  <a:srgbClr val="10B981"/>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Aucune confusion recette/recharge/commission</a:t>
            </a:r>
            <a:endParaRPr lang="en-US" sz="900" dirty="0"/>
          </a:p>
        </p:txBody>
      </p:sp>
      <p:sp>
        <p:nvSpPr>
          <p:cNvPr id="83" name="Shape 78"/>
          <p:cNvSpPr/>
          <p:nvPr/>
        </p:nvSpPr>
        <p:spPr>
          <a:xfrm>
            <a:off x="13401446" y="2762402"/>
            <a:ext cx="4009644" cy="6476695"/>
          </a:xfrm>
          <a:prstGeom prst="roundRect">
            <a:avLst>
              <a:gd name="adj" fmla="val 3330"/>
            </a:avLst>
          </a:prstGeom>
          <a:solidFill>
            <a:srgbClr val="1F2937"/>
          </a:solidFill>
          <a:ln w="12700">
            <a:solidFill>
              <a:srgbClr val="FFFFFF">
                <a:alpha val="0"/>
              </a:srgbClr>
            </a:solidFill>
            <a:prstDash val="solid"/>
          </a:ln>
        </p:spPr>
        <p:txBody>
          <a:bodyPr/>
          <a:lstStyle/>
          <a:p>
            <a:endParaRPr lang="fr-CI"/>
          </a:p>
        </p:txBody>
      </p:sp>
      <p:sp>
        <p:nvSpPr>
          <p:cNvPr id="84" name="Text 79"/>
          <p:cNvSpPr txBox="1"/>
          <p:nvPr/>
        </p:nvSpPr>
        <p:spPr>
          <a:xfrm>
            <a:off x="13630046" y="2991002"/>
            <a:ext cx="3553358" cy="152705"/>
          </a:xfrm>
          <a:prstGeom prst="rect">
            <a:avLst/>
          </a:prstGeom>
          <a:noFill/>
          <a:ln/>
        </p:spPr>
        <p:txBody>
          <a:bodyPr wrap="none" lIns="0" tIns="0" rIns="0" bIns="0" rtlCol="0" anchor="ctr"/>
          <a:lstStyle/>
          <a:p>
            <a:pPr marL="0" indent="0" algn="l">
              <a:buNone/>
            </a:pPr>
            <a:r>
              <a:rPr lang="en-US" sz="900" b="1" kern="0" spc="108" dirty="0">
                <a:solidFill>
                  <a:srgbClr val="A78BFA"/>
                </a:solidFill>
                <a:latin typeface="JetBrains Mono" pitchFamily="34" charset="0"/>
                <a:ea typeface="JetBrains Mono" pitchFamily="34" charset="-122"/>
                <a:cs typeface="JetBrains Mono" pitchFamily="34" charset="-120"/>
              </a:rPr>
              <a:t>§25</a:t>
            </a:r>
            <a:endParaRPr lang="en-US" sz="900" dirty="0"/>
          </a:p>
        </p:txBody>
      </p:sp>
      <p:sp>
        <p:nvSpPr>
          <p:cNvPr id="85" name="Text 80"/>
          <p:cNvSpPr txBox="1"/>
          <p:nvPr/>
        </p:nvSpPr>
        <p:spPr>
          <a:xfrm>
            <a:off x="13630046" y="3200400"/>
            <a:ext cx="3553358" cy="314554"/>
          </a:xfrm>
          <a:prstGeom prst="rect">
            <a:avLst/>
          </a:prstGeom>
          <a:noFill/>
          <a:ln/>
        </p:spPr>
        <p:txBody>
          <a:bodyPr wrap="none" lIns="0" tIns="0" rIns="0" bIns="0" rtlCol="0" anchor="ctr"/>
          <a:lstStyle/>
          <a:p>
            <a:pPr marL="0" indent="0" algn="l">
              <a:buNone/>
            </a:pPr>
            <a:r>
              <a:rPr lang="en-US" sz="1800" b="1" dirty="0">
                <a:solidFill>
                  <a:srgbClr val="FFFFFF"/>
                </a:solidFill>
                <a:latin typeface="Manrope" pitchFamily="34" charset="0"/>
                <a:ea typeface="Manrope" pitchFamily="34" charset="-122"/>
                <a:cs typeface="Manrope" pitchFamily="34" charset="-120"/>
              </a:rPr>
              <a:t>Reporting</a:t>
            </a:r>
            <a:endParaRPr lang="en-US" sz="1800" dirty="0"/>
          </a:p>
        </p:txBody>
      </p:sp>
      <p:pic>
        <p:nvPicPr>
          <p:cNvPr id="86" name="Image 3" descr="gen-dedup-5b23655439dddeb3d68f393e10aa30d6.png"/>
          <p:cNvPicPr>
            <a:picLocks noChangeAspect="1"/>
          </p:cNvPicPr>
          <p:nvPr/>
        </p:nvPicPr>
        <p:blipFill>
          <a:blip r:embed="rId3"/>
          <a:srcRect l="-385" r="-385"/>
          <a:stretch/>
        </p:blipFill>
        <p:spPr>
          <a:xfrm>
            <a:off x="13630046" y="3610051"/>
            <a:ext cx="761695" cy="28346"/>
          </a:xfrm>
          <a:prstGeom prst="rect">
            <a:avLst/>
          </a:prstGeom>
        </p:spPr>
      </p:pic>
      <p:sp>
        <p:nvSpPr>
          <p:cNvPr id="87" name="Text 81"/>
          <p:cNvSpPr txBox="1"/>
          <p:nvPr/>
        </p:nvSpPr>
        <p:spPr>
          <a:xfrm>
            <a:off x="13630046" y="3752698"/>
            <a:ext cx="3553358" cy="171907"/>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La recette reporting est validée si :</a:t>
            </a:r>
            <a:endParaRPr lang="en-US" sz="900" dirty="0"/>
          </a:p>
        </p:txBody>
      </p:sp>
      <p:sp>
        <p:nvSpPr>
          <p:cNvPr id="88" name="Shape 82"/>
          <p:cNvSpPr/>
          <p:nvPr/>
        </p:nvSpPr>
        <p:spPr>
          <a:xfrm>
            <a:off x="13630046" y="4372661"/>
            <a:ext cx="3552444" cy="9144"/>
          </a:xfrm>
          <a:prstGeom prst="rect">
            <a:avLst/>
          </a:prstGeom>
          <a:solidFill>
            <a:srgbClr val="374151"/>
          </a:solidFill>
          <a:ln w="12700">
            <a:solidFill>
              <a:srgbClr val="374151">
                <a:alpha val="0"/>
              </a:srgbClr>
            </a:solidFill>
            <a:prstDash val="solid"/>
          </a:ln>
        </p:spPr>
        <p:txBody>
          <a:bodyPr/>
          <a:lstStyle/>
          <a:p>
            <a:endParaRPr lang="fr-CI"/>
          </a:p>
        </p:txBody>
      </p:sp>
      <p:sp>
        <p:nvSpPr>
          <p:cNvPr id="89" name="Text 83"/>
          <p:cNvSpPr txBox="1"/>
          <p:nvPr/>
        </p:nvSpPr>
        <p:spPr>
          <a:xfrm>
            <a:off x="13630046" y="4048049"/>
            <a:ext cx="3553358" cy="248717"/>
          </a:xfrm>
          <a:prstGeom prst="rect">
            <a:avLst/>
          </a:prstGeom>
          <a:solidFill>
            <a:srgbClr val="FFFFFF">
              <a:alpha val="0"/>
            </a:srgbClr>
          </a:solidFill>
          <a:ln>
            <a:solidFill>
              <a:srgbClr val="FFFFFF">
                <a:alpha val="0"/>
              </a:srgbClr>
            </a:solidFill>
          </a:ln>
        </p:spPr>
        <p:txBody>
          <a:bodyPr wrap="none" lIns="76200" tIns="76200" rIns="76200" bIns="0" rtlCol="0" anchor="ctr"/>
          <a:lstStyle/>
          <a:p>
            <a:pPr marL="0" indent="0" algn="l">
              <a:buNone/>
            </a:pPr>
            <a:r>
              <a:rPr lang="en-US" sz="900" b="1" dirty="0">
                <a:solidFill>
                  <a:srgbClr val="A78BFA"/>
                </a:solidFill>
                <a:latin typeface="Manrope" pitchFamily="34" charset="0"/>
                <a:ea typeface="Manrope" pitchFamily="34" charset="-122"/>
                <a:cs typeface="Manrope" pitchFamily="34" charset="-120"/>
              </a:rPr>
              <a:t>✓</a:t>
            </a:r>
            <a:r>
              <a:rPr lang="en-US" sz="900" dirty="0">
                <a:solidFill>
                  <a:srgbClr val="E5E7EB"/>
                </a:solidFill>
                <a:latin typeface="Manrope" pitchFamily="34" charset="0"/>
                <a:ea typeface="Manrope" pitchFamily="34" charset="-122"/>
                <a:cs typeface="Manrope" pitchFamily="34" charset="-120"/>
              </a:rPr>
              <a:t> Tableaux de bord cohérents</a:t>
            </a:r>
            <a:endParaRPr lang="en-US" sz="900" dirty="0"/>
          </a:p>
        </p:txBody>
      </p:sp>
      <p:sp>
        <p:nvSpPr>
          <p:cNvPr id="90" name="Shape 84"/>
          <p:cNvSpPr/>
          <p:nvPr/>
        </p:nvSpPr>
        <p:spPr>
          <a:xfrm>
            <a:off x="13630046" y="4706417"/>
            <a:ext cx="3552444" cy="9144"/>
          </a:xfrm>
          <a:prstGeom prst="rect">
            <a:avLst/>
          </a:prstGeom>
          <a:solidFill>
            <a:srgbClr val="374151"/>
          </a:solidFill>
          <a:ln w="12700">
            <a:solidFill>
              <a:srgbClr val="374151">
                <a:alpha val="0"/>
              </a:srgbClr>
            </a:solidFill>
            <a:prstDash val="solid"/>
          </a:ln>
        </p:spPr>
        <p:txBody>
          <a:bodyPr/>
          <a:lstStyle/>
          <a:p>
            <a:endParaRPr lang="fr-CI"/>
          </a:p>
        </p:txBody>
      </p:sp>
      <p:sp>
        <p:nvSpPr>
          <p:cNvPr id="91" name="Text 85"/>
          <p:cNvSpPr txBox="1"/>
          <p:nvPr/>
        </p:nvSpPr>
        <p:spPr>
          <a:xfrm>
            <a:off x="13630046" y="4381805"/>
            <a:ext cx="3553358" cy="248717"/>
          </a:xfrm>
          <a:prstGeom prst="rect">
            <a:avLst/>
          </a:prstGeom>
          <a:solidFill>
            <a:srgbClr val="FFFFFF">
              <a:alpha val="0"/>
            </a:srgbClr>
          </a:solidFill>
          <a:ln>
            <a:solidFill>
              <a:srgbClr val="FFFFFF">
                <a:alpha val="0"/>
              </a:srgbClr>
            </a:solidFill>
          </a:ln>
        </p:spPr>
        <p:txBody>
          <a:bodyPr wrap="none" lIns="76200" tIns="76200" rIns="76200" bIns="0" rtlCol="0" anchor="ctr"/>
          <a:lstStyle/>
          <a:p>
            <a:pPr marL="0" indent="0" algn="l">
              <a:buNone/>
            </a:pPr>
            <a:r>
              <a:rPr lang="en-US" sz="900" b="1" dirty="0">
                <a:solidFill>
                  <a:srgbClr val="A78BFA"/>
                </a:solidFill>
                <a:latin typeface="Manrope" pitchFamily="34" charset="0"/>
                <a:ea typeface="Manrope" pitchFamily="34" charset="-122"/>
                <a:cs typeface="Manrope" pitchFamily="34" charset="-120"/>
              </a:rPr>
              <a:t>✓</a:t>
            </a:r>
            <a:r>
              <a:rPr lang="en-US" sz="900" dirty="0">
                <a:solidFill>
                  <a:srgbClr val="E5E7EB"/>
                </a:solidFill>
                <a:latin typeface="Manrope" pitchFamily="34" charset="0"/>
                <a:ea typeface="Manrope" pitchFamily="34" charset="-122"/>
                <a:cs typeface="Manrope" pitchFamily="34" charset="-120"/>
              </a:rPr>
              <a:t> Données par service fiables</a:t>
            </a:r>
            <a:endParaRPr lang="en-US" sz="900" dirty="0"/>
          </a:p>
        </p:txBody>
      </p:sp>
      <p:sp>
        <p:nvSpPr>
          <p:cNvPr id="92" name="Shape 86"/>
          <p:cNvSpPr/>
          <p:nvPr/>
        </p:nvSpPr>
        <p:spPr>
          <a:xfrm>
            <a:off x="13630046" y="5039258"/>
            <a:ext cx="3552444" cy="9144"/>
          </a:xfrm>
          <a:prstGeom prst="rect">
            <a:avLst/>
          </a:prstGeom>
          <a:solidFill>
            <a:srgbClr val="374151"/>
          </a:solidFill>
          <a:ln w="12700">
            <a:solidFill>
              <a:srgbClr val="374151">
                <a:alpha val="0"/>
              </a:srgbClr>
            </a:solidFill>
            <a:prstDash val="solid"/>
          </a:ln>
        </p:spPr>
        <p:txBody>
          <a:bodyPr/>
          <a:lstStyle/>
          <a:p>
            <a:endParaRPr lang="fr-CI"/>
          </a:p>
        </p:txBody>
      </p:sp>
      <p:sp>
        <p:nvSpPr>
          <p:cNvPr id="93" name="Text 87"/>
          <p:cNvSpPr txBox="1"/>
          <p:nvPr/>
        </p:nvSpPr>
        <p:spPr>
          <a:xfrm>
            <a:off x="13630046" y="4714646"/>
            <a:ext cx="3553358" cy="248717"/>
          </a:xfrm>
          <a:prstGeom prst="rect">
            <a:avLst/>
          </a:prstGeom>
          <a:solidFill>
            <a:srgbClr val="FFFFFF">
              <a:alpha val="0"/>
            </a:srgbClr>
          </a:solidFill>
          <a:ln>
            <a:solidFill>
              <a:srgbClr val="FFFFFF">
                <a:alpha val="0"/>
              </a:srgbClr>
            </a:solidFill>
          </a:ln>
        </p:spPr>
        <p:txBody>
          <a:bodyPr wrap="none" lIns="76200" tIns="76200" rIns="76200" bIns="0" rtlCol="0" anchor="ctr"/>
          <a:lstStyle/>
          <a:p>
            <a:pPr marL="0" indent="0" algn="l">
              <a:buNone/>
            </a:pPr>
            <a:r>
              <a:rPr lang="en-US" sz="900" b="1" dirty="0">
                <a:solidFill>
                  <a:srgbClr val="A78BFA"/>
                </a:solidFill>
                <a:latin typeface="Manrope" pitchFamily="34" charset="0"/>
                <a:ea typeface="Manrope" pitchFamily="34" charset="-122"/>
                <a:cs typeface="Manrope" pitchFamily="34" charset="-120"/>
              </a:rPr>
              <a:t>✓</a:t>
            </a:r>
            <a:r>
              <a:rPr lang="en-US" sz="900" dirty="0">
                <a:solidFill>
                  <a:srgbClr val="E5E7EB"/>
                </a:solidFill>
                <a:latin typeface="Manrope" pitchFamily="34" charset="0"/>
                <a:ea typeface="Manrope" pitchFamily="34" charset="-122"/>
                <a:cs typeface="Manrope" pitchFamily="34" charset="-120"/>
              </a:rPr>
              <a:t> Données par profil visibles</a:t>
            </a:r>
            <a:endParaRPr lang="en-US" sz="900" dirty="0"/>
          </a:p>
        </p:txBody>
      </p:sp>
      <p:sp>
        <p:nvSpPr>
          <p:cNvPr id="94" name="Shape 88"/>
          <p:cNvSpPr/>
          <p:nvPr/>
        </p:nvSpPr>
        <p:spPr>
          <a:xfrm>
            <a:off x="13630046" y="5373014"/>
            <a:ext cx="3552444" cy="9144"/>
          </a:xfrm>
          <a:prstGeom prst="rect">
            <a:avLst/>
          </a:prstGeom>
          <a:solidFill>
            <a:srgbClr val="374151"/>
          </a:solidFill>
          <a:ln w="12700">
            <a:solidFill>
              <a:srgbClr val="374151">
                <a:alpha val="0"/>
              </a:srgbClr>
            </a:solidFill>
            <a:prstDash val="solid"/>
          </a:ln>
        </p:spPr>
        <p:txBody>
          <a:bodyPr/>
          <a:lstStyle/>
          <a:p>
            <a:endParaRPr lang="fr-CI"/>
          </a:p>
        </p:txBody>
      </p:sp>
      <p:sp>
        <p:nvSpPr>
          <p:cNvPr id="95" name="Text 89"/>
          <p:cNvSpPr txBox="1"/>
          <p:nvPr/>
        </p:nvSpPr>
        <p:spPr>
          <a:xfrm>
            <a:off x="13630046" y="5048402"/>
            <a:ext cx="3553358" cy="248717"/>
          </a:xfrm>
          <a:prstGeom prst="rect">
            <a:avLst/>
          </a:prstGeom>
          <a:solidFill>
            <a:srgbClr val="FFFFFF">
              <a:alpha val="0"/>
            </a:srgbClr>
          </a:solidFill>
          <a:ln>
            <a:solidFill>
              <a:srgbClr val="FFFFFF">
                <a:alpha val="0"/>
              </a:srgbClr>
            </a:solidFill>
          </a:ln>
        </p:spPr>
        <p:txBody>
          <a:bodyPr wrap="none" lIns="76200" tIns="76200" rIns="76200" bIns="0" rtlCol="0" anchor="ctr"/>
          <a:lstStyle/>
          <a:p>
            <a:pPr marL="0" indent="0" algn="l">
              <a:buNone/>
            </a:pPr>
            <a:r>
              <a:rPr lang="en-US" sz="900" b="1" dirty="0">
                <a:solidFill>
                  <a:srgbClr val="A78BFA"/>
                </a:solidFill>
                <a:latin typeface="Manrope" pitchFamily="34" charset="0"/>
                <a:ea typeface="Manrope" pitchFamily="34" charset="-122"/>
                <a:cs typeface="Manrope" pitchFamily="34" charset="-120"/>
              </a:rPr>
              <a:t>✓</a:t>
            </a:r>
            <a:r>
              <a:rPr lang="en-US" sz="900" dirty="0">
                <a:solidFill>
                  <a:srgbClr val="E5E7EB"/>
                </a:solidFill>
                <a:latin typeface="Manrope" pitchFamily="34" charset="0"/>
                <a:ea typeface="Manrope" pitchFamily="34" charset="-122"/>
                <a:cs typeface="Manrope" pitchFamily="34" charset="-120"/>
              </a:rPr>
              <a:t> Données par partenaire exactes</a:t>
            </a:r>
            <a:endParaRPr lang="en-US" sz="900" dirty="0"/>
          </a:p>
        </p:txBody>
      </p:sp>
      <p:sp>
        <p:nvSpPr>
          <p:cNvPr id="96" name="Shape 90"/>
          <p:cNvSpPr/>
          <p:nvPr/>
        </p:nvSpPr>
        <p:spPr>
          <a:xfrm>
            <a:off x="13630046" y="5705856"/>
            <a:ext cx="3552444" cy="9144"/>
          </a:xfrm>
          <a:prstGeom prst="rect">
            <a:avLst/>
          </a:prstGeom>
          <a:solidFill>
            <a:srgbClr val="374151"/>
          </a:solidFill>
          <a:ln w="12700">
            <a:solidFill>
              <a:srgbClr val="374151">
                <a:alpha val="0"/>
              </a:srgbClr>
            </a:solidFill>
            <a:prstDash val="solid"/>
          </a:ln>
        </p:spPr>
        <p:txBody>
          <a:bodyPr/>
          <a:lstStyle/>
          <a:p>
            <a:endParaRPr lang="fr-CI"/>
          </a:p>
        </p:txBody>
      </p:sp>
      <p:sp>
        <p:nvSpPr>
          <p:cNvPr id="97" name="Text 91"/>
          <p:cNvSpPr txBox="1"/>
          <p:nvPr/>
        </p:nvSpPr>
        <p:spPr>
          <a:xfrm>
            <a:off x="13630046" y="5381244"/>
            <a:ext cx="3553358" cy="248717"/>
          </a:xfrm>
          <a:prstGeom prst="rect">
            <a:avLst/>
          </a:prstGeom>
          <a:solidFill>
            <a:srgbClr val="FFFFFF">
              <a:alpha val="0"/>
            </a:srgbClr>
          </a:solidFill>
          <a:ln>
            <a:solidFill>
              <a:srgbClr val="FFFFFF">
                <a:alpha val="0"/>
              </a:srgbClr>
            </a:solidFill>
          </a:ln>
        </p:spPr>
        <p:txBody>
          <a:bodyPr wrap="none" lIns="76200" tIns="76200" rIns="76200" bIns="0" rtlCol="0" anchor="ctr"/>
          <a:lstStyle/>
          <a:p>
            <a:pPr marL="0" indent="0" algn="l">
              <a:buNone/>
            </a:pPr>
            <a:r>
              <a:rPr lang="en-US" sz="900" b="1" dirty="0">
                <a:solidFill>
                  <a:srgbClr val="A78BFA"/>
                </a:solidFill>
                <a:latin typeface="Manrope" pitchFamily="34" charset="0"/>
                <a:ea typeface="Manrope" pitchFamily="34" charset="-122"/>
                <a:cs typeface="Manrope" pitchFamily="34" charset="-120"/>
              </a:rPr>
              <a:t>✓</a:t>
            </a:r>
            <a:r>
              <a:rPr lang="en-US" sz="900" dirty="0">
                <a:solidFill>
                  <a:srgbClr val="E5E7EB"/>
                </a:solidFill>
                <a:latin typeface="Manrope" pitchFamily="34" charset="0"/>
                <a:ea typeface="Manrope" pitchFamily="34" charset="-122"/>
                <a:cs typeface="Manrope" pitchFamily="34" charset="-120"/>
              </a:rPr>
              <a:t> Données par franchise exactes</a:t>
            </a:r>
            <a:endParaRPr lang="en-US" sz="900" dirty="0"/>
          </a:p>
        </p:txBody>
      </p:sp>
      <p:sp>
        <p:nvSpPr>
          <p:cNvPr id="98" name="Shape 92"/>
          <p:cNvSpPr/>
          <p:nvPr/>
        </p:nvSpPr>
        <p:spPr>
          <a:xfrm>
            <a:off x="13630046" y="6039612"/>
            <a:ext cx="3552444" cy="9144"/>
          </a:xfrm>
          <a:prstGeom prst="rect">
            <a:avLst/>
          </a:prstGeom>
          <a:solidFill>
            <a:srgbClr val="374151"/>
          </a:solidFill>
          <a:ln w="12700">
            <a:solidFill>
              <a:srgbClr val="374151">
                <a:alpha val="0"/>
              </a:srgbClr>
            </a:solidFill>
            <a:prstDash val="solid"/>
          </a:ln>
        </p:spPr>
        <p:txBody>
          <a:bodyPr/>
          <a:lstStyle/>
          <a:p>
            <a:endParaRPr lang="fr-CI"/>
          </a:p>
        </p:txBody>
      </p:sp>
      <p:sp>
        <p:nvSpPr>
          <p:cNvPr id="99" name="Text 93"/>
          <p:cNvSpPr txBox="1"/>
          <p:nvPr/>
        </p:nvSpPr>
        <p:spPr>
          <a:xfrm>
            <a:off x="13630046" y="5715000"/>
            <a:ext cx="3553358" cy="248717"/>
          </a:xfrm>
          <a:prstGeom prst="rect">
            <a:avLst/>
          </a:prstGeom>
          <a:solidFill>
            <a:srgbClr val="FFFFFF">
              <a:alpha val="0"/>
            </a:srgbClr>
          </a:solidFill>
          <a:ln>
            <a:solidFill>
              <a:srgbClr val="FFFFFF">
                <a:alpha val="0"/>
              </a:srgbClr>
            </a:solidFill>
          </a:ln>
        </p:spPr>
        <p:txBody>
          <a:bodyPr wrap="none" lIns="76200" tIns="76200" rIns="76200" bIns="0" rtlCol="0" anchor="ctr"/>
          <a:lstStyle/>
          <a:p>
            <a:pPr marL="0" indent="0" algn="l">
              <a:buNone/>
            </a:pPr>
            <a:r>
              <a:rPr lang="en-US" sz="900" b="1" dirty="0">
                <a:solidFill>
                  <a:srgbClr val="A78BFA"/>
                </a:solidFill>
                <a:latin typeface="Manrope" pitchFamily="34" charset="0"/>
                <a:ea typeface="Manrope" pitchFamily="34" charset="-122"/>
                <a:cs typeface="Manrope" pitchFamily="34" charset="-120"/>
              </a:rPr>
              <a:t>✓</a:t>
            </a:r>
            <a:r>
              <a:rPr lang="en-US" sz="900" dirty="0">
                <a:solidFill>
                  <a:srgbClr val="E5E7EB"/>
                </a:solidFill>
                <a:latin typeface="Manrope" pitchFamily="34" charset="0"/>
                <a:ea typeface="Manrope" pitchFamily="34" charset="-122"/>
                <a:cs typeface="Manrope" pitchFamily="34" charset="-120"/>
              </a:rPr>
              <a:t> Données centrales consolidées</a:t>
            </a:r>
            <a:endParaRPr lang="en-US" sz="900" dirty="0"/>
          </a:p>
        </p:txBody>
      </p:sp>
      <p:sp>
        <p:nvSpPr>
          <p:cNvPr id="100" name="Shape 94"/>
          <p:cNvSpPr/>
          <p:nvPr/>
        </p:nvSpPr>
        <p:spPr>
          <a:xfrm>
            <a:off x="13630046" y="6373368"/>
            <a:ext cx="3552444" cy="9144"/>
          </a:xfrm>
          <a:prstGeom prst="rect">
            <a:avLst/>
          </a:prstGeom>
          <a:solidFill>
            <a:srgbClr val="374151"/>
          </a:solidFill>
          <a:ln w="12700">
            <a:solidFill>
              <a:srgbClr val="374151">
                <a:alpha val="0"/>
              </a:srgbClr>
            </a:solidFill>
            <a:prstDash val="solid"/>
          </a:ln>
        </p:spPr>
        <p:txBody>
          <a:bodyPr/>
          <a:lstStyle/>
          <a:p>
            <a:endParaRPr lang="fr-CI"/>
          </a:p>
        </p:txBody>
      </p:sp>
      <p:sp>
        <p:nvSpPr>
          <p:cNvPr id="101" name="Text 95"/>
          <p:cNvSpPr txBox="1"/>
          <p:nvPr/>
        </p:nvSpPr>
        <p:spPr>
          <a:xfrm>
            <a:off x="13630046" y="6048756"/>
            <a:ext cx="3553358" cy="248717"/>
          </a:xfrm>
          <a:prstGeom prst="rect">
            <a:avLst/>
          </a:prstGeom>
          <a:solidFill>
            <a:srgbClr val="FFFFFF">
              <a:alpha val="0"/>
            </a:srgbClr>
          </a:solidFill>
          <a:ln>
            <a:solidFill>
              <a:srgbClr val="FFFFFF">
                <a:alpha val="0"/>
              </a:srgbClr>
            </a:solidFill>
          </a:ln>
        </p:spPr>
        <p:txBody>
          <a:bodyPr wrap="none" lIns="76200" tIns="76200" rIns="76200" bIns="0" rtlCol="0" anchor="ctr"/>
          <a:lstStyle/>
          <a:p>
            <a:pPr marL="0" indent="0" algn="l">
              <a:buNone/>
            </a:pPr>
            <a:r>
              <a:rPr lang="en-US" sz="900" b="1" dirty="0">
                <a:solidFill>
                  <a:srgbClr val="A78BFA"/>
                </a:solidFill>
                <a:latin typeface="Manrope" pitchFamily="34" charset="0"/>
                <a:ea typeface="Manrope" pitchFamily="34" charset="-122"/>
                <a:cs typeface="Manrope" pitchFamily="34" charset="-120"/>
              </a:rPr>
              <a:t>✓</a:t>
            </a:r>
            <a:r>
              <a:rPr lang="en-US" sz="900" dirty="0">
                <a:solidFill>
                  <a:srgbClr val="E5E7EB"/>
                </a:solidFill>
                <a:latin typeface="Manrope" pitchFamily="34" charset="0"/>
                <a:ea typeface="Manrope" pitchFamily="34" charset="-122"/>
                <a:cs typeface="Manrope" pitchFamily="34" charset="-120"/>
              </a:rPr>
              <a:t> Filtres fonctionnels</a:t>
            </a:r>
            <a:endParaRPr lang="en-US" sz="900" dirty="0"/>
          </a:p>
        </p:txBody>
      </p:sp>
      <p:sp>
        <p:nvSpPr>
          <p:cNvPr id="102" name="Text 96"/>
          <p:cNvSpPr txBox="1"/>
          <p:nvPr/>
        </p:nvSpPr>
        <p:spPr>
          <a:xfrm>
            <a:off x="13630046" y="6381598"/>
            <a:ext cx="3553358" cy="324612"/>
          </a:xfrm>
          <a:prstGeom prst="rect">
            <a:avLst/>
          </a:prstGeom>
          <a:noFill/>
          <a:ln/>
        </p:spPr>
        <p:txBody>
          <a:bodyPr wrap="none" lIns="0" tIns="0" rIns="0" bIns="0" rtlCol="0" anchor="ctr"/>
          <a:lstStyle/>
          <a:p>
            <a:pPr marL="0" indent="0" algn="l">
              <a:buNone/>
            </a:pPr>
            <a:r>
              <a:rPr lang="en-US" sz="900" b="1" dirty="0">
                <a:solidFill>
                  <a:srgbClr val="A78BFA"/>
                </a:solidFill>
                <a:latin typeface="Manrope" pitchFamily="34" charset="0"/>
                <a:ea typeface="Manrope" pitchFamily="34" charset="-122"/>
                <a:cs typeface="Manrope" pitchFamily="34" charset="-120"/>
              </a:rPr>
              <a:t>✓</a:t>
            </a:r>
            <a:r>
              <a:rPr lang="en-US" sz="900" dirty="0">
                <a:solidFill>
                  <a:srgbClr val="E5E7EB"/>
                </a:solidFill>
                <a:latin typeface="Manrope" pitchFamily="34" charset="0"/>
                <a:ea typeface="Manrope" pitchFamily="34" charset="-122"/>
                <a:cs typeface="Manrope" pitchFamily="34" charset="-120"/>
              </a:rPr>
              <a:t> Exports exploitables</a:t>
            </a:r>
            <a:endParaRPr lang="en-US" sz="900" dirty="0"/>
          </a:p>
        </p:txBody>
      </p:sp>
      <p:sp>
        <p:nvSpPr>
          <p:cNvPr id="103" name="Shape 97"/>
          <p:cNvSpPr/>
          <p:nvPr/>
        </p:nvSpPr>
        <p:spPr>
          <a:xfrm>
            <a:off x="0" y="9791395"/>
            <a:ext cx="18288000" cy="495605"/>
          </a:xfrm>
          <a:prstGeom prst="rect">
            <a:avLst/>
          </a:prstGeom>
          <a:solidFill>
            <a:srgbClr val="FFFFFF"/>
          </a:solidFill>
          <a:ln/>
        </p:spPr>
        <p:txBody>
          <a:bodyPr/>
          <a:lstStyle/>
          <a:p>
            <a:endParaRPr lang="fr-CI"/>
          </a:p>
        </p:txBody>
      </p:sp>
      <p:sp>
        <p:nvSpPr>
          <p:cNvPr id="104" name="Shape 98"/>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105" name="Text 99"/>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106" name="Text 100"/>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51 / 59</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5542971" y="256946"/>
            <a:ext cx="2518258"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Partie X — §26 Classification</a:t>
            </a:r>
            <a:endParaRPr lang="en-US" sz="900" dirty="0"/>
          </a:p>
        </p:txBody>
      </p:sp>
      <p:sp>
        <p:nvSpPr>
          <p:cNvPr id="10" name="Text 8"/>
          <p:cNvSpPr txBox="1"/>
          <p:nvPr/>
        </p:nvSpPr>
        <p:spPr>
          <a:xfrm>
            <a:off x="914400" y="1205179"/>
            <a:ext cx="3467405"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26. Classification des anomalies</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8479110"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4 niveaux de gravité — décision automatique selon classification.</a:t>
            </a:r>
            <a:endParaRPr lang="en-US" sz="3900" dirty="0"/>
          </a:p>
        </p:txBody>
      </p:sp>
      <p:sp>
        <p:nvSpPr>
          <p:cNvPr id="13" name="Shape 11"/>
          <p:cNvSpPr/>
          <p:nvPr/>
        </p:nvSpPr>
        <p:spPr>
          <a:xfrm>
            <a:off x="914400" y="2762402"/>
            <a:ext cx="4009644" cy="4381805"/>
          </a:xfrm>
          <a:prstGeom prst="roundRect">
            <a:avLst>
              <a:gd name="adj" fmla="val 3330"/>
            </a:avLst>
          </a:prstGeom>
          <a:solidFill>
            <a:srgbClr val="FEE2E2"/>
          </a:solidFill>
          <a:ln w="25400">
            <a:solidFill>
              <a:srgbClr val="EF4444"/>
            </a:solidFill>
            <a:prstDash val="solid"/>
          </a:ln>
        </p:spPr>
        <p:txBody>
          <a:bodyPr/>
          <a:lstStyle/>
          <a:p>
            <a:endParaRPr lang="fr-CI"/>
          </a:p>
        </p:txBody>
      </p:sp>
      <p:sp>
        <p:nvSpPr>
          <p:cNvPr id="14" name="Text 12"/>
          <p:cNvSpPr txBox="1"/>
          <p:nvPr/>
        </p:nvSpPr>
        <p:spPr>
          <a:xfrm>
            <a:off x="1162202" y="3010205"/>
            <a:ext cx="781812" cy="162763"/>
          </a:xfrm>
          <a:prstGeom prst="rect">
            <a:avLst/>
          </a:prstGeom>
          <a:noFill/>
          <a:ln/>
        </p:spPr>
        <p:txBody>
          <a:bodyPr wrap="none" lIns="0" tIns="0" rIns="0" bIns="0" rtlCol="0" anchor="ctr"/>
          <a:lstStyle/>
          <a:p>
            <a:pPr marL="0" indent="0" algn="l">
              <a:buNone/>
            </a:pPr>
            <a:r>
              <a:rPr lang="en-US" sz="900" b="1" kern="0" spc="98" dirty="0">
                <a:solidFill>
                  <a:srgbClr val="991B1B"/>
                </a:solidFill>
                <a:latin typeface="JetBrains Mono" pitchFamily="34" charset="0"/>
                <a:ea typeface="JetBrains Mono" pitchFamily="34" charset="-122"/>
                <a:cs typeface="JetBrains Mono" pitchFamily="34" charset="-120"/>
              </a:rPr>
              <a:t>NIVEAU 01</a:t>
            </a:r>
            <a:endParaRPr lang="en-US" sz="900" dirty="0"/>
          </a:p>
        </p:txBody>
      </p:sp>
      <p:sp>
        <p:nvSpPr>
          <p:cNvPr id="15" name="Shape 13"/>
          <p:cNvSpPr/>
          <p:nvPr/>
        </p:nvSpPr>
        <p:spPr>
          <a:xfrm>
            <a:off x="4543654" y="3023921"/>
            <a:ext cx="133502" cy="133502"/>
          </a:xfrm>
          <a:prstGeom prst="ellipse">
            <a:avLst/>
          </a:prstGeom>
          <a:solidFill>
            <a:srgbClr val="EF4444"/>
          </a:solidFill>
          <a:ln w="12700">
            <a:solidFill>
              <a:srgbClr val="FFFFFF">
                <a:alpha val="0"/>
              </a:srgbClr>
            </a:solidFill>
            <a:prstDash val="solid"/>
          </a:ln>
        </p:spPr>
        <p:txBody>
          <a:bodyPr/>
          <a:lstStyle/>
          <a:p>
            <a:endParaRPr lang="fr-CI"/>
          </a:p>
        </p:txBody>
      </p:sp>
      <p:sp>
        <p:nvSpPr>
          <p:cNvPr id="16" name="Text 14"/>
          <p:cNvSpPr txBox="1"/>
          <p:nvPr/>
        </p:nvSpPr>
        <p:spPr>
          <a:xfrm>
            <a:off x="1162202" y="3267151"/>
            <a:ext cx="3514954" cy="419710"/>
          </a:xfrm>
          <a:prstGeom prst="rect">
            <a:avLst/>
          </a:prstGeom>
          <a:noFill/>
          <a:ln/>
        </p:spPr>
        <p:txBody>
          <a:bodyPr wrap="none" lIns="0" tIns="0" rIns="0" bIns="0" rtlCol="0" anchor="ctr"/>
          <a:lstStyle/>
          <a:p>
            <a:pPr marL="0" indent="0" algn="l">
              <a:buNone/>
            </a:pPr>
            <a:r>
              <a:rPr lang="en-US" sz="2400" b="1" dirty="0">
                <a:solidFill>
                  <a:srgbClr val="991B1B"/>
                </a:solidFill>
                <a:latin typeface="Manrope" pitchFamily="34" charset="0"/>
                <a:ea typeface="Manrope" pitchFamily="34" charset="-122"/>
                <a:cs typeface="Manrope" pitchFamily="34" charset="-120"/>
              </a:rPr>
              <a:t>Critique</a:t>
            </a:r>
            <a:endParaRPr lang="en-US" sz="2400" dirty="0"/>
          </a:p>
        </p:txBody>
      </p:sp>
      <p:pic>
        <p:nvPicPr>
          <p:cNvPr id="17" name="Image 0" descr="gen-dedup-8bac7a5670f1cec7e87868d517a67f77.png"/>
          <p:cNvPicPr>
            <a:picLocks noChangeAspect="1"/>
          </p:cNvPicPr>
          <p:nvPr/>
        </p:nvPicPr>
        <p:blipFill>
          <a:blip r:embed="rId2"/>
          <a:srcRect l="-445" r="-445"/>
          <a:stretch/>
        </p:blipFill>
        <p:spPr>
          <a:xfrm>
            <a:off x="1162202" y="3762756"/>
            <a:ext cx="381305" cy="28346"/>
          </a:xfrm>
          <a:prstGeom prst="rect">
            <a:avLst/>
          </a:prstGeom>
        </p:spPr>
      </p:pic>
      <p:sp>
        <p:nvSpPr>
          <p:cNvPr id="18" name="Text 15"/>
          <p:cNvSpPr txBox="1"/>
          <p:nvPr/>
        </p:nvSpPr>
        <p:spPr>
          <a:xfrm>
            <a:off x="1162202" y="3924605"/>
            <a:ext cx="3514954" cy="419710"/>
          </a:xfrm>
          <a:prstGeom prst="rect">
            <a:avLst/>
          </a:prstGeom>
          <a:noFill/>
          <a:ln/>
        </p:spPr>
        <p:txBody>
          <a:bodyPr wrap="squar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Bloque une fonction essentielle :</a:t>
            </a:r>
            <a:r>
              <a:rPr lang="en-US" sz="1000" dirty="0">
                <a:solidFill>
                  <a:srgbClr val="1F2937"/>
                </a:solidFill>
                <a:latin typeface="Manrope" pitchFamily="34" charset="0"/>
                <a:ea typeface="Manrope" pitchFamily="34" charset="-122"/>
                <a:cs typeface="Manrope" pitchFamily="34" charset="-120"/>
              </a:rPr>
              <a:t> connexion, course, livraison, wallet, données.</a:t>
            </a:r>
            <a:endParaRPr lang="en-US" sz="1000" dirty="0"/>
          </a:p>
        </p:txBody>
      </p:sp>
      <p:sp>
        <p:nvSpPr>
          <p:cNvPr id="19" name="Shape 16"/>
          <p:cNvSpPr/>
          <p:nvPr/>
        </p:nvSpPr>
        <p:spPr>
          <a:xfrm>
            <a:off x="1162202" y="4508906"/>
            <a:ext cx="3514954" cy="629107"/>
          </a:xfrm>
          <a:prstGeom prst="roundRect">
            <a:avLst>
              <a:gd name="adj" fmla="val 15116"/>
            </a:avLst>
          </a:prstGeom>
          <a:solidFill>
            <a:srgbClr val="FFFFFF"/>
          </a:solidFill>
          <a:ln w="12700">
            <a:solidFill>
              <a:srgbClr val="FFFFFF">
                <a:alpha val="0"/>
              </a:srgbClr>
            </a:solidFill>
            <a:prstDash val="solid"/>
          </a:ln>
        </p:spPr>
        <p:txBody>
          <a:bodyPr/>
          <a:lstStyle/>
          <a:p>
            <a:endParaRPr lang="fr-CI"/>
          </a:p>
        </p:txBody>
      </p:sp>
      <p:sp>
        <p:nvSpPr>
          <p:cNvPr id="20" name="Text 17"/>
          <p:cNvSpPr txBox="1"/>
          <p:nvPr/>
        </p:nvSpPr>
        <p:spPr>
          <a:xfrm>
            <a:off x="1295705" y="4642409"/>
            <a:ext cx="3248863" cy="133502"/>
          </a:xfrm>
          <a:prstGeom prst="rect">
            <a:avLst/>
          </a:prstGeom>
          <a:noFill/>
          <a:ln/>
        </p:spPr>
        <p:txBody>
          <a:bodyPr wrap="none" lIns="0" tIns="0" rIns="0" bIns="0" rtlCol="0" anchor="ctr"/>
          <a:lstStyle/>
          <a:p>
            <a:pPr marL="0" indent="0" algn="l">
              <a:buNone/>
            </a:pPr>
            <a:r>
              <a:rPr lang="en-US" sz="800" b="1" dirty="0">
                <a:solidFill>
                  <a:srgbClr val="991B1B"/>
                </a:solidFill>
                <a:latin typeface="JetBrains Mono" pitchFamily="34" charset="0"/>
                <a:ea typeface="JetBrains Mono" pitchFamily="34" charset="-122"/>
                <a:cs typeface="JetBrains Mono" pitchFamily="34" charset="-120"/>
              </a:rPr>
              <a:t>DÉCISION</a:t>
            </a:r>
            <a:endParaRPr lang="en-US" sz="800" dirty="0"/>
          </a:p>
        </p:txBody>
      </p:sp>
      <p:sp>
        <p:nvSpPr>
          <p:cNvPr id="21" name="Text 18"/>
          <p:cNvSpPr txBox="1"/>
          <p:nvPr/>
        </p:nvSpPr>
        <p:spPr>
          <a:xfrm>
            <a:off x="1295705" y="4832604"/>
            <a:ext cx="3248863" cy="171907"/>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Correction obligatoire avant production.</a:t>
            </a:r>
            <a:endParaRPr lang="en-US" sz="900" dirty="0"/>
          </a:p>
        </p:txBody>
      </p:sp>
      <p:sp>
        <p:nvSpPr>
          <p:cNvPr id="22" name="Shape 19"/>
          <p:cNvSpPr/>
          <p:nvPr/>
        </p:nvSpPr>
        <p:spPr>
          <a:xfrm>
            <a:off x="1162202" y="5270602"/>
            <a:ext cx="3514954" cy="694944"/>
          </a:xfrm>
          <a:prstGeom prst="roundRect">
            <a:avLst>
              <a:gd name="adj" fmla="val 10921"/>
            </a:avLst>
          </a:prstGeom>
          <a:solidFill>
            <a:srgbClr val="1F2937"/>
          </a:solidFill>
          <a:ln w="12700">
            <a:solidFill>
              <a:srgbClr val="FFFFFF">
                <a:alpha val="0"/>
              </a:srgbClr>
            </a:solidFill>
            <a:prstDash val="solid"/>
          </a:ln>
        </p:spPr>
        <p:txBody>
          <a:bodyPr/>
          <a:lstStyle/>
          <a:p>
            <a:endParaRPr lang="fr-CI"/>
          </a:p>
        </p:txBody>
      </p:sp>
      <p:sp>
        <p:nvSpPr>
          <p:cNvPr id="23" name="Text 20"/>
          <p:cNvSpPr txBox="1"/>
          <p:nvPr/>
        </p:nvSpPr>
        <p:spPr>
          <a:xfrm>
            <a:off x="1257300" y="5366614"/>
            <a:ext cx="3324758" cy="124358"/>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EXEMPLES</a:t>
            </a:r>
            <a:endParaRPr lang="en-US" sz="800" dirty="0"/>
          </a:p>
        </p:txBody>
      </p:sp>
      <p:sp>
        <p:nvSpPr>
          <p:cNvPr id="24" name="Text 21"/>
          <p:cNvSpPr txBox="1"/>
          <p:nvPr/>
        </p:nvSpPr>
        <p:spPr>
          <a:xfrm>
            <a:off x="1257300" y="5528462"/>
            <a:ext cx="3324758" cy="342900"/>
          </a:xfrm>
          <a:prstGeom prst="rect">
            <a:avLst/>
          </a:prstGeom>
          <a:noFill/>
          <a:ln/>
        </p:spPr>
        <p:txBody>
          <a:bodyPr wrap="squar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OTP impossible · paiement KO · solde wallet erroné · perte de données utilisateur.</a:t>
            </a:r>
            <a:endParaRPr lang="en-US" sz="900" dirty="0"/>
          </a:p>
        </p:txBody>
      </p:sp>
      <p:sp>
        <p:nvSpPr>
          <p:cNvPr id="25" name="Shape 22"/>
          <p:cNvSpPr/>
          <p:nvPr/>
        </p:nvSpPr>
        <p:spPr>
          <a:xfrm>
            <a:off x="5076749" y="2762402"/>
            <a:ext cx="4009644" cy="4381805"/>
          </a:xfrm>
          <a:prstGeom prst="roundRect">
            <a:avLst>
              <a:gd name="adj" fmla="val 3330"/>
            </a:avLst>
          </a:prstGeom>
          <a:solidFill>
            <a:srgbClr val="FEF3C7"/>
          </a:solidFill>
          <a:ln w="25400">
            <a:solidFill>
              <a:srgbClr val="F59E0B"/>
            </a:solidFill>
            <a:prstDash val="solid"/>
          </a:ln>
        </p:spPr>
        <p:txBody>
          <a:bodyPr/>
          <a:lstStyle/>
          <a:p>
            <a:endParaRPr lang="fr-CI"/>
          </a:p>
        </p:txBody>
      </p:sp>
      <p:sp>
        <p:nvSpPr>
          <p:cNvPr id="26" name="Text 23"/>
          <p:cNvSpPr txBox="1"/>
          <p:nvPr/>
        </p:nvSpPr>
        <p:spPr>
          <a:xfrm>
            <a:off x="5324551" y="3010205"/>
            <a:ext cx="781812" cy="162763"/>
          </a:xfrm>
          <a:prstGeom prst="rect">
            <a:avLst/>
          </a:prstGeom>
          <a:noFill/>
          <a:ln/>
        </p:spPr>
        <p:txBody>
          <a:bodyPr wrap="none" lIns="0" tIns="0" rIns="0" bIns="0" rtlCol="0" anchor="ctr"/>
          <a:lstStyle/>
          <a:p>
            <a:pPr marL="0" indent="0" algn="l">
              <a:buNone/>
            </a:pPr>
            <a:r>
              <a:rPr lang="en-US" sz="900" b="1" kern="0" spc="98" dirty="0">
                <a:solidFill>
                  <a:srgbClr val="92400E"/>
                </a:solidFill>
                <a:latin typeface="JetBrains Mono" pitchFamily="34" charset="0"/>
                <a:ea typeface="JetBrains Mono" pitchFamily="34" charset="-122"/>
                <a:cs typeface="JetBrains Mono" pitchFamily="34" charset="-120"/>
              </a:rPr>
              <a:t>NIVEAU 02</a:t>
            </a:r>
            <a:endParaRPr lang="en-US" sz="900" dirty="0"/>
          </a:p>
        </p:txBody>
      </p:sp>
      <p:sp>
        <p:nvSpPr>
          <p:cNvPr id="27" name="Shape 24"/>
          <p:cNvSpPr/>
          <p:nvPr/>
        </p:nvSpPr>
        <p:spPr>
          <a:xfrm>
            <a:off x="8706002" y="3023921"/>
            <a:ext cx="133502" cy="133502"/>
          </a:xfrm>
          <a:prstGeom prst="ellipse">
            <a:avLst/>
          </a:prstGeom>
          <a:solidFill>
            <a:srgbClr val="F59E0B"/>
          </a:solidFill>
          <a:ln w="12700">
            <a:solidFill>
              <a:srgbClr val="FFFFFF">
                <a:alpha val="0"/>
              </a:srgbClr>
            </a:solidFill>
            <a:prstDash val="solid"/>
          </a:ln>
        </p:spPr>
        <p:txBody>
          <a:bodyPr/>
          <a:lstStyle/>
          <a:p>
            <a:endParaRPr lang="fr-CI"/>
          </a:p>
        </p:txBody>
      </p:sp>
      <p:sp>
        <p:nvSpPr>
          <p:cNvPr id="28" name="Text 25"/>
          <p:cNvSpPr txBox="1"/>
          <p:nvPr/>
        </p:nvSpPr>
        <p:spPr>
          <a:xfrm>
            <a:off x="5324551" y="3267151"/>
            <a:ext cx="3514954" cy="419710"/>
          </a:xfrm>
          <a:prstGeom prst="rect">
            <a:avLst/>
          </a:prstGeom>
          <a:noFill/>
          <a:ln/>
        </p:spPr>
        <p:txBody>
          <a:bodyPr wrap="none" lIns="0" tIns="0" rIns="0" bIns="0" rtlCol="0" anchor="ctr"/>
          <a:lstStyle/>
          <a:p>
            <a:pPr marL="0" indent="0" algn="l">
              <a:buNone/>
            </a:pPr>
            <a:r>
              <a:rPr lang="en-US" sz="2400" b="1" dirty="0">
                <a:solidFill>
                  <a:srgbClr val="92400E"/>
                </a:solidFill>
                <a:latin typeface="Manrope" pitchFamily="34" charset="0"/>
                <a:ea typeface="Manrope" pitchFamily="34" charset="-122"/>
                <a:cs typeface="Manrope" pitchFamily="34" charset="-120"/>
              </a:rPr>
              <a:t>Majeure</a:t>
            </a:r>
            <a:endParaRPr lang="en-US" sz="2400" dirty="0"/>
          </a:p>
        </p:txBody>
      </p:sp>
      <p:pic>
        <p:nvPicPr>
          <p:cNvPr id="29" name="Image 1" descr="gen-dedup-4e1c7701997b4a1356a5b30ee6af2619.png"/>
          <p:cNvPicPr>
            <a:picLocks noChangeAspect="1"/>
          </p:cNvPicPr>
          <p:nvPr/>
        </p:nvPicPr>
        <p:blipFill>
          <a:blip r:embed="rId3"/>
          <a:srcRect l="-445" r="-445"/>
          <a:stretch/>
        </p:blipFill>
        <p:spPr>
          <a:xfrm>
            <a:off x="5324551" y="3762756"/>
            <a:ext cx="381305" cy="28346"/>
          </a:xfrm>
          <a:prstGeom prst="rect">
            <a:avLst/>
          </a:prstGeom>
        </p:spPr>
      </p:pic>
      <p:sp>
        <p:nvSpPr>
          <p:cNvPr id="30" name="Text 26"/>
          <p:cNvSpPr txBox="1"/>
          <p:nvPr/>
        </p:nvSpPr>
        <p:spPr>
          <a:xfrm>
            <a:off x="5324551" y="3924605"/>
            <a:ext cx="3514954" cy="419710"/>
          </a:xfrm>
          <a:prstGeom prst="rect">
            <a:avLst/>
          </a:prstGeom>
          <a:noFill/>
          <a:ln/>
        </p:spPr>
        <p:txBody>
          <a:bodyPr wrap="squar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Dégrade fortement</a:t>
            </a:r>
            <a:r>
              <a:rPr lang="en-US" sz="1000" dirty="0">
                <a:solidFill>
                  <a:srgbClr val="1F2937"/>
                </a:solidFill>
                <a:latin typeface="Manrope" pitchFamily="34" charset="0"/>
                <a:ea typeface="Manrope" pitchFamily="34" charset="-122"/>
                <a:cs typeface="Manrope" pitchFamily="34" charset="-120"/>
              </a:rPr>
              <a:t> l'exploitation ou la fiabilité de la plateforme.</a:t>
            </a:r>
            <a:endParaRPr lang="en-US" sz="1000" dirty="0"/>
          </a:p>
        </p:txBody>
      </p:sp>
      <p:sp>
        <p:nvSpPr>
          <p:cNvPr id="31" name="Shape 27"/>
          <p:cNvSpPr/>
          <p:nvPr/>
        </p:nvSpPr>
        <p:spPr>
          <a:xfrm>
            <a:off x="5324551" y="4508906"/>
            <a:ext cx="3514954" cy="629107"/>
          </a:xfrm>
          <a:prstGeom prst="roundRect">
            <a:avLst>
              <a:gd name="adj" fmla="val 15116"/>
            </a:avLst>
          </a:prstGeom>
          <a:solidFill>
            <a:srgbClr val="FFFFFF"/>
          </a:solidFill>
          <a:ln w="12700">
            <a:solidFill>
              <a:srgbClr val="FFFFFF">
                <a:alpha val="0"/>
              </a:srgbClr>
            </a:solidFill>
            <a:prstDash val="solid"/>
          </a:ln>
        </p:spPr>
        <p:txBody>
          <a:bodyPr/>
          <a:lstStyle/>
          <a:p>
            <a:endParaRPr lang="fr-CI"/>
          </a:p>
        </p:txBody>
      </p:sp>
      <p:sp>
        <p:nvSpPr>
          <p:cNvPr id="32" name="Text 28"/>
          <p:cNvSpPr txBox="1"/>
          <p:nvPr/>
        </p:nvSpPr>
        <p:spPr>
          <a:xfrm>
            <a:off x="5458054" y="4642409"/>
            <a:ext cx="3248863" cy="133502"/>
          </a:xfrm>
          <a:prstGeom prst="rect">
            <a:avLst/>
          </a:prstGeom>
          <a:noFill/>
          <a:ln/>
        </p:spPr>
        <p:txBody>
          <a:bodyPr wrap="none" lIns="0" tIns="0" rIns="0" bIns="0" rtlCol="0" anchor="ctr"/>
          <a:lstStyle/>
          <a:p>
            <a:pPr marL="0" indent="0" algn="l">
              <a:buNone/>
            </a:pPr>
            <a:r>
              <a:rPr lang="en-US" sz="800" b="1" dirty="0">
                <a:solidFill>
                  <a:srgbClr val="92400E"/>
                </a:solidFill>
                <a:latin typeface="JetBrains Mono" pitchFamily="34" charset="0"/>
                <a:ea typeface="JetBrains Mono" pitchFamily="34" charset="-122"/>
                <a:cs typeface="JetBrains Mono" pitchFamily="34" charset="-120"/>
              </a:rPr>
              <a:t>DÉCISION</a:t>
            </a:r>
            <a:endParaRPr lang="en-US" sz="800" dirty="0"/>
          </a:p>
        </p:txBody>
      </p:sp>
      <p:sp>
        <p:nvSpPr>
          <p:cNvPr id="33" name="Text 29"/>
          <p:cNvSpPr txBox="1"/>
          <p:nvPr/>
        </p:nvSpPr>
        <p:spPr>
          <a:xfrm>
            <a:off x="5458054" y="4832604"/>
            <a:ext cx="3248863" cy="171907"/>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Correction avant généralisation.</a:t>
            </a:r>
            <a:endParaRPr lang="en-US" sz="900" dirty="0"/>
          </a:p>
        </p:txBody>
      </p:sp>
      <p:sp>
        <p:nvSpPr>
          <p:cNvPr id="34" name="Shape 30"/>
          <p:cNvSpPr/>
          <p:nvPr/>
        </p:nvSpPr>
        <p:spPr>
          <a:xfrm>
            <a:off x="5324551" y="5270602"/>
            <a:ext cx="3514954" cy="694944"/>
          </a:xfrm>
          <a:prstGeom prst="roundRect">
            <a:avLst>
              <a:gd name="adj" fmla="val 10921"/>
            </a:avLst>
          </a:prstGeom>
          <a:solidFill>
            <a:srgbClr val="1F2937"/>
          </a:solidFill>
          <a:ln w="12700">
            <a:solidFill>
              <a:srgbClr val="FFFFFF">
                <a:alpha val="0"/>
              </a:srgbClr>
            </a:solidFill>
            <a:prstDash val="solid"/>
          </a:ln>
        </p:spPr>
        <p:txBody>
          <a:bodyPr/>
          <a:lstStyle/>
          <a:p>
            <a:endParaRPr lang="fr-CI"/>
          </a:p>
        </p:txBody>
      </p:sp>
      <p:sp>
        <p:nvSpPr>
          <p:cNvPr id="35" name="Text 31"/>
          <p:cNvSpPr txBox="1"/>
          <p:nvPr/>
        </p:nvSpPr>
        <p:spPr>
          <a:xfrm>
            <a:off x="5419649" y="5366614"/>
            <a:ext cx="3324758" cy="124358"/>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EXEMPLES</a:t>
            </a:r>
            <a:endParaRPr lang="en-US" sz="800" dirty="0"/>
          </a:p>
        </p:txBody>
      </p:sp>
      <p:sp>
        <p:nvSpPr>
          <p:cNvPr id="36" name="Text 32"/>
          <p:cNvSpPr txBox="1"/>
          <p:nvPr/>
        </p:nvSpPr>
        <p:spPr>
          <a:xfrm>
            <a:off x="5419649" y="5528462"/>
            <a:ext cx="3324758" cy="342900"/>
          </a:xfrm>
          <a:prstGeom prst="rect">
            <a:avLst/>
          </a:prstGeom>
          <a:noFill/>
          <a:ln/>
        </p:spPr>
        <p:txBody>
          <a:bodyPr wrap="squar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Annulation mal gérée · notification retardée · export reporting défectueux.</a:t>
            </a:r>
            <a:endParaRPr lang="en-US" sz="900" dirty="0"/>
          </a:p>
        </p:txBody>
      </p:sp>
      <p:sp>
        <p:nvSpPr>
          <p:cNvPr id="37" name="Shape 33"/>
          <p:cNvSpPr/>
          <p:nvPr/>
        </p:nvSpPr>
        <p:spPr>
          <a:xfrm>
            <a:off x="9239098" y="2762402"/>
            <a:ext cx="4009644" cy="4381805"/>
          </a:xfrm>
          <a:prstGeom prst="roundRect">
            <a:avLst>
              <a:gd name="adj" fmla="val 3330"/>
            </a:avLst>
          </a:prstGeom>
          <a:solidFill>
            <a:srgbClr val="DBEAFE"/>
          </a:solidFill>
          <a:ln w="25400">
            <a:solidFill>
              <a:srgbClr val="3B82F6"/>
            </a:solidFill>
            <a:prstDash val="solid"/>
          </a:ln>
        </p:spPr>
        <p:txBody>
          <a:bodyPr/>
          <a:lstStyle/>
          <a:p>
            <a:endParaRPr lang="fr-CI"/>
          </a:p>
        </p:txBody>
      </p:sp>
      <p:sp>
        <p:nvSpPr>
          <p:cNvPr id="38" name="Text 34"/>
          <p:cNvSpPr txBox="1"/>
          <p:nvPr/>
        </p:nvSpPr>
        <p:spPr>
          <a:xfrm>
            <a:off x="9486900" y="3010205"/>
            <a:ext cx="781812" cy="162763"/>
          </a:xfrm>
          <a:prstGeom prst="rect">
            <a:avLst/>
          </a:prstGeom>
          <a:noFill/>
          <a:ln/>
        </p:spPr>
        <p:txBody>
          <a:bodyPr wrap="none" lIns="0" tIns="0" rIns="0" bIns="0" rtlCol="0" anchor="ctr"/>
          <a:lstStyle/>
          <a:p>
            <a:pPr marL="0" indent="0" algn="l">
              <a:buNone/>
            </a:pPr>
            <a:r>
              <a:rPr lang="en-US" sz="900" b="1" kern="0" spc="98" dirty="0">
                <a:solidFill>
                  <a:srgbClr val="1E40AF"/>
                </a:solidFill>
                <a:latin typeface="JetBrains Mono" pitchFamily="34" charset="0"/>
                <a:ea typeface="JetBrains Mono" pitchFamily="34" charset="-122"/>
                <a:cs typeface="JetBrains Mono" pitchFamily="34" charset="-120"/>
              </a:rPr>
              <a:t>NIVEAU 03</a:t>
            </a:r>
            <a:endParaRPr lang="en-US" sz="900" dirty="0"/>
          </a:p>
        </p:txBody>
      </p:sp>
      <p:sp>
        <p:nvSpPr>
          <p:cNvPr id="39" name="Shape 35"/>
          <p:cNvSpPr/>
          <p:nvPr/>
        </p:nvSpPr>
        <p:spPr>
          <a:xfrm>
            <a:off x="12868351" y="3023921"/>
            <a:ext cx="133502" cy="133502"/>
          </a:xfrm>
          <a:prstGeom prst="ellipse">
            <a:avLst/>
          </a:prstGeom>
          <a:solidFill>
            <a:srgbClr val="3B82F6"/>
          </a:solidFill>
          <a:ln w="12700">
            <a:solidFill>
              <a:srgbClr val="FFFFFF">
                <a:alpha val="0"/>
              </a:srgbClr>
            </a:solidFill>
            <a:prstDash val="solid"/>
          </a:ln>
        </p:spPr>
        <p:txBody>
          <a:bodyPr/>
          <a:lstStyle/>
          <a:p>
            <a:endParaRPr lang="fr-CI"/>
          </a:p>
        </p:txBody>
      </p:sp>
      <p:sp>
        <p:nvSpPr>
          <p:cNvPr id="40" name="Text 36"/>
          <p:cNvSpPr txBox="1"/>
          <p:nvPr/>
        </p:nvSpPr>
        <p:spPr>
          <a:xfrm>
            <a:off x="9486900" y="3267151"/>
            <a:ext cx="3514954" cy="419710"/>
          </a:xfrm>
          <a:prstGeom prst="rect">
            <a:avLst/>
          </a:prstGeom>
          <a:noFill/>
          <a:ln/>
        </p:spPr>
        <p:txBody>
          <a:bodyPr wrap="none" lIns="0" tIns="0" rIns="0" bIns="0" rtlCol="0" anchor="ctr"/>
          <a:lstStyle/>
          <a:p>
            <a:pPr marL="0" indent="0" algn="l">
              <a:buNone/>
            </a:pPr>
            <a:r>
              <a:rPr lang="en-US" sz="2400" b="1" dirty="0">
                <a:solidFill>
                  <a:srgbClr val="1E40AF"/>
                </a:solidFill>
                <a:latin typeface="Manrope" pitchFamily="34" charset="0"/>
                <a:ea typeface="Manrope" pitchFamily="34" charset="-122"/>
                <a:cs typeface="Manrope" pitchFamily="34" charset="-120"/>
              </a:rPr>
              <a:t>Moyenne</a:t>
            </a:r>
            <a:endParaRPr lang="en-US" sz="2400" dirty="0"/>
          </a:p>
        </p:txBody>
      </p:sp>
      <p:pic>
        <p:nvPicPr>
          <p:cNvPr id="41" name="Image 2" descr="gen-dedup-571fc41d7840c6eaa57417a324526943.png"/>
          <p:cNvPicPr>
            <a:picLocks noChangeAspect="1"/>
          </p:cNvPicPr>
          <p:nvPr/>
        </p:nvPicPr>
        <p:blipFill>
          <a:blip r:embed="rId4"/>
          <a:srcRect l="-445" r="-445"/>
          <a:stretch/>
        </p:blipFill>
        <p:spPr>
          <a:xfrm>
            <a:off x="9486900" y="3762756"/>
            <a:ext cx="381305" cy="28346"/>
          </a:xfrm>
          <a:prstGeom prst="rect">
            <a:avLst/>
          </a:prstGeom>
        </p:spPr>
      </p:pic>
      <p:sp>
        <p:nvSpPr>
          <p:cNvPr id="42" name="Text 37"/>
          <p:cNvSpPr txBox="1"/>
          <p:nvPr/>
        </p:nvSpPr>
        <p:spPr>
          <a:xfrm>
            <a:off x="9486900" y="3924605"/>
            <a:ext cx="4136746" cy="210312"/>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Gêne fonctionnelle</a:t>
            </a:r>
            <a:r>
              <a:rPr lang="en-US" sz="1000" dirty="0">
                <a:solidFill>
                  <a:srgbClr val="1F2937"/>
                </a:solidFill>
                <a:latin typeface="Manrope" pitchFamily="34" charset="0"/>
                <a:ea typeface="Manrope" pitchFamily="34" charset="-122"/>
                <a:cs typeface="Manrope" pitchFamily="34" charset="-120"/>
              </a:rPr>
              <a:t> sans blocage complet du parcours.</a:t>
            </a:r>
            <a:endParaRPr lang="en-US" sz="1000" dirty="0"/>
          </a:p>
        </p:txBody>
      </p:sp>
      <p:sp>
        <p:nvSpPr>
          <p:cNvPr id="43" name="Shape 38"/>
          <p:cNvSpPr/>
          <p:nvPr/>
        </p:nvSpPr>
        <p:spPr>
          <a:xfrm>
            <a:off x="9486900" y="4302252"/>
            <a:ext cx="3514954" cy="629107"/>
          </a:xfrm>
          <a:prstGeom prst="roundRect">
            <a:avLst>
              <a:gd name="adj" fmla="val 15116"/>
            </a:avLst>
          </a:prstGeom>
          <a:solidFill>
            <a:srgbClr val="FFFFFF"/>
          </a:solidFill>
          <a:ln w="12700">
            <a:solidFill>
              <a:srgbClr val="FFFFFF">
                <a:alpha val="0"/>
              </a:srgbClr>
            </a:solidFill>
            <a:prstDash val="solid"/>
          </a:ln>
        </p:spPr>
        <p:txBody>
          <a:bodyPr/>
          <a:lstStyle/>
          <a:p>
            <a:endParaRPr lang="fr-CI"/>
          </a:p>
        </p:txBody>
      </p:sp>
      <p:sp>
        <p:nvSpPr>
          <p:cNvPr id="44" name="Text 39"/>
          <p:cNvSpPr txBox="1"/>
          <p:nvPr/>
        </p:nvSpPr>
        <p:spPr>
          <a:xfrm>
            <a:off x="9620402" y="4435754"/>
            <a:ext cx="3248863" cy="133502"/>
          </a:xfrm>
          <a:prstGeom prst="rect">
            <a:avLst/>
          </a:prstGeom>
          <a:noFill/>
          <a:ln/>
        </p:spPr>
        <p:txBody>
          <a:bodyPr wrap="none" lIns="0" tIns="0" rIns="0" bIns="0" rtlCol="0" anchor="ctr"/>
          <a:lstStyle/>
          <a:p>
            <a:pPr marL="0" indent="0" algn="l">
              <a:buNone/>
            </a:pPr>
            <a:r>
              <a:rPr lang="en-US" sz="800" b="1" dirty="0">
                <a:solidFill>
                  <a:srgbClr val="1E40AF"/>
                </a:solidFill>
                <a:latin typeface="JetBrains Mono" pitchFamily="34" charset="0"/>
                <a:ea typeface="JetBrains Mono" pitchFamily="34" charset="-122"/>
                <a:cs typeface="JetBrains Mono" pitchFamily="34" charset="-120"/>
              </a:rPr>
              <a:t>DÉCISION</a:t>
            </a:r>
            <a:endParaRPr lang="en-US" sz="800" dirty="0"/>
          </a:p>
        </p:txBody>
      </p:sp>
      <p:sp>
        <p:nvSpPr>
          <p:cNvPr id="45" name="Text 40"/>
          <p:cNvSpPr txBox="1"/>
          <p:nvPr/>
        </p:nvSpPr>
        <p:spPr>
          <a:xfrm>
            <a:off x="9620402" y="4625950"/>
            <a:ext cx="3248863" cy="171907"/>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Correction planifiée.</a:t>
            </a:r>
            <a:endParaRPr lang="en-US" sz="900" dirty="0"/>
          </a:p>
        </p:txBody>
      </p:sp>
      <p:sp>
        <p:nvSpPr>
          <p:cNvPr id="46" name="Shape 41"/>
          <p:cNvSpPr/>
          <p:nvPr/>
        </p:nvSpPr>
        <p:spPr>
          <a:xfrm>
            <a:off x="9486900" y="5064862"/>
            <a:ext cx="3514954" cy="523951"/>
          </a:xfrm>
          <a:prstGeom prst="roundRect">
            <a:avLst>
              <a:gd name="adj" fmla="val 14485"/>
            </a:avLst>
          </a:prstGeom>
          <a:solidFill>
            <a:srgbClr val="1F2937"/>
          </a:solidFill>
          <a:ln w="12700">
            <a:solidFill>
              <a:srgbClr val="FFFFFF">
                <a:alpha val="0"/>
              </a:srgbClr>
            </a:solidFill>
            <a:prstDash val="solid"/>
          </a:ln>
        </p:spPr>
        <p:txBody>
          <a:bodyPr/>
          <a:lstStyle/>
          <a:p>
            <a:endParaRPr lang="fr-CI"/>
          </a:p>
        </p:txBody>
      </p:sp>
      <p:sp>
        <p:nvSpPr>
          <p:cNvPr id="47" name="Text 42"/>
          <p:cNvSpPr txBox="1"/>
          <p:nvPr/>
        </p:nvSpPr>
        <p:spPr>
          <a:xfrm>
            <a:off x="9581998" y="5159959"/>
            <a:ext cx="3324758" cy="124358"/>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EXEMPLES</a:t>
            </a:r>
            <a:endParaRPr lang="en-US" sz="800" dirty="0"/>
          </a:p>
        </p:txBody>
      </p:sp>
      <p:sp>
        <p:nvSpPr>
          <p:cNvPr id="48" name="Text 43"/>
          <p:cNvSpPr txBox="1"/>
          <p:nvPr/>
        </p:nvSpPr>
        <p:spPr>
          <a:xfrm>
            <a:off x="9581998" y="5321808"/>
            <a:ext cx="3937406" cy="171907"/>
          </a:xfrm>
          <a:prstGeom prst="rect">
            <a:avLst/>
          </a:prstGeom>
          <a:noFill/>
          <a:ln/>
        </p:spPr>
        <p:txBody>
          <a:bodyPr wrap="non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Filtre incomplet · estimation imprécise · navigation suboptimale.</a:t>
            </a:r>
            <a:endParaRPr lang="en-US" sz="900" dirty="0"/>
          </a:p>
        </p:txBody>
      </p:sp>
      <p:sp>
        <p:nvSpPr>
          <p:cNvPr id="49" name="Shape 44"/>
          <p:cNvSpPr/>
          <p:nvPr/>
        </p:nvSpPr>
        <p:spPr>
          <a:xfrm>
            <a:off x="13401446" y="2762402"/>
            <a:ext cx="4009644" cy="4381805"/>
          </a:xfrm>
          <a:prstGeom prst="roundRect">
            <a:avLst>
              <a:gd name="adj" fmla="val 3330"/>
            </a:avLst>
          </a:prstGeom>
          <a:solidFill>
            <a:srgbClr val="D1FAE5"/>
          </a:solidFill>
          <a:ln w="25400">
            <a:solidFill>
              <a:srgbClr val="10B981"/>
            </a:solidFill>
            <a:prstDash val="solid"/>
          </a:ln>
        </p:spPr>
        <p:txBody>
          <a:bodyPr/>
          <a:lstStyle/>
          <a:p>
            <a:endParaRPr lang="fr-CI"/>
          </a:p>
        </p:txBody>
      </p:sp>
      <p:sp>
        <p:nvSpPr>
          <p:cNvPr id="50" name="Text 45"/>
          <p:cNvSpPr txBox="1"/>
          <p:nvPr/>
        </p:nvSpPr>
        <p:spPr>
          <a:xfrm>
            <a:off x="13649249" y="3010205"/>
            <a:ext cx="781812" cy="162763"/>
          </a:xfrm>
          <a:prstGeom prst="rect">
            <a:avLst/>
          </a:prstGeom>
          <a:noFill/>
          <a:ln/>
        </p:spPr>
        <p:txBody>
          <a:bodyPr wrap="none" lIns="0" tIns="0" rIns="0" bIns="0" rtlCol="0" anchor="ctr"/>
          <a:lstStyle/>
          <a:p>
            <a:pPr marL="0" indent="0" algn="l">
              <a:buNone/>
            </a:pPr>
            <a:r>
              <a:rPr lang="en-US" sz="900" b="1" kern="0" spc="98" dirty="0">
                <a:solidFill>
                  <a:srgbClr val="065F46"/>
                </a:solidFill>
                <a:latin typeface="JetBrains Mono" pitchFamily="34" charset="0"/>
                <a:ea typeface="JetBrains Mono" pitchFamily="34" charset="-122"/>
                <a:cs typeface="JetBrains Mono" pitchFamily="34" charset="-120"/>
              </a:rPr>
              <a:t>NIVEAU 04</a:t>
            </a:r>
            <a:endParaRPr lang="en-US" sz="900" dirty="0"/>
          </a:p>
        </p:txBody>
      </p:sp>
      <p:sp>
        <p:nvSpPr>
          <p:cNvPr id="51" name="Shape 46"/>
          <p:cNvSpPr/>
          <p:nvPr/>
        </p:nvSpPr>
        <p:spPr>
          <a:xfrm>
            <a:off x="17030700" y="3023921"/>
            <a:ext cx="133502" cy="133502"/>
          </a:xfrm>
          <a:prstGeom prst="ellipse">
            <a:avLst/>
          </a:prstGeom>
          <a:solidFill>
            <a:srgbClr val="10B981"/>
          </a:solidFill>
          <a:ln w="12700">
            <a:solidFill>
              <a:srgbClr val="FFFFFF">
                <a:alpha val="0"/>
              </a:srgbClr>
            </a:solidFill>
            <a:prstDash val="solid"/>
          </a:ln>
        </p:spPr>
        <p:txBody>
          <a:bodyPr/>
          <a:lstStyle/>
          <a:p>
            <a:endParaRPr lang="fr-CI"/>
          </a:p>
        </p:txBody>
      </p:sp>
      <p:sp>
        <p:nvSpPr>
          <p:cNvPr id="52" name="Text 47"/>
          <p:cNvSpPr txBox="1"/>
          <p:nvPr/>
        </p:nvSpPr>
        <p:spPr>
          <a:xfrm>
            <a:off x="13649249" y="3267151"/>
            <a:ext cx="3514954" cy="419710"/>
          </a:xfrm>
          <a:prstGeom prst="rect">
            <a:avLst/>
          </a:prstGeom>
          <a:noFill/>
          <a:ln/>
        </p:spPr>
        <p:txBody>
          <a:bodyPr wrap="none" lIns="0" tIns="0" rIns="0" bIns="0" rtlCol="0" anchor="ctr"/>
          <a:lstStyle/>
          <a:p>
            <a:pPr marL="0" indent="0" algn="l">
              <a:buNone/>
            </a:pPr>
            <a:r>
              <a:rPr lang="en-US" sz="2400" b="1" dirty="0">
                <a:solidFill>
                  <a:srgbClr val="065F46"/>
                </a:solidFill>
                <a:latin typeface="Manrope" pitchFamily="34" charset="0"/>
                <a:ea typeface="Manrope" pitchFamily="34" charset="-122"/>
                <a:cs typeface="Manrope" pitchFamily="34" charset="-120"/>
              </a:rPr>
              <a:t>Mineure</a:t>
            </a:r>
            <a:endParaRPr lang="en-US" sz="2400" dirty="0"/>
          </a:p>
        </p:txBody>
      </p:sp>
      <p:pic>
        <p:nvPicPr>
          <p:cNvPr id="53" name="Image 3" descr="gen-dedup-9e449f238c0f88fd309fc1a9309d147a.png"/>
          <p:cNvPicPr>
            <a:picLocks noChangeAspect="1"/>
          </p:cNvPicPr>
          <p:nvPr/>
        </p:nvPicPr>
        <p:blipFill>
          <a:blip r:embed="rId5"/>
          <a:srcRect l="-445" r="-445"/>
          <a:stretch/>
        </p:blipFill>
        <p:spPr>
          <a:xfrm>
            <a:off x="13649249" y="3762756"/>
            <a:ext cx="381305" cy="28346"/>
          </a:xfrm>
          <a:prstGeom prst="rect">
            <a:avLst/>
          </a:prstGeom>
        </p:spPr>
      </p:pic>
      <p:sp>
        <p:nvSpPr>
          <p:cNvPr id="54" name="Text 48"/>
          <p:cNvSpPr txBox="1"/>
          <p:nvPr/>
        </p:nvSpPr>
        <p:spPr>
          <a:xfrm>
            <a:off x="13649249" y="3924605"/>
            <a:ext cx="3514954" cy="419710"/>
          </a:xfrm>
          <a:prstGeom prst="rect">
            <a:avLst/>
          </a:prstGeom>
          <a:noFill/>
          <a:ln/>
        </p:spPr>
        <p:txBody>
          <a:bodyPr wrap="squar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Affichage, libellé, ergonomie</a:t>
            </a:r>
            <a:r>
              <a:rPr lang="en-US" sz="1000" dirty="0">
                <a:solidFill>
                  <a:srgbClr val="1F2937"/>
                </a:solidFill>
                <a:latin typeface="Manrope" pitchFamily="34" charset="0"/>
                <a:ea typeface="Manrope" pitchFamily="34" charset="-122"/>
                <a:cs typeface="Manrope" pitchFamily="34" charset="-120"/>
              </a:rPr>
              <a:t> — pas d'impact sur le fonctionnement.</a:t>
            </a:r>
            <a:endParaRPr lang="en-US" sz="1000" dirty="0"/>
          </a:p>
        </p:txBody>
      </p:sp>
      <p:sp>
        <p:nvSpPr>
          <p:cNvPr id="55" name="Shape 49"/>
          <p:cNvSpPr/>
          <p:nvPr/>
        </p:nvSpPr>
        <p:spPr>
          <a:xfrm>
            <a:off x="13649249" y="4508906"/>
            <a:ext cx="3514954" cy="629107"/>
          </a:xfrm>
          <a:prstGeom prst="roundRect">
            <a:avLst>
              <a:gd name="adj" fmla="val 15116"/>
            </a:avLst>
          </a:prstGeom>
          <a:solidFill>
            <a:srgbClr val="FFFFFF"/>
          </a:solidFill>
          <a:ln w="12700">
            <a:solidFill>
              <a:srgbClr val="FFFFFF">
                <a:alpha val="0"/>
              </a:srgbClr>
            </a:solidFill>
            <a:prstDash val="solid"/>
          </a:ln>
        </p:spPr>
        <p:txBody>
          <a:bodyPr/>
          <a:lstStyle/>
          <a:p>
            <a:endParaRPr lang="fr-CI"/>
          </a:p>
        </p:txBody>
      </p:sp>
      <p:sp>
        <p:nvSpPr>
          <p:cNvPr id="56" name="Text 50"/>
          <p:cNvSpPr txBox="1"/>
          <p:nvPr/>
        </p:nvSpPr>
        <p:spPr>
          <a:xfrm>
            <a:off x="13782751" y="4642409"/>
            <a:ext cx="3248863" cy="133502"/>
          </a:xfrm>
          <a:prstGeom prst="rect">
            <a:avLst/>
          </a:prstGeom>
          <a:noFill/>
          <a:ln/>
        </p:spPr>
        <p:txBody>
          <a:bodyPr wrap="none" lIns="0" tIns="0" rIns="0" bIns="0" rtlCol="0" anchor="ctr"/>
          <a:lstStyle/>
          <a:p>
            <a:pPr marL="0" indent="0" algn="l">
              <a:buNone/>
            </a:pPr>
            <a:r>
              <a:rPr lang="en-US" sz="800" b="1" dirty="0">
                <a:solidFill>
                  <a:srgbClr val="065F46"/>
                </a:solidFill>
                <a:latin typeface="JetBrains Mono" pitchFamily="34" charset="0"/>
                <a:ea typeface="JetBrains Mono" pitchFamily="34" charset="-122"/>
                <a:cs typeface="JetBrains Mono" pitchFamily="34" charset="-120"/>
              </a:rPr>
              <a:t>DÉCISION</a:t>
            </a:r>
            <a:endParaRPr lang="en-US" sz="800" dirty="0"/>
          </a:p>
        </p:txBody>
      </p:sp>
      <p:sp>
        <p:nvSpPr>
          <p:cNvPr id="57" name="Text 51"/>
          <p:cNvSpPr txBox="1"/>
          <p:nvPr/>
        </p:nvSpPr>
        <p:spPr>
          <a:xfrm>
            <a:off x="13782751" y="4832604"/>
            <a:ext cx="3569818" cy="171907"/>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Correction possible après lancement contrôlé.</a:t>
            </a:r>
            <a:endParaRPr lang="en-US" sz="900" dirty="0"/>
          </a:p>
        </p:txBody>
      </p:sp>
      <p:sp>
        <p:nvSpPr>
          <p:cNvPr id="58" name="Shape 52"/>
          <p:cNvSpPr/>
          <p:nvPr/>
        </p:nvSpPr>
        <p:spPr>
          <a:xfrm>
            <a:off x="13649249" y="5270602"/>
            <a:ext cx="3514954" cy="523951"/>
          </a:xfrm>
          <a:prstGeom prst="roundRect">
            <a:avLst>
              <a:gd name="adj" fmla="val 14485"/>
            </a:avLst>
          </a:prstGeom>
          <a:solidFill>
            <a:srgbClr val="1F2937"/>
          </a:solidFill>
          <a:ln w="12700">
            <a:solidFill>
              <a:srgbClr val="FFFFFF">
                <a:alpha val="0"/>
              </a:srgbClr>
            </a:solidFill>
            <a:prstDash val="solid"/>
          </a:ln>
        </p:spPr>
        <p:txBody>
          <a:bodyPr/>
          <a:lstStyle/>
          <a:p>
            <a:endParaRPr lang="fr-CI"/>
          </a:p>
        </p:txBody>
      </p:sp>
      <p:sp>
        <p:nvSpPr>
          <p:cNvPr id="59" name="Text 53"/>
          <p:cNvSpPr txBox="1"/>
          <p:nvPr/>
        </p:nvSpPr>
        <p:spPr>
          <a:xfrm>
            <a:off x="13744346" y="5366614"/>
            <a:ext cx="3324758" cy="124358"/>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EXEMPLES</a:t>
            </a:r>
            <a:endParaRPr lang="en-US" sz="800" dirty="0"/>
          </a:p>
        </p:txBody>
      </p:sp>
      <p:sp>
        <p:nvSpPr>
          <p:cNvPr id="60" name="Text 54"/>
          <p:cNvSpPr txBox="1"/>
          <p:nvPr/>
        </p:nvSpPr>
        <p:spPr>
          <a:xfrm>
            <a:off x="13744346" y="5528462"/>
            <a:ext cx="3937406" cy="171907"/>
          </a:xfrm>
          <a:prstGeom prst="rect">
            <a:avLst/>
          </a:prstGeom>
          <a:noFill/>
          <a:ln/>
        </p:spPr>
        <p:txBody>
          <a:bodyPr wrap="non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Faute de frappe · couleur incohérente · libellé peu clair.</a:t>
            </a:r>
            <a:endParaRPr lang="en-US" sz="900" dirty="0"/>
          </a:p>
        </p:txBody>
      </p:sp>
      <p:sp>
        <p:nvSpPr>
          <p:cNvPr id="61" name="Shape 55"/>
          <p:cNvSpPr/>
          <p:nvPr/>
        </p:nvSpPr>
        <p:spPr>
          <a:xfrm>
            <a:off x="914400" y="7524598"/>
            <a:ext cx="16497605" cy="2000707"/>
          </a:xfrm>
          <a:prstGeom prst="roundRect">
            <a:avLst>
              <a:gd name="adj" fmla="val 6673"/>
            </a:avLst>
          </a:prstGeom>
          <a:solidFill>
            <a:srgbClr val="1F2937"/>
          </a:solidFill>
          <a:ln w="12700">
            <a:solidFill>
              <a:srgbClr val="FFFFFF">
                <a:alpha val="0"/>
              </a:srgbClr>
            </a:solidFill>
            <a:prstDash val="solid"/>
          </a:ln>
        </p:spPr>
        <p:txBody>
          <a:bodyPr/>
          <a:lstStyle/>
          <a:p>
            <a:endParaRPr lang="fr-CI"/>
          </a:p>
        </p:txBody>
      </p:sp>
      <p:sp>
        <p:nvSpPr>
          <p:cNvPr id="62" name="Text 56"/>
          <p:cNvSpPr txBox="1"/>
          <p:nvPr/>
        </p:nvSpPr>
        <p:spPr>
          <a:xfrm>
            <a:off x="1218895" y="7753198"/>
            <a:ext cx="15906902" cy="152705"/>
          </a:xfrm>
          <a:prstGeom prst="rect">
            <a:avLst/>
          </a:prstGeom>
          <a:noFill/>
          <a:ln/>
        </p:spPr>
        <p:txBody>
          <a:bodyPr wrap="none" lIns="0" tIns="0" rIns="0" bIns="0" rtlCol="0" anchor="ctr"/>
          <a:lstStyle/>
          <a:p>
            <a:pPr marL="0" indent="0" algn="l">
              <a:buNone/>
            </a:pPr>
            <a:r>
              <a:rPr lang="en-US" sz="900" b="1" kern="0" spc="126" dirty="0">
                <a:solidFill>
                  <a:srgbClr val="A78BFA"/>
                </a:solidFill>
                <a:latin typeface="JetBrains Mono" pitchFamily="34" charset="0"/>
                <a:ea typeface="JetBrains Mono" pitchFamily="34" charset="-122"/>
                <a:cs typeface="JetBrains Mono" pitchFamily="34" charset="-120"/>
              </a:rPr>
              <a:t>Règle simple — règle d'or</a:t>
            </a:r>
            <a:endParaRPr lang="en-US" sz="900" dirty="0"/>
          </a:p>
        </p:txBody>
      </p:sp>
      <p:sp>
        <p:nvSpPr>
          <p:cNvPr id="63" name="Text 57"/>
          <p:cNvSpPr txBox="1"/>
          <p:nvPr/>
        </p:nvSpPr>
        <p:spPr>
          <a:xfrm>
            <a:off x="1218895" y="8001000"/>
            <a:ext cx="15906902" cy="314554"/>
          </a:xfrm>
          <a:prstGeom prst="rect">
            <a:avLst/>
          </a:prstGeom>
          <a:noFill/>
          <a:ln/>
        </p:spPr>
        <p:txBody>
          <a:bodyPr wrap="none" lIns="0" tIns="0" rIns="0" bIns="0" rtlCol="0" anchor="ctr"/>
          <a:lstStyle/>
          <a:p>
            <a:pPr marL="0" indent="0" algn="l">
              <a:buNone/>
            </a:pPr>
            <a:r>
              <a:rPr lang="en-US" sz="1800" b="1" dirty="0">
                <a:solidFill>
                  <a:srgbClr val="FFFFFF"/>
                </a:solidFill>
                <a:latin typeface="Manrope" pitchFamily="34" charset="0"/>
                <a:ea typeface="Manrope" pitchFamily="34" charset="-122"/>
                <a:cs typeface="Manrope" pitchFamily="34" charset="-120"/>
              </a:rPr>
              <a:t>Anomalies critiques : 0 toléré · Majeures : arbitrage direction · Moyennes &amp; mineures : backlog post-lancement.</a:t>
            </a:r>
            <a:endParaRPr lang="en-US" sz="1800" dirty="0"/>
          </a:p>
        </p:txBody>
      </p:sp>
      <p:sp>
        <p:nvSpPr>
          <p:cNvPr id="64" name="Text 58"/>
          <p:cNvSpPr txBox="1"/>
          <p:nvPr/>
        </p:nvSpPr>
        <p:spPr>
          <a:xfrm>
            <a:off x="1218895" y="8449056"/>
            <a:ext cx="15906902" cy="219456"/>
          </a:xfrm>
          <a:prstGeom prst="rect">
            <a:avLst/>
          </a:prstGeom>
          <a:noFill/>
          <a:ln/>
        </p:spPr>
        <p:txBody>
          <a:bodyPr wrap="none" lIns="0" tIns="0" rIns="0" bIns="0" rtlCol="0" anchor="ctr"/>
          <a:lstStyle/>
          <a:p>
            <a:pPr marL="0" indent="0" algn="l">
              <a:buNone/>
            </a:pPr>
            <a:r>
              <a:rPr lang="en-US" sz="1100" dirty="0">
                <a:solidFill>
                  <a:srgbClr val="C4B5FD"/>
                </a:solidFill>
                <a:latin typeface="Manrope" pitchFamily="34" charset="0"/>
                <a:ea typeface="Manrope" pitchFamily="34" charset="-122"/>
                <a:cs typeface="Manrope" pitchFamily="34" charset="-120"/>
              </a:rPr>
              <a:t>Une seule anomalie de niveau "Critique" en suspens suffit à reporter le Go production. Le procès-verbal du J+4 documente chaque arbitrage avec son justificatif technique et métier.</a:t>
            </a:r>
            <a:endParaRPr lang="en-US" sz="1100" dirty="0"/>
          </a:p>
        </p:txBody>
      </p:sp>
      <p:sp>
        <p:nvSpPr>
          <p:cNvPr id="65" name="Shape 59"/>
          <p:cNvSpPr/>
          <p:nvPr/>
        </p:nvSpPr>
        <p:spPr>
          <a:xfrm>
            <a:off x="0" y="9791395"/>
            <a:ext cx="18288000" cy="495605"/>
          </a:xfrm>
          <a:prstGeom prst="rect">
            <a:avLst/>
          </a:prstGeom>
          <a:solidFill>
            <a:srgbClr val="FFFFFF"/>
          </a:solidFill>
          <a:ln/>
        </p:spPr>
        <p:txBody>
          <a:bodyPr/>
          <a:lstStyle/>
          <a:p>
            <a:endParaRPr lang="fr-CI"/>
          </a:p>
        </p:txBody>
      </p:sp>
      <p:sp>
        <p:nvSpPr>
          <p:cNvPr id="66" name="Shape 60"/>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7" name="Text 61"/>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68" name="Text 62"/>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52 / 59</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5662758" y="256946"/>
            <a:ext cx="2260397"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§27 Registre des anomalies</a:t>
            </a:r>
            <a:endParaRPr lang="en-US" sz="900" dirty="0"/>
          </a:p>
        </p:txBody>
      </p:sp>
      <p:sp>
        <p:nvSpPr>
          <p:cNvPr id="10" name="Text 8"/>
          <p:cNvSpPr txBox="1"/>
          <p:nvPr/>
        </p:nvSpPr>
        <p:spPr>
          <a:xfrm>
            <a:off x="914400" y="1205179"/>
            <a:ext cx="2876702"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27. Registre des anomalies</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6679570"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15 champs obligatoires par anomalie — gabarit standard.</a:t>
            </a:r>
            <a:endParaRPr lang="en-US" sz="3900" dirty="0"/>
          </a:p>
        </p:txBody>
      </p:sp>
      <p:sp>
        <p:nvSpPr>
          <p:cNvPr id="13" name="Text 11"/>
          <p:cNvSpPr txBox="1"/>
          <p:nvPr/>
        </p:nvSpPr>
        <p:spPr>
          <a:xfrm>
            <a:off x="914400" y="2457907"/>
            <a:ext cx="16193110" cy="257861"/>
          </a:xfrm>
          <a:prstGeom prst="rect">
            <a:avLst/>
          </a:prstGeom>
          <a:noFill/>
          <a:ln/>
        </p:spPr>
        <p:txBody>
          <a:bodyPr wrap="none" lIns="0" tIns="0" rIns="0" bIns="0" rtlCol="0" anchor="ctr"/>
          <a:lstStyle/>
          <a:p>
            <a:pPr marL="0" indent="0" algn="l">
              <a:buNone/>
            </a:pPr>
            <a:r>
              <a:rPr lang="en-US" sz="1300" dirty="0">
                <a:solidFill>
                  <a:srgbClr val="4B5563"/>
                </a:solidFill>
                <a:latin typeface="Manrope" pitchFamily="34" charset="0"/>
                <a:ea typeface="Manrope" pitchFamily="34" charset="-122"/>
                <a:cs typeface="Manrope" pitchFamily="34" charset="-120"/>
              </a:rPr>
              <a:t>Le registre est tenu à jour en temps réel pendant toutes les phases de recette et de test réel. Chaque entrée est traçable et liée à un use case.</a:t>
            </a:r>
            <a:endParaRPr lang="en-US" sz="1300" dirty="0"/>
          </a:p>
        </p:txBody>
      </p:sp>
      <p:sp>
        <p:nvSpPr>
          <p:cNvPr id="14" name="Shape 12"/>
          <p:cNvSpPr/>
          <p:nvPr/>
        </p:nvSpPr>
        <p:spPr>
          <a:xfrm>
            <a:off x="914400" y="3047695"/>
            <a:ext cx="10477195" cy="6476695"/>
          </a:xfrm>
          <a:prstGeom prst="roundRect">
            <a:avLst>
              <a:gd name="adj" fmla="val 2061"/>
            </a:avLst>
          </a:prstGeom>
          <a:solidFill>
            <a:srgbClr val="FFFFFF"/>
          </a:solidFill>
          <a:ln w="25400">
            <a:solidFill>
              <a:srgbClr val="1F2937"/>
            </a:solidFill>
            <a:prstDash val="solid"/>
          </a:ln>
        </p:spPr>
        <p:txBody>
          <a:bodyPr/>
          <a:lstStyle/>
          <a:p>
            <a:endParaRPr lang="fr-CI"/>
          </a:p>
        </p:txBody>
      </p:sp>
      <p:sp>
        <p:nvSpPr>
          <p:cNvPr id="15" name="Shape 13"/>
          <p:cNvSpPr/>
          <p:nvPr/>
        </p:nvSpPr>
        <p:spPr>
          <a:xfrm>
            <a:off x="1218895" y="3675888"/>
            <a:ext cx="9905695" cy="19202"/>
          </a:xfrm>
          <a:prstGeom prst="rect">
            <a:avLst/>
          </a:prstGeom>
          <a:solidFill>
            <a:srgbClr val="1F2937"/>
          </a:solidFill>
          <a:ln w="12700">
            <a:solidFill>
              <a:srgbClr val="1F2937">
                <a:alpha val="0"/>
              </a:srgbClr>
            </a:solidFill>
            <a:prstDash val="solid"/>
          </a:ln>
        </p:spPr>
        <p:txBody>
          <a:bodyPr/>
          <a:lstStyle/>
          <a:p>
            <a:endParaRPr lang="fr-CI"/>
          </a:p>
        </p:txBody>
      </p:sp>
      <p:sp>
        <p:nvSpPr>
          <p:cNvPr id="16" name="Text 14"/>
          <p:cNvSpPr txBox="1"/>
          <p:nvPr/>
        </p:nvSpPr>
        <p:spPr>
          <a:xfrm>
            <a:off x="1218895" y="3310128"/>
            <a:ext cx="829361" cy="219456"/>
          </a:xfrm>
          <a:prstGeom prst="rect">
            <a:avLst/>
          </a:prstGeom>
          <a:noFill/>
          <a:ln/>
        </p:spPr>
        <p:txBody>
          <a:bodyPr wrap="none" lIns="0" tIns="0" rIns="0" bIns="0" rtlCol="0" anchor="ctr"/>
          <a:lstStyle/>
          <a:p>
            <a:pPr marL="0" indent="0" algn="l">
              <a:buNone/>
            </a:pPr>
            <a:r>
              <a:rPr lang="en-US" sz="1300" b="1" dirty="0">
                <a:solidFill>
                  <a:srgbClr val="6D28D9"/>
                </a:solidFill>
                <a:latin typeface="JetBrains Mono" pitchFamily="34" charset="0"/>
                <a:ea typeface="JetBrains Mono" pitchFamily="34" charset="-122"/>
                <a:cs typeface="JetBrains Mono" pitchFamily="34" charset="-120"/>
              </a:rPr>
              <a:t>ANO-XXXX</a:t>
            </a:r>
            <a:endParaRPr lang="en-US" sz="1300" dirty="0"/>
          </a:p>
        </p:txBody>
      </p:sp>
      <p:sp>
        <p:nvSpPr>
          <p:cNvPr id="17" name="Text 15"/>
          <p:cNvSpPr txBox="1"/>
          <p:nvPr/>
        </p:nvSpPr>
        <p:spPr>
          <a:xfrm>
            <a:off x="2175358" y="3290926"/>
            <a:ext cx="2007108" cy="257861"/>
          </a:xfrm>
          <a:prstGeom prst="rect">
            <a:avLst/>
          </a:prstGeom>
          <a:noFill/>
          <a:ln/>
        </p:spPr>
        <p:txBody>
          <a:bodyPr wrap="none" lIns="0" tIns="0" rIns="0" bIns="0" rtlCol="0" anchor="ctr"/>
          <a:lstStyle/>
          <a:p>
            <a:pPr marL="0" indent="0" algn="l">
              <a:buNone/>
            </a:pPr>
            <a:r>
              <a:rPr lang="en-US" sz="1500" b="1" dirty="0">
                <a:solidFill>
                  <a:srgbClr val="1F2937"/>
                </a:solidFill>
                <a:latin typeface="Manrope" pitchFamily="34" charset="0"/>
                <a:ea typeface="Manrope" pitchFamily="34" charset="-122"/>
                <a:cs typeface="Manrope" pitchFamily="34" charset="-120"/>
              </a:rPr>
              <a:t>Titre de l'anomalie</a:t>
            </a:r>
            <a:endParaRPr lang="en-US" sz="1500" dirty="0"/>
          </a:p>
        </p:txBody>
      </p:sp>
      <p:sp>
        <p:nvSpPr>
          <p:cNvPr id="18" name="Shape 16"/>
          <p:cNvSpPr/>
          <p:nvPr/>
        </p:nvSpPr>
        <p:spPr>
          <a:xfrm>
            <a:off x="10394899" y="3276295"/>
            <a:ext cx="733349" cy="286207"/>
          </a:xfrm>
          <a:prstGeom prst="roundRect">
            <a:avLst>
              <a:gd name="adj" fmla="val 49840"/>
            </a:avLst>
          </a:prstGeom>
          <a:solidFill>
            <a:srgbClr val="FEE2E2"/>
          </a:solidFill>
          <a:ln w="12700">
            <a:solidFill>
              <a:srgbClr val="FFFFFF">
                <a:alpha val="0"/>
              </a:srgbClr>
            </a:solidFill>
            <a:prstDash val="solid"/>
          </a:ln>
        </p:spPr>
        <p:txBody>
          <a:bodyPr/>
          <a:lstStyle/>
          <a:p>
            <a:endParaRPr lang="fr-CI"/>
          </a:p>
        </p:txBody>
      </p:sp>
      <p:sp>
        <p:nvSpPr>
          <p:cNvPr id="19" name="Text 17"/>
          <p:cNvSpPr/>
          <p:nvPr/>
        </p:nvSpPr>
        <p:spPr>
          <a:xfrm>
            <a:off x="10394899" y="3276295"/>
            <a:ext cx="7342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991B1B"/>
                </a:solidFill>
                <a:latin typeface="Manrope" pitchFamily="34" charset="0"/>
                <a:ea typeface="Manrope" pitchFamily="34" charset="-122"/>
                <a:cs typeface="Manrope" pitchFamily="34" charset="-120"/>
              </a:rPr>
              <a:t>Critique</a:t>
            </a:r>
            <a:endParaRPr lang="en-US" sz="900" dirty="0"/>
          </a:p>
        </p:txBody>
      </p:sp>
      <p:sp>
        <p:nvSpPr>
          <p:cNvPr id="20" name="Text 18"/>
          <p:cNvSpPr txBox="1"/>
          <p:nvPr/>
        </p:nvSpPr>
        <p:spPr>
          <a:xfrm>
            <a:off x="1218895" y="3866998"/>
            <a:ext cx="3152851"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01 · RÉFÉRENCE</a:t>
            </a:r>
            <a:endParaRPr lang="en-US" sz="800" dirty="0"/>
          </a:p>
        </p:txBody>
      </p:sp>
      <p:sp>
        <p:nvSpPr>
          <p:cNvPr id="21" name="Text 19"/>
          <p:cNvSpPr txBox="1"/>
          <p:nvPr/>
        </p:nvSpPr>
        <p:spPr>
          <a:xfrm>
            <a:off x="1218895" y="4019702"/>
            <a:ext cx="3152851"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Code unique ANO-XXXX</a:t>
            </a:r>
            <a:endParaRPr lang="en-US" sz="900" dirty="0"/>
          </a:p>
        </p:txBody>
      </p:sp>
      <p:sp>
        <p:nvSpPr>
          <p:cNvPr id="22" name="Text 20"/>
          <p:cNvSpPr txBox="1"/>
          <p:nvPr/>
        </p:nvSpPr>
        <p:spPr>
          <a:xfrm>
            <a:off x="4597603" y="3866998"/>
            <a:ext cx="3152851"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02 · DATE</a:t>
            </a:r>
            <a:endParaRPr lang="en-US" sz="800" dirty="0"/>
          </a:p>
        </p:txBody>
      </p:sp>
      <p:sp>
        <p:nvSpPr>
          <p:cNvPr id="23" name="Text 21"/>
          <p:cNvSpPr txBox="1"/>
          <p:nvPr/>
        </p:nvSpPr>
        <p:spPr>
          <a:xfrm>
            <a:off x="4597603" y="4019702"/>
            <a:ext cx="3152851"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JJ/MM/AAAA</a:t>
            </a:r>
            <a:endParaRPr lang="en-US" sz="900" dirty="0"/>
          </a:p>
        </p:txBody>
      </p:sp>
      <p:sp>
        <p:nvSpPr>
          <p:cNvPr id="24" name="Text 22"/>
          <p:cNvSpPr txBox="1"/>
          <p:nvPr/>
        </p:nvSpPr>
        <p:spPr>
          <a:xfrm>
            <a:off x="7975397" y="3866998"/>
            <a:ext cx="3152851"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03 · HEURE</a:t>
            </a:r>
            <a:endParaRPr lang="en-US" sz="800" dirty="0"/>
          </a:p>
        </p:txBody>
      </p:sp>
      <p:sp>
        <p:nvSpPr>
          <p:cNvPr id="25" name="Text 23"/>
          <p:cNvSpPr txBox="1"/>
          <p:nvPr/>
        </p:nvSpPr>
        <p:spPr>
          <a:xfrm>
            <a:off x="7975397" y="4019702"/>
            <a:ext cx="3152851"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HH:MM</a:t>
            </a:r>
            <a:endParaRPr lang="en-US" sz="900" dirty="0"/>
          </a:p>
        </p:txBody>
      </p:sp>
      <p:sp>
        <p:nvSpPr>
          <p:cNvPr id="26" name="Text 24"/>
          <p:cNvSpPr txBox="1"/>
          <p:nvPr/>
        </p:nvSpPr>
        <p:spPr>
          <a:xfrm>
            <a:off x="1218895" y="4324198"/>
            <a:ext cx="3152851"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04 · MODULE</a:t>
            </a:r>
            <a:endParaRPr lang="en-US" sz="800" dirty="0"/>
          </a:p>
        </p:txBody>
      </p:sp>
      <p:sp>
        <p:nvSpPr>
          <p:cNvPr id="27" name="Text 25"/>
          <p:cNvSpPr txBox="1"/>
          <p:nvPr/>
        </p:nvSpPr>
        <p:spPr>
          <a:xfrm>
            <a:off x="1218895" y="4476902"/>
            <a:ext cx="3152851"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Auth · Transport · Livraison · Wallet…</a:t>
            </a:r>
            <a:endParaRPr lang="en-US" sz="900" dirty="0"/>
          </a:p>
        </p:txBody>
      </p:sp>
      <p:sp>
        <p:nvSpPr>
          <p:cNvPr id="28" name="Text 26"/>
          <p:cNvSpPr txBox="1"/>
          <p:nvPr/>
        </p:nvSpPr>
        <p:spPr>
          <a:xfrm>
            <a:off x="4597603" y="4324198"/>
            <a:ext cx="3152851"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05 · PROFIL CONCERNÉ</a:t>
            </a:r>
            <a:endParaRPr lang="en-US" sz="800" dirty="0"/>
          </a:p>
        </p:txBody>
      </p:sp>
      <p:sp>
        <p:nvSpPr>
          <p:cNvPr id="29" name="Text 27"/>
          <p:cNvSpPr txBox="1"/>
          <p:nvPr/>
        </p:nvSpPr>
        <p:spPr>
          <a:xfrm>
            <a:off x="4597603" y="4476902"/>
            <a:ext cx="3152851"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Client, chauffeur, livreur, central…</a:t>
            </a:r>
            <a:endParaRPr lang="en-US" sz="900" dirty="0"/>
          </a:p>
        </p:txBody>
      </p:sp>
      <p:sp>
        <p:nvSpPr>
          <p:cNvPr id="30" name="Text 28"/>
          <p:cNvSpPr txBox="1"/>
          <p:nvPr/>
        </p:nvSpPr>
        <p:spPr>
          <a:xfrm>
            <a:off x="7975397" y="4324198"/>
            <a:ext cx="3152851"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06 · SERVICE CONCERNÉ</a:t>
            </a:r>
            <a:endParaRPr lang="en-US" sz="800" dirty="0"/>
          </a:p>
        </p:txBody>
      </p:sp>
      <p:sp>
        <p:nvSpPr>
          <p:cNvPr id="31" name="Text 29"/>
          <p:cNvSpPr txBox="1"/>
          <p:nvPr/>
        </p:nvSpPr>
        <p:spPr>
          <a:xfrm>
            <a:off x="7975397" y="4476902"/>
            <a:ext cx="3152851"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Transport, livraison, fret, location…</a:t>
            </a:r>
            <a:endParaRPr lang="en-US" sz="900" dirty="0"/>
          </a:p>
        </p:txBody>
      </p:sp>
      <p:sp>
        <p:nvSpPr>
          <p:cNvPr id="32" name="Text 30"/>
          <p:cNvSpPr txBox="1"/>
          <p:nvPr/>
        </p:nvSpPr>
        <p:spPr>
          <a:xfrm>
            <a:off x="1218895" y="4781398"/>
            <a:ext cx="9906610"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07 · DESCRIPTION</a:t>
            </a:r>
            <a:endParaRPr lang="en-US" sz="800" dirty="0"/>
          </a:p>
        </p:txBody>
      </p:sp>
      <p:sp>
        <p:nvSpPr>
          <p:cNvPr id="33" name="Shape 31"/>
          <p:cNvSpPr/>
          <p:nvPr/>
        </p:nvSpPr>
        <p:spPr>
          <a:xfrm>
            <a:off x="1218895" y="4934102"/>
            <a:ext cx="9905695" cy="323698"/>
          </a:xfrm>
          <a:prstGeom prst="roundRect">
            <a:avLst>
              <a:gd name="adj" fmla="val 17797"/>
            </a:avLst>
          </a:prstGeom>
          <a:solidFill>
            <a:srgbClr val="FAFAFC"/>
          </a:solidFill>
          <a:ln/>
        </p:spPr>
        <p:txBody>
          <a:bodyPr/>
          <a:lstStyle/>
          <a:p>
            <a:endParaRPr lang="fr-CI"/>
          </a:p>
        </p:txBody>
      </p:sp>
      <p:sp>
        <p:nvSpPr>
          <p:cNvPr id="34" name="Shape 32"/>
          <p:cNvSpPr/>
          <p:nvPr/>
        </p:nvSpPr>
        <p:spPr>
          <a:xfrm>
            <a:off x="1218895" y="4934102"/>
            <a:ext cx="28346" cy="323698"/>
          </a:xfrm>
          <a:prstGeom prst="roundRect">
            <a:avLst>
              <a:gd name="adj" fmla="val 203229"/>
            </a:avLst>
          </a:prstGeom>
          <a:solidFill>
            <a:srgbClr val="6D28D9"/>
          </a:solidFill>
          <a:ln w="12700">
            <a:solidFill>
              <a:srgbClr val="6D28D9">
                <a:alpha val="0"/>
              </a:srgbClr>
            </a:solidFill>
            <a:prstDash val="solid"/>
          </a:ln>
        </p:spPr>
        <p:txBody>
          <a:bodyPr/>
          <a:lstStyle/>
          <a:p>
            <a:endParaRPr lang="fr-CI"/>
          </a:p>
        </p:txBody>
      </p:sp>
      <p:sp>
        <p:nvSpPr>
          <p:cNvPr id="35" name="Text 33"/>
          <p:cNvSpPr txBox="1"/>
          <p:nvPr/>
        </p:nvSpPr>
        <p:spPr>
          <a:xfrm>
            <a:off x="1218895" y="4934102"/>
            <a:ext cx="9906610" cy="324612"/>
          </a:xfrm>
          <a:prstGeom prst="rect">
            <a:avLst/>
          </a:prstGeom>
          <a:solidFill>
            <a:srgbClr val="FFFFFF">
              <a:alpha val="0"/>
            </a:srgbClr>
          </a:solidFill>
          <a:ln>
            <a:solidFill>
              <a:srgbClr val="FFFFFF">
                <a:alpha val="0"/>
              </a:srgbClr>
            </a:solidFill>
          </a:ln>
        </p:spPr>
        <p:txBody>
          <a:bodyPr wrap="none" lIns="101600" tIns="76200" rIns="101600" bIns="7620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Description claire du comportement observé vs attendu.</a:t>
            </a:r>
            <a:endParaRPr lang="en-US" sz="900" dirty="0"/>
          </a:p>
        </p:txBody>
      </p:sp>
      <p:sp>
        <p:nvSpPr>
          <p:cNvPr id="36" name="Text 34"/>
          <p:cNvSpPr txBox="1"/>
          <p:nvPr/>
        </p:nvSpPr>
        <p:spPr>
          <a:xfrm>
            <a:off x="1218895" y="5391302"/>
            <a:ext cx="9906610"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08 · ÉTAPES DE REPRODUCTION</a:t>
            </a:r>
            <a:endParaRPr lang="en-US" sz="800" dirty="0"/>
          </a:p>
        </p:txBody>
      </p:sp>
      <p:sp>
        <p:nvSpPr>
          <p:cNvPr id="37" name="Shape 35"/>
          <p:cNvSpPr/>
          <p:nvPr/>
        </p:nvSpPr>
        <p:spPr>
          <a:xfrm>
            <a:off x="1218895" y="5544007"/>
            <a:ext cx="9905695" cy="323698"/>
          </a:xfrm>
          <a:prstGeom prst="roundRect">
            <a:avLst>
              <a:gd name="adj" fmla="val 17797"/>
            </a:avLst>
          </a:prstGeom>
          <a:solidFill>
            <a:srgbClr val="FAFAFC"/>
          </a:solidFill>
          <a:ln w="12700">
            <a:solidFill>
              <a:srgbClr val="FFFFFF">
                <a:alpha val="0"/>
              </a:srgbClr>
            </a:solidFill>
            <a:prstDash val="solid"/>
          </a:ln>
        </p:spPr>
        <p:txBody>
          <a:bodyPr/>
          <a:lstStyle/>
          <a:p>
            <a:endParaRPr lang="fr-CI"/>
          </a:p>
        </p:txBody>
      </p:sp>
      <p:sp>
        <p:nvSpPr>
          <p:cNvPr id="38" name="Text 36"/>
          <p:cNvSpPr txBox="1"/>
          <p:nvPr/>
        </p:nvSpPr>
        <p:spPr>
          <a:xfrm>
            <a:off x="1218895" y="5544007"/>
            <a:ext cx="9906610" cy="324612"/>
          </a:xfrm>
          <a:prstGeom prst="rect">
            <a:avLst/>
          </a:prstGeom>
          <a:solidFill>
            <a:srgbClr val="FFFFFF">
              <a:alpha val="0"/>
            </a:srgbClr>
          </a:solidFill>
          <a:ln>
            <a:solidFill>
              <a:srgbClr val="FFFFFF">
                <a:alpha val="0"/>
              </a:srgbClr>
            </a:solidFill>
          </a:ln>
        </p:spPr>
        <p:txBody>
          <a:bodyPr wrap="none" lIns="101600" tIns="76200" rIns="101600" bIns="7620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1. … 2. … 3. … (étapes numérotées et reproductibles).</a:t>
            </a:r>
            <a:endParaRPr lang="en-US" sz="900" dirty="0"/>
          </a:p>
        </p:txBody>
      </p:sp>
      <p:sp>
        <p:nvSpPr>
          <p:cNvPr id="39" name="Text 37"/>
          <p:cNvSpPr txBox="1"/>
          <p:nvPr/>
        </p:nvSpPr>
        <p:spPr>
          <a:xfrm>
            <a:off x="1218895" y="6001207"/>
            <a:ext cx="3152851"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09 · CAPTURE ÉCRAN</a:t>
            </a:r>
            <a:endParaRPr lang="en-US" sz="800" dirty="0"/>
          </a:p>
        </p:txBody>
      </p:sp>
      <p:sp>
        <p:nvSpPr>
          <p:cNvPr id="40" name="Text 38"/>
          <p:cNvSpPr txBox="1"/>
          <p:nvPr/>
        </p:nvSpPr>
        <p:spPr>
          <a:xfrm>
            <a:off x="1218895" y="6152998"/>
            <a:ext cx="3152851"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Référence du fichier joint</a:t>
            </a:r>
            <a:endParaRPr lang="en-US" sz="900" dirty="0"/>
          </a:p>
        </p:txBody>
      </p:sp>
      <p:sp>
        <p:nvSpPr>
          <p:cNvPr id="41" name="Text 39"/>
          <p:cNvSpPr txBox="1"/>
          <p:nvPr/>
        </p:nvSpPr>
        <p:spPr>
          <a:xfrm>
            <a:off x="4597603" y="6001207"/>
            <a:ext cx="3152851"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10 · GRAVITÉ</a:t>
            </a:r>
            <a:endParaRPr lang="en-US" sz="800" dirty="0"/>
          </a:p>
        </p:txBody>
      </p:sp>
      <p:sp>
        <p:nvSpPr>
          <p:cNvPr id="42" name="Text 40"/>
          <p:cNvSpPr txBox="1"/>
          <p:nvPr/>
        </p:nvSpPr>
        <p:spPr>
          <a:xfrm>
            <a:off x="4597603" y="6152998"/>
            <a:ext cx="3152851"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Critique · Majeure · Moyenne · Mineure</a:t>
            </a:r>
            <a:endParaRPr lang="en-US" sz="900" dirty="0"/>
          </a:p>
        </p:txBody>
      </p:sp>
      <p:sp>
        <p:nvSpPr>
          <p:cNvPr id="43" name="Text 41"/>
          <p:cNvSpPr txBox="1"/>
          <p:nvPr/>
        </p:nvSpPr>
        <p:spPr>
          <a:xfrm>
            <a:off x="7975397" y="6001207"/>
            <a:ext cx="3152851"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11 · RESPONSABLE</a:t>
            </a:r>
            <a:endParaRPr lang="en-US" sz="800" dirty="0"/>
          </a:p>
        </p:txBody>
      </p:sp>
      <p:sp>
        <p:nvSpPr>
          <p:cNvPr id="44" name="Text 42"/>
          <p:cNvSpPr txBox="1"/>
          <p:nvPr/>
        </p:nvSpPr>
        <p:spPr>
          <a:xfrm>
            <a:off x="7975397" y="6152998"/>
            <a:ext cx="3152851"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Nom de l'attributaire</a:t>
            </a:r>
            <a:endParaRPr lang="en-US" sz="900" dirty="0"/>
          </a:p>
        </p:txBody>
      </p:sp>
      <p:sp>
        <p:nvSpPr>
          <p:cNvPr id="45" name="Text 43"/>
          <p:cNvSpPr txBox="1"/>
          <p:nvPr/>
        </p:nvSpPr>
        <p:spPr>
          <a:xfrm>
            <a:off x="1218895" y="6458407"/>
            <a:ext cx="3152851"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12 · STATUT</a:t>
            </a:r>
            <a:endParaRPr lang="en-US" sz="800" dirty="0"/>
          </a:p>
        </p:txBody>
      </p:sp>
      <p:sp>
        <p:nvSpPr>
          <p:cNvPr id="46" name="Text 44"/>
          <p:cNvSpPr txBox="1"/>
          <p:nvPr/>
        </p:nvSpPr>
        <p:spPr>
          <a:xfrm>
            <a:off x="1218895" y="6610198"/>
            <a:ext cx="3383280"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Ouvert · En cours · Corrigé · Vérifié · Clos</a:t>
            </a:r>
            <a:endParaRPr lang="en-US" sz="900" dirty="0"/>
          </a:p>
        </p:txBody>
      </p:sp>
      <p:sp>
        <p:nvSpPr>
          <p:cNvPr id="47" name="Text 45"/>
          <p:cNvSpPr txBox="1"/>
          <p:nvPr/>
        </p:nvSpPr>
        <p:spPr>
          <a:xfrm>
            <a:off x="4597603" y="6458407"/>
            <a:ext cx="3152851"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13 · DATE DE CORRECTION</a:t>
            </a:r>
            <a:endParaRPr lang="en-US" sz="800" dirty="0"/>
          </a:p>
        </p:txBody>
      </p:sp>
      <p:sp>
        <p:nvSpPr>
          <p:cNvPr id="48" name="Text 46"/>
          <p:cNvSpPr txBox="1"/>
          <p:nvPr/>
        </p:nvSpPr>
        <p:spPr>
          <a:xfrm>
            <a:off x="4597603" y="6610198"/>
            <a:ext cx="3152851"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JJ/MM/AAAA</a:t>
            </a:r>
            <a:endParaRPr lang="en-US" sz="900" dirty="0"/>
          </a:p>
        </p:txBody>
      </p:sp>
      <p:sp>
        <p:nvSpPr>
          <p:cNvPr id="49" name="Text 47"/>
          <p:cNvSpPr txBox="1"/>
          <p:nvPr/>
        </p:nvSpPr>
        <p:spPr>
          <a:xfrm>
            <a:off x="7975397" y="6458407"/>
            <a:ext cx="3152851"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14 · RÉSULTAT DU RETEST</a:t>
            </a:r>
            <a:endParaRPr lang="en-US" sz="800" dirty="0"/>
          </a:p>
        </p:txBody>
      </p:sp>
      <p:sp>
        <p:nvSpPr>
          <p:cNvPr id="50" name="Text 48"/>
          <p:cNvSpPr txBox="1"/>
          <p:nvPr/>
        </p:nvSpPr>
        <p:spPr>
          <a:xfrm>
            <a:off x="7975397" y="6610198"/>
            <a:ext cx="3152851"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OK · KO · Reporté</a:t>
            </a:r>
            <a:endParaRPr lang="en-US" sz="900" dirty="0"/>
          </a:p>
        </p:txBody>
      </p:sp>
      <p:sp>
        <p:nvSpPr>
          <p:cNvPr id="51" name="Text 49"/>
          <p:cNvSpPr txBox="1"/>
          <p:nvPr/>
        </p:nvSpPr>
        <p:spPr>
          <a:xfrm>
            <a:off x="1218895" y="6915607"/>
            <a:ext cx="9906610"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15 · DÉCISION FINALE</a:t>
            </a:r>
            <a:endParaRPr lang="en-US" sz="800" dirty="0"/>
          </a:p>
        </p:txBody>
      </p:sp>
      <p:sp>
        <p:nvSpPr>
          <p:cNvPr id="52" name="Shape 50"/>
          <p:cNvSpPr/>
          <p:nvPr/>
        </p:nvSpPr>
        <p:spPr>
          <a:xfrm>
            <a:off x="1218895" y="7067398"/>
            <a:ext cx="9905695" cy="323698"/>
          </a:xfrm>
          <a:prstGeom prst="roundRect">
            <a:avLst>
              <a:gd name="adj" fmla="val 17797"/>
            </a:avLst>
          </a:prstGeom>
          <a:solidFill>
            <a:srgbClr val="F5F3FF"/>
          </a:solidFill>
          <a:ln/>
        </p:spPr>
        <p:txBody>
          <a:bodyPr/>
          <a:lstStyle/>
          <a:p>
            <a:endParaRPr lang="fr-CI"/>
          </a:p>
        </p:txBody>
      </p:sp>
      <p:sp>
        <p:nvSpPr>
          <p:cNvPr id="53" name="Shape 51"/>
          <p:cNvSpPr/>
          <p:nvPr/>
        </p:nvSpPr>
        <p:spPr>
          <a:xfrm>
            <a:off x="1218895" y="7067398"/>
            <a:ext cx="28346" cy="323698"/>
          </a:xfrm>
          <a:prstGeom prst="roundRect">
            <a:avLst>
              <a:gd name="adj" fmla="val 203229"/>
            </a:avLst>
          </a:prstGeom>
          <a:solidFill>
            <a:srgbClr val="6D28D9"/>
          </a:solidFill>
          <a:ln w="12700">
            <a:solidFill>
              <a:srgbClr val="6D28D9">
                <a:alpha val="0"/>
              </a:srgbClr>
            </a:solidFill>
            <a:prstDash val="solid"/>
          </a:ln>
        </p:spPr>
        <p:txBody>
          <a:bodyPr/>
          <a:lstStyle/>
          <a:p>
            <a:endParaRPr lang="fr-CI"/>
          </a:p>
        </p:txBody>
      </p:sp>
      <p:sp>
        <p:nvSpPr>
          <p:cNvPr id="54" name="Text 52"/>
          <p:cNvSpPr txBox="1"/>
          <p:nvPr/>
        </p:nvSpPr>
        <p:spPr>
          <a:xfrm>
            <a:off x="1218895" y="7067398"/>
            <a:ext cx="9906610" cy="324612"/>
          </a:xfrm>
          <a:prstGeom prst="rect">
            <a:avLst/>
          </a:prstGeom>
          <a:solidFill>
            <a:srgbClr val="FFFFFF">
              <a:alpha val="0"/>
            </a:srgbClr>
          </a:solidFill>
          <a:ln>
            <a:solidFill>
              <a:srgbClr val="FFFFFF">
                <a:alpha val="0"/>
              </a:srgbClr>
            </a:solidFill>
          </a:ln>
        </p:spPr>
        <p:txBody>
          <a:bodyPr wrap="none" lIns="101600" tIns="76200" rIns="101600" bIns="7620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Validée pour production · Reportée · Accepté en l'état (avec justification).</a:t>
            </a:r>
            <a:endParaRPr lang="en-US" sz="900" dirty="0"/>
          </a:p>
        </p:txBody>
      </p:sp>
      <p:sp>
        <p:nvSpPr>
          <p:cNvPr id="55" name="Shape 53"/>
          <p:cNvSpPr/>
          <p:nvPr/>
        </p:nvSpPr>
        <p:spPr>
          <a:xfrm>
            <a:off x="11697005" y="3047695"/>
            <a:ext cx="5715000" cy="6476695"/>
          </a:xfrm>
          <a:prstGeom prst="roundRect">
            <a:avLst>
              <a:gd name="adj" fmla="val 2336"/>
            </a:avLst>
          </a:prstGeom>
          <a:solidFill>
            <a:srgbClr val="1F2937"/>
          </a:solidFill>
          <a:ln w="12700">
            <a:solidFill>
              <a:srgbClr val="FFFFFF">
                <a:alpha val="0"/>
              </a:srgbClr>
            </a:solidFill>
            <a:prstDash val="solid"/>
          </a:ln>
        </p:spPr>
        <p:txBody>
          <a:bodyPr/>
          <a:lstStyle/>
          <a:p>
            <a:endParaRPr lang="fr-CI"/>
          </a:p>
        </p:txBody>
      </p:sp>
      <p:sp>
        <p:nvSpPr>
          <p:cNvPr id="56" name="Text 54"/>
          <p:cNvSpPr txBox="1"/>
          <p:nvPr/>
        </p:nvSpPr>
        <p:spPr>
          <a:xfrm>
            <a:off x="12001500" y="3276295"/>
            <a:ext cx="5143500" cy="152705"/>
          </a:xfrm>
          <a:prstGeom prst="rect">
            <a:avLst/>
          </a:prstGeom>
          <a:noFill/>
          <a:ln/>
        </p:spPr>
        <p:txBody>
          <a:bodyPr wrap="none" lIns="0" tIns="0" rIns="0" bIns="0" rtlCol="0" anchor="ctr"/>
          <a:lstStyle/>
          <a:p>
            <a:pPr marL="0" indent="0" algn="l">
              <a:buNone/>
            </a:pPr>
            <a:r>
              <a:rPr lang="en-US" sz="900" b="1" kern="0" spc="126" dirty="0">
                <a:solidFill>
                  <a:srgbClr val="A78BFA"/>
                </a:solidFill>
                <a:latin typeface="JetBrains Mono" pitchFamily="34" charset="0"/>
                <a:ea typeface="JetBrains Mono" pitchFamily="34" charset="-122"/>
                <a:cs typeface="JetBrains Mono" pitchFamily="34" charset="-120"/>
              </a:rPr>
              <a:t>Sortie attendue</a:t>
            </a:r>
            <a:endParaRPr lang="en-US" sz="900" dirty="0"/>
          </a:p>
        </p:txBody>
      </p:sp>
      <p:sp>
        <p:nvSpPr>
          <p:cNvPr id="57" name="Text 55"/>
          <p:cNvSpPr txBox="1"/>
          <p:nvPr/>
        </p:nvSpPr>
        <p:spPr>
          <a:xfrm>
            <a:off x="12001500" y="3504895"/>
            <a:ext cx="5143500" cy="286207"/>
          </a:xfrm>
          <a:prstGeom prst="rect">
            <a:avLst/>
          </a:prstGeom>
          <a:noFill/>
          <a:ln/>
        </p:spPr>
        <p:txBody>
          <a:bodyPr wrap="none" lIns="0" tIns="0" rIns="0" bIns="0" rtlCol="0" anchor="ctr"/>
          <a:lstStyle/>
          <a:p>
            <a:pPr marL="0" indent="0" algn="l">
              <a:buNone/>
            </a:pPr>
            <a:r>
              <a:rPr lang="en-US" sz="1600" b="1" dirty="0">
                <a:solidFill>
                  <a:srgbClr val="FFFFFF"/>
                </a:solidFill>
                <a:latin typeface="Manrope" pitchFamily="34" charset="0"/>
                <a:ea typeface="Manrope" pitchFamily="34" charset="-122"/>
                <a:cs typeface="Manrope" pitchFamily="34" charset="-120"/>
              </a:rPr>
              <a:t>Tableau de bord anomalies</a:t>
            </a:r>
            <a:endParaRPr lang="en-US" sz="1600" dirty="0"/>
          </a:p>
        </p:txBody>
      </p:sp>
      <p:sp>
        <p:nvSpPr>
          <p:cNvPr id="58" name="Shape 56"/>
          <p:cNvSpPr/>
          <p:nvPr/>
        </p:nvSpPr>
        <p:spPr>
          <a:xfrm>
            <a:off x="12001500" y="4000500"/>
            <a:ext cx="2514600" cy="952805"/>
          </a:xfrm>
          <a:prstGeom prst="roundRect">
            <a:avLst>
              <a:gd name="adj" fmla="val 9981"/>
            </a:avLst>
          </a:prstGeom>
          <a:solidFill>
            <a:srgbClr val="374151"/>
          </a:solidFill>
          <a:ln w="12700">
            <a:solidFill>
              <a:srgbClr val="FFFFFF">
                <a:alpha val="0"/>
              </a:srgbClr>
            </a:solidFill>
            <a:prstDash val="solid"/>
          </a:ln>
        </p:spPr>
        <p:txBody>
          <a:bodyPr/>
          <a:lstStyle/>
          <a:p>
            <a:endParaRPr lang="fr-CI"/>
          </a:p>
        </p:txBody>
      </p:sp>
      <p:sp>
        <p:nvSpPr>
          <p:cNvPr id="59" name="Text 57"/>
          <p:cNvSpPr txBox="1"/>
          <p:nvPr/>
        </p:nvSpPr>
        <p:spPr>
          <a:xfrm>
            <a:off x="12135002" y="4134002"/>
            <a:ext cx="2248510"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PAR GRAVITÉ</a:t>
            </a:r>
            <a:endParaRPr lang="en-US" sz="800" dirty="0"/>
          </a:p>
        </p:txBody>
      </p:sp>
      <p:sp>
        <p:nvSpPr>
          <p:cNvPr id="60" name="Text 58"/>
          <p:cNvSpPr txBox="1"/>
          <p:nvPr/>
        </p:nvSpPr>
        <p:spPr>
          <a:xfrm>
            <a:off x="12135002" y="4324198"/>
            <a:ext cx="2248510" cy="372161"/>
          </a:xfrm>
          <a:prstGeom prst="rect">
            <a:avLst/>
          </a:prstGeom>
          <a:noFill/>
          <a:ln/>
        </p:spPr>
        <p:txBody>
          <a:bodyPr wrap="squar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Distribution Critique / Majeure / Moyenne / Mineure</a:t>
            </a:r>
            <a:endParaRPr lang="en-US" sz="900" dirty="0"/>
          </a:p>
        </p:txBody>
      </p:sp>
      <p:sp>
        <p:nvSpPr>
          <p:cNvPr id="61" name="Shape 59"/>
          <p:cNvSpPr/>
          <p:nvPr/>
        </p:nvSpPr>
        <p:spPr>
          <a:xfrm>
            <a:off x="14630400" y="4000500"/>
            <a:ext cx="2514600" cy="952805"/>
          </a:xfrm>
          <a:prstGeom prst="roundRect">
            <a:avLst>
              <a:gd name="adj" fmla="val 9981"/>
            </a:avLst>
          </a:prstGeom>
          <a:solidFill>
            <a:srgbClr val="374151"/>
          </a:solidFill>
          <a:ln w="12700">
            <a:solidFill>
              <a:srgbClr val="FFFFFF">
                <a:alpha val="0"/>
              </a:srgbClr>
            </a:solidFill>
            <a:prstDash val="solid"/>
          </a:ln>
        </p:spPr>
        <p:txBody>
          <a:bodyPr/>
          <a:lstStyle/>
          <a:p>
            <a:endParaRPr lang="fr-CI"/>
          </a:p>
        </p:txBody>
      </p:sp>
      <p:sp>
        <p:nvSpPr>
          <p:cNvPr id="62" name="Text 60"/>
          <p:cNvSpPr txBox="1"/>
          <p:nvPr/>
        </p:nvSpPr>
        <p:spPr>
          <a:xfrm>
            <a:off x="14763902" y="4134002"/>
            <a:ext cx="2248510"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PAR MODULE</a:t>
            </a:r>
            <a:endParaRPr lang="en-US" sz="800" dirty="0"/>
          </a:p>
        </p:txBody>
      </p:sp>
      <p:sp>
        <p:nvSpPr>
          <p:cNvPr id="63" name="Text 61"/>
          <p:cNvSpPr txBox="1"/>
          <p:nvPr/>
        </p:nvSpPr>
        <p:spPr>
          <a:xfrm>
            <a:off x="14763902" y="4324198"/>
            <a:ext cx="2675534" cy="191110"/>
          </a:xfrm>
          <a:prstGeom prst="rect">
            <a:avLst/>
          </a:prstGeom>
          <a:noFill/>
          <a:ln/>
        </p:spPr>
        <p:txBody>
          <a:bodyPr wrap="non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Identifier les modules les plus impactés</a:t>
            </a:r>
            <a:endParaRPr lang="en-US" sz="900" dirty="0"/>
          </a:p>
        </p:txBody>
      </p:sp>
      <p:sp>
        <p:nvSpPr>
          <p:cNvPr id="64" name="Shape 62"/>
          <p:cNvSpPr/>
          <p:nvPr/>
        </p:nvSpPr>
        <p:spPr>
          <a:xfrm>
            <a:off x="12001500" y="5067605"/>
            <a:ext cx="2514600" cy="771754"/>
          </a:xfrm>
          <a:prstGeom prst="roundRect">
            <a:avLst>
              <a:gd name="adj" fmla="val 12322"/>
            </a:avLst>
          </a:prstGeom>
          <a:solidFill>
            <a:srgbClr val="374151"/>
          </a:solidFill>
          <a:ln w="12700">
            <a:solidFill>
              <a:srgbClr val="FFFFFF">
                <a:alpha val="0"/>
              </a:srgbClr>
            </a:solidFill>
            <a:prstDash val="solid"/>
          </a:ln>
        </p:spPr>
        <p:txBody>
          <a:bodyPr/>
          <a:lstStyle/>
          <a:p>
            <a:endParaRPr lang="fr-CI"/>
          </a:p>
        </p:txBody>
      </p:sp>
      <p:sp>
        <p:nvSpPr>
          <p:cNvPr id="65" name="Text 63"/>
          <p:cNvSpPr txBox="1"/>
          <p:nvPr/>
        </p:nvSpPr>
        <p:spPr>
          <a:xfrm>
            <a:off x="12135002" y="5201107"/>
            <a:ext cx="2248510"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PAR STATUT</a:t>
            </a:r>
            <a:endParaRPr lang="en-US" sz="800" dirty="0"/>
          </a:p>
        </p:txBody>
      </p:sp>
      <p:sp>
        <p:nvSpPr>
          <p:cNvPr id="66" name="Text 64"/>
          <p:cNvSpPr txBox="1"/>
          <p:nvPr/>
        </p:nvSpPr>
        <p:spPr>
          <a:xfrm>
            <a:off x="12135002" y="5391302"/>
            <a:ext cx="2616098" cy="191110"/>
          </a:xfrm>
          <a:prstGeom prst="rect">
            <a:avLst/>
          </a:prstGeom>
          <a:noFill/>
          <a:ln/>
        </p:spPr>
        <p:txBody>
          <a:bodyPr wrap="non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Ouvert · en cours · corrigé · clos</a:t>
            </a:r>
            <a:endParaRPr lang="en-US" sz="900" dirty="0"/>
          </a:p>
        </p:txBody>
      </p:sp>
      <p:sp>
        <p:nvSpPr>
          <p:cNvPr id="67" name="Shape 65"/>
          <p:cNvSpPr/>
          <p:nvPr/>
        </p:nvSpPr>
        <p:spPr>
          <a:xfrm>
            <a:off x="14630400" y="5067605"/>
            <a:ext cx="2514600" cy="771754"/>
          </a:xfrm>
          <a:prstGeom prst="roundRect">
            <a:avLst>
              <a:gd name="adj" fmla="val 12322"/>
            </a:avLst>
          </a:prstGeom>
          <a:solidFill>
            <a:srgbClr val="374151"/>
          </a:solidFill>
          <a:ln w="12700">
            <a:solidFill>
              <a:srgbClr val="FFFFFF">
                <a:alpha val="0"/>
              </a:srgbClr>
            </a:solidFill>
            <a:prstDash val="solid"/>
          </a:ln>
        </p:spPr>
        <p:txBody>
          <a:bodyPr/>
          <a:lstStyle/>
          <a:p>
            <a:endParaRPr lang="fr-CI"/>
          </a:p>
        </p:txBody>
      </p:sp>
      <p:sp>
        <p:nvSpPr>
          <p:cNvPr id="68" name="Text 66"/>
          <p:cNvSpPr txBox="1"/>
          <p:nvPr/>
        </p:nvSpPr>
        <p:spPr>
          <a:xfrm>
            <a:off x="14763902" y="5201107"/>
            <a:ext cx="2248510"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SLA CORRECTION</a:t>
            </a:r>
            <a:endParaRPr lang="en-US" sz="800" dirty="0"/>
          </a:p>
        </p:txBody>
      </p:sp>
      <p:sp>
        <p:nvSpPr>
          <p:cNvPr id="69" name="Text 67"/>
          <p:cNvSpPr txBox="1"/>
          <p:nvPr/>
        </p:nvSpPr>
        <p:spPr>
          <a:xfrm>
            <a:off x="14763902" y="5391302"/>
            <a:ext cx="2675534" cy="191110"/>
          </a:xfrm>
          <a:prstGeom prst="rect">
            <a:avLst/>
          </a:prstGeom>
          <a:noFill/>
          <a:ln/>
        </p:spPr>
        <p:txBody>
          <a:bodyPr wrap="non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Temps moyen de résolution par gravité</a:t>
            </a:r>
            <a:endParaRPr lang="en-US" sz="900" dirty="0"/>
          </a:p>
        </p:txBody>
      </p:sp>
      <p:sp>
        <p:nvSpPr>
          <p:cNvPr id="70" name="Shape 68"/>
          <p:cNvSpPr/>
          <p:nvPr/>
        </p:nvSpPr>
        <p:spPr>
          <a:xfrm>
            <a:off x="12001500" y="6062472"/>
            <a:ext cx="5143500" cy="1162202"/>
          </a:xfrm>
          <a:prstGeom prst="roundRect">
            <a:avLst>
              <a:gd name="adj" fmla="val 8183"/>
            </a:avLst>
          </a:prstGeom>
          <a:solidFill>
            <a:srgbClr val="4C1D95"/>
          </a:solidFill>
          <a:ln w="12700">
            <a:solidFill>
              <a:srgbClr val="FFFFFF">
                <a:alpha val="0"/>
              </a:srgbClr>
            </a:solidFill>
            <a:prstDash val="solid"/>
          </a:ln>
        </p:spPr>
        <p:txBody>
          <a:bodyPr/>
          <a:lstStyle/>
          <a:p>
            <a:endParaRPr lang="fr-CI"/>
          </a:p>
        </p:txBody>
      </p:sp>
      <p:sp>
        <p:nvSpPr>
          <p:cNvPr id="71" name="Text 69"/>
          <p:cNvSpPr txBox="1"/>
          <p:nvPr/>
        </p:nvSpPr>
        <p:spPr>
          <a:xfrm>
            <a:off x="12173407" y="6234379"/>
            <a:ext cx="4800600" cy="133502"/>
          </a:xfrm>
          <a:prstGeom prst="rect">
            <a:avLst/>
          </a:prstGeom>
          <a:noFill/>
          <a:ln/>
        </p:spPr>
        <p:txBody>
          <a:bodyPr wrap="none" lIns="0" tIns="0" rIns="0" bIns="0" rtlCol="0" anchor="ctr"/>
          <a:lstStyle/>
          <a:p>
            <a:pPr marL="0" indent="0" algn="l">
              <a:buNone/>
            </a:pPr>
            <a:r>
              <a:rPr lang="en-US" sz="800" b="1" kern="0" spc="83" dirty="0">
                <a:solidFill>
                  <a:srgbClr val="C4B5FD"/>
                </a:solidFill>
                <a:latin typeface="JetBrains Mono" pitchFamily="34" charset="0"/>
                <a:ea typeface="JetBrains Mono" pitchFamily="34" charset="-122"/>
                <a:cs typeface="JetBrains Mono" pitchFamily="34" charset="-120"/>
              </a:rPr>
              <a:t>CONDITION DE GO PRODUCTION</a:t>
            </a:r>
            <a:endParaRPr lang="en-US" sz="800" dirty="0"/>
          </a:p>
        </p:txBody>
      </p:sp>
      <p:sp>
        <p:nvSpPr>
          <p:cNvPr id="72" name="Text 70"/>
          <p:cNvSpPr txBox="1"/>
          <p:nvPr/>
        </p:nvSpPr>
        <p:spPr>
          <a:xfrm>
            <a:off x="12173407" y="6443777"/>
            <a:ext cx="4800600" cy="457200"/>
          </a:xfrm>
          <a:prstGeom prst="rect">
            <a:avLst/>
          </a:prstGeom>
          <a:noFill/>
          <a:ln/>
        </p:spPr>
        <p:txBody>
          <a:bodyPr wrap="square" lIns="0" tIns="0" rIns="0" bIns="0" rtlCol="0" anchor="ctr"/>
          <a:lstStyle/>
          <a:p>
            <a:pPr marL="0" indent="0" algn="l">
              <a:buNone/>
            </a:pPr>
            <a:r>
              <a:rPr lang="en-US" sz="1200" b="1" dirty="0">
                <a:solidFill>
                  <a:srgbClr val="FFFFFF"/>
                </a:solidFill>
                <a:latin typeface="Manrope" pitchFamily="34" charset="0"/>
                <a:ea typeface="Manrope" pitchFamily="34" charset="-122"/>
                <a:cs typeface="Manrope" pitchFamily="34" charset="-120"/>
              </a:rPr>
              <a:t>Toutes les anomalies Critiques doivent être en statut "Vérifié" ou "Clos" avec retest OK.</a:t>
            </a:r>
            <a:endParaRPr lang="en-US" sz="1200" dirty="0"/>
          </a:p>
        </p:txBody>
      </p:sp>
      <p:sp>
        <p:nvSpPr>
          <p:cNvPr id="73" name="Shape 71"/>
          <p:cNvSpPr/>
          <p:nvPr/>
        </p:nvSpPr>
        <p:spPr>
          <a:xfrm>
            <a:off x="0" y="9791395"/>
            <a:ext cx="18288000" cy="495605"/>
          </a:xfrm>
          <a:prstGeom prst="rect">
            <a:avLst/>
          </a:prstGeom>
          <a:solidFill>
            <a:srgbClr val="FFFFFF"/>
          </a:solidFill>
          <a:ln/>
        </p:spPr>
        <p:txBody>
          <a:bodyPr/>
          <a:lstStyle/>
          <a:p>
            <a:endParaRPr lang="fr-CI"/>
          </a:p>
        </p:txBody>
      </p:sp>
      <p:sp>
        <p:nvSpPr>
          <p:cNvPr id="74" name="Shape 72"/>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75" name="Text 73"/>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76" name="Text 74"/>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53 / 59</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5628925" y="256946"/>
            <a:ext cx="2430475"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Partie XI — §28-30 Migration</a:t>
            </a:r>
            <a:endParaRPr lang="en-US" sz="900" dirty="0"/>
          </a:p>
        </p:txBody>
      </p:sp>
      <p:sp>
        <p:nvSpPr>
          <p:cNvPr id="10" name="Text 8"/>
          <p:cNvSpPr txBox="1"/>
          <p:nvPr/>
        </p:nvSpPr>
        <p:spPr>
          <a:xfrm>
            <a:off x="914400" y="1205179"/>
            <a:ext cx="4077310"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28-30. Plan de migration en production</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8479110"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6 étapes — de l'audit des données jusqu'au contrôle post-migration.</a:t>
            </a:r>
            <a:endParaRPr lang="en-US" sz="3900" dirty="0"/>
          </a:p>
        </p:txBody>
      </p:sp>
      <p:sp>
        <p:nvSpPr>
          <p:cNvPr id="13" name="Text 11"/>
          <p:cNvSpPr txBox="1"/>
          <p:nvPr/>
        </p:nvSpPr>
        <p:spPr>
          <a:xfrm>
            <a:off x="914400" y="2457907"/>
            <a:ext cx="16878910" cy="257861"/>
          </a:xfrm>
          <a:prstGeom prst="rect">
            <a:avLst/>
          </a:prstGeom>
          <a:noFill/>
          <a:ln/>
        </p:spPr>
        <p:txBody>
          <a:bodyPr wrap="none" lIns="0" tIns="0" rIns="0" bIns="0" rtlCol="0" anchor="ctr"/>
          <a:lstStyle/>
          <a:p>
            <a:pPr marL="0" indent="0" algn="l">
              <a:buNone/>
            </a:pPr>
            <a:r>
              <a:rPr lang="en-US" sz="1300" dirty="0">
                <a:solidFill>
                  <a:srgbClr val="4B5563"/>
                </a:solidFill>
                <a:latin typeface="Manrope" pitchFamily="34" charset="0"/>
                <a:ea typeface="Manrope" pitchFamily="34" charset="-122"/>
                <a:cs typeface="Manrope" pitchFamily="34" charset="-120"/>
              </a:rPr>
              <a:t>Objectif : transférer les données de la version actuelle vers la nouvelle </a:t>
            </a:r>
            <a:r>
              <a:rPr lang="en-US" sz="1300" b="1" dirty="0">
                <a:solidFill>
                  <a:srgbClr val="4B5563"/>
                </a:solidFill>
                <a:latin typeface="Manrope" pitchFamily="34" charset="0"/>
                <a:ea typeface="Manrope" pitchFamily="34" charset="-122"/>
                <a:cs typeface="Manrope" pitchFamily="34" charset="-120"/>
              </a:rPr>
              <a:t>sans perte, sans corruption, sans doublon</a:t>
            </a:r>
            <a:r>
              <a:rPr lang="en-US" sz="1300" dirty="0">
                <a:solidFill>
                  <a:srgbClr val="4B5563"/>
                </a:solidFill>
                <a:latin typeface="Manrope" pitchFamily="34" charset="0"/>
                <a:ea typeface="Manrope" pitchFamily="34" charset="-122"/>
                <a:cs typeface="Manrope" pitchFamily="34" charset="-120"/>
              </a:rPr>
              <a:t> et sans impact majeur sur les utilisateurs déjà inscrits.</a:t>
            </a:r>
            <a:endParaRPr lang="en-US" sz="1300" dirty="0"/>
          </a:p>
        </p:txBody>
      </p:sp>
      <p:pic>
        <p:nvPicPr>
          <p:cNvPr id="14" name="Image 0" descr="gen-dedup-330c3e2186ad349cb81658f73eb74703.jpg"/>
          <p:cNvPicPr>
            <a:picLocks noChangeAspect="1"/>
          </p:cNvPicPr>
          <p:nvPr/>
        </p:nvPicPr>
        <p:blipFill>
          <a:blip r:embed="rId2"/>
          <a:srcRect l="-93261" r="-93261"/>
          <a:stretch/>
        </p:blipFill>
        <p:spPr>
          <a:xfrm>
            <a:off x="914400" y="3143707"/>
            <a:ext cx="16497605" cy="3238805"/>
          </a:xfrm>
          <a:prstGeom prst="rect">
            <a:avLst/>
          </a:prstGeom>
        </p:spPr>
      </p:pic>
      <p:sp>
        <p:nvSpPr>
          <p:cNvPr id="15" name="Shape 12"/>
          <p:cNvSpPr/>
          <p:nvPr/>
        </p:nvSpPr>
        <p:spPr>
          <a:xfrm>
            <a:off x="914400" y="6667805"/>
            <a:ext cx="2657246" cy="1666951"/>
          </a:xfrm>
          <a:prstGeom prst="roundRect">
            <a:avLst>
              <a:gd name="adj" fmla="val 8009"/>
            </a:avLst>
          </a:prstGeom>
          <a:solidFill>
            <a:srgbClr val="F5F4FB"/>
          </a:solidFill>
          <a:ln w="12700">
            <a:solidFill>
              <a:srgbClr val="E5E7EB"/>
            </a:solidFill>
            <a:prstDash val="solid"/>
          </a:ln>
        </p:spPr>
        <p:txBody>
          <a:bodyPr/>
          <a:lstStyle/>
          <a:p>
            <a:endParaRPr lang="fr-CI"/>
          </a:p>
        </p:txBody>
      </p:sp>
      <p:sp>
        <p:nvSpPr>
          <p:cNvPr id="16" name="Shape 13"/>
          <p:cNvSpPr/>
          <p:nvPr/>
        </p:nvSpPr>
        <p:spPr>
          <a:xfrm>
            <a:off x="1095451" y="6848856"/>
            <a:ext cx="342900" cy="342900"/>
          </a:xfrm>
          <a:prstGeom prst="roundRect">
            <a:avLst>
              <a:gd name="adj" fmla="val 27733"/>
            </a:avLst>
          </a:prstGeom>
          <a:solidFill>
            <a:srgbClr val="6D28D9"/>
          </a:solidFill>
          <a:ln w="12700">
            <a:solidFill>
              <a:srgbClr val="FFFFFF">
                <a:alpha val="0"/>
              </a:srgbClr>
            </a:solidFill>
            <a:prstDash val="solid"/>
          </a:ln>
        </p:spPr>
        <p:txBody>
          <a:bodyPr/>
          <a:lstStyle/>
          <a:p>
            <a:endParaRPr lang="fr-CI"/>
          </a:p>
        </p:txBody>
      </p:sp>
      <p:sp>
        <p:nvSpPr>
          <p:cNvPr id="17" name="Text 14"/>
          <p:cNvSpPr txBox="1"/>
          <p:nvPr/>
        </p:nvSpPr>
        <p:spPr>
          <a:xfrm>
            <a:off x="1095451" y="6848856"/>
            <a:ext cx="342900" cy="34290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JetBrains Mono" pitchFamily="34" charset="0"/>
                <a:ea typeface="JetBrains Mono" pitchFamily="34" charset="-122"/>
                <a:cs typeface="JetBrains Mono" pitchFamily="34" charset="-120"/>
              </a:rPr>
              <a:t>01</a:t>
            </a:r>
            <a:endParaRPr lang="en-US" sz="1000" dirty="0"/>
          </a:p>
        </p:txBody>
      </p:sp>
      <p:sp>
        <p:nvSpPr>
          <p:cNvPr id="18" name="Text 15"/>
          <p:cNvSpPr txBox="1"/>
          <p:nvPr/>
        </p:nvSpPr>
        <p:spPr>
          <a:xfrm>
            <a:off x="1095451" y="7306056"/>
            <a:ext cx="2296058" cy="200254"/>
          </a:xfrm>
          <a:prstGeom prst="rect">
            <a:avLst/>
          </a:prstGeom>
          <a:noFill/>
          <a:ln/>
        </p:spPr>
        <p:txBody>
          <a:bodyPr wrap="none" lIns="0" tIns="0" rIns="0" bIns="0" rtlCol="0" anchor="ctr"/>
          <a:lstStyle/>
          <a:p>
            <a:pPr marL="0" indent="0" algn="l">
              <a:buNone/>
            </a:pPr>
            <a:r>
              <a:rPr lang="en-US" sz="1100" b="1" dirty="0">
                <a:solidFill>
                  <a:srgbClr val="1F2937"/>
                </a:solidFill>
                <a:latin typeface="Manrope" pitchFamily="34" charset="0"/>
                <a:ea typeface="Manrope" pitchFamily="34" charset="-122"/>
                <a:cs typeface="Manrope" pitchFamily="34" charset="-120"/>
              </a:rPr>
              <a:t>Audit données existantes</a:t>
            </a:r>
            <a:endParaRPr lang="en-US" sz="1100" dirty="0"/>
          </a:p>
        </p:txBody>
      </p:sp>
      <p:sp>
        <p:nvSpPr>
          <p:cNvPr id="19" name="Text 16"/>
          <p:cNvSpPr txBox="1"/>
          <p:nvPr/>
        </p:nvSpPr>
        <p:spPr>
          <a:xfrm>
            <a:off x="1095451" y="7543800"/>
            <a:ext cx="2296058" cy="609905"/>
          </a:xfrm>
          <a:prstGeom prst="rect">
            <a:avLst/>
          </a:prstGeom>
          <a:noFill/>
          <a:ln/>
        </p:spPr>
        <p:txBody>
          <a:bodyPr wrap="square" lIns="0" tIns="0" rIns="0" bIns="0" rtlCol="0" anchor="ctr"/>
          <a:lstStyle/>
          <a:p>
            <a:pPr marL="0" indent="0" algn="l">
              <a:buNone/>
            </a:pPr>
            <a:r>
              <a:rPr lang="en-US" sz="800" dirty="0">
                <a:solidFill>
                  <a:srgbClr val="6B7280"/>
                </a:solidFill>
                <a:latin typeface="Manrope" pitchFamily="34" charset="0"/>
                <a:ea typeface="Manrope" pitchFamily="34" charset="-122"/>
                <a:cs typeface="Manrope" pitchFamily="34" charset="-120"/>
              </a:rPr>
              <a:t>Comptage clients, chauffeurs, livreurs, partenaires, franchises, véhicules, wallets, transactions. Détection doublons, comptes incomplets, soldes incohérents.</a:t>
            </a:r>
            <a:endParaRPr lang="en-US" sz="800" dirty="0"/>
          </a:p>
        </p:txBody>
      </p:sp>
      <p:sp>
        <p:nvSpPr>
          <p:cNvPr id="20" name="Shape 17"/>
          <p:cNvSpPr/>
          <p:nvPr/>
        </p:nvSpPr>
        <p:spPr>
          <a:xfrm>
            <a:off x="3683203" y="6667805"/>
            <a:ext cx="2657246" cy="1666951"/>
          </a:xfrm>
          <a:prstGeom prst="roundRect">
            <a:avLst>
              <a:gd name="adj" fmla="val 8009"/>
            </a:avLst>
          </a:prstGeom>
          <a:solidFill>
            <a:srgbClr val="F5F4FB"/>
          </a:solidFill>
          <a:ln w="12700">
            <a:solidFill>
              <a:srgbClr val="E5E7EB"/>
            </a:solidFill>
            <a:prstDash val="solid"/>
          </a:ln>
        </p:spPr>
        <p:txBody>
          <a:bodyPr/>
          <a:lstStyle/>
          <a:p>
            <a:endParaRPr lang="fr-CI"/>
          </a:p>
        </p:txBody>
      </p:sp>
      <p:sp>
        <p:nvSpPr>
          <p:cNvPr id="21" name="Shape 18"/>
          <p:cNvSpPr/>
          <p:nvPr/>
        </p:nvSpPr>
        <p:spPr>
          <a:xfrm>
            <a:off x="3864254" y="6848856"/>
            <a:ext cx="342900" cy="342900"/>
          </a:xfrm>
          <a:prstGeom prst="roundRect">
            <a:avLst>
              <a:gd name="adj" fmla="val 27733"/>
            </a:avLst>
          </a:prstGeom>
          <a:solidFill>
            <a:srgbClr val="6D28D9"/>
          </a:solidFill>
          <a:ln w="12700">
            <a:solidFill>
              <a:srgbClr val="FFFFFF">
                <a:alpha val="0"/>
              </a:srgbClr>
            </a:solidFill>
            <a:prstDash val="solid"/>
          </a:ln>
        </p:spPr>
        <p:txBody>
          <a:bodyPr/>
          <a:lstStyle/>
          <a:p>
            <a:endParaRPr lang="fr-CI"/>
          </a:p>
        </p:txBody>
      </p:sp>
      <p:sp>
        <p:nvSpPr>
          <p:cNvPr id="22" name="Text 19"/>
          <p:cNvSpPr txBox="1"/>
          <p:nvPr/>
        </p:nvSpPr>
        <p:spPr>
          <a:xfrm>
            <a:off x="3864254" y="6848856"/>
            <a:ext cx="342900" cy="34290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JetBrains Mono" pitchFamily="34" charset="0"/>
                <a:ea typeface="JetBrains Mono" pitchFamily="34" charset="-122"/>
                <a:cs typeface="JetBrains Mono" pitchFamily="34" charset="-120"/>
              </a:rPr>
              <a:t>02</a:t>
            </a:r>
            <a:endParaRPr lang="en-US" sz="1000" dirty="0"/>
          </a:p>
        </p:txBody>
      </p:sp>
      <p:sp>
        <p:nvSpPr>
          <p:cNvPr id="23" name="Text 20"/>
          <p:cNvSpPr txBox="1"/>
          <p:nvPr/>
        </p:nvSpPr>
        <p:spPr>
          <a:xfrm>
            <a:off x="3864254" y="7306056"/>
            <a:ext cx="2296058" cy="200254"/>
          </a:xfrm>
          <a:prstGeom prst="rect">
            <a:avLst/>
          </a:prstGeom>
          <a:noFill/>
          <a:ln/>
        </p:spPr>
        <p:txBody>
          <a:bodyPr wrap="none" lIns="0" tIns="0" rIns="0" bIns="0" rtlCol="0" anchor="ctr"/>
          <a:lstStyle/>
          <a:p>
            <a:pPr marL="0" indent="0" algn="l">
              <a:buNone/>
            </a:pPr>
            <a:r>
              <a:rPr lang="en-US" sz="1100" b="1" dirty="0">
                <a:solidFill>
                  <a:srgbClr val="1F2937"/>
                </a:solidFill>
                <a:latin typeface="Manrope" pitchFamily="34" charset="0"/>
                <a:ea typeface="Manrope" pitchFamily="34" charset="-122"/>
                <a:cs typeface="Manrope" pitchFamily="34" charset="-120"/>
              </a:rPr>
              <a:t>Mapping des données</a:t>
            </a:r>
            <a:endParaRPr lang="en-US" sz="1100" dirty="0"/>
          </a:p>
        </p:txBody>
      </p:sp>
      <p:sp>
        <p:nvSpPr>
          <p:cNvPr id="24" name="Text 21"/>
          <p:cNvSpPr txBox="1"/>
          <p:nvPr/>
        </p:nvSpPr>
        <p:spPr>
          <a:xfrm>
            <a:off x="3864254" y="7543800"/>
            <a:ext cx="2296058" cy="457200"/>
          </a:xfrm>
          <a:prstGeom prst="rect">
            <a:avLst/>
          </a:prstGeom>
          <a:noFill/>
          <a:ln/>
        </p:spPr>
        <p:txBody>
          <a:bodyPr wrap="square" lIns="0" tIns="0" rIns="0" bIns="0" rtlCol="0" anchor="ctr"/>
          <a:lstStyle/>
          <a:p>
            <a:pPr marL="0" indent="0" algn="l">
              <a:buNone/>
            </a:pPr>
            <a:r>
              <a:rPr lang="en-US" sz="800" dirty="0">
                <a:solidFill>
                  <a:srgbClr val="6B7280"/>
                </a:solidFill>
                <a:latin typeface="Manrope" pitchFamily="34" charset="0"/>
                <a:ea typeface="Manrope" pitchFamily="34" charset="-122"/>
                <a:cs typeface="Manrope" pitchFamily="34" charset="-120"/>
              </a:rPr>
              <a:t>Anciennes vs nouvelles tables, champs équivalents, transformations, valeurs par défaut, règles de rattachement.</a:t>
            </a:r>
            <a:endParaRPr lang="en-US" sz="800" dirty="0"/>
          </a:p>
        </p:txBody>
      </p:sp>
      <p:sp>
        <p:nvSpPr>
          <p:cNvPr id="25" name="Shape 22"/>
          <p:cNvSpPr/>
          <p:nvPr/>
        </p:nvSpPr>
        <p:spPr>
          <a:xfrm>
            <a:off x="6452006" y="6667805"/>
            <a:ext cx="2657246" cy="1666951"/>
          </a:xfrm>
          <a:prstGeom prst="roundRect">
            <a:avLst>
              <a:gd name="adj" fmla="val 8009"/>
            </a:avLst>
          </a:prstGeom>
          <a:solidFill>
            <a:srgbClr val="F5F4FB"/>
          </a:solidFill>
          <a:ln w="12700">
            <a:solidFill>
              <a:srgbClr val="E5E7EB"/>
            </a:solidFill>
            <a:prstDash val="solid"/>
          </a:ln>
        </p:spPr>
        <p:txBody>
          <a:bodyPr/>
          <a:lstStyle/>
          <a:p>
            <a:endParaRPr lang="fr-CI"/>
          </a:p>
        </p:txBody>
      </p:sp>
      <p:sp>
        <p:nvSpPr>
          <p:cNvPr id="26" name="Shape 23"/>
          <p:cNvSpPr/>
          <p:nvPr/>
        </p:nvSpPr>
        <p:spPr>
          <a:xfrm>
            <a:off x="6632143" y="6848856"/>
            <a:ext cx="342900" cy="342900"/>
          </a:xfrm>
          <a:prstGeom prst="roundRect">
            <a:avLst>
              <a:gd name="adj" fmla="val 27733"/>
            </a:avLst>
          </a:prstGeom>
          <a:solidFill>
            <a:srgbClr val="6D28D9"/>
          </a:solidFill>
          <a:ln w="12700">
            <a:solidFill>
              <a:srgbClr val="FFFFFF">
                <a:alpha val="0"/>
              </a:srgbClr>
            </a:solidFill>
            <a:prstDash val="solid"/>
          </a:ln>
        </p:spPr>
        <p:txBody>
          <a:bodyPr/>
          <a:lstStyle/>
          <a:p>
            <a:endParaRPr lang="fr-CI"/>
          </a:p>
        </p:txBody>
      </p:sp>
      <p:sp>
        <p:nvSpPr>
          <p:cNvPr id="27" name="Text 24"/>
          <p:cNvSpPr txBox="1"/>
          <p:nvPr/>
        </p:nvSpPr>
        <p:spPr>
          <a:xfrm>
            <a:off x="6632143" y="6848856"/>
            <a:ext cx="342900" cy="34290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JetBrains Mono" pitchFamily="34" charset="0"/>
                <a:ea typeface="JetBrains Mono" pitchFamily="34" charset="-122"/>
                <a:cs typeface="JetBrains Mono" pitchFamily="34" charset="-120"/>
              </a:rPr>
              <a:t>03</a:t>
            </a:r>
            <a:endParaRPr lang="en-US" sz="1000" dirty="0"/>
          </a:p>
        </p:txBody>
      </p:sp>
      <p:sp>
        <p:nvSpPr>
          <p:cNvPr id="28" name="Text 25"/>
          <p:cNvSpPr txBox="1"/>
          <p:nvPr/>
        </p:nvSpPr>
        <p:spPr>
          <a:xfrm>
            <a:off x="6632143" y="7306056"/>
            <a:ext cx="2296058" cy="200254"/>
          </a:xfrm>
          <a:prstGeom prst="rect">
            <a:avLst/>
          </a:prstGeom>
          <a:noFill/>
          <a:ln/>
        </p:spPr>
        <p:txBody>
          <a:bodyPr wrap="none" lIns="0" tIns="0" rIns="0" bIns="0" rtlCol="0" anchor="ctr"/>
          <a:lstStyle/>
          <a:p>
            <a:pPr marL="0" indent="0" algn="l">
              <a:buNone/>
            </a:pPr>
            <a:r>
              <a:rPr lang="en-US" sz="1100" b="1" dirty="0">
                <a:solidFill>
                  <a:srgbClr val="1F2937"/>
                </a:solidFill>
                <a:latin typeface="Manrope" pitchFamily="34" charset="0"/>
                <a:ea typeface="Manrope" pitchFamily="34" charset="-122"/>
                <a:cs typeface="Manrope" pitchFamily="34" charset="-120"/>
              </a:rPr>
              <a:t>Nettoyage des données</a:t>
            </a:r>
            <a:endParaRPr lang="en-US" sz="1100" dirty="0"/>
          </a:p>
        </p:txBody>
      </p:sp>
      <p:sp>
        <p:nvSpPr>
          <p:cNvPr id="29" name="Text 26"/>
          <p:cNvSpPr txBox="1"/>
          <p:nvPr/>
        </p:nvSpPr>
        <p:spPr>
          <a:xfrm>
            <a:off x="6632143" y="7543800"/>
            <a:ext cx="2296058" cy="457200"/>
          </a:xfrm>
          <a:prstGeom prst="rect">
            <a:avLst/>
          </a:prstGeom>
          <a:noFill/>
          <a:ln/>
        </p:spPr>
        <p:txBody>
          <a:bodyPr wrap="square" lIns="0" tIns="0" rIns="0" bIns="0" rtlCol="0" anchor="ctr"/>
          <a:lstStyle/>
          <a:p>
            <a:pPr marL="0" indent="0" algn="l">
              <a:buNone/>
            </a:pPr>
            <a:r>
              <a:rPr lang="en-US" sz="800" dirty="0">
                <a:solidFill>
                  <a:srgbClr val="6B7280"/>
                </a:solidFill>
                <a:latin typeface="Manrope" pitchFamily="34" charset="0"/>
                <a:ea typeface="Manrope" pitchFamily="34" charset="-122"/>
                <a:cs typeface="Manrope" pitchFamily="34" charset="-120"/>
              </a:rPr>
              <a:t>Correction formats téléphone, suppression doublons, correction statuts, vérification rattachements, contrôle soldes.</a:t>
            </a:r>
            <a:endParaRPr lang="en-US" sz="800" dirty="0"/>
          </a:p>
        </p:txBody>
      </p:sp>
      <p:sp>
        <p:nvSpPr>
          <p:cNvPr id="30" name="Shape 27"/>
          <p:cNvSpPr/>
          <p:nvPr/>
        </p:nvSpPr>
        <p:spPr>
          <a:xfrm>
            <a:off x="9219895" y="6667805"/>
            <a:ext cx="2657246" cy="1666951"/>
          </a:xfrm>
          <a:prstGeom prst="roundRect">
            <a:avLst>
              <a:gd name="adj" fmla="val 8009"/>
            </a:avLst>
          </a:prstGeom>
          <a:solidFill>
            <a:srgbClr val="F5F3FF"/>
          </a:solidFill>
          <a:ln w="12700">
            <a:solidFill>
              <a:srgbClr val="DDD6FE"/>
            </a:solidFill>
            <a:prstDash val="solid"/>
          </a:ln>
        </p:spPr>
        <p:txBody>
          <a:bodyPr/>
          <a:lstStyle/>
          <a:p>
            <a:endParaRPr lang="fr-CI"/>
          </a:p>
        </p:txBody>
      </p:sp>
      <p:sp>
        <p:nvSpPr>
          <p:cNvPr id="31" name="Shape 28"/>
          <p:cNvSpPr/>
          <p:nvPr/>
        </p:nvSpPr>
        <p:spPr>
          <a:xfrm>
            <a:off x="9400946" y="6848856"/>
            <a:ext cx="342900" cy="342900"/>
          </a:xfrm>
          <a:prstGeom prst="roundRect">
            <a:avLst>
              <a:gd name="adj" fmla="val 27733"/>
            </a:avLst>
          </a:prstGeom>
          <a:solidFill>
            <a:srgbClr val="6D28D9"/>
          </a:solidFill>
          <a:ln w="12700">
            <a:solidFill>
              <a:srgbClr val="FFFFFF">
                <a:alpha val="0"/>
              </a:srgbClr>
            </a:solidFill>
            <a:prstDash val="solid"/>
          </a:ln>
        </p:spPr>
        <p:txBody>
          <a:bodyPr/>
          <a:lstStyle/>
          <a:p>
            <a:endParaRPr lang="fr-CI"/>
          </a:p>
        </p:txBody>
      </p:sp>
      <p:sp>
        <p:nvSpPr>
          <p:cNvPr id="32" name="Text 29"/>
          <p:cNvSpPr txBox="1"/>
          <p:nvPr/>
        </p:nvSpPr>
        <p:spPr>
          <a:xfrm>
            <a:off x="9400946" y="6848856"/>
            <a:ext cx="342900" cy="34290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JetBrains Mono" pitchFamily="34" charset="0"/>
                <a:ea typeface="JetBrains Mono" pitchFamily="34" charset="-122"/>
                <a:cs typeface="JetBrains Mono" pitchFamily="34" charset="-120"/>
              </a:rPr>
              <a:t>04</a:t>
            </a:r>
            <a:endParaRPr lang="en-US" sz="1000" dirty="0"/>
          </a:p>
        </p:txBody>
      </p:sp>
      <p:sp>
        <p:nvSpPr>
          <p:cNvPr id="33" name="Text 30"/>
          <p:cNvSpPr txBox="1"/>
          <p:nvPr/>
        </p:nvSpPr>
        <p:spPr>
          <a:xfrm>
            <a:off x="9400946" y="7306056"/>
            <a:ext cx="2296058" cy="200254"/>
          </a:xfrm>
          <a:prstGeom prst="rect">
            <a:avLst/>
          </a:prstGeom>
          <a:noFill/>
          <a:ln/>
        </p:spPr>
        <p:txBody>
          <a:bodyPr wrap="none" lIns="0" tIns="0" rIns="0" bIns="0" rtlCol="0" anchor="ctr"/>
          <a:lstStyle/>
          <a:p>
            <a:pPr marL="0" indent="0" algn="l">
              <a:buNone/>
            </a:pPr>
            <a:r>
              <a:rPr lang="en-US" sz="1100" b="1" dirty="0">
                <a:solidFill>
                  <a:srgbClr val="1F2937"/>
                </a:solidFill>
                <a:latin typeface="Manrope" pitchFamily="34" charset="0"/>
                <a:ea typeface="Manrope" pitchFamily="34" charset="-122"/>
                <a:cs typeface="Manrope" pitchFamily="34" charset="-120"/>
              </a:rPr>
              <a:t>Sauvegarde complète</a:t>
            </a:r>
            <a:endParaRPr lang="en-US" sz="1100" dirty="0"/>
          </a:p>
        </p:txBody>
      </p:sp>
      <p:sp>
        <p:nvSpPr>
          <p:cNvPr id="34" name="Text 31"/>
          <p:cNvSpPr txBox="1"/>
          <p:nvPr/>
        </p:nvSpPr>
        <p:spPr>
          <a:xfrm>
            <a:off x="9400946" y="7543800"/>
            <a:ext cx="2296058" cy="457200"/>
          </a:xfrm>
          <a:prstGeom prst="rect">
            <a:avLst/>
          </a:prstGeom>
          <a:noFill/>
          <a:ln/>
        </p:spPr>
        <p:txBody>
          <a:bodyPr wrap="square" lIns="0" tIns="0" rIns="0" bIns="0" rtlCol="0" anchor="ctr"/>
          <a:lstStyle/>
          <a:p>
            <a:pPr marL="0" indent="0" algn="l">
              <a:buNone/>
            </a:pPr>
            <a:r>
              <a:rPr lang="en-US" sz="800" dirty="0">
                <a:solidFill>
                  <a:srgbClr val="4B5563"/>
                </a:solidFill>
                <a:latin typeface="Manrope" pitchFamily="34" charset="0"/>
                <a:ea typeface="Manrope" pitchFamily="34" charset="-122"/>
                <a:cs typeface="Manrope" pitchFamily="34" charset="-120"/>
              </a:rPr>
              <a:t>BDD · documents · images · logs · exports financiers · configurations · scripts · paramétrages.</a:t>
            </a:r>
            <a:endParaRPr lang="en-US" sz="800" dirty="0"/>
          </a:p>
        </p:txBody>
      </p:sp>
      <p:sp>
        <p:nvSpPr>
          <p:cNvPr id="35" name="Shape 32"/>
          <p:cNvSpPr/>
          <p:nvPr/>
        </p:nvSpPr>
        <p:spPr>
          <a:xfrm>
            <a:off x="11988698" y="6667805"/>
            <a:ext cx="2657246" cy="1666951"/>
          </a:xfrm>
          <a:prstGeom prst="roundRect">
            <a:avLst>
              <a:gd name="adj" fmla="val 8009"/>
            </a:avLst>
          </a:prstGeom>
          <a:solidFill>
            <a:srgbClr val="F5F3FF"/>
          </a:solidFill>
          <a:ln w="12700">
            <a:solidFill>
              <a:srgbClr val="DDD6FE"/>
            </a:solidFill>
            <a:prstDash val="solid"/>
          </a:ln>
        </p:spPr>
        <p:txBody>
          <a:bodyPr/>
          <a:lstStyle/>
          <a:p>
            <a:endParaRPr lang="fr-CI"/>
          </a:p>
        </p:txBody>
      </p:sp>
      <p:sp>
        <p:nvSpPr>
          <p:cNvPr id="36" name="Shape 33"/>
          <p:cNvSpPr/>
          <p:nvPr/>
        </p:nvSpPr>
        <p:spPr>
          <a:xfrm>
            <a:off x="12169750" y="6848856"/>
            <a:ext cx="342900" cy="342900"/>
          </a:xfrm>
          <a:prstGeom prst="roundRect">
            <a:avLst>
              <a:gd name="adj" fmla="val 27733"/>
            </a:avLst>
          </a:prstGeom>
          <a:solidFill>
            <a:srgbClr val="6D28D9"/>
          </a:solidFill>
          <a:ln w="12700">
            <a:solidFill>
              <a:srgbClr val="FFFFFF">
                <a:alpha val="0"/>
              </a:srgbClr>
            </a:solidFill>
            <a:prstDash val="solid"/>
          </a:ln>
        </p:spPr>
        <p:txBody>
          <a:bodyPr/>
          <a:lstStyle/>
          <a:p>
            <a:endParaRPr lang="fr-CI"/>
          </a:p>
        </p:txBody>
      </p:sp>
      <p:sp>
        <p:nvSpPr>
          <p:cNvPr id="37" name="Text 34"/>
          <p:cNvSpPr txBox="1"/>
          <p:nvPr/>
        </p:nvSpPr>
        <p:spPr>
          <a:xfrm>
            <a:off x="12169750" y="6848856"/>
            <a:ext cx="342900" cy="34290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JetBrains Mono" pitchFamily="34" charset="0"/>
                <a:ea typeface="JetBrains Mono" pitchFamily="34" charset="-122"/>
                <a:cs typeface="JetBrains Mono" pitchFamily="34" charset="-120"/>
              </a:rPr>
              <a:t>05</a:t>
            </a:r>
            <a:endParaRPr lang="en-US" sz="1000" dirty="0"/>
          </a:p>
        </p:txBody>
      </p:sp>
      <p:sp>
        <p:nvSpPr>
          <p:cNvPr id="38" name="Text 35"/>
          <p:cNvSpPr txBox="1"/>
          <p:nvPr/>
        </p:nvSpPr>
        <p:spPr>
          <a:xfrm>
            <a:off x="12169750" y="7306056"/>
            <a:ext cx="2296058" cy="200254"/>
          </a:xfrm>
          <a:prstGeom prst="rect">
            <a:avLst/>
          </a:prstGeom>
          <a:noFill/>
          <a:ln/>
        </p:spPr>
        <p:txBody>
          <a:bodyPr wrap="none" lIns="0" tIns="0" rIns="0" bIns="0" rtlCol="0" anchor="ctr"/>
          <a:lstStyle/>
          <a:p>
            <a:pPr marL="0" indent="0" algn="l">
              <a:buNone/>
            </a:pPr>
            <a:r>
              <a:rPr lang="en-US" sz="1100" b="1" dirty="0">
                <a:solidFill>
                  <a:srgbClr val="1F2937"/>
                </a:solidFill>
                <a:latin typeface="Manrope" pitchFamily="34" charset="0"/>
                <a:ea typeface="Manrope" pitchFamily="34" charset="-122"/>
                <a:cs typeface="Manrope" pitchFamily="34" charset="-120"/>
              </a:rPr>
              <a:t>Migration à blanc</a:t>
            </a:r>
            <a:endParaRPr lang="en-US" sz="1100" dirty="0"/>
          </a:p>
        </p:txBody>
      </p:sp>
      <p:sp>
        <p:nvSpPr>
          <p:cNvPr id="39" name="Text 36"/>
          <p:cNvSpPr txBox="1"/>
          <p:nvPr/>
        </p:nvSpPr>
        <p:spPr>
          <a:xfrm>
            <a:off x="12169750" y="7543800"/>
            <a:ext cx="2296058" cy="457200"/>
          </a:xfrm>
          <a:prstGeom prst="rect">
            <a:avLst/>
          </a:prstGeom>
          <a:noFill/>
          <a:ln/>
        </p:spPr>
        <p:txBody>
          <a:bodyPr wrap="square" lIns="0" tIns="0" rIns="0" bIns="0" rtlCol="0" anchor="ctr"/>
          <a:lstStyle/>
          <a:p>
            <a:pPr marL="0" indent="0" algn="l">
              <a:buNone/>
            </a:pPr>
            <a:r>
              <a:rPr lang="en-US" sz="800" dirty="0">
                <a:solidFill>
                  <a:srgbClr val="4B5563"/>
                </a:solidFill>
                <a:latin typeface="Manrope" pitchFamily="34" charset="0"/>
                <a:ea typeface="Manrope" pitchFamily="34" charset="-122"/>
                <a:cs typeface="Manrope" pitchFamily="34" charset="-120"/>
              </a:rPr>
              <a:t>Exécution en préprod : temps de migration, nb lignes, erreurs, écarts, soldes, comptes, historiques.</a:t>
            </a:r>
            <a:endParaRPr lang="en-US" sz="800" dirty="0"/>
          </a:p>
        </p:txBody>
      </p:sp>
      <p:sp>
        <p:nvSpPr>
          <p:cNvPr id="40" name="Shape 37"/>
          <p:cNvSpPr/>
          <p:nvPr/>
        </p:nvSpPr>
        <p:spPr>
          <a:xfrm>
            <a:off x="14757502" y="6667805"/>
            <a:ext cx="2657246" cy="1666951"/>
          </a:xfrm>
          <a:prstGeom prst="roundRect">
            <a:avLst>
              <a:gd name="adj" fmla="val 8009"/>
            </a:avLst>
          </a:prstGeom>
          <a:solidFill>
            <a:srgbClr val="1F2937"/>
          </a:solidFill>
          <a:ln w="12700">
            <a:solidFill>
              <a:srgbClr val="FFFFFF">
                <a:alpha val="0"/>
              </a:srgbClr>
            </a:solidFill>
            <a:prstDash val="solid"/>
          </a:ln>
        </p:spPr>
        <p:txBody>
          <a:bodyPr/>
          <a:lstStyle/>
          <a:p>
            <a:endParaRPr lang="fr-CI"/>
          </a:p>
        </p:txBody>
      </p:sp>
      <p:sp>
        <p:nvSpPr>
          <p:cNvPr id="41" name="Shape 38"/>
          <p:cNvSpPr/>
          <p:nvPr/>
        </p:nvSpPr>
        <p:spPr>
          <a:xfrm>
            <a:off x="14928494" y="6838798"/>
            <a:ext cx="342900" cy="342900"/>
          </a:xfrm>
          <a:prstGeom prst="roundRect">
            <a:avLst>
              <a:gd name="adj" fmla="val 27733"/>
            </a:avLst>
          </a:prstGeom>
          <a:solidFill>
            <a:srgbClr val="A78BFA"/>
          </a:solidFill>
          <a:ln w="12700">
            <a:solidFill>
              <a:srgbClr val="FFFFFF">
                <a:alpha val="0"/>
              </a:srgbClr>
            </a:solidFill>
            <a:prstDash val="solid"/>
          </a:ln>
        </p:spPr>
        <p:txBody>
          <a:bodyPr/>
          <a:lstStyle/>
          <a:p>
            <a:endParaRPr lang="fr-CI"/>
          </a:p>
        </p:txBody>
      </p:sp>
      <p:sp>
        <p:nvSpPr>
          <p:cNvPr id="42" name="Text 39"/>
          <p:cNvSpPr txBox="1"/>
          <p:nvPr/>
        </p:nvSpPr>
        <p:spPr>
          <a:xfrm>
            <a:off x="14928494" y="6838798"/>
            <a:ext cx="342900" cy="34290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1F2937"/>
                </a:solidFill>
                <a:latin typeface="JetBrains Mono" pitchFamily="34" charset="0"/>
                <a:ea typeface="JetBrains Mono" pitchFamily="34" charset="-122"/>
                <a:cs typeface="JetBrains Mono" pitchFamily="34" charset="-120"/>
              </a:rPr>
              <a:t>06</a:t>
            </a:r>
            <a:endParaRPr lang="en-US" sz="1000" dirty="0"/>
          </a:p>
        </p:txBody>
      </p:sp>
      <p:sp>
        <p:nvSpPr>
          <p:cNvPr id="43" name="Text 40"/>
          <p:cNvSpPr txBox="1"/>
          <p:nvPr/>
        </p:nvSpPr>
        <p:spPr>
          <a:xfrm>
            <a:off x="14928494" y="7295998"/>
            <a:ext cx="2315261" cy="200254"/>
          </a:xfrm>
          <a:prstGeom prst="rect">
            <a:avLst/>
          </a:prstGeom>
          <a:noFill/>
          <a:ln/>
        </p:spPr>
        <p:txBody>
          <a:bodyPr wrap="none" lIns="0" tIns="0" rIns="0" bIns="0" rtlCol="0" anchor="ctr"/>
          <a:lstStyle/>
          <a:p>
            <a:pPr marL="0" indent="0" algn="l">
              <a:buNone/>
            </a:pPr>
            <a:r>
              <a:rPr lang="en-US" sz="1100" b="1" dirty="0">
                <a:solidFill>
                  <a:srgbClr val="FFFFFF"/>
                </a:solidFill>
                <a:latin typeface="Manrope" pitchFamily="34" charset="0"/>
                <a:ea typeface="Manrope" pitchFamily="34" charset="-122"/>
                <a:cs typeface="Manrope" pitchFamily="34" charset="-120"/>
              </a:rPr>
              <a:t>Contrôle post-migration</a:t>
            </a:r>
            <a:endParaRPr lang="en-US" sz="1100" dirty="0"/>
          </a:p>
        </p:txBody>
      </p:sp>
      <p:sp>
        <p:nvSpPr>
          <p:cNvPr id="44" name="Text 41"/>
          <p:cNvSpPr txBox="1"/>
          <p:nvPr/>
        </p:nvSpPr>
        <p:spPr>
          <a:xfrm>
            <a:off x="14928494" y="7534656"/>
            <a:ext cx="2315261" cy="457200"/>
          </a:xfrm>
          <a:prstGeom prst="rect">
            <a:avLst/>
          </a:prstGeom>
          <a:noFill/>
          <a:ln/>
        </p:spPr>
        <p:txBody>
          <a:bodyPr wrap="square" lIns="0" tIns="0" rIns="0" bIns="0" rtlCol="0" anchor="ctr"/>
          <a:lstStyle/>
          <a:p>
            <a:pPr marL="0" indent="0" algn="l">
              <a:buNone/>
            </a:pPr>
            <a:r>
              <a:rPr lang="en-US" sz="800" dirty="0">
                <a:solidFill>
                  <a:srgbClr val="C4B5FD"/>
                </a:solidFill>
                <a:latin typeface="Manrope" pitchFamily="34" charset="0"/>
                <a:ea typeface="Manrope" pitchFamily="34" charset="-122"/>
                <a:cs typeface="Manrope" pitchFamily="34" charset="-120"/>
              </a:rPr>
              <a:t>Comparaison ligne à ligne : clients, chauffeurs, partenaires, soldes wallet, transactions, documents, statuts.</a:t>
            </a:r>
            <a:endParaRPr lang="en-US" sz="800" dirty="0"/>
          </a:p>
        </p:txBody>
      </p:sp>
      <p:sp>
        <p:nvSpPr>
          <p:cNvPr id="45" name="Shape 42"/>
          <p:cNvSpPr/>
          <p:nvPr/>
        </p:nvSpPr>
        <p:spPr>
          <a:xfrm>
            <a:off x="914400" y="8667598"/>
            <a:ext cx="16497605" cy="857707"/>
          </a:xfrm>
          <a:prstGeom prst="roundRect">
            <a:avLst>
              <a:gd name="adj" fmla="val 15565"/>
            </a:avLst>
          </a:prstGeom>
          <a:solidFill>
            <a:srgbClr val="F5F3FF"/>
          </a:solidFill>
          <a:ln w="12700">
            <a:solidFill>
              <a:srgbClr val="DDD6FE"/>
            </a:solidFill>
            <a:prstDash val="solid"/>
          </a:ln>
        </p:spPr>
        <p:txBody>
          <a:bodyPr/>
          <a:lstStyle/>
          <a:p>
            <a:endParaRPr lang="fr-CI"/>
          </a:p>
        </p:txBody>
      </p:sp>
      <p:sp>
        <p:nvSpPr>
          <p:cNvPr id="46" name="Text 43"/>
          <p:cNvSpPr txBox="1"/>
          <p:nvPr/>
        </p:nvSpPr>
        <p:spPr>
          <a:xfrm>
            <a:off x="1218895" y="8887054"/>
            <a:ext cx="1429207" cy="162763"/>
          </a:xfrm>
          <a:prstGeom prst="rect">
            <a:avLst/>
          </a:prstGeom>
          <a:noFill/>
          <a:ln/>
        </p:spPr>
        <p:txBody>
          <a:bodyPr wrap="none" lIns="0" tIns="0" rIns="0" bIns="0" rtlCol="0" anchor="ctr"/>
          <a:lstStyle/>
          <a:p>
            <a:pPr marL="0" indent="0" algn="l">
              <a:buNone/>
            </a:pPr>
            <a:r>
              <a:rPr lang="en-US" sz="900" b="1" kern="0" spc="137" dirty="0">
                <a:solidFill>
                  <a:srgbClr val="6D28D9"/>
                </a:solidFill>
                <a:latin typeface="JetBrains Mono" pitchFamily="34" charset="0"/>
                <a:ea typeface="JetBrains Mono" pitchFamily="34" charset="-122"/>
                <a:cs typeface="JetBrains Mono" pitchFamily="34" charset="-120"/>
              </a:rPr>
              <a:t>→ Programmation</a:t>
            </a:r>
            <a:endParaRPr lang="en-US" sz="900" dirty="0"/>
          </a:p>
        </p:txBody>
      </p:sp>
      <p:sp>
        <p:nvSpPr>
          <p:cNvPr id="47" name="Text 44"/>
          <p:cNvSpPr txBox="1"/>
          <p:nvPr/>
        </p:nvSpPr>
        <p:spPr>
          <a:xfrm>
            <a:off x="2872130" y="8858707"/>
            <a:ext cx="14259154" cy="219456"/>
          </a:xfrm>
          <a:prstGeom prst="rect">
            <a:avLst/>
          </a:prstGeom>
          <a:noFill/>
          <a:ln/>
        </p:spPr>
        <p:txBody>
          <a:bodyPr wrap="none" lIns="0" tIns="0" rIns="0" bIns="0" rtlCol="0" anchor="ctr"/>
          <a:lstStyle/>
          <a:p>
            <a:pPr marL="0" indent="0" algn="l">
              <a:buNone/>
            </a:pPr>
            <a:r>
              <a:rPr lang="en-US" sz="1200" dirty="0">
                <a:solidFill>
                  <a:srgbClr val="1F2937"/>
                </a:solidFill>
                <a:latin typeface="Manrope" pitchFamily="34" charset="0"/>
                <a:ea typeface="Manrope" pitchFamily="34" charset="-122"/>
                <a:cs typeface="Manrope" pitchFamily="34" charset="-120"/>
              </a:rPr>
              <a:t>La migration à blanc est exécutée le </a:t>
            </a:r>
            <a:r>
              <a:rPr lang="en-US" sz="1200" b="1" dirty="0">
                <a:solidFill>
                  <a:srgbClr val="1F2937"/>
                </a:solidFill>
                <a:latin typeface="Manrope" pitchFamily="34" charset="0"/>
                <a:ea typeface="Manrope" pitchFamily="34" charset="-122"/>
                <a:cs typeface="Manrope" pitchFamily="34" charset="-120"/>
              </a:rPr>
              <a:t>mercredi 24 juin 2026</a:t>
            </a:r>
            <a:r>
              <a:rPr lang="en-US" sz="1200" dirty="0">
                <a:solidFill>
                  <a:srgbClr val="1F2937"/>
                </a:solidFill>
                <a:latin typeface="Manrope" pitchFamily="34" charset="0"/>
                <a:ea typeface="Manrope" pitchFamily="34" charset="-122"/>
                <a:cs typeface="Manrope" pitchFamily="34" charset="-120"/>
              </a:rPr>
              <a:t> en préproduction · la migration réelle suit après validation Go/No-Go du jeudi 25 juin.</a:t>
            </a:r>
            <a:endParaRPr lang="en-US" sz="1200" dirty="0"/>
          </a:p>
        </p:txBody>
      </p:sp>
      <p:sp>
        <p:nvSpPr>
          <p:cNvPr id="48" name="Shape 45"/>
          <p:cNvSpPr/>
          <p:nvPr/>
        </p:nvSpPr>
        <p:spPr>
          <a:xfrm>
            <a:off x="0" y="9791395"/>
            <a:ext cx="18288000" cy="495605"/>
          </a:xfrm>
          <a:prstGeom prst="rect">
            <a:avLst/>
          </a:prstGeom>
          <a:solidFill>
            <a:srgbClr val="FFFFFF"/>
          </a:solidFill>
          <a:ln/>
        </p:spPr>
        <p:txBody>
          <a:bodyPr/>
          <a:lstStyle/>
          <a:p>
            <a:endParaRPr lang="fr-CI"/>
          </a:p>
        </p:txBody>
      </p:sp>
      <p:sp>
        <p:nvSpPr>
          <p:cNvPr id="49" name="Shape 46"/>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50" name="Text 47"/>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51" name="Text 48"/>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54 / 59</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5559430" y="256946"/>
            <a:ext cx="2433218"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§29 &amp; §30.6 Données à migrer</a:t>
            </a:r>
            <a:endParaRPr lang="en-US" sz="900" dirty="0"/>
          </a:p>
        </p:txBody>
      </p:sp>
      <p:sp>
        <p:nvSpPr>
          <p:cNvPr id="10" name="Text 8"/>
          <p:cNvSpPr txBox="1"/>
          <p:nvPr/>
        </p:nvSpPr>
        <p:spPr>
          <a:xfrm>
            <a:off x="914400" y="1205179"/>
            <a:ext cx="3717950"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29. &amp; 30.6 · Périmètre des données</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6193110" cy="1095451"/>
          </a:xfrm>
          <a:prstGeom prst="rect">
            <a:avLst/>
          </a:prstGeom>
          <a:noFill/>
          <a:ln/>
        </p:spPr>
        <p:txBody>
          <a:bodyPr wrap="squar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5 grands ensembles de données à migrer — chacun contrôlé en post-migration.</a:t>
            </a:r>
            <a:endParaRPr lang="en-US" sz="3900" dirty="0"/>
          </a:p>
        </p:txBody>
      </p:sp>
      <p:sp>
        <p:nvSpPr>
          <p:cNvPr id="13" name="Shape 11"/>
          <p:cNvSpPr/>
          <p:nvPr/>
        </p:nvSpPr>
        <p:spPr>
          <a:xfrm>
            <a:off x="914400" y="2762402"/>
            <a:ext cx="3200400" cy="5143500"/>
          </a:xfrm>
          <a:prstGeom prst="roundRect">
            <a:avLst>
              <a:gd name="adj" fmla="val 4171"/>
            </a:avLst>
          </a:prstGeom>
          <a:solidFill>
            <a:srgbClr val="F5F3FF"/>
          </a:solidFill>
          <a:ln w="12700">
            <a:solidFill>
              <a:srgbClr val="DDD6FE"/>
            </a:solidFill>
            <a:prstDash val="solid"/>
          </a:ln>
        </p:spPr>
        <p:txBody>
          <a:bodyPr/>
          <a:lstStyle/>
          <a:p>
            <a:endParaRPr lang="fr-CI"/>
          </a:p>
        </p:txBody>
      </p:sp>
      <p:sp>
        <p:nvSpPr>
          <p:cNvPr id="14" name="Text 12"/>
          <p:cNvSpPr txBox="1"/>
          <p:nvPr/>
        </p:nvSpPr>
        <p:spPr>
          <a:xfrm>
            <a:off x="1114654" y="2962656"/>
            <a:ext cx="2800807" cy="152705"/>
          </a:xfrm>
          <a:prstGeom prst="rect">
            <a:avLst/>
          </a:prstGeom>
          <a:noFill/>
          <a:ln/>
        </p:spPr>
        <p:txBody>
          <a:bodyPr wrap="none" lIns="0" tIns="0" rIns="0" bIns="0" rtlCol="0" anchor="ctr"/>
          <a:lstStyle/>
          <a:p>
            <a:pPr marL="0" indent="0" algn="l">
              <a:buNone/>
            </a:pPr>
            <a:r>
              <a:rPr lang="en-US" sz="900" b="1" kern="0" spc="90" dirty="0">
                <a:solidFill>
                  <a:srgbClr val="6D28D9"/>
                </a:solidFill>
                <a:latin typeface="JetBrains Mono" pitchFamily="34" charset="0"/>
                <a:ea typeface="JetBrains Mono" pitchFamily="34" charset="-122"/>
                <a:cs typeface="JetBrains Mono" pitchFamily="34" charset="-120"/>
              </a:rPr>
              <a:t>01</a:t>
            </a:r>
            <a:endParaRPr lang="en-US" sz="900" dirty="0"/>
          </a:p>
        </p:txBody>
      </p:sp>
      <p:sp>
        <p:nvSpPr>
          <p:cNvPr id="15" name="Text 13"/>
          <p:cNvSpPr txBox="1"/>
          <p:nvPr/>
        </p:nvSpPr>
        <p:spPr>
          <a:xfrm>
            <a:off x="1114654" y="3191256"/>
            <a:ext cx="2800807"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Clients</a:t>
            </a:r>
            <a:endParaRPr lang="en-US" sz="1300" dirty="0"/>
          </a:p>
        </p:txBody>
      </p:sp>
      <p:pic>
        <p:nvPicPr>
          <p:cNvPr id="16" name="Image 0" descr="gen-dedup-f07bb3bbc30382f69fe6e1471c427d6b.png"/>
          <p:cNvPicPr>
            <a:picLocks noChangeAspect="1"/>
          </p:cNvPicPr>
          <p:nvPr/>
        </p:nvPicPr>
        <p:blipFill>
          <a:blip r:embed="rId2"/>
          <a:srcRect l="-385" r="-385"/>
          <a:stretch/>
        </p:blipFill>
        <p:spPr>
          <a:xfrm>
            <a:off x="1114654" y="3495751"/>
            <a:ext cx="761695" cy="28346"/>
          </a:xfrm>
          <a:prstGeom prst="rect">
            <a:avLst/>
          </a:prstGeom>
        </p:spPr>
      </p:pic>
      <p:sp>
        <p:nvSpPr>
          <p:cNvPr id="17" name="Text 14"/>
          <p:cNvSpPr txBox="1"/>
          <p:nvPr/>
        </p:nvSpPr>
        <p:spPr>
          <a:xfrm>
            <a:off x="1114654" y="3657600"/>
            <a:ext cx="28008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Identifiants</a:t>
            </a:r>
            <a:endParaRPr lang="en-US" sz="900" dirty="0"/>
          </a:p>
        </p:txBody>
      </p:sp>
      <p:sp>
        <p:nvSpPr>
          <p:cNvPr id="18" name="Text 15"/>
          <p:cNvSpPr txBox="1"/>
          <p:nvPr/>
        </p:nvSpPr>
        <p:spPr>
          <a:xfrm>
            <a:off x="1114654" y="3856025"/>
            <a:ext cx="28008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Noms</a:t>
            </a:r>
            <a:endParaRPr lang="en-US" sz="900" dirty="0"/>
          </a:p>
        </p:txBody>
      </p:sp>
      <p:sp>
        <p:nvSpPr>
          <p:cNvPr id="19" name="Text 16"/>
          <p:cNvSpPr txBox="1"/>
          <p:nvPr/>
        </p:nvSpPr>
        <p:spPr>
          <a:xfrm>
            <a:off x="1114654" y="4053535"/>
            <a:ext cx="28008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Téléphones</a:t>
            </a:r>
            <a:endParaRPr lang="en-US" sz="900" dirty="0"/>
          </a:p>
        </p:txBody>
      </p:sp>
      <p:sp>
        <p:nvSpPr>
          <p:cNvPr id="20" name="Text 17"/>
          <p:cNvSpPr txBox="1"/>
          <p:nvPr/>
        </p:nvSpPr>
        <p:spPr>
          <a:xfrm>
            <a:off x="1114654" y="4251960"/>
            <a:ext cx="28008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Emails</a:t>
            </a:r>
            <a:endParaRPr lang="en-US" sz="900" dirty="0"/>
          </a:p>
        </p:txBody>
      </p:sp>
      <p:sp>
        <p:nvSpPr>
          <p:cNvPr id="21" name="Text 18"/>
          <p:cNvSpPr txBox="1"/>
          <p:nvPr/>
        </p:nvSpPr>
        <p:spPr>
          <a:xfrm>
            <a:off x="1114654" y="4450385"/>
            <a:ext cx="28008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Statuts</a:t>
            </a:r>
            <a:endParaRPr lang="en-US" sz="900" dirty="0"/>
          </a:p>
        </p:txBody>
      </p:sp>
      <p:sp>
        <p:nvSpPr>
          <p:cNvPr id="22" name="Text 19"/>
          <p:cNvSpPr txBox="1"/>
          <p:nvPr/>
        </p:nvSpPr>
        <p:spPr>
          <a:xfrm>
            <a:off x="1114654" y="4647895"/>
            <a:ext cx="28008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Historique courses / livraisons</a:t>
            </a:r>
            <a:endParaRPr lang="en-US" sz="900" dirty="0"/>
          </a:p>
        </p:txBody>
      </p:sp>
      <p:sp>
        <p:nvSpPr>
          <p:cNvPr id="23" name="Text 20"/>
          <p:cNvSpPr txBox="1"/>
          <p:nvPr/>
        </p:nvSpPr>
        <p:spPr>
          <a:xfrm>
            <a:off x="1114654" y="4846320"/>
            <a:ext cx="28008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Réclamations</a:t>
            </a:r>
            <a:endParaRPr lang="en-US" sz="900" dirty="0"/>
          </a:p>
        </p:txBody>
      </p:sp>
      <p:sp>
        <p:nvSpPr>
          <p:cNvPr id="24" name="Text 21"/>
          <p:cNvSpPr txBox="1"/>
          <p:nvPr/>
        </p:nvSpPr>
        <p:spPr>
          <a:xfrm>
            <a:off x="1114654" y="5043830"/>
            <a:ext cx="28008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Préférences (si disponibles)</a:t>
            </a:r>
            <a:endParaRPr lang="en-US" sz="900" dirty="0"/>
          </a:p>
        </p:txBody>
      </p:sp>
      <p:sp>
        <p:nvSpPr>
          <p:cNvPr id="25" name="Shape 22"/>
          <p:cNvSpPr/>
          <p:nvPr/>
        </p:nvSpPr>
        <p:spPr>
          <a:xfrm>
            <a:off x="1114654" y="5394960"/>
            <a:ext cx="2800807" cy="514807"/>
          </a:xfrm>
          <a:prstGeom prst="roundRect">
            <a:avLst>
              <a:gd name="adj" fmla="val 14742"/>
            </a:avLst>
          </a:prstGeom>
          <a:solidFill>
            <a:srgbClr val="FFFFFF"/>
          </a:solidFill>
          <a:ln w="12700">
            <a:solidFill>
              <a:srgbClr val="FFFFFF">
                <a:alpha val="0"/>
              </a:srgbClr>
            </a:solidFill>
            <a:prstDash val="solid"/>
          </a:ln>
        </p:spPr>
        <p:txBody>
          <a:bodyPr/>
          <a:lstStyle/>
          <a:p>
            <a:endParaRPr lang="fr-CI"/>
          </a:p>
        </p:txBody>
      </p:sp>
      <p:sp>
        <p:nvSpPr>
          <p:cNvPr id="26" name="Text 23"/>
          <p:cNvSpPr txBox="1"/>
          <p:nvPr/>
        </p:nvSpPr>
        <p:spPr>
          <a:xfrm>
            <a:off x="1209751" y="5490058"/>
            <a:ext cx="2610612"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CONTRÔLE</a:t>
            </a:r>
            <a:endParaRPr lang="en-US" sz="800" dirty="0"/>
          </a:p>
        </p:txBody>
      </p:sp>
      <p:sp>
        <p:nvSpPr>
          <p:cNvPr id="27" name="Text 24"/>
          <p:cNvSpPr txBox="1"/>
          <p:nvPr/>
        </p:nvSpPr>
        <p:spPr>
          <a:xfrm>
            <a:off x="1209751" y="5651906"/>
            <a:ext cx="2610612" cy="162763"/>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Nombre identique ou écart justifié</a:t>
            </a:r>
            <a:endParaRPr lang="en-US" sz="900" dirty="0"/>
          </a:p>
        </p:txBody>
      </p:sp>
      <p:sp>
        <p:nvSpPr>
          <p:cNvPr id="28" name="Shape 25"/>
          <p:cNvSpPr/>
          <p:nvPr/>
        </p:nvSpPr>
        <p:spPr>
          <a:xfrm>
            <a:off x="4240073" y="2762402"/>
            <a:ext cx="3200400" cy="5143500"/>
          </a:xfrm>
          <a:prstGeom prst="roundRect">
            <a:avLst>
              <a:gd name="adj" fmla="val 4171"/>
            </a:avLst>
          </a:prstGeom>
          <a:solidFill>
            <a:srgbClr val="F5F3FF"/>
          </a:solidFill>
          <a:ln w="12700">
            <a:solidFill>
              <a:srgbClr val="DDD6FE"/>
            </a:solidFill>
            <a:prstDash val="solid"/>
          </a:ln>
        </p:spPr>
        <p:txBody>
          <a:bodyPr/>
          <a:lstStyle/>
          <a:p>
            <a:endParaRPr lang="fr-CI"/>
          </a:p>
        </p:txBody>
      </p:sp>
      <p:sp>
        <p:nvSpPr>
          <p:cNvPr id="29" name="Text 26"/>
          <p:cNvSpPr txBox="1"/>
          <p:nvPr/>
        </p:nvSpPr>
        <p:spPr>
          <a:xfrm>
            <a:off x="4440326" y="2962656"/>
            <a:ext cx="2800807" cy="152705"/>
          </a:xfrm>
          <a:prstGeom prst="rect">
            <a:avLst/>
          </a:prstGeom>
          <a:noFill/>
          <a:ln/>
        </p:spPr>
        <p:txBody>
          <a:bodyPr wrap="none" lIns="0" tIns="0" rIns="0" bIns="0" rtlCol="0" anchor="ctr"/>
          <a:lstStyle/>
          <a:p>
            <a:pPr marL="0" indent="0" algn="l">
              <a:buNone/>
            </a:pPr>
            <a:r>
              <a:rPr lang="en-US" sz="900" b="1" kern="0" spc="90" dirty="0">
                <a:solidFill>
                  <a:srgbClr val="6D28D9"/>
                </a:solidFill>
                <a:latin typeface="JetBrains Mono" pitchFamily="34" charset="0"/>
                <a:ea typeface="JetBrains Mono" pitchFamily="34" charset="-122"/>
                <a:cs typeface="JetBrains Mono" pitchFamily="34" charset="-120"/>
              </a:rPr>
              <a:t>02</a:t>
            </a:r>
            <a:endParaRPr lang="en-US" sz="900" dirty="0"/>
          </a:p>
        </p:txBody>
      </p:sp>
      <p:sp>
        <p:nvSpPr>
          <p:cNvPr id="30" name="Text 27"/>
          <p:cNvSpPr txBox="1"/>
          <p:nvPr/>
        </p:nvSpPr>
        <p:spPr>
          <a:xfrm>
            <a:off x="4440326" y="3191256"/>
            <a:ext cx="2800807"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Chauffeurs &amp; Livreurs</a:t>
            </a:r>
            <a:endParaRPr lang="en-US" sz="1300" dirty="0"/>
          </a:p>
        </p:txBody>
      </p:sp>
      <p:pic>
        <p:nvPicPr>
          <p:cNvPr id="31" name="Image 1" descr="gen-dedup-f07bb3bbc30382f69fe6e1471c427d6b.png"/>
          <p:cNvPicPr>
            <a:picLocks noChangeAspect="1"/>
          </p:cNvPicPr>
          <p:nvPr/>
        </p:nvPicPr>
        <p:blipFill>
          <a:blip r:embed="rId2"/>
          <a:srcRect l="-385" r="-385"/>
          <a:stretch/>
        </p:blipFill>
        <p:spPr>
          <a:xfrm>
            <a:off x="4440326" y="3495751"/>
            <a:ext cx="761695" cy="28346"/>
          </a:xfrm>
          <a:prstGeom prst="rect">
            <a:avLst/>
          </a:prstGeom>
        </p:spPr>
      </p:pic>
      <p:sp>
        <p:nvSpPr>
          <p:cNvPr id="32" name="Text 28"/>
          <p:cNvSpPr txBox="1"/>
          <p:nvPr/>
        </p:nvSpPr>
        <p:spPr>
          <a:xfrm>
            <a:off x="4440326" y="3657600"/>
            <a:ext cx="28008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Identifiants</a:t>
            </a:r>
            <a:endParaRPr lang="en-US" sz="900" dirty="0"/>
          </a:p>
        </p:txBody>
      </p:sp>
      <p:sp>
        <p:nvSpPr>
          <p:cNvPr id="33" name="Text 29"/>
          <p:cNvSpPr txBox="1"/>
          <p:nvPr/>
        </p:nvSpPr>
        <p:spPr>
          <a:xfrm>
            <a:off x="4440326" y="3856025"/>
            <a:ext cx="28008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Infos personnelles</a:t>
            </a:r>
            <a:endParaRPr lang="en-US" sz="900" dirty="0"/>
          </a:p>
        </p:txBody>
      </p:sp>
      <p:sp>
        <p:nvSpPr>
          <p:cNvPr id="34" name="Text 30"/>
          <p:cNvSpPr txBox="1"/>
          <p:nvPr/>
        </p:nvSpPr>
        <p:spPr>
          <a:xfrm>
            <a:off x="4440326" y="4053535"/>
            <a:ext cx="28008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Téléphones · emails</a:t>
            </a:r>
            <a:endParaRPr lang="en-US" sz="900" dirty="0"/>
          </a:p>
        </p:txBody>
      </p:sp>
      <p:sp>
        <p:nvSpPr>
          <p:cNvPr id="35" name="Text 31"/>
          <p:cNvSpPr txBox="1"/>
          <p:nvPr/>
        </p:nvSpPr>
        <p:spPr>
          <a:xfrm>
            <a:off x="4440326" y="4251960"/>
            <a:ext cx="28008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Documents (permis, CNI…)</a:t>
            </a:r>
            <a:endParaRPr lang="en-US" sz="900" dirty="0"/>
          </a:p>
        </p:txBody>
      </p:sp>
      <p:sp>
        <p:nvSpPr>
          <p:cNvPr id="36" name="Text 32"/>
          <p:cNvSpPr txBox="1"/>
          <p:nvPr/>
        </p:nvSpPr>
        <p:spPr>
          <a:xfrm>
            <a:off x="4440326" y="4450385"/>
            <a:ext cx="28008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Statuts</a:t>
            </a:r>
            <a:endParaRPr lang="en-US" sz="900" dirty="0"/>
          </a:p>
        </p:txBody>
      </p:sp>
      <p:sp>
        <p:nvSpPr>
          <p:cNvPr id="37" name="Text 33"/>
          <p:cNvSpPr txBox="1"/>
          <p:nvPr/>
        </p:nvSpPr>
        <p:spPr>
          <a:xfrm>
            <a:off x="4440326" y="4647895"/>
            <a:ext cx="28008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Véhicules associés</a:t>
            </a:r>
            <a:endParaRPr lang="en-US" sz="900" dirty="0"/>
          </a:p>
        </p:txBody>
      </p:sp>
      <p:sp>
        <p:nvSpPr>
          <p:cNvPr id="38" name="Text 34"/>
          <p:cNvSpPr txBox="1"/>
          <p:nvPr/>
        </p:nvSpPr>
        <p:spPr>
          <a:xfrm>
            <a:off x="4440326" y="4846320"/>
            <a:ext cx="28008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a:t>
            </a:r>
            <a:r>
              <a:rPr lang="en-US" sz="900" b="1" dirty="0">
                <a:solidFill>
                  <a:srgbClr val="6D28D9"/>
                </a:solidFill>
                <a:latin typeface="Manrope" pitchFamily="34" charset="0"/>
                <a:ea typeface="Manrope" pitchFamily="34" charset="-122"/>
                <a:cs typeface="Manrope" pitchFamily="34" charset="-120"/>
              </a:rPr>
              <a:t>Wallet &amp; soldes</a:t>
            </a:r>
            <a:endParaRPr lang="en-US" sz="900" dirty="0"/>
          </a:p>
        </p:txBody>
      </p:sp>
      <p:sp>
        <p:nvSpPr>
          <p:cNvPr id="39" name="Text 35"/>
          <p:cNvSpPr txBox="1"/>
          <p:nvPr/>
        </p:nvSpPr>
        <p:spPr>
          <a:xfrm>
            <a:off x="4440326" y="5043830"/>
            <a:ext cx="28008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Transactions</a:t>
            </a:r>
            <a:endParaRPr lang="en-US" sz="900" dirty="0"/>
          </a:p>
        </p:txBody>
      </p:sp>
      <p:sp>
        <p:nvSpPr>
          <p:cNvPr id="40" name="Text 36"/>
          <p:cNvSpPr txBox="1"/>
          <p:nvPr/>
        </p:nvSpPr>
        <p:spPr>
          <a:xfrm>
            <a:off x="4440326" y="5242255"/>
            <a:ext cx="28008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Historique d'activité</a:t>
            </a:r>
            <a:endParaRPr lang="en-US" sz="900" dirty="0"/>
          </a:p>
        </p:txBody>
      </p:sp>
      <p:sp>
        <p:nvSpPr>
          <p:cNvPr id="41" name="Shape 37"/>
          <p:cNvSpPr/>
          <p:nvPr/>
        </p:nvSpPr>
        <p:spPr>
          <a:xfrm>
            <a:off x="4440326" y="5592470"/>
            <a:ext cx="2800807" cy="514807"/>
          </a:xfrm>
          <a:prstGeom prst="roundRect">
            <a:avLst>
              <a:gd name="adj" fmla="val 14742"/>
            </a:avLst>
          </a:prstGeom>
          <a:solidFill>
            <a:srgbClr val="FFFFFF"/>
          </a:solidFill>
          <a:ln w="12700">
            <a:solidFill>
              <a:srgbClr val="FFFFFF">
                <a:alpha val="0"/>
              </a:srgbClr>
            </a:solidFill>
            <a:prstDash val="solid"/>
          </a:ln>
        </p:spPr>
        <p:txBody>
          <a:bodyPr/>
          <a:lstStyle/>
          <a:p>
            <a:endParaRPr lang="fr-CI"/>
          </a:p>
        </p:txBody>
      </p:sp>
      <p:sp>
        <p:nvSpPr>
          <p:cNvPr id="42" name="Text 38"/>
          <p:cNvSpPr txBox="1"/>
          <p:nvPr/>
        </p:nvSpPr>
        <p:spPr>
          <a:xfrm>
            <a:off x="4535424" y="5688482"/>
            <a:ext cx="2610612"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CONTRÔLE</a:t>
            </a:r>
            <a:endParaRPr lang="en-US" sz="800" dirty="0"/>
          </a:p>
        </p:txBody>
      </p:sp>
      <p:sp>
        <p:nvSpPr>
          <p:cNvPr id="43" name="Text 39"/>
          <p:cNvSpPr txBox="1"/>
          <p:nvPr/>
        </p:nvSpPr>
        <p:spPr>
          <a:xfrm>
            <a:off x="4535424" y="5850331"/>
            <a:ext cx="3106217" cy="162763"/>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Soldes wallet identiques · documents accessibles</a:t>
            </a:r>
            <a:endParaRPr lang="en-US" sz="900" dirty="0"/>
          </a:p>
        </p:txBody>
      </p:sp>
      <p:sp>
        <p:nvSpPr>
          <p:cNvPr id="44" name="Shape 40"/>
          <p:cNvSpPr/>
          <p:nvPr/>
        </p:nvSpPr>
        <p:spPr>
          <a:xfrm>
            <a:off x="7566660" y="2762402"/>
            <a:ext cx="3200400" cy="5143500"/>
          </a:xfrm>
          <a:prstGeom prst="roundRect">
            <a:avLst>
              <a:gd name="adj" fmla="val 4171"/>
            </a:avLst>
          </a:prstGeom>
          <a:solidFill>
            <a:srgbClr val="FFFFFF"/>
          </a:solidFill>
          <a:ln w="12700">
            <a:solidFill>
              <a:srgbClr val="E5E7EB"/>
            </a:solidFill>
            <a:prstDash val="solid"/>
          </a:ln>
        </p:spPr>
        <p:txBody>
          <a:bodyPr/>
          <a:lstStyle/>
          <a:p>
            <a:endParaRPr lang="fr-CI"/>
          </a:p>
        </p:txBody>
      </p:sp>
      <p:sp>
        <p:nvSpPr>
          <p:cNvPr id="45" name="Text 41"/>
          <p:cNvSpPr txBox="1"/>
          <p:nvPr/>
        </p:nvSpPr>
        <p:spPr>
          <a:xfrm>
            <a:off x="7766914" y="2962656"/>
            <a:ext cx="2800807" cy="152705"/>
          </a:xfrm>
          <a:prstGeom prst="rect">
            <a:avLst/>
          </a:prstGeom>
          <a:noFill/>
          <a:ln/>
        </p:spPr>
        <p:txBody>
          <a:bodyPr wrap="none" lIns="0" tIns="0" rIns="0" bIns="0" rtlCol="0" anchor="ctr"/>
          <a:lstStyle/>
          <a:p>
            <a:pPr marL="0" indent="0" algn="l">
              <a:buNone/>
            </a:pPr>
            <a:r>
              <a:rPr lang="en-US" sz="900" b="1" kern="0" spc="90" dirty="0">
                <a:solidFill>
                  <a:srgbClr val="6D28D9"/>
                </a:solidFill>
                <a:latin typeface="JetBrains Mono" pitchFamily="34" charset="0"/>
                <a:ea typeface="JetBrains Mono" pitchFamily="34" charset="-122"/>
                <a:cs typeface="JetBrains Mono" pitchFamily="34" charset="-120"/>
              </a:rPr>
              <a:t>03</a:t>
            </a:r>
            <a:endParaRPr lang="en-US" sz="900" dirty="0"/>
          </a:p>
        </p:txBody>
      </p:sp>
      <p:sp>
        <p:nvSpPr>
          <p:cNvPr id="46" name="Text 42"/>
          <p:cNvSpPr txBox="1"/>
          <p:nvPr/>
        </p:nvSpPr>
        <p:spPr>
          <a:xfrm>
            <a:off x="7766914" y="3191256"/>
            <a:ext cx="2800807"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Partenaires</a:t>
            </a:r>
            <a:endParaRPr lang="en-US" sz="1300" dirty="0"/>
          </a:p>
        </p:txBody>
      </p:sp>
      <p:pic>
        <p:nvPicPr>
          <p:cNvPr id="47" name="Image 2" descr="gen-dedup-f07bb3bbc30382f69fe6e1471c427d6b.png"/>
          <p:cNvPicPr>
            <a:picLocks noChangeAspect="1"/>
          </p:cNvPicPr>
          <p:nvPr/>
        </p:nvPicPr>
        <p:blipFill>
          <a:blip r:embed="rId2"/>
          <a:srcRect l="-385" r="-385"/>
          <a:stretch/>
        </p:blipFill>
        <p:spPr>
          <a:xfrm>
            <a:off x="7766914" y="3495751"/>
            <a:ext cx="761695" cy="28346"/>
          </a:xfrm>
          <a:prstGeom prst="rect">
            <a:avLst/>
          </a:prstGeom>
        </p:spPr>
      </p:pic>
      <p:sp>
        <p:nvSpPr>
          <p:cNvPr id="48" name="Text 43"/>
          <p:cNvSpPr txBox="1"/>
          <p:nvPr/>
        </p:nvSpPr>
        <p:spPr>
          <a:xfrm>
            <a:off x="7766914" y="3657600"/>
            <a:ext cx="28008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Identité</a:t>
            </a:r>
            <a:endParaRPr lang="en-US" sz="900" dirty="0"/>
          </a:p>
        </p:txBody>
      </p:sp>
      <p:sp>
        <p:nvSpPr>
          <p:cNvPr id="49" name="Text 44"/>
          <p:cNvSpPr txBox="1"/>
          <p:nvPr/>
        </p:nvSpPr>
        <p:spPr>
          <a:xfrm>
            <a:off x="7766914" y="3856025"/>
            <a:ext cx="28008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Contacts</a:t>
            </a:r>
            <a:endParaRPr lang="en-US" sz="900" dirty="0"/>
          </a:p>
        </p:txBody>
      </p:sp>
      <p:sp>
        <p:nvSpPr>
          <p:cNvPr id="50" name="Text 45"/>
          <p:cNvSpPr txBox="1"/>
          <p:nvPr/>
        </p:nvSpPr>
        <p:spPr>
          <a:xfrm>
            <a:off x="7766914" y="4053535"/>
            <a:ext cx="28008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Chauffeurs rattachés</a:t>
            </a:r>
            <a:endParaRPr lang="en-US" sz="900" dirty="0"/>
          </a:p>
        </p:txBody>
      </p:sp>
      <p:sp>
        <p:nvSpPr>
          <p:cNvPr id="51" name="Text 46"/>
          <p:cNvSpPr txBox="1"/>
          <p:nvPr/>
        </p:nvSpPr>
        <p:spPr>
          <a:xfrm>
            <a:off x="7766914" y="4251960"/>
            <a:ext cx="28008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Véhicules rattachés</a:t>
            </a:r>
            <a:endParaRPr lang="en-US" sz="900" dirty="0"/>
          </a:p>
        </p:txBody>
      </p:sp>
      <p:sp>
        <p:nvSpPr>
          <p:cNvPr id="52" name="Text 47"/>
          <p:cNvSpPr txBox="1"/>
          <p:nvPr/>
        </p:nvSpPr>
        <p:spPr>
          <a:xfrm>
            <a:off x="7766914" y="4450385"/>
            <a:ext cx="28008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Activité historique</a:t>
            </a:r>
            <a:endParaRPr lang="en-US" sz="900" dirty="0"/>
          </a:p>
        </p:txBody>
      </p:sp>
      <p:sp>
        <p:nvSpPr>
          <p:cNvPr id="53" name="Text 48"/>
          <p:cNvSpPr txBox="1"/>
          <p:nvPr/>
        </p:nvSpPr>
        <p:spPr>
          <a:xfrm>
            <a:off x="7766914" y="4647895"/>
            <a:ext cx="28008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Commissions perçues</a:t>
            </a:r>
            <a:endParaRPr lang="en-US" sz="900" dirty="0"/>
          </a:p>
        </p:txBody>
      </p:sp>
      <p:sp>
        <p:nvSpPr>
          <p:cNvPr id="54" name="Text 49"/>
          <p:cNvSpPr txBox="1"/>
          <p:nvPr/>
        </p:nvSpPr>
        <p:spPr>
          <a:xfrm>
            <a:off x="7766914" y="4846320"/>
            <a:ext cx="28008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Statuts</a:t>
            </a:r>
            <a:endParaRPr lang="en-US" sz="900" dirty="0"/>
          </a:p>
        </p:txBody>
      </p:sp>
      <p:sp>
        <p:nvSpPr>
          <p:cNvPr id="55" name="Shape 50"/>
          <p:cNvSpPr/>
          <p:nvPr/>
        </p:nvSpPr>
        <p:spPr>
          <a:xfrm>
            <a:off x="7766914" y="5196535"/>
            <a:ext cx="2800807" cy="514807"/>
          </a:xfrm>
          <a:prstGeom prst="roundRect">
            <a:avLst>
              <a:gd name="adj" fmla="val 14742"/>
            </a:avLst>
          </a:prstGeom>
          <a:solidFill>
            <a:srgbClr val="F5F3FF"/>
          </a:solidFill>
          <a:ln w="12700">
            <a:solidFill>
              <a:srgbClr val="FFFFFF">
                <a:alpha val="0"/>
              </a:srgbClr>
            </a:solidFill>
            <a:prstDash val="solid"/>
          </a:ln>
        </p:spPr>
        <p:txBody>
          <a:bodyPr/>
          <a:lstStyle/>
          <a:p>
            <a:endParaRPr lang="fr-CI"/>
          </a:p>
        </p:txBody>
      </p:sp>
      <p:sp>
        <p:nvSpPr>
          <p:cNvPr id="56" name="Text 51"/>
          <p:cNvSpPr txBox="1"/>
          <p:nvPr/>
        </p:nvSpPr>
        <p:spPr>
          <a:xfrm>
            <a:off x="7862011" y="5291633"/>
            <a:ext cx="2610612"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CONTRÔLE</a:t>
            </a:r>
            <a:endParaRPr lang="en-US" sz="800" dirty="0"/>
          </a:p>
        </p:txBody>
      </p:sp>
      <p:sp>
        <p:nvSpPr>
          <p:cNvPr id="57" name="Text 52"/>
          <p:cNvSpPr txBox="1"/>
          <p:nvPr/>
        </p:nvSpPr>
        <p:spPr>
          <a:xfrm>
            <a:off x="7862011" y="5453482"/>
            <a:ext cx="2610612" cy="162763"/>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Rattachements conservés intégralement</a:t>
            </a:r>
            <a:endParaRPr lang="en-US" sz="900" dirty="0"/>
          </a:p>
        </p:txBody>
      </p:sp>
      <p:sp>
        <p:nvSpPr>
          <p:cNvPr id="58" name="Shape 53"/>
          <p:cNvSpPr/>
          <p:nvPr/>
        </p:nvSpPr>
        <p:spPr>
          <a:xfrm>
            <a:off x="10892333" y="2762402"/>
            <a:ext cx="3200400" cy="5143500"/>
          </a:xfrm>
          <a:prstGeom prst="roundRect">
            <a:avLst>
              <a:gd name="adj" fmla="val 4171"/>
            </a:avLst>
          </a:prstGeom>
          <a:solidFill>
            <a:srgbClr val="FFFFFF"/>
          </a:solidFill>
          <a:ln w="12700">
            <a:solidFill>
              <a:srgbClr val="E5E7EB"/>
            </a:solidFill>
            <a:prstDash val="solid"/>
          </a:ln>
        </p:spPr>
        <p:txBody>
          <a:bodyPr/>
          <a:lstStyle/>
          <a:p>
            <a:endParaRPr lang="fr-CI"/>
          </a:p>
        </p:txBody>
      </p:sp>
      <p:sp>
        <p:nvSpPr>
          <p:cNvPr id="59" name="Text 54"/>
          <p:cNvSpPr txBox="1"/>
          <p:nvPr/>
        </p:nvSpPr>
        <p:spPr>
          <a:xfrm>
            <a:off x="11092586" y="2962656"/>
            <a:ext cx="2800807" cy="152705"/>
          </a:xfrm>
          <a:prstGeom prst="rect">
            <a:avLst/>
          </a:prstGeom>
          <a:noFill/>
          <a:ln/>
        </p:spPr>
        <p:txBody>
          <a:bodyPr wrap="none" lIns="0" tIns="0" rIns="0" bIns="0" rtlCol="0" anchor="ctr"/>
          <a:lstStyle/>
          <a:p>
            <a:pPr marL="0" indent="0" algn="l">
              <a:buNone/>
            </a:pPr>
            <a:r>
              <a:rPr lang="en-US" sz="900" b="1" kern="0" spc="90" dirty="0">
                <a:solidFill>
                  <a:srgbClr val="6D28D9"/>
                </a:solidFill>
                <a:latin typeface="JetBrains Mono" pitchFamily="34" charset="0"/>
                <a:ea typeface="JetBrains Mono" pitchFamily="34" charset="-122"/>
                <a:cs typeface="JetBrains Mono" pitchFamily="34" charset="-120"/>
              </a:rPr>
              <a:t>04</a:t>
            </a:r>
            <a:endParaRPr lang="en-US" sz="900" dirty="0"/>
          </a:p>
        </p:txBody>
      </p:sp>
      <p:sp>
        <p:nvSpPr>
          <p:cNvPr id="60" name="Text 55"/>
          <p:cNvSpPr txBox="1"/>
          <p:nvPr/>
        </p:nvSpPr>
        <p:spPr>
          <a:xfrm>
            <a:off x="11092586" y="3191256"/>
            <a:ext cx="2800807"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Franchises</a:t>
            </a:r>
            <a:endParaRPr lang="en-US" sz="1300" dirty="0"/>
          </a:p>
        </p:txBody>
      </p:sp>
      <p:pic>
        <p:nvPicPr>
          <p:cNvPr id="61" name="Image 3" descr="gen-dedup-f07bb3bbc30382f69fe6e1471c427d6b.png"/>
          <p:cNvPicPr>
            <a:picLocks noChangeAspect="1"/>
          </p:cNvPicPr>
          <p:nvPr/>
        </p:nvPicPr>
        <p:blipFill>
          <a:blip r:embed="rId2"/>
          <a:srcRect l="-385" r="-385"/>
          <a:stretch/>
        </p:blipFill>
        <p:spPr>
          <a:xfrm>
            <a:off x="11092586" y="3495751"/>
            <a:ext cx="761695" cy="28346"/>
          </a:xfrm>
          <a:prstGeom prst="rect">
            <a:avLst/>
          </a:prstGeom>
        </p:spPr>
      </p:pic>
      <p:sp>
        <p:nvSpPr>
          <p:cNvPr id="62" name="Text 56"/>
          <p:cNvSpPr txBox="1"/>
          <p:nvPr/>
        </p:nvSpPr>
        <p:spPr>
          <a:xfrm>
            <a:off x="11092586" y="3657600"/>
            <a:ext cx="28008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Zones géographiques</a:t>
            </a:r>
            <a:endParaRPr lang="en-US" sz="900" dirty="0"/>
          </a:p>
        </p:txBody>
      </p:sp>
      <p:sp>
        <p:nvSpPr>
          <p:cNvPr id="63" name="Text 57"/>
          <p:cNvSpPr txBox="1"/>
          <p:nvPr/>
        </p:nvSpPr>
        <p:spPr>
          <a:xfrm>
            <a:off x="11092586" y="3856025"/>
            <a:ext cx="28008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Partenaires rattachés</a:t>
            </a:r>
            <a:endParaRPr lang="en-US" sz="900" dirty="0"/>
          </a:p>
        </p:txBody>
      </p:sp>
      <p:sp>
        <p:nvSpPr>
          <p:cNvPr id="64" name="Text 58"/>
          <p:cNvSpPr txBox="1"/>
          <p:nvPr/>
        </p:nvSpPr>
        <p:spPr>
          <a:xfrm>
            <a:off x="11092586" y="4053535"/>
            <a:ext cx="28008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Chauffeurs / livreurs</a:t>
            </a:r>
            <a:endParaRPr lang="en-US" sz="900" dirty="0"/>
          </a:p>
        </p:txBody>
      </p:sp>
      <p:sp>
        <p:nvSpPr>
          <p:cNvPr id="65" name="Text 59"/>
          <p:cNvSpPr txBox="1"/>
          <p:nvPr/>
        </p:nvSpPr>
        <p:spPr>
          <a:xfrm>
            <a:off x="11092586" y="4251960"/>
            <a:ext cx="28008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Données financières</a:t>
            </a:r>
            <a:endParaRPr lang="en-US" sz="900" dirty="0"/>
          </a:p>
        </p:txBody>
      </p:sp>
      <p:sp>
        <p:nvSpPr>
          <p:cNvPr id="66" name="Text 60"/>
          <p:cNvSpPr txBox="1"/>
          <p:nvPr/>
        </p:nvSpPr>
        <p:spPr>
          <a:xfrm>
            <a:off x="11092586" y="4450385"/>
            <a:ext cx="28008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Historique reporting</a:t>
            </a:r>
            <a:endParaRPr lang="en-US" sz="900" dirty="0"/>
          </a:p>
        </p:txBody>
      </p:sp>
      <p:sp>
        <p:nvSpPr>
          <p:cNvPr id="67" name="Text 61"/>
          <p:cNvSpPr txBox="1"/>
          <p:nvPr/>
        </p:nvSpPr>
        <p:spPr>
          <a:xfrm>
            <a:off x="11092586" y="4647895"/>
            <a:ext cx="2800807"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Configurations zone</a:t>
            </a:r>
            <a:endParaRPr lang="en-US" sz="900" dirty="0"/>
          </a:p>
        </p:txBody>
      </p:sp>
      <p:sp>
        <p:nvSpPr>
          <p:cNvPr id="68" name="Shape 62"/>
          <p:cNvSpPr/>
          <p:nvPr/>
        </p:nvSpPr>
        <p:spPr>
          <a:xfrm>
            <a:off x="11092586" y="4998110"/>
            <a:ext cx="2800807" cy="514807"/>
          </a:xfrm>
          <a:prstGeom prst="roundRect">
            <a:avLst>
              <a:gd name="adj" fmla="val 14742"/>
            </a:avLst>
          </a:prstGeom>
          <a:solidFill>
            <a:srgbClr val="F5F3FF"/>
          </a:solidFill>
          <a:ln w="12700">
            <a:solidFill>
              <a:srgbClr val="FFFFFF">
                <a:alpha val="0"/>
              </a:srgbClr>
            </a:solidFill>
            <a:prstDash val="solid"/>
          </a:ln>
        </p:spPr>
        <p:txBody>
          <a:bodyPr/>
          <a:lstStyle/>
          <a:p>
            <a:endParaRPr lang="fr-CI"/>
          </a:p>
        </p:txBody>
      </p:sp>
      <p:sp>
        <p:nvSpPr>
          <p:cNvPr id="69" name="Text 63"/>
          <p:cNvSpPr txBox="1"/>
          <p:nvPr/>
        </p:nvSpPr>
        <p:spPr>
          <a:xfrm>
            <a:off x="11187684" y="5094122"/>
            <a:ext cx="2610612" cy="124358"/>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CONTRÔLE</a:t>
            </a:r>
            <a:endParaRPr lang="en-US" sz="800" dirty="0"/>
          </a:p>
        </p:txBody>
      </p:sp>
      <p:sp>
        <p:nvSpPr>
          <p:cNvPr id="70" name="Text 64"/>
          <p:cNvSpPr txBox="1"/>
          <p:nvPr/>
        </p:nvSpPr>
        <p:spPr>
          <a:xfrm>
            <a:off x="11187684" y="5255971"/>
            <a:ext cx="2610612" cy="162763"/>
          </a:xfrm>
          <a:prstGeom prst="rect">
            <a:avLst/>
          </a:prstGeom>
          <a:noFill/>
          <a:ln/>
        </p:spPr>
        <p:txBody>
          <a:bodyPr wrap="none" lIns="0" tIns="0" rIns="0" bIns="0" rtlCol="0" anchor="ctr"/>
          <a:lstStyle/>
          <a:p>
            <a:pPr marL="0" indent="0" algn="l">
              <a:buNone/>
            </a:pPr>
            <a:r>
              <a:rPr lang="en-US" sz="900" dirty="0">
                <a:solidFill>
                  <a:srgbClr val="1F2937"/>
                </a:solidFill>
                <a:latin typeface="Manrope" pitchFamily="34" charset="0"/>
                <a:ea typeface="Manrope" pitchFamily="34" charset="-122"/>
                <a:cs typeface="Manrope" pitchFamily="34" charset="-120"/>
              </a:rPr>
              <a:t>Zones conservées intégralement</a:t>
            </a:r>
            <a:endParaRPr lang="en-US" sz="900" dirty="0"/>
          </a:p>
        </p:txBody>
      </p:sp>
      <p:sp>
        <p:nvSpPr>
          <p:cNvPr id="71" name="Shape 65"/>
          <p:cNvSpPr/>
          <p:nvPr/>
        </p:nvSpPr>
        <p:spPr>
          <a:xfrm>
            <a:off x="14218920" y="2762402"/>
            <a:ext cx="3200400" cy="5143500"/>
          </a:xfrm>
          <a:prstGeom prst="roundRect">
            <a:avLst>
              <a:gd name="adj" fmla="val 4171"/>
            </a:avLst>
          </a:prstGeom>
          <a:solidFill>
            <a:srgbClr val="1F2937"/>
          </a:solidFill>
          <a:ln w="12700">
            <a:solidFill>
              <a:srgbClr val="FFFFFF">
                <a:alpha val="0"/>
              </a:srgbClr>
            </a:solidFill>
            <a:prstDash val="solid"/>
          </a:ln>
        </p:spPr>
        <p:txBody>
          <a:bodyPr/>
          <a:lstStyle/>
          <a:p>
            <a:endParaRPr lang="fr-CI"/>
          </a:p>
        </p:txBody>
      </p:sp>
      <p:sp>
        <p:nvSpPr>
          <p:cNvPr id="72" name="Text 66"/>
          <p:cNvSpPr txBox="1"/>
          <p:nvPr/>
        </p:nvSpPr>
        <p:spPr>
          <a:xfrm>
            <a:off x="14409115" y="2952598"/>
            <a:ext cx="2820010" cy="152705"/>
          </a:xfrm>
          <a:prstGeom prst="rect">
            <a:avLst/>
          </a:prstGeom>
          <a:noFill/>
          <a:ln/>
        </p:spPr>
        <p:txBody>
          <a:bodyPr wrap="none" lIns="0" tIns="0" rIns="0" bIns="0" rtlCol="0" anchor="ctr"/>
          <a:lstStyle/>
          <a:p>
            <a:pPr marL="0" indent="0" algn="l">
              <a:buNone/>
            </a:pPr>
            <a:r>
              <a:rPr lang="en-US" sz="900" b="1" kern="0" spc="90" dirty="0">
                <a:solidFill>
                  <a:srgbClr val="A78BFA"/>
                </a:solidFill>
                <a:latin typeface="JetBrains Mono" pitchFamily="34" charset="0"/>
                <a:ea typeface="JetBrains Mono" pitchFamily="34" charset="-122"/>
                <a:cs typeface="JetBrains Mono" pitchFamily="34" charset="-120"/>
              </a:rPr>
              <a:t>05</a:t>
            </a:r>
            <a:endParaRPr lang="en-US" sz="900" dirty="0"/>
          </a:p>
        </p:txBody>
      </p:sp>
      <p:sp>
        <p:nvSpPr>
          <p:cNvPr id="73" name="Text 67"/>
          <p:cNvSpPr txBox="1"/>
          <p:nvPr/>
        </p:nvSpPr>
        <p:spPr>
          <a:xfrm>
            <a:off x="14409115" y="3181198"/>
            <a:ext cx="2820010" cy="228600"/>
          </a:xfrm>
          <a:prstGeom prst="rect">
            <a:avLst/>
          </a:prstGeom>
          <a:noFill/>
          <a:ln/>
        </p:spPr>
        <p:txBody>
          <a:bodyPr wrap="none" lIns="0" tIns="0" rIns="0" bIns="0" rtlCol="0" anchor="ctr"/>
          <a:lstStyle/>
          <a:p>
            <a:pPr marL="0" indent="0" algn="l">
              <a:buNone/>
            </a:pPr>
            <a:r>
              <a:rPr lang="en-US" sz="1300" b="1" dirty="0">
                <a:solidFill>
                  <a:srgbClr val="FFFFFF"/>
                </a:solidFill>
                <a:latin typeface="Manrope" pitchFamily="34" charset="0"/>
                <a:ea typeface="Manrope" pitchFamily="34" charset="-122"/>
                <a:cs typeface="Manrope" pitchFamily="34" charset="-120"/>
              </a:rPr>
              <a:t>Données financières</a:t>
            </a:r>
            <a:endParaRPr lang="en-US" sz="1300" dirty="0"/>
          </a:p>
        </p:txBody>
      </p:sp>
      <p:pic>
        <p:nvPicPr>
          <p:cNvPr id="74" name="Image 4" descr="gen-dedup-925bf33d3b8321815fba4d2fc40dd4da.png"/>
          <p:cNvPicPr>
            <a:picLocks noChangeAspect="1"/>
          </p:cNvPicPr>
          <p:nvPr/>
        </p:nvPicPr>
        <p:blipFill>
          <a:blip r:embed="rId3"/>
          <a:srcRect l="-445" r="-445"/>
          <a:stretch/>
        </p:blipFill>
        <p:spPr>
          <a:xfrm>
            <a:off x="14409115" y="3486607"/>
            <a:ext cx="381305" cy="28346"/>
          </a:xfrm>
          <a:prstGeom prst="rect">
            <a:avLst/>
          </a:prstGeom>
        </p:spPr>
      </p:pic>
      <p:sp>
        <p:nvSpPr>
          <p:cNvPr id="75" name="Text 68"/>
          <p:cNvSpPr txBox="1"/>
          <p:nvPr/>
        </p:nvSpPr>
        <p:spPr>
          <a:xfrm>
            <a:off x="14409115" y="3648456"/>
            <a:ext cx="2820010"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a:t>
            </a:r>
            <a:r>
              <a:rPr lang="en-US" sz="900" b="1" dirty="0">
                <a:solidFill>
                  <a:srgbClr val="FFFFFF"/>
                </a:solidFill>
                <a:latin typeface="Manrope" pitchFamily="34" charset="0"/>
                <a:ea typeface="Manrope" pitchFamily="34" charset="-122"/>
                <a:cs typeface="Manrope" pitchFamily="34" charset="-120"/>
              </a:rPr>
              <a:t>Wallets &amp; soldes</a:t>
            </a:r>
            <a:endParaRPr lang="en-US" sz="900" dirty="0"/>
          </a:p>
        </p:txBody>
      </p:sp>
      <p:sp>
        <p:nvSpPr>
          <p:cNvPr id="76" name="Text 69"/>
          <p:cNvSpPr txBox="1"/>
          <p:nvPr/>
        </p:nvSpPr>
        <p:spPr>
          <a:xfrm>
            <a:off x="14409115" y="3845966"/>
            <a:ext cx="2820010"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Recharges (4 voies)</a:t>
            </a:r>
            <a:endParaRPr lang="en-US" sz="900" dirty="0"/>
          </a:p>
        </p:txBody>
      </p:sp>
      <p:sp>
        <p:nvSpPr>
          <p:cNvPr id="77" name="Text 70"/>
          <p:cNvSpPr txBox="1"/>
          <p:nvPr/>
        </p:nvSpPr>
        <p:spPr>
          <a:xfrm>
            <a:off x="14409115" y="4044391"/>
            <a:ext cx="2820010"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Débits commissions</a:t>
            </a:r>
            <a:endParaRPr lang="en-US" sz="900" dirty="0"/>
          </a:p>
        </p:txBody>
      </p:sp>
      <p:sp>
        <p:nvSpPr>
          <p:cNvPr id="78" name="Text 71"/>
          <p:cNvSpPr txBox="1"/>
          <p:nvPr/>
        </p:nvSpPr>
        <p:spPr>
          <a:xfrm>
            <a:off x="14409115" y="4241902"/>
            <a:ext cx="2820010"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Transactions complètes</a:t>
            </a:r>
            <a:endParaRPr lang="en-US" sz="900" dirty="0"/>
          </a:p>
        </p:txBody>
      </p:sp>
      <p:sp>
        <p:nvSpPr>
          <p:cNvPr id="79" name="Text 72"/>
          <p:cNvSpPr txBox="1"/>
          <p:nvPr/>
        </p:nvSpPr>
        <p:spPr>
          <a:xfrm>
            <a:off x="14409115" y="4440326"/>
            <a:ext cx="2820010"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Soldes &amp; exports</a:t>
            </a:r>
            <a:endParaRPr lang="en-US" sz="900" dirty="0"/>
          </a:p>
        </p:txBody>
      </p:sp>
      <p:sp>
        <p:nvSpPr>
          <p:cNvPr id="80" name="Text 73"/>
          <p:cNvSpPr txBox="1"/>
          <p:nvPr/>
        </p:nvSpPr>
        <p:spPr>
          <a:xfrm>
            <a:off x="14409115" y="4638751"/>
            <a:ext cx="2820010"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Rapports historiques</a:t>
            </a:r>
            <a:endParaRPr lang="en-US" sz="900" dirty="0"/>
          </a:p>
        </p:txBody>
      </p:sp>
      <p:sp>
        <p:nvSpPr>
          <p:cNvPr id="81" name="Shape 74"/>
          <p:cNvSpPr/>
          <p:nvPr/>
        </p:nvSpPr>
        <p:spPr>
          <a:xfrm>
            <a:off x="14409115" y="4988966"/>
            <a:ext cx="2819095" cy="514807"/>
          </a:xfrm>
          <a:prstGeom prst="roundRect">
            <a:avLst>
              <a:gd name="adj" fmla="val 14742"/>
            </a:avLst>
          </a:prstGeom>
          <a:solidFill>
            <a:srgbClr val="4C1D95"/>
          </a:solidFill>
          <a:ln w="12700">
            <a:solidFill>
              <a:srgbClr val="FFFFFF">
                <a:alpha val="0"/>
              </a:srgbClr>
            </a:solidFill>
            <a:prstDash val="solid"/>
          </a:ln>
        </p:spPr>
        <p:txBody>
          <a:bodyPr/>
          <a:lstStyle/>
          <a:p>
            <a:endParaRPr lang="fr-CI"/>
          </a:p>
        </p:txBody>
      </p:sp>
      <p:sp>
        <p:nvSpPr>
          <p:cNvPr id="82" name="Text 75"/>
          <p:cNvSpPr txBox="1"/>
          <p:nvPr/>
        </p:nvSpPr>
        <p:spPr>
          <a:xfrm>
            <a:off x="14504213" y="5084064"/>
            <a:ext cx="2628900" cy="124358"/>
          </a:xfrm>
          <a:prstGeom prst="rect">
            <a:avLst/>
          </a:prstGeom>
          <a:noFill/>
          <a:ln/>
        </p:spPr>
        <p:txBody>
          <a:bodyPr wrap="none" lIns="0" tIns="0" rIns="0" bIns="0" rtlCol="0" anchor="ctr"/>
          <a:lstStyle/>
          <a:p>
            <a:pPr marL="0" indent="0" algn="l">
              <a:buNone/>
            </a:pPr>
            <a:r>
              <a:rPr lang="en-US" sz="800" b="1" dirty="0">
                <a:solidFill>
                  <a:srgbClr val="C4B5FD"/>
                </a:solidFill>
                <a:latin typeface="JetBrains Mono" pitchFamily="34" charset="0"/>
                <a:ea typeface="JetBrains Mono" pitchFamily="34" charset="-122"/>
                <a:cs typeface="JetBrains Mono" pitchFamily="34" charset="-120"/>
              </a:rPr>
              <a:t>CONTRÔLE</a:t>
            </a:r>
            <a:endParaRPr lang="en-US" sz="800" dirty="0"/>
          </a:p>
        </p:txBody>
      </p:sp>
      <p:sp>
        <p:nvSpPr>
          <p:cNvPr id="83" name="Text 76"/>
          <p:cNvSpPr txBox="1"/>
          <p:nvPr/>
        </p:nvSpPr>
        <p:spPr>
          <a:xfrm>
            <a:off x="14504213" y="5245913"/>
            <a:ext cx="3129077" cy="162763"/>
          </a:xfrm>
          <a:prstGeom prst="rect">
            <a:avLst/>
          </a:prstGeom>
          <a:noFill/>
          <a:ln/>
        </p:spPr>
        <p:txBody>
          <a:bodyPr wrap="none" lIns="0" tIns="0" rIns="0" bIns="0" rtlCol="0" anchor="ctr"/>
          <a:lstStyle/>
          <a:p>
            <a:pPr marL="0" indent="0" algn="l">
              <a:buNone/>
            </a:pPr>
            <a:r>
              <a:rPr lang="en-US" sz="900" dirty="0">
                <a:solidFill>
                  <a:srgbClr val="FFFFFF"/>
                </a:solidFill>
                <a:latin typeface="Manrope" pitchFamily="34" charset="0"/>
                <a:ea typeface="Manrope" pitchFamily="34" charset="-122"/>
                <a:cs typeface="Manrope" pitchFamily="34" charset="-120"/>
              </a:rPr>
              <a:t>Cohérence financière 100% — aucun écart toléré</a:t>
            </a:r>
            <a:endParaRPr lang="en-US" sz="900" dirty="0"/>
          </a:p>
        </p:txBody>
      </p:sp>
      <p:sp>
        <p:nvSpPr>
          <p:cNvPr id="84" name="Text 77"/>
          <p:cNvSpPr txBox="1"/>
          <p:nvPr/>
        </p:nvSpPr>
        <p:spPr>
          <a:xfrm>
            <a:off x="914400" y="8096098"/>
            <a:ext cx="16497605" cy="219456"/>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Contrôle post-migration — tableau de référence (§30.6)</a:t>
            </a:r>
            <a:endParaRPr lang="en-US" sz="1300" dirty="0"/>
          </a:p>
        </p:txBody>
      </p:sp>
      <p:sp>
        <p:nvSpPr>
          <p:cNvPr id="85" name="Shape 78"/>
          <p:cNvSpPr/>
          <p:nvPr/>
        </p:nvSpPr>
        <p:spPr>
          <a:xfrm>
            <a:off x="914400" y="8477402"/>
            <a:ext cx="3238805" cy="552298"/>
          </a:xfrm>
          <a:prstGeom prst="roundRect">
            <a:avLst>
              <a:gd name="adj" fmla="val 13742"/>
            </a:avLst>
          </a:prstGeom>
          <a:solidFill>
            <a:srgbClr val="FAFAFC"/>
          </a:solidFill>
          <a:ln w="12700">
            <a:solidFill>
              <a:srgbClr val="E5E7EB"/>
            </a:solidFill>
            <a:prstDash val="solid"/>
          </a:ln>
        </p:spPr>
        <p:txBody>
          <a:bodyPr/>
          <a:lstStyle/>
          <a:p>
            <a:endParaRPr lang="fr-CI"/>
          </a:p>
        </p:txBody>
      </p:sp>
      <p:sp>
        <p:nvSpPr>
          <p:cNvPr id="86" name="Text 79"/>
          <p:cNvSpPr txBox="1"/>
          <p:nvPr/>
        </p:nvSpPr>
        <p:spPr>
          <a:xfrm>
            <a:off x="1037844" y="8581644"/>
            <a:ext cx="2991002" cy="162763"/>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Clients</a:t>
            </a:r>
            <a:endParaRPr lang="en-US" sz="900" dirty="0"/>
          </a:p>
        </p:txBody>
      </p:sp>
      <p:sp>
        <p:nvSpPr>
          <p:cNvPr id="87" name="Text 80"/>
          <p:cNvSpPr txBox="1"/>
          <p:nvPr/>
        </p:nvSpPr>
        <p:spPr>
          <a:xfrm>
            <a:off x="1037844" y="8762695"/>
            <a:ext cx="2991002" cy="162763"/>
          </a:xfrm>
          <a:prstGeom prst="rect">
            <a:avLst/>
          </a:prstGeom>
          <a:noFill/>
          <a:ln/>
        </p:spPr>
        <p:txBody>
          <a:bodyPr wrap="none" lIns="0" tIns="0" rIns="0" bIns="0" rtlCol="0" anchor="ctr"/>
          <a:lstStyle/>
          <a:p>
            <a:pPr marL="0" indent="0" algn="l">
              <a:buNone/>
            </a:pPr>
            <a:r>
              <a:rPr lang="en-US" sz="900" dirty="0">
                <a:solidFill>
                  <a:srgbClr val="10B981"/>
                </a:solidFill>
                <a:latin typeface="Manrope" pitchFamily="34" charset="0"/>
                <a:ea typeface="Manrope" pitchFamily="34" charset="-122"/>
                <a:cs typeface="Manrope" pitchFamily="34" charset="-120"/>
              </a:rPr>
              <a:t>✓ Nb identique</a:t>
            </a:r>
            <a:endParaRPr lang="en-US" sz="900" dirty="0"/>
          </a:p>
        </p:txBody>
      </p:sp>
      <p:sp>
        <p:nvSpPr>
          <p:cNvPr id="88" name="Shape 81"/>
          <p:cNvSpPr/>
          <p:nvPr/>
        </p:nvSpPr>
        <p:spPr>
          <a:xfrm>
            <a:off x="4229100" y="8477402"/>
            <a:ext cx="3238805" cy="552298"/>
          </a:xfrm>
          <a:prstGeom prst="roundRect">
            <a:avLst>
              <a:gd name="adj" fmla="val 13742"/>
            </a:avLst>
          </a:prstGeom>
          <a:solidFill>
            <a:srgbClr val="FAFAFC"/>
          </a:solidFill>
          <a:ln w="12700">
            <a:solidFill>
              <a:srgbClr val="E5E7EB"/>
            </a:solidFill>
            <a:prstDash val="solid"/>
          </a:ln>
        </p:spPr>
        <p:txBody>
          <a:bodyPr/>
          <a:lstStyle/>
          <a:p>
            <a:endParaRPr lang="fr-CI"/>
          </a:p>
        </p:txBody>
      </p:sp>
      <p:sp>
        <p:nvSpPr>
          <p:cNvPr id="89" name="Text 82"/>
          <p:cNvSpPr txBox="1"/>
          <p:nvPr/>
        </p:nvSpPr>
        <p:spPr>
          <a:xfrm>
            <a:off x="4352544" y="8581644"/>
            <a:ext cx="2991002" cy="162763"/>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Chauffeurs</a:t>
            </a:r>
            <a:endParaRPr lang="en-US" sz="900" dirty="0"/>
          </a:p>
        </p:txBody>
      </p:sp>
      <p:sp>
        <p:nvSpPr>
          <p:cNvPr id="90" name="Text 83"/>
          <p:cNvSpPr txBox="1"/>
          <p:nvPr/>
        </p:nvSpPr>
        <p:spPr>
          <a:xfrm>
            <a:off x="4352544" y="8762695"/>
            <a:ext cx="2991002" cy="162763"/>
          </a:xfrm>
          <a:prstGeom prst="rect">
            <a:avLst/>
          </a:prstGeom>
          <a:noFill/>
          <a:ln/>
        </p:spPr>
        <p:txBody>
          <a:bodyPr wrap="none" lIns="0" tIns="0" rIns="0" bIns="0" rtlCol="0" anchor="ctr"/>
          <a:lstStyle/>
          <a:p>
            <a:pPr marL="0" indent="0" algn="l">
              <a:buNone/>
            </a:pPr>
            <a:r>
              <a:rPr lang="en-US" sz="900" dirty="0">
                <a:solidFill>
                  <a:srgbClr val="10B981"/>
                </a:solidFill>
                <a:latin typeface="Manrope" pitchFamily="34" charset="0"/>
                <a:ea typeface="Manrope" pitchFamily="34" charset="-122"/>
                <a:cs typeface="Manrope" pitchFamily="34" charset="-120"/>
              </a:rPr>
              <a:t>✓ Nb identique</a:t>
            </a:r>
            <a:endParaRPr lang="en-US" sz="900" dirty="0"/>
          </a:p>
        </p:txBody>
      </p:sp>
      <p:sp>
        <p:nvSpPr>
          <p:cNvPr id="91" name="Shape 84"/>
          <p:cNvSpPr/>
          <p:nvPr/>
        </p:nvSpPr>
        <p:spPr>
          <a:xfrm>
            <a:off x="7543800" y="8477402"/>
            <a:ext cx="3238805" cy="552298"/>
          </a:xfrm>
          <a:prstGeom prst="roundRect">
            <a:avLst>
              <a:gd name="adj" fmla="val 13742"/>
            </a:avLst>
          </a:prstGeom>
          <a:solidFill>
            <a:srgbClr val="FAFAFC"/>
          </a:solidFill>
          <a:ln w="12700">
            <a:solidFill>
              <a:srgbClr val="E5E7EB"/>
            </a:solidFill>
            <a:prstDash val="solid"/>
          </a:ln>
        </p:spPr>
        <p:txBody>
          <a:bodyPr/>
          <a:lstStyle/>
          <a:p>
            <a:endParaRPr lang="fr-CI"/>
          </a:p>
        </p:txBody>
      </p:sp>
      <p:sp>
        <p:nvSpPr>
          <p:cNvPr id="92" name="Text 85"/>
          <p:cNvSpPr txBox="1"/>
          <p:nvPr/>
        </p:nvSpPr>
        <p:spPr>
          <a:xfrm>
            <a:off x="7667244" y="8581644"/>
            <a:ext cx="2991002" cy="162763"/>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Livreurs</a:t>
            </a:r>
            <a:endParaRPr lang="en-US" sz="900" dirty="0"/>
          </a:p>
        </p:txBody>
      </p:sp>
      <p:sp>
        <p:nvSpPr>
          <p:cNvPr id="93" name="Text 86"/>
          <p:cNvSpPr txBox="1"/>
          <p:nvPr/>
        </p:nvSpPr>
        <p:spPr>
          <a:xfrm>
            <a:off x="7667244" y="8762695"/>
            <a:ext cx="2991002" cy="162763"/>
          </a:xfrm>
          <a:prstGeom prst="rect">
            <a:avLst/>
          </a:prstGeom>
          <a:noFill/>
          <a:ln/>
        </p:spPr>
        <p:txBody>
          <a:bodyPr wrap="none" lIns="0" tIns="0" rIns="0" bIns="0" rtlCol="0" anchor="ctr"/>
          <a:lstStyle/>
          <a:p>
            <a:pPr marL="0" indent="0" algn="l">
              <a:buNone/>
            </a:pPr>
            <a:r>
              <a:rPr lang="en-US" sz="900" dirty="0">
                <a:solidFill>
                  <a:srgbClr val="10B981"/>
                </a:solidFill>
                <a:latin typeface="Manrope" pitchFamily="34" charset="0"/>
                <a:ea typeface="Manrope" pitchFamily="34" charset="-122"/>
                <a:cs typeface="Manrope" pitchFamily="34" charset="-120"/>
              </a:rPr>
              <a:t>✓ Nb identique</a:t>
            </a:r>
            <a:endParaRPr lang="en-US" sz="900" dirty="0"/>
          </a:p>
        </p:txBody>
      </p:sp>
      <p:sp>
        <p:nvSpPr>
          <p:cNvPr id="94" name="Shape 87"/>
          <p:cNvSpPr/>
          <p:nvPr/>
        </p:nvSpPr>
        <p:spPr>
          <a:xfrm>
            <a:off x="10858500" y="8477402"/>
            <a:ext cx="3238805" cy="552298"/>
          </a:xfrm>
          <a:prstGeom prst="roundRect">
            <a:avLst>
              <a:gd name="adj" fmla="val 13742"/>
            </a:avLst>
          </a:prstGeom>
          <a:solidFill>
            <a:srgbClr val="FAFAFC"/>
          </a:solidFill>
          <a:ln w="12700">
            <a:solidFill>
              <a:srgbClr val="E5E7EB"/>
            </a:solidFill>
            <a:prstDash val="solid"/>
          </a:ln>
        </p:spPr>
        <p:txBody>
          <a:bodyPr/>
          <a:lstStyle/>
          <a:p>
            <a:endParaRPr lang="fr-CI"/>
          </a:p>
        </p:txBody>
      </p:sp>
      <p:sp>
        <p:nvSpPr>
          <p:cNvPr id="95" name="Text 88"/>
          <p:cNvSpPr txBox="1"/>
          <p:nvPr/>
        </p:nvSpPr>
        <p:spPr>
          <a:xfrm>
            <a:off x="10981944" y="8581644"/>
            <a:ext cx="2991002" cy="162763"/>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Partenaires</a:t>
            </a:r>
            <a:endParaRPr lang="en-US" sz="900" dirty="0"/>
          </a:p>
        </p:txBody>
      </p:sp>
      <p:sp>
        <p:nvSpPr>
          <p:cNvPr id="96" name="Text 89"/>
          <p:cNvSpPr txBox="1"/>
          <p:nvPr/>
        </p:nvSpPr>
        <p:spPr>
          <a:xfrm>
            <a:off x="10981944" y="8762695"/>
            <a:ext cx="2991002" cy="162763"/>
          </a:xfrm>
          <a:prstGeom prst="rect">
            <a:avLst/>
          </a:prstGeom>
          <a:noFill/>
          <a:ln/>
        </p:spPr>
        <p:txBody>
          <a:bodyPr wrap="none" lIns="0" tIns="0" rIns="0" bIns="0" rtlCol="0" anchor="ctr"/>
          <a:lstStyle/>
          <a:p>
            <a:pPr marL="0" indent="0" algn="l">
              <a:buNone/>
            </a:pPr>
            <a:r>
              <a:rPr lang="en-US" sz="900" dirty="0">
                <a:solidFill>
                  <a:srgbClr val="10B981"/>
                </a:solidFill>
                <a:latin typeface="Manrope" pitchFamily="34" charset="0"/>
                <a:ea typeface="Manrope" pitchFamily="34" charset="-122"/>
                <a:cs typeface="Manrope" pitchFamily="34" charset="-120"/>
              </a:rPr>
              <a:t>✓ Rattachements OK</a:t>
            </a:r>
            <a:endParaRPr lang="en-US" sz="900" dirty="0"/>
          </a:p>
        </p:txBody>
      </p:sp>
      <p:sp>
        <p:nvSpPr>
          <p:cNvPr id="97" name="Shape 90"/>
          <p:cNvSpPr/>
          <p:nvPr/>
        </p:nvSpPr>
        <p:spPr>
          <a:xfrm>
            <a:off x="14173200" y="8477402"/>
            <a:ext cx="3238805" cy="552298"/>
          </a:xfrm>
          <a:prstGeom prst="roundRect">
            <a:avLst>
              <a:gd name="adj" fmla="val 13742"/>
            </a:avLst>
          </a:prstGeom>
          <a:solidFill>
            <a:srgbClr val="FAFAFC"/>
          </a:solidFill>
          <a:ln w="12700">
            <a:solidFill>
              <a:srgbClr val="E5E7EB"/>
            </a:solidFill>
            <a:prstDash val="solid"/>
          </a:ln>
        </p:spPr>
        <p:txBody>
          <a:bodyPr/>
          <a:lstStyle/>
          <a:p>
            <a:endParaRPr lang="fr-CI"/>
          </a:p>
        </p:txBody>
      </p:sp>
      <p:sp>
        <p:nvSpPr>
          <p:cNvPr id="98" name="Text 91"/>
          <p:cNvSpPr txBox="1"/>
          <p:nvPr/>
        </p:nvSpPr>
        <p:spPr>
          <a:xfrm>
            <a:off x="14296644" y="8581644"/>
            <a:ext cx="2991002" cy="162763"/>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Franchises</a:t>
            </a:r>
            <a:endParaRPr lang="en-US" sz="900" dirty="0"/>
          </a:p>
        </p:txBody>
      </p:sp>
      <p:sp>
        <p:nvSpPr>
          <p:cNvPr id="99" name="Text 92"/>
          <p:cNvSpPr txBox="1"/>
          <p:nvPr/>
        </p:nvSpPr>
        <p:spPr>
          <a:xfrm>
            <a:off x="14296644" y="8762695"/>
            <a:ext cx="2991002" cy="162763"/>
          </a:xfrm>
          <a:prstGeom prst="rect">
            <a:avLst/>
          </a:prstGeom>
          <a:noFill/>
          <a:ln/>
        </p:spPr>
        <p:txBody>
          <a:bodyPr wrap="none" lIns="0" tIns="0" rIns="0" bIns="0" rtlCol="0" anchor="ctr"/>
          <a:lstStyle/>
          <a:p>
            <a:pPr marL="0" indent="0" algn="l">
              <a:buNone/>
            </a:pPr>
            <a:r>
              <a:rPr lang="en-US" sz="900" dirty="0">
                <a:solidFill>
                  <a:srgbClr val="10B981"/>
                </a:solidFill>
                <a:latin typeface="Manrope" pitchFamily="34" charset="0"/>
                <a:ea typeface="Manrope" pitchFamily="34" charset="-122"/>
                <a:cs typeface="Manrope" pitchFamily="34" charset="-120"/>
              </a:rPr>
              <a:t>✓ Zones OK</a:t>
            </a:r>
            <a:endParaRPr lang="en-US" sz="900" dirty="0"/>
          </a:p>
        </p:txBody>
      </p:sp>
      <p:sp>
        <p:nvSpPr>
          <p:cNvPr id="100" name="Shape 93"/>
          <p:cNvSpPr/>
          <p:nvPr/>
        </p:nvSpPr>
        <p:spPr>
          <a:xfrm>
            <a:off x="914400" y="9105595"/>
            <a:ext cx="3238805" cy="552298"/>
          </a:xfrm>
          <a:prstGeom prst="roundRect">
            <a:avLst>
              <a:gd name="adj" fmla="val 13742"/>
            </a:avLst>
          </a:prstGeom>
          <a:solidFill>
            <a:srgbClr val="FAFAFC"/>
          </a:solidFill>
          <a:ln w="12700">
            <a:solidFill>
              <a:srgbClr val="E5E7EB"/>
            </a:solidFill>
            <a:prstDash val="solid"/>
          </a:ln>
        </p:spPr>
        <p:txBody>
          <a:bodyPr/>
          <a:lstStyle/>
          <a:p>
            <a:endParaRPr lang="fr-CI"/>
          </a:p>
        </p:txBody>
      </p:sp>
      <p:sp>
        <p:nvSpPr>
          <p:cNvPr id="101" name="Text 94"/>
          <p:cNvSpPr txBox="1"/>
          <p:nvPr/>
        </p:nvSpPr>
        <p:spPr>
          <a:xfrm>
            <a:off x="1037844" y="9210751"/>
            <a:ext cx="2991002" cy="162763"/>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Véhicules</a:t>
            </a:r>
            <a:endParaRPr lang="en-US" sz="900" dirty="0"/>
          </a:p>
        </p:txBody>
      </p:sp>
      <p:sp>
        <p:nvSpPr>
          <p:cNvPr id="102" name="Text 95"/>
          <p:cNvSpPr txBox="1"/>
          <p:nvPr/>
        </p:nvSpPr>
        <p:spPr>
          <a:xfrm>
            <a:off x="1037844" y="9391802"/>
            <a:ext cx="2991002" cy="162763"/>
          </a:xfrm>
          <a:prstGeom prst="rect">
            <a:avLst/>
          </a:prstGeom>
          <a:noFill/>
          <a:ln/>
        </p:spPr>
        <p:txBody>
          <a:bodyPr wrap="none" lIns="0" tIns="0" rIns="0" bIns="0" rtlCol="0" anchor="ctr"/>
          <a:lstStyle/>
          <a:p>
            <a:pPr marL="0" indent="0" algn="l">
              <a:buNone/>
            </a:pPr>
            <a:r>
              <a:rPr lang="en-US" sz="900" dirty="0">
                <a:solidFill>
                  <a:srgbClr val="10B981"/>
                </a:solidFill>
                <a:latin typeface="Manrope" pitchFamily="34" charset="0"/>
                <a:ea typeface="Manrope" pitchFamily="34" charset="-122"/>
                <a:cs typeface="Manrope" pitchFamily="34" charset="-120"/>
              </a:rPr>
              <a:t>✓ Liens conservés</a:t>
            </a:r>
            <a:endParaRPr lang="en-US" sz="900" dirty="0"/>
          </a:p>
        </p:txBody>
      </p:sp>
      <p:sp>
        <p:nvSpPr>
          <p:cNvPr id="103" name="Shape 96"/>
          <p:cNvSpPr/>
          <p:nvPr/>
        </p:nvSpPr>
        <p:spPr>
          <a:xfrm>
            <a:off x="4229100" y="9105595"/>
            <a:ext cx="3238805" cy="552298"/>
          </a:xfrm>
          <a:prstGeom prst="roundRect">
            <a:avLst>
              <a:gd name="adj" fmla="val 13742"/>
            </a:avLst>
          </a:prstGeom>
          <a:solidFill>
            <a:srgbClr val="F5F3FF"/>
          </a:solidFill>
          <a:ln w="12700">
            <a:solidFill>
              <a:srgbClr val="DDD6FE"/>
            </a:solidFill>
            <a:prstDash val="solid"/>
          </a:ln>
        </p:spPr>
        <p:txBody>
          <a:bodyPr/>
          <a:lstStyle/>
          <a:p>
            <a:endParaRPr lang="fr-CI"/>
          </a:p>
        </p:txBody>
      </p:sp>
      <p:sp>
        <p:nvSpPr>
          <p:cNvPr id="104" name="Text 97"/>
          <p:cNvSpPr txBox="1"/>
          <p:nvPr/>
        </p:nvSpPr>
        <p:spPr>
          <a:xfrm>
            <a:off x="4352544" y="9210751"/>
            <a:ext cx="2991002" cy="162763"/>
          </a:xfrm>
          <a:prstGeom prst="rect">
            <a:avLst/>
          </a:prstGeom>
          <a:noFill/>
          <a:ln/>
        </p:spPr>
        <p:txBody>
          <a:bodyPr wrap="none" lIns="0" tIns="0" rIns="0" bIns="0" rtlCol="0" anchor="ctr"/>
          <a:lstStyle/>
          <a:p>
            <a:pPr marL="0" indent="0" algn="l">
              <a:buNone/>
            </a:pPr>
            <a:r>
              <a:rPr lang="en-US" sz="900" b="1" dirty="0">
                <a:solidFill>
                  <a:srgbClr val="6D28D9"/>
                </a:solidFill>
                <a:latin typeface="Manrope" pitchFamily="34" charset="0"/>
                <a:ea typeface="Manrope" pitchFamily="34" charset="-122"/>
                <a:cs typeface="Manrope" pitchFamily="34" charset="-120"/>
              </a:rPr>
              <a:t>Wallets</a:t>
            </a:r>
            <a:endParaRPr lang="en-US" sz="900" dirty="0"/>
          </a:p>
        </p:txBody>
      </p:sp>
      <p:sp>
        <p:nvSpPr>
          <p:cNvPr id="105" name="Text 98"/>
          <p:cNvSpPr txBox="1"/>
          <p:nvPr/>
        </p:nvSpPr>
        <p:spPr>
          <a:xfrm>
            <a:off x="4352544" y="9391802"/>
            <a:ext cx="2991002" cy="162763"/>
          </a:xfrm>
          <a:prstGeom prst="rect">
            <a:avLst/>
          </a:prstGeom>
          <a:noFill/>
          <a:ln/>
        </p:spPr>
        <p:txBody>
          <a:bodyPr wrap="none" lIns="0" tIns="0" rIns="0" bIns="0" rtlCol="0" anchor="ctr"/>
          <a:lstStyle/>
          <a:p>
            <a:pPr marL="0" indent="0" algn="l">
              <a:buNone/>
            </a:pPr>
            <a:r>
              <a:rPr lang="en-US" sz="900" dirty="0">
                <a:solidFill>
                  <a:srgbClr val="10B981"/>
                </a:solidFill>
                <a:latin typeface="Manrope" pitchFamily="34" charset="0"/>
                <a:ea typeface="Manrope" pitchFamily="34" charset="-122"/>
                <a:cs typeface="Manrope" pitchFamily="34" charset="-120"/>
              </a:rPr>
              <a:t>✓ Soldes identiques</a:t>
            </a:r>
            <a:endParaRPr lang="en-US" sz="900" dirty="0"/>
          </a:p>
        </p:txBody>
      </p:sp>
      <p:sp>
        <p:nvSpPr>
          <p:cNvPr id="106" name="Shape 99"/>
          <p:cNvSpPr/>
          <p:nvPr/>
        </p:nvSpPr>
        <p:spPr>
          <a:xfrm>
            <a:off x="7543800" y="9105595"/>
            <a:ext cx="3238805" cy="552298"/>
          </a:xfrm>
          <a:prstGeom prst="roundRect">
            <a:avLst>
              <a:gd name="adj" fmla="val 13742"/>
            </a:avLst>
          </a:prstGeom>
          <a:solidFill>
            <a:srgbClr val="F5F3FF"/>
          </a:solidFill>
          <a:ln w="12700">
            <a:solidFill>
              <a:srgbClr val="DDD6FE"/>
            </a:solidFill>
            <a:prstDash val="solid"/>
          </a:ln>
        </p:spPr>
        <p:txBody>
          <a:bodyPr/>
          <a:lstStyle/>
          <a:p>
            <a:endParaRPr lang="fr-CI"/>
          </a:p>
        </p:txBody>
      </p:sp>
      <p:sp>
        <p:nvSpPr>
          <p:cNvPr id="107" name="Text 100"/>
          <p:cNvSpPr txBox="1"/>
          <p:nvPr/>
        </p:nvSpPr>
        <p:spPr>
          <a:xfrm>
            <a:off x="7667244" y="9210751"/>
            <a:ext cx="2991002" cy="162763"/>
          </a:xfrm>
          <a:prstGeom prst="rect">
            <a:avLst/>
          </a:prstGeom>
          <a:noFill/>
          <a:ln/>
        </p:spPr>
        <p:txBody>
          <a:bodyPr wrap="none" lIns="0" tIns="0" rIns="0" bIns="0" rtlCol="0" anchor="ctr"/>
          <a:lstStyle/>
          <a:p>
            <a:pPr marL="0" indent="0" algn="l">
              <a:buNone/>
            </a:pPr>
            <a:r>
              <a:rPr lang="en-US" sz="900" b="1" dirty="0">
                <a:solidFill>
                  <a:srgbClr val="6D28D9"/>
                </a:solidFill>
                <a:latin typeface="Manrope" pitchFamily="34" charset="0"/>
                <a:ea typeface="Manrope" pitchFamily="34" charset="-122"/>
                <a:cs typeface="Manrope" pitchFamily="34" charset="-120"/>
              </a:rPr>
              <a:t>Transactions</a:t>
            </a:r>
            <a:endParaRPr lang="en-US" sz="900" dirty="0"/>
          </a:p>
        </p:txBody>
      </p:sp>
      <p:sp>
        <p:nvSpPr>
          <p:cNvPr id="108" name="Text 101"/>
          <p:cNvSpPr txBox="1"/>
          <p:nvPr/>
        </p:nvSpPr>
        <p:spPr>
          <a:xfrm>
            <a:off x="7667244" y="9391802"/>
            <a:ext cx="2991002" cy="162763"/>
          </a:xfrm>
          <a:prstGeom prst="rect">
            <a:avLst/>
          </a:prstGeom>
          <a:noFill/>
          <a:ln/>
        </p:spPr>
        <p:txBody>
          <a:bodyPr wrap="none" lIns="0" tIns="0" rIns="0" bIns="0" rtlCol="0" anchor="ctr"/>
          <a:lstStyle/>
          <a:p>
            <a:pPr marL="0" indent="0" algn="l">
              <a:buNone/>
            </a:pPr>
            <a:r>
              <a:rPr lang="en-US" sz="900" dirty="0">
                <a:solidFill>
                  <a:srgbClr val="10B981"/>
                </a:solidFill>
                <a:latin typeface="Manrope" pitchFamily="34" charset="0"/>
                <a:ea typeface="Manrope" pitchFamily="34" charset="-122"/>
                <a:cs typeface="Manrope" pitchFamily="34" charset="-120"/>
              </a:rPr>
              <a:t>✓ Historiques OK</a:t>
            </a:r>
            <a:endParaRPr lang="en-US" sz="900" dirty="0"/>
          </a:p>
        </p:txBody>
      </p:sp>
      <p:sp>
        <p:nvSpPr>
          <p:cNvPr id="109" name="Shape 102"/>
          <p:cNvSpPr/>
          <p:nvPr/>
        </p:nvSpPr>
        <p:spPr>
          <a:xfrm>
            <a:off x="10858500" y="9105595"/>
            <a:ext cx="3238805" cy="552298"/>
          </a:xfrm>
          <a:prstGeom prst="roundRect">
            <a:avLst>
              <a:gd name="adj" fmla="val 13742"/>
            </a:avLst>
          </a:prstGeom>
          <a:solidFill>
            <a:srgbClr val="FAFAFC"/>
          </a:solidFill>
          <a:ln w="12700">
            <a:solidFill>
              <a:srgbClr val="E5E7EB"/>
            </a:solidFill>
            <a:prstDash val="solid"/>
          </a:ln>
        </p:spPr>
        <p:txBody>
          <a:bodyPr/>
          <a:lstStyle/>
          <a:p>
            <a:endParaRPr lang="fr-CI"/>
          </a:p>
        </p:txBody>
      </p:sp>
      <p:sp>
        <p:nvSpPr>
          <p:cNvPr id="110" name="Text 103"/>
          <p:cNvSpPr txBox="1"/>
          <p:nvPr/>
        </p:nvSpPr>
        <p:spPr>
          <a:xfrm>
            <a:off x="10981944" y="9210751"/>
            <a:ext cx="2991002" cy="162763"/>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Documents</a:t>
            </a:r>
            <a:endParaRPr lang="en-US" sz="900" dirty="0"/>
          </a:p>
        </p:txBody>
      </p:sp>
      <p:sp>
        <p:nvSpPr>
          <p:cNvPr id="111" name="Text 104"/>
          <p:cNvSpPr txBox="1"/>
          <p:nvPr/>
        </p:nvSpPr>
        <p:spPr>
          <a:xfrm>
            <a:off x="10981944" y="9391802"/>
            <a:ext cx="2991002" cy="162763"/>
          </a:xfrm>
          <a:prstGeom prst="rect">
            <a:avLst/>
          </a:prstGeom>
          <a:noFill/>
          <a:ln/>
        </p:spPr>
        <p:txBody>
          <a:bodyPr wrap="none" lIns="0" tIns="0" rIns="0" bIns="0" rtlCol="0" anchor="ctr"/>
          <a:lstStyle/>
          <a:p>
            <a:pPr marL="0" indent="0" algn="l">
              <a:buNone/>
            </a:pPr>
            <a:r>
              <a:rPr lang="en-US" sz="900" dirty="0">
                <a:solidFill>
                  <a:srgbClr val="10B981"/>
                </a:solidFill>
                <a:latin typeface="Manrope" pitchFamily="34" charset="0"/>
                <a:ea typeface="Manrope" pitchFamily="34" charset="-122"/>
                <a:cs typeface="Manrope" pitchFamily="34" charset="-120"/>
              </a:rPr>
              <a:t>✓ Fichiers accessibles</a:t>
            </a:r>
            <a:endParaRPr lang="en-US" sz="900" dirty="0"/>
          </a:p>
        </p:txBody>
      </p:sp>
      <p:sp>
        <p:nvSpPr>
          <p:cNvPr id="112" name="Shape 105"/>
          <p:cNvSpPr/>
          <p:nvPr/>
        </p:nvSpPr>
        <p:spPr>
          <a:xfrm>
            <a:off x="14173200" y="9105595"/>
            <a:ext cx="3238805" cy="552298"/>
          </a:xfrm>
          <a:prstGeom prst="roundRect">
            <a:avLst>
              <a:gd name="adj" fmla="val 13742"/>
            </a:avLst>
          </a:prstGeom>
          <a:solidFill>
            <a:srgbClr val="FAFAFC"/>
          </a:solidFill>
          <a:ln w="12700">
            <a:solidFill>
              <a:srgbClr val="E5E7EB"/>
            </a:solidFill>
            <a:prstDash val="solid"/>
          </a:ln>
        </p:spPr>
        <p:txBody>
          <a:bodyPr/>
          <a:lstStyle/>
          <a:p>
            <a:endParaRPr lang="fr-CI"/>
          </a:p>
        </p:txBody>
      </p:sp>
      <p:sp>
        <p:nvSpPr>
          <p:cNvPr id="113" name="Text 106"/>
          <p:cNvSpPr txBox="1"/>
          <p:nvPr/>
        </p:nvSpPr>
        <p:spPr>
          <a:xfrm>
            <a:off x="14296644" y="9210751"/>
            <a:ext cx="2991002" cy="162763"/>
          </a:xfrm>
          <a:prstGeom prst="rect">
            <a:avLst/>
          </a:prstGeom>
          <a:noFill/>
          <a:ln/>
        </p:spPr>
        <p:txBody>
          <a:bodyPr wrap="none" lIns="0" tIns="0" rIns="0" bIns="0" rtlCol="0" anchor="ctr"/>
          <a:lstStyle/>
          <a:p>
            <a:pPr marL="0" indent="0" algn="l">
              <a:buNone/>
            </a:pPr>
            <a:r>
              <a:rPr lang="en-US" sz="900" b="1" dirty="0">
                <a:solidFill>
                  <a:srgbClr val="1F2937"/>
                </a:solidFill>
                <a:latin typeface="Manrope" pitchFamily="34" charset="0"/>
                <a:ea typeface="Manrope" pitchFamily="34" charset="-122"/>
                <a:cs typeface="Manrope" pitchFamily="34" charset="-120"/>
              </a:rPr>
              <a:t>Statuts</a:t>
            </a:r>
            <a:endParaRPr lang="en-US" sz="900" dirty="0"/>
          </a:p>
        </p:txBody>
      </p:sp>
      <p:sp>
        <p:nvSpPr>
          <p:cNvPr id="114" name="Text 107"/>
          <p:cNvSpPr txBox="1"/>
          <p:nvPr/>
        </p:nvSpPr>
        <p:spPr>
          <a:xfrm>
            <a:off x="14296644" y="9391802"/>
            <a:ext cx="2991002" cy="162763"/>
          </a:xfrm>
          <a:prstGeom prst="rect">
            <a:avLst/>
          </a:prstGeom>
          <a:noFill/>
          <a:ln/>
        </p:spPr>
        <p:txBody>
          <a:bodyPr wrap="none" lIns="0" tIns="0" rIns="0" bIns="0" rtlCol="0" anchor="ctr"/>
          <a:lstStyle/>
          <a:p>
            <a:pPr marL="0" indent="0" algn="l">
              <a:buNone/>
            </a:pPr>
            <a:r>
              <a:rPr lang="en-US" sz="900" dirty="0">
                <a:solidFill>
                  <a:srgbClr val="10B981"/>
                </a:solidFill>
                <a:latin typeface="Manrope" pitchFamily="34" charset="0"/>
                <a:ea typeface="Manrope" pitchFamily="34" charset="-122"/>
                <a:cs typeface="Manrope" pitchFamily="34" charset="-120"/>
              </a:rPr>
              <a:t>✓ Statuts conservés</a:t>
            </a:r>
            <a:endParaRPr lang="en-US" sz="900" dirty="0"/>
          </a:p>
        </p:txBody>
      </p:sp>
      <p:sp>
        <p:nvSpPr>
          <p:cNvPr id="115" name="Shape 108"/>
          <p:cNvSpPr/>
          <p:nvPr/>
        </p:nvSpPr>
        <p:spPr>
          <a:xfrm>
            <a:off x="0" y="9791395"/>
            <a:ext cx="18288000" cy="495605"/>
          </a:xfrm>
          <a:prstGeom prst="rect">
            <a:avLst/>
          </a:prstGeom>
          <a:solidFill>
            <a:srgbClr val="FFFFFF"/>
          </a:solidFill>
          <a:ln/>
        </p:spPr>
        <p:txBody>
          <a:bodyPr/>
          <a:lstStyle/>
          <a:p>
            <a:endParaRPr lang="fr-CI"/>
          </a:p>
        </p:txBody>
      </p:sp>
      <p:sp>
        <p:nvSpPr>
          <p:cNvPr id="116" name="Shape 109"/>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117" name="Text 110"/>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118" name="Text 111"/>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55 / 59</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5197328" y="256946"/>
            <a:ext cx="2952598"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Partie XII — §31 &amp; §32 Basculement</a:t>
            </a:r>
            <a:endParaRPr lang="en-US" sz="900" dirty="0"/>
          </a:p>
        </p:txBody>
      </p:sp>
      <p:sp>
        <p:nvSpPr>
          <p:cNvPr id="10" name="Text 8"/>
          <p:cNvSpPr txBox="1"/>
          <p:nvPr/>
        </p:nvSpPr>
        <p:spPr>
          <a:xfrm>
            <a:off x="914400" y="1205179"/>
            <a:ext cx="4891126"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31. &amp; 32. Basculement sans impact utilisateur</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8479110"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10 mesures obligatoires pour préserver les utilisateurs déjà inscrits.</a:t>
            </a:r>
            <a:endParaRPr lang="en-US" sz="3900" dirty="0"/>
          </a:p>
        </p:txBody>
      </p:sp>
      <p:sp>
        <p:nvSpPr>
          <p:cNvPr id="13" name="Shape 11"/>
          <p:cNvSpPr/>
          <p:nvPr/>
        </p:nvSpPr>
        <p:spPr>
          <a:xfrm>
            <a:off x="914400" y="2762402"/>
            <a:ext cx="10477195" cy="6762902"/>
          </a:xfrm>
          <a:prstGeom prst="roundRect">
            <a:avLst>
              <a:gd name="adj" fmla="val 1974"/>
            </a:avLst>
          </a:prstGeom>
          <a:solidFill>
            <a:srgbClr val="FAFAFC"/>
          </a:solidFill>
          <a:ln w="12700">
            <a:solidFill>
              <a:srgbClr val="E5E7EB"/>
            </a:solidFill>
            <a:prstDash val="solid"/>
          </a:ln>
        </p:spPr>
        <p:txBody>
          <a:bodyPr/>
          <a:lstStyle/>
          <a:p>
            <a:endParaRPr lang="fr-CI"/>
          </a:p>
        </p:txBody>
      </p:sp>
      <p:sp>
        <p:nvSpPr>
          <p:cNvPr id="14" name="Text 12"/>
          <p:cNvSpPr txBox="1"/>
          <p:nvPr/>
        </p:nvSpPr>
        <p:spPr>
          <a:xfrm>
            <a:off x="1218895" y="3010205"/>
            <a:ext cx="9906610" cy="152705"/>
          </a:xfrm>
          <a:prstGeom prst="rect">
            <a:avLst/>
          </a:prstGeom>
          <a:noFill/>
          <a:ln/>
        </p:spPr>
        <p:txBody>
          <a:bodyPr wrap="none" lIns="0" tIns="0" rIns="0" bIns="0" rtlCol="0" anchor="ctr"/>
          <a:lstStyle/>
          <a:p>
            <a:pPr marL="0" indent="0" algn="l">
              <a:buNone/>
            </a:pPr>
            <a:r>
              <a:rPr lang="en-US" sz="900" b="1" kern="0" spc="108" dirty="0">
                <a:solidFill>
                  <a:srgbClr val="6D28D9"/>
                </a:solidFill>
                <a:latin typeface="JetBrains Mono" pitchFamily="34" charset="0"/>
                <a:ea typeface="JetBrains Mono" pitchFamily="34" charset="-122"/>
                <a:cs typeface="JetBrains Mono" pitchFamily="34" charset="-120"/>
              </a:rPr>
              <a:t>31. Mesures obligatoires</a:t>
            </a:r>
            <a:endParaRPr lang="en-US" sz="900" dirty="0"/>
          </a:p>
        </p:txBody>
      </p:sp>
      <p:sp>
        <p:nvSpPr>
          <p:cNvPr id="15" name="Text 13"/>
          <p:cNvSpPr txBox="1"/>
          <p:nvPr/>
        </p:nvSpPr>
        <p:spPr>
          <a:xfrm>
            <a:off x="1218895" y="3238805"/>
            <a:ext cx="9906610" cy="267005"/>
          </a:xfrm>
          <a:prstGeom prst="rect">
            <a:avLst/>
          </a:prstGeom>
          <a:noFill/>
          <a:ln/>
        </p:spPr>
        <p:txBody>
          <a:bodyPr wrap="none" lIns="0" tIns="0" rIns="0" bIns="0" rtlCol="0" anchor="ctr"/>
          <a:lstStyle/>
          <a:p>
            <a:pPr marL="0" indent="0" algn="l">
              <a:buNone/>
            </a:pPr>
            <a:r>
              <a:rPr lang="en-US" sz="1600" b="1" dirty="0">
                <a:solidFill>
                  <a:srgbClr val="1F2937"/>
                </a:solidFill>
                <a:latin typeface="Manrope" pitchFamily="34" charset="0"/>
                <a:ea typeface="Manrope" pitchFamily="34" charset="-122"/>
                <a:cs typeface="Manrope" pitchFamily="34" charset="-120"/>
              </a:rPr>
              <a:t>10 garde-fous pour les utilisateurs existants</a:t>
            </a:r>
            <a:endParaRPr lang="en-US" sz="1600" dirty="0"/>
          </a:p>
        </p:txBody>
      </p:sp>
      <p:sp>
        <p:nvSpPr>
          <p:cNvPr id="16" name="Shape 14"/>
          <p:cNvSpPr/>
          <p:nvPr/>
        </p:nvSpPr>
        <p:spPr>
          <a:xfrm>
            <a:off x="1218895" y="3690518"/>
            <a:ext cx="4839005" cy="609905"/>
          </a:xfrm>
          <a:prstGeom prst="roundRect">
            <a:avLst>
              <a:gd name="adj" fmla="val 15592"/>
            </a:avLst>
          </a:prstGeom>
          <a:solidFill>
            <a:srgbClr val="FFFFFF"/>
          </a:solidFill>
          <a:ln/>
        </p:spPr>
        <p:txBody>
          <a:bodyPr/>
          <a:lstStyle/>
          <a:p>
            <a:endParaRPr lang="fr-CI"/>
          </a:p>
        </p:txBody>
      </p:sp>
      <p:sp>
        <p:nvSpPr>
          <p:cNvPr id="17" name="Shape 15"/>
          <p:cNvSpPr/>
          <p:nvPr/>
        </p:nvSpPr>
        <p:spPr>
          <a:xfrm>
            <a:off x="1218895" y="3690518"/>
            <a:ext cx="28346" cy="609905"/>
          </a:xfrm>
          <a:prstGeom prst="roundRect">
            <a:avLst>
              <a:gd name="adj" fmla="val 335489"/>
            </a:avLst>
          </a:prstGeom>
          <a:solidFill>
            <a:srgbClr val="6D28D9"/>
          </a:solidFill>
          <a:ln w="12700">
            <a:solidFill>
              <a:srgbClr val="6D28D9">
                <a:alpha val="0"/>
              </a:srgbClr>
            </a:solidFill>
            <a:prstDash val="solid"/>
          </a:ln>
        </p:spPr>
        <p:txBody>
          <a:bodyPr/>
          <a:lstStyle/>
          <a:p>
            <a:endParaRPr lang="fr-CI"/>
          </a:p>
        </p:txBody>
      </p:sp>
      <p:sp>
        <p:nvSpPr>
          <p:cNvPr id="18" name="Text 16"/>
          <p:cNvSpPr txBox="1"/>
          <p:nvPr/>
        </p:nvSpPr>
        <p:spPr>
          <a:xfrm>
            <a:off x="1380744" y="3824021"/>
            <a:ext cx="267005" cy="342900"/>
          </a:xfrm>
          <a:prstGeom prst="rect">
            <a:avLst/>
          </a:prstGeom>
          <a:noFill/>
          <a:ln/>
        </p:spPr>
        <p:txBody>
          <a:bodyPr wrap="squar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01</a:t>
            </a:r>
            <a:endParaRPr lang="en-US" sz="900" dirty="0"/>
          </a:p>
        </p:txBody>
      </p:sp>
      <p:sp>
        <p:nvSpPr>
          <p:cNvPr id="19" name="Text 17"/>
          <p:cNvSpPr txBox="1"/>
          <p:nvPr/>
        </p:nvSpPr>
        <p:spPr>
          <a:xfrm>
            <a:off x="1762049" y="3824021"/>
            <a:ext cx="4163263"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Numéros de téléphone</a:t>
            </a:r>
            <a:endParaRPr lang="en-US" sz="1000" dirty="0"/>
          </a:p>
        </p:txBody>
      </p:sp>
      <p:sp>
        <p:nvSpPr>
          <p:cNvPr id="20" name="Text 18"/>
          <p:cNvSpPr txBox="1"/>
          <p:nvPr/>
        </p:nvSpPr>
        <p:spPr>
          <a:xfrm>
            <a:off x="1762049" y="4005072"/>
            <a:ext cx="4163263" cy="162763"/>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conservés comme identifiants principaux</a:t>
            </a:r>
            <a:endParaRPr lang="en-US" sz="900" dirty="0"/>
          </a:p>
        </p:txBody>
      </p:sp>
      <p:sp>
        <p:nvSpPr>
          <p:cNvPr id="21" name="Shape 19"/>
          <p:cNvSpPr/>
          <p:nvPr/>
        </p:nvSpPr>
        <p:spPr>
          <a:xfrm>
            <a:off x="6286500" y="3690518"/>
            <a:ext cx="4839005" cy="609905"/>
          </a:xfrm>
          <a:prstGeom prst="roundRect">
            <a:avLst>
              <a:gd name="adj" fmla="val 15592"/>
            </a:avLst>
          </a:prstGeom>
          <a:solidFill>
            <a:srgbClr val="FFFFFF"/>
          </a:solidFill>
          <a:ln/>
        </p:spPr>
        <p:txBody>
          <a:bodyPr/>
          <a:lstStyle/>
          <a:p>
            <a:endParaRPr lang="fr-CI"/>
          </a:p>
        </p:txBody>
      </p:sp>
      <p:sp>
        <p:nvSpPr>
          <p:cNvPr id="22" name="Shape 20"/>
          <p:cNvSpPr/>
          <p:nvPr/>
        </p:nvSpPr>
        <p:spPr>
          <a:xfrm>
            <a:off x="6286500" y="3690518"/>
            <a:ext cx="28346" cy="609905"/>
          </a:xfrm>
          <a:prstGeom prst="roundRect">
            <a:avLst>
              <a:gd name="adj" fmla="val 335489"/>
            </a:avLst>
          </a:prstGeom>
          <a:solidFill>
            <a:srgbClr val="6D28D9"/>
          </a:solidFill>
          <a:ln w="12700">
            <a:solidFill>
              <a:srgbClr val="6D28D9">
                <a:alpha val="0"/>
              </a:srgbClr>
            </a:solidFill>
            <a:prstDash val="solid"/>
          </a:ln>
        </p:spPr>
        <p:txBody>
          <a:bodyPr/>
          <a:lstStyle/>
          <a:p>
            <a:endParaRPr lang="fr-CI"/>
          </a:p>
        </p:txBody>
      </p:sp>
      <p:sp>
        <p:nvSpPr>
          <p:cNvPr id="23" name="Text 21"/>
          <p:cNvSpPr txBox="1"/>
          <p:nvPr/>
        </p:nvSpPr>
        <p:spPr>
          <a:xfrm>
            <a:off x="6448349" y="3824021"/>
            <a:ext cx="267005" cy="342900"/>
          </a:xfrm>
          <a:prstGeom prst="rect">
            <a:avLst/>
          </a:prstGeom>
          <a:noFill/>
          <a:ln/>
        </p:spPr>
        <p:txBody>
          <a:bodyPr wrap="squar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02</a:t>
            </a:r>
            <a:endParaRPr lang="en-US" sz="900" dirty="0"/>
          </a:p>
        </p:txBody>
      </p:sp>
      <p:sp>
        <p:nvSpPr>
          <p:cNvPr id="24" name="Text 22"/>
          <p:cNvSpPr txBox="1"/>
          <p:nvPr/>
        </p:nvSpPr>
        <p:spPr>
          <a:xfrm>
            <a:off x="6829654" y="3824021"/>
            <a:ext cx="4163263"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Pas de recréation forcée</a:t>
            </a:r>
            <a:endParaRPr lang="en-US" sz="1000" dirty="0"/>
          </a:p>
        </p:txBody>
      </p:sp>
      <p:sp>
        <p:nvSpPr>
          <p:cNvPr id="25" name="Text 23"/>
          <p:cNvSpPr txBox="1"/>
          <p:nvPr/>
        </p:nvSpPr>
        <p:spPr>
          <a:xfrm>
            <a:off x="6829654" y="4005072"/>
            <a:ext cx="4163263" cy="162763"/>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des comptes — l'utilisateur ne refait pas son inscription</a:t>
            </a:r>
            <a:endParaRPr lang="en-US" sz="900" dirty="0"/>
          </a:p>
        </p:txBody>
      </p:sp>
      <p:sp>
        <p:nvSpPr>
          <p:cNvPr id="26" name="Shape 24"/>
          <p:cNvSpPr/>
          <p:nvPr/>
        </p:nvSpPr>
        <p:spPr>
          <a:xfrm>
            <a:off x="1218895" y="4414723"/>
            <a:ext cx="4839005" cy="609905"/>
          </a:xfrm>
          <a:prstGeom prst="roundRect">
            <a:avLst>
              <a:gd name="adj" fmla="val 15592"/>
            </a:avLst>
          </a:prstGeom>
          <a:solidFill>
            <a:srgbClr val="F5F3FF"/>
          </a:solidFill>
          <a:ln/>
        </p:spPr>
        <p:txBody>
          <a:bodyPr/>
          <a:lstStyle/>
          <a:p>
            <a:endParaRPr lang="fr-CI"/>
          </a:p>
        </p:txBody>
      </p:sp>
      <p:sp>
        <p:nvSpPr>
          <p:cNvPr id="27" name="Shape 25"/>
          <p:cNvSpPr/>
          <p:nvPr/>
        </p:nvSpPr>
        <p:spPr>
          <a:xfrm>
            <a:off x="1218895" y="4414723"/>
            <a:ext cx="28346" cy="609905"/>
          </a:xfrm>
          <a:prstGeom prst="roundRect">
            <a:avLst>
              <a:gd name="adj" fmla="val 335489"/>
            </a:avLst>
          </a:prstGeom>
          <a:solidFill>
            <a:srgbClr val="6D28D9"/>
          </a:solidFill>
          <a:ln w="12700">
            <a:solidFill>
              <a:srgbClr val="6D28D9">
                <a:alpha val="0"/>
              </a:srgbClr>
            </a:solidFill>
            <a:prstDash val="solid"/>
          </a:ln>
        </p:spPr>
        <p:txBody>
          <a:bodyPr/>
          <a:lstStyle/>
          <a:p>
            <a:endParaRPr lang="fr-CI"/>
          </a:p>
        </p:txBody>
      </p:sp>
      <p:sp>
        <p:nvSpPr>
          <p:cNvPr id="28" name="Text 26"/>
          <p:cNvSpPr txBox="1"/>
          <p:nvPr/>
        </p:nvSpPr>
        <p:spPr>
          <a:xfrm>
            <a:off x="1380744" y="4548226"/>
            <a:ext cx="267005" cy="342900"/>
          </a:xfrm>
          <a:prstGeom prst="rect">
            <a:avLst/>
          </a:prstGeom>
          <a:noFill/>
          <a:ln/>
        </p:spPr>
        <p:txBody>
          <a:bodyPr wrap="squar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03</a:t>
            </a:r>
            <a:endParaRPr lang="en-US" sz="900" dirty="0"/>
          </a:p>
        </p:txBody>
      </p:sp>
      <p:sp>
        <p:nvSpPr>
          <p:cNvPr id="29" name="Text 27"/>
          <p:cNvSpPr txBox="1"/>
          <p:nvPr/>
        </p:nvSpPr>
        <p:spPr>
          <a:xfrm>
            <a:off x="1762049" y="4548226"/>
            <a:ext cx="4163263"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Soldes wallet préservés</a:t>
            </a:r>
            <a:endParaRPr lang="en-US" sz="1000" dirty="0"/>
          </a:p>
        </p:txBody>
      </p:sp>
      <p:sp>
        <p:nvSpPr>
          <p:cNvPr id="30" name="Text 28"/>
          <p:cNvSpPr txBox="1"/>
          <p:nvPr/>
        </p:nvSpPr>
        <p:spPr>
          <a:xfrm>
            <a:off x="1762049" y="4729277"/>
            <a:ext cx="4163263" cy="162763"/>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au centime près, source de la recharge tracée</a:t>
            </a:r>
            <a:endParaRPr lang="en-US" sz="900" dirty="0"/>
          </a:p>
        </p:txBody>
      </p:sp>
      <p:sp>
        <p:nvSpPr>
          <p:cNvPr id="31" name="Shape 29"/>
          <p:cNvSpPr/>
          <p:nvPr/>
        </p:nvSpPr>
        <p:spPr>
          <a:xfrm>
            <a:off x="6286500" y="4414723"/>
            <a:ext cx="4839005" cy="609905"/>
          </a:xfrm>
          <a:prstGeom prst="roundRect">
            <a:avLst>
              <a:gd name="adj" fmla="val 15592"/>
            </a:avLst>
          </a:prstGeom>
          <a:solidFill>
            <a:srgbClr val="FFFFFF"/>
          </a:solidFill>
          <a:ln/>
        </p:spPr>
        <p:txBody>
          <a:bodyPr/>
          <a:lstStyle/>
          <a:p>
            <a:endParaRPr lang="fr-CI"/>
          </a:p>
        </p:txBody>
      </p:sp>
      <p:sp>
        <p:nvSpPr>
          <p:cNvPr id="32" name="Shape 30"/>
          <p:cNvSpPr/>
          <p:nvPr/>
        </p:nvSpPr>
        <p:spPr>
          <a:xfrm>
            <a:off x="6286500" y="4414723"/>
            <a:ext cx="28346" cy="609905"/>
          </a:xfrm>
          <a:prstGeom prst="roundRect">
            <a:avLst>
              <a:gd name="adj" fmla="val 335489"/>
            </a:avLst>
          </a:prstGeom>
          <a:solidFill>
            <a:srgbClr val="6D28D9"/>
          </a:solidFill>
          <a:ln w="12700">
            <a:solidFill>
              <a:srgbClr val="6D28D9">
                <a:alpha val="0"/>
              </a:srgbClr>
            </a:solidFill>
            <a:prstDash val="solid"/>
          </a:ln>
        </p:spPr>
        <p:txBody>
          <a:bodyPr/>
          <a:lstStyle/>
          <a:p>
            <a:endParaRPr lang="fr-CI"/>
          </a:p>
        </p:txBody>
      </p:sp>
      <p:sp>
        <p:nvSpPr>
          <p:cNvPr id="33" name="Text 31"/>
          <p:cNvSpPr txBox="1"/>
          <p:nvPr/>
        </p:nvSpPr>
        <p:spPr>
          <a:xfrm>
            <a:off x="6448349" y="4548226"/>
            <a:ext cx="267005" cy="342900"/>
          </a:xfrm>
          <a:prstGeom prst="rect">
            <a:avLst/>
          </a:prstGeom>
          <a:noFill/>
          <a:ln/>
        </p:spPr>
        <p:txBody>
          <a:bodyPr wrap="squar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04</a:t>
            </a:r>
            <a:endParaRPr lang="en-US" sz="900" dirty="0"/>
          </a:p>
        </p:txBody>
      </p:sp>
      <p:sp>
        <p:nvSpPr>
          <p:cNvPr id="34" name="Text 32"/>
          <p:cNvSpPr txBox="1"/>
          <p:nvPr/>
        </p:nvSpPr>
        <p:spPr>
          <a:xfrm>
            <a:off x="6829654" y="4548226"/>
            <a:ext cx="4163263"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Statuts préservés</a:t>
            </a:r>
            <a:endParaRPr lang="en-US" sz="1000" dirty="0"/>
          </a:p>
        </p:txBody>
      </p:sp>
      <p:sp>
        <p:nvSpPr>
          <p:cNvPr id="35" name="Text 33"/>
          <p:cNvSpPr txBox="1"/>
          <p:nvPr/>
        </p:nvSpPr>
        <p:spPr>
          <a:xfrm>
            <a:off x="6829654" y="4729277"/>
            <a:ext cx="4163263" cy="162763"/>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actif · suspendu · documents en attente</a:t>
            </a:r>
            <a:endParaRPr lang="en-US" sz="900" dirty="0"/>
          </a:p>
        </p:txBody>
      </p:sp>
      <p:sp>
        <p:nvSpPr>
          <p:cNvPr id="36" name="Shape 34"/>
          <p:cNvSpPr/>
          <p:nvPr/>
        </p:nvSpPr>
        <p:spPr>
          <a:xfrm>
            <a:off x="1218895" y="5138928"/>
            <a:ext cx="4839005" cy="609905"/>
          </a:xfrm>
          <a:prstGeom prst="roundRect">
            <a:avLst>
              <a:gd name="adj" fmla="val 15592"/>
            </a:avLst>
          </a:prstGeom>
          <a:solidFill>
            <a:srgbClr val="FFFFFF"/>
          </a:solidFill>
          <a:ln/>
        </p:spPr>
        <p:txBody>
          <a:bodyPr/>
          <a:lstStyle/>
          <a:p>
            <a:endParaRPr lang="fr-CI"/>
          </a:p>
        </p:txBody>
      </p:sp>
      <p:sp>
        <p:nvSpPr>
          <p:cNvPr id="37" name="Shape 35"/>
          <p:cNvSpPr/>
          <p:nvPr/>
        </p:nvSpPr>
        <p:spPr>
          <a:xfrm>
            <a:off x="1218895" y="5138928"/>
            <a:ext cx="28346" cy="609905"/>
          </a:xfrm>
          <a:prstGeom prst="roundRect">
            <a:avLst>
              <a:gd name="adj" fmla="val 335489"/>
            </a:avLst>
          </a:prstGeom>
          <a:solidFill>
            <a:srgbClr val="6D28D9"/>
          </a:solidFill>
          <a:ln w="12700">
            <a:solidFill>
              <a:srgbClr val="6D28D9">
                <a:alpha val="0"/>
              </a:srgbClr>
            </a:solidFill>
            <a:prstDash val="solid"/>
          </a:ln>
        </p:spPr>
        <p:txBody>
          <a:bodyPr/>
          <a:lstStyle/>
          <a:p>
            <a:endParaRPr lang="fr-CI"/>
          </a:p>
        </p:txBody>
      </p:sp>
      <p:sp>
        <p:nvSpPr>
          <p:cNvPr id="38" name="Text 36"/>
          <p:cNvSpPr txBox="1"/>
          <p:nvPr/>
        </p:nvSpPr>
        <p:spPr>
          <a:xfrm>
            <a:off x="1380744" y="5272430"/>
            <a:ext cx="267005" cy="342900"/>
          </a:xfrm>
          <a:prstGeom prst="rect">
            <a:avLst/>
          </a:prstGeom>
          <a:noFill/>
          <a:ln/>
        </p:spPr>
        <p:txBody>
          <a:bodyPr wrap="squar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05</a:t>
            </a:r>
            <a:endParaRPr lang="en-US" sz="900" dirty="0"/>
          </a:p>
        </p:txBody>
      </p:sp>
      <p:sp>
        <p:nvSpPr>
          <p:cNvPr id="39" name="Text 37"/>
          <p:cNvSpPr txBox="1"/>
          <p:nvPr/>
        </p:nvSpPr>
        <p:spPr>
          <a:xfrm>
            <a:off x="1762049" y="5272430"/>
            <a:ext cx="4163263"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Rattachements partenaires</a:t>
            </a:r>
            <a:endParaRPr lang="en-US" sz="1000" dirty="0"/>
          </a:p>
        </p:txBody>
      </p:sp>
      <p:sp>
        <p:nvSpPr>
          <p:cNvPr id="40" name="Text 38"/>
          <p:cNvSpPr txBox="1"/>
          <p:nvPr/>
        </p:nvSpPr>
        <p:spPr>
          <a:xfrm>
            <a:off x="1762049" y="5453482"/>
            <a:ext cx="4163263" cy="162763"/>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conservés — un chauffeur reste lié à son partenaire</a:t>
            </a:r>
            <a:endParaRPr lang="en-US" sz="900" dirty="0"/>
          </a:p>
        </p:txBody>
      </p:sp>
      <p:sp>
        <p:nvSpPr>
          <p:cNvPr id="41" name="Shape 39"/>
          <p:cNvSpPr/>
          <p:nvPr/>
        </p:nvSpPr>
        <p:spPr>
          <a:xfrm>
            <a:off x="6286500" y="5138928"/>
            <a:ext cx="4839005" cy="609905"/>
          </a:xfrm>
          <a:prstGeom prst="roundRect">
            <a:avLst>
              <a:gd name="adj" fmla="val 15592"/>
            </a:avLst>
          </a:prstGeom>
          <a:solidFill>
            <a:srgbClr val="FFFFFF"/>
          </a:solidFill>
          <a:ln/>
        </p:spPr>
        <p:txBody>
          <a:bodyPr/>
          <a:lstStyle/>
          <a:p>
            <a:endParaRPr lang="fr-CI"/>
          </a:p>
        </p:txBody>
      </p:sp>
      <p:sp>
        <p:nvSpPr>
          <p:cNvPr id="42" name="Shape 40"/>
          <p:cNvSpPr/>
          <p:nvPr/>
        </p:nvSpPr>
        <p:spPr>
          <a:xfrm>
            <a:off x="6286500" y="5138928"/>
            <a:ext cx="28346" cy="609905"/>
          </a:xfrm>
          <a:prstGeom prst="roundRect">
            <a:avLst>
              <a:gd name="adj" fmla="val 335489"/>
            </a:avLst>
          </a:prstGeom>
          <a:solidFill>
            <a:srgbClr val="6D28D9"/>
          </a:solidFill>
          <a:ln w="12700">
            <a:solidFill>
              <a:srgbClr val="6D28D9">
                <a:alpha val="0"/>
              </a:srgbClr>
            </a:solidFill>
            <a:prstDash val="solid"/>
          </a:ln>
        </p:spPr>
        <p:txBody>
          <a:bodyPr/>
          <a:lstStyle/>
          <a:p>
            <a:endParaRPr lang="fr-CI"/>
          </a:p>
        </p:txBody>
      </p:sp>
      <p:sp>
        <p:nvSpPr>
          <p:cNvPr id="43" name="Text 41"/>
          <p:cNvSpPr txBox="1"/>
          <p:nvPr/>
        </p:nvSpPr>
        <p:spPr>
          <a:xfrm>
            <a:off x="6448349" y="5272430"/>
            <a:ext cx="267005" cy="342900"/>
          </a:xfrm>
          <a:prstGeom prst="rect">
            <a:avLst/>
          </a:prstGeom>
          <a:noFill/>
          <a:ln/>
        </p:spPr>
        <p:txBody>
          <a:bodyPr wrap="squar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06</a:t>
            </a:r>
            <a:endParaRPr lang="en-US" sz="900" dirty="0"/>
          </a:p>
        </p:txBody>
      </p:sp>
      <p:sp>
        <p:nvSpPr>
          <p:cNvPr id="44" name="Text 42"/>
          <p:cNvSpPr txBox="1"/>
          <p:nvPr/>
        </p:nvSpPr>
        <p:spPr>
          <a:xfrm>
            <a:off x="6829654" y="5272430"/>
            <a:ext cx="4163263"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Historiques critiques préservés</a:t>
            </a:r>
            <a:endParaRPr lang="en-US" sz="1000" dirty="0"/>
          </a:p>
        </p:txBody>
      </p:sp>
      <p:sp>
        <p:nvSpPr>
          <p:cNvPr id="45" name="Text 43"/>
          <p:cNvSpPr txBox="1"/>
          <p:nvPr/>
        </p:nvSpPr>
        <p:spPr>
          <a:xfrm>
            <a:off x="6829654" y="5453482"/>
            <a:ext cx="4163263" cy="162763"/>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courses, livraisons, transactions, recharges</a:t>
            </a:r>
            <a:endParaRPr lang="en-US" sz="900" dirty="0"/>
          </a:p>
        </p:txBody>
      </p:sp>
      <p:sp>
        <p:nvSpPr>
          <p:cNvPr id="46" name="Shape 44"/>
          <p:cNvSpPr/>
          <p:nvPr/>
        </p:nvSpPr>
        <p:spPr>
          <a:xfrm>
            <a:off x="1218895" y="5862218"/>
            <a:ext cx="4839005" cy="609905"/>
          </a:xfrm>
          <a:prstGeom prst="roundRect">
            <a:avLst>
              <a:gd name="adj" fmla="val 15592"/>
            </a:avLst>
          </a:prstGeom>
          <a:solidFill>
            <a:srgbClr val="FFFFFF"/>
          </a:solidFill>
          <a:ln/>
        </p:spPr>
        <p:txBody>
          <a:bodyPr/>
          <a:lstStyle/>
          <a:p>
            <a:endParaRPr lang="fr-CI"/>
          </a:p>
        </p:txBody>
      </p:sp>
      <p:sp>
        <p:nvSpPr>
          <p:cNvPr id="47" name="Shape 45"/>
          <p:cNvSpPr/>
          <p:nvPr/>
        </p:nvSpPr>
        <p:spPr>
          <a:xfrm>
            <a:off x="1218895" y="5862218"/>
            <a:ext cx="28346" cy="609905"/>
          </a:xfrm>
          <a:prstGeom prst="roundRect">
            <a:avLst>
              <a:gd name="adj" fmla="val 335489"/>
            </a:avLst>
          </a:prstGeom>
          <a:solidFill>
            <a:srgbClr val="6D28D9"/>
          </a:solidFill>
          <a:ln w="12700">
            <a:solidFill>
              <a:srgbClr val="6D28D9">
                <a:alpha val="0"/>
              </a:srgbClr>
            </a:solidFill>
            <a:prstDash val="solid"/>
          </a:ln>
        </p:spPr>
        <p:txBody>
          <a:bodyPr/>
          <a:lstStyle/>
          <a:p>
            <a:endParaRPr lang="fr-CI"/>
          </a:p>
        </p:txBody>
      </p:sp>
      <p:sp>
        <p:nvSpPr>
          <p:cNvPr id="48" name="Text 46"/>
          <p:cNvSpPr txBox="1"/>
          <p:nvPr/>
        </p:nvSpPr>
        <p:spPr>
          <a:xfrm>
            <a:off x="1380744" y="5995721"/>
            <a:ext cx="267005" cy="342900"/>
          </a:xfrm>
          <a:prstGeom prst="rect">
            <a:avLst/>
          </a:prstGeom>
          <a:noFill/>
          <a:ln/>
        </p:spPr>
        <p:txBody>
          <a:bodyPr wrap="squar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07</a:t>
            </a:r>
            <a:endParaRPr lang="en-US" sz="900" dirty="0"/>
          </a:p>
        </p:txBody>
      </p:sp>
      <p:sp>
        <p:nvSpPr>
          <p:cNvPr id="49" name="Text 47"/>
          <p:cNvSpPr txBox="1"/>
          <p:nvPr/>
        </p:nvSpPr>
        <p:spPr>
          <a:xfrm>
            <a:off x="1762049" y="5995721"/>
            <a:ext cx="4163263"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Documents préservés</a:t>
            </a:r>
            <a:endParaRPr lang="en-US" sz="1000" dirty="0"/>
          </a:p>
        </p:txBody>
      </p:sp>
      <p:sp>
        <p:nvSpPr>
          <p:cNvPr id="50" name="Text 48"/>
          <p:cNvSpPr txBox="1"/>
          <p:nvPr/>
        </p:nvSpPr>
        <p:spPr>
          <a:xfrm>
            <a:off x="1762049" y="6176772"/>
            <a:ext cx="4163263" cy="162763"/>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permis, CNI, KBIS — accessibles dans la nouvelle version</a:t>
            </a:r>
            <a:endParaRPr lang="en-US" sz="900" dirty="0"/>
          </a:p>
        </p:txBody>
      </p:sp>
      <p:sp>
        <p:nvSpPr>
          <p:cNvPr id="51" name="Shape 49"/>
          <p:cNvSpPr/>
          <p:nvPr/>
        </p:nvSpPr>
        <p:spPr>
          <a:xfrm>
            <a:off x="6286500" y="5862218"/>
            <a:ext cx="4839005" cy="609905"/>
          </a:xfrm>
          <a:prstGeom prst="roundRect">
            <a:avLst>
              <a:gd name="adj" fmla="val 15592"/>
            </a:avLst>
          </a:prstGeom>
          <a:solidFill>
            <a:srgbClr val="F5F3FF"/>
          </a:solidFill>
          <a:ln/>
        </p:spPr>
        <p:txBody>
          <a:bodyPr/>
          <a:lstStyle/>
          <a:p>
            <a:endParaRPr lang="fr-CI"/>
          </a:p>
        </p:txBody>
      </p:sp>
      <p:sp>
        <p:nvSpPr>
          <p:cNvPr id="52" name="Shape 50"/>
          <p:cNvSpPr/>
          <p:nvPr/>
        </p:nvSpPr>
        <p:spPr>
          <a:xfrm>
            <a:off x="6286500" y="5862218"/>
            <a:ext cx="28346" cy="609905"/>
          </a:xfrm>
          <a:prstGeom prst="roundRect">
            <a:avLst>
              <a:gd name="adj" fmla="val 335489"/>
            </a:avLst>
          </a:prstGeom>
          <a:solidFill>
            <a:srgbClr val="6D28D9"/>
          </a:solidFill>
          <a:ln w="12700">
            <a:solidFill>
              <a:srgbClr val="6D28D9">
                <a:alpha val="0"/>
              </a:srgbClr>
            </a:solidFill>
            <a:prstDash val="solid"/>
          </a:ln>
        </p:spPr>
        <p:txBody>
          <a:bodyPr/>
          <a:lstStyle/>
          <a:p>
            <a:endParaRPr lang="fr-CI"/>
          </a:p>
        </p:txBody>
      </p:sp>
      <p:sp>
        <p:nvSpPr>
          <p:cNvPr id="53" name="Text 51"/>
          <p:cNvSpPr txBox="1"/>
          <p:nvPr/>
        </p:nvSpPr>
        <p:spPr>
          <a:xfrm>
            <a:off x="6448349" y="5995721"/>
            <a:ext cx="267005" cy="342900"/>
          </a:xfrm>
          <a:prstGeom prst="rect">
            <a:avLst/>
          </a:prstGeom>
          <a:noFill/>
          <a:ln/>
        </p:spPr>
        <p:txBody>
          <a:bodyPr wrap="squar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08</a:t>
            </a:r>
            <a:endParaRPr lang="en-US" sz="900" dirty="0"/>
          </a:p>
        </p:txBody>
      </p:sp>
      <p:sp>
        <p:nvSpPr>
          <p:cNvPr id="54" name="Text 52"/>
          <p:cNvSpPr txBox="1"/>
          <p:nvPr/>
        </p:nvSpPr>
        <p:spPr>
          <a:xfrm>
            <a:off x="6829654" y="5995721"/>
            <a:ext cx="4163263"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Reconnexion simple par OTP</a:t>
            </a:r>
            <a:endParaRPr lang="en-US" sz="1000" dirty="0"/>
          </a:p>
        </p:txBody>
      </p:sp>
      <p:sp>
        <p:nvSpPr>
          <p:cNvPr id="55" name="Text 53"/>
          <p:cNvSpPr txBox="1"/>
          <p:nvPr/>
        </p:nvSpPr>
        <p:spPr>
          <a:xfrm>
            <a:off x="6829654" y="6176772"/>
            <a:ext cx="4163263" cy="162763"/>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 pas de mot de passe à recréer</a:t>
            </a:r>
            <a:endParaRPr lang="en-US" sz="900" dirty="0"/>
          </a:p>
        </p:txBody>
      </p:sp>
      <p:sp>
        <p:nvSpPr>
          <p:cNvPr id="56" name="Shape 54"/>
          <p:cNvSpPr/>
          <p:nvPr/>
        </p:nvSpPr>
        <p:spPr>
          <a:xfrm>
            <a:off x="1218895" y="6586423"/>
            <a:ext cx="4839005" cy="609905"/>
          </a:xfrm>
          <a:prstGeom prst="roundRect">
            <a:avLst>
              <a:gd name="adj" fmla="val 15592"/>
            </a:avLst>
          </a:prstGeom>
          <a:solidFill>
            <a:srgbClr val="FFFFFF"/>
          </a:solidFill>
          <a:ln/>
        </p:spPr>
        <p:txBody>
          <a:bodyPr/>
          <a:lstStyle/>
          <a:p>
            <a:endParaRPr lang="fr-CI"/>
          </a:p>
        </p:txBody>
      </p:sp>
      <p:sp>
        <p:nvSpPr>
          <p:cNvPr id="57" name="Shape 55"/>
          <p:cNvSpPr/>
          <p:nvPr/>
        </p:nvSpPr>
        <p:spPr>
          <a:xfrm>
            <a:off x="1218895" y="6586423"/>
            <a:ext cx="28346" cy="609905"/>
          </a:xfrm>
          <a:prstGeom prst="roundRect">
            <a:avLst>
              <a:gd name="adj" fmla="val 335489"/>
            </a:avLst>
          </a:prstGeom>
          <a:solidFill>
            <a:srgbClr val="6D28D9"/>
          </a:solidFill>
          <a:ln w="12700">
            <a:solidFill>
              <a:srgbClr val="6D28D9">
                <a:alpha val="0"/>
              </a:srgbClr>
            </a:solidFill>
            <a:prstDash val="solid"/>
          </a:ln>
        </p:spPr>
        <p:txBody>
          <a:bodyPr/>
          <a:lstStyle/>
          <a:p>
            <a:endParaRPr lang="fr-CI"/>
          </a:p>
        </p:txBody>
      </p:sp>
      <p:sp>
        <p:nvSpPr>
          <p:cNvPr id="58" name="Text 56"/>
          <p:cNvSpPr txBox="1"/>
          <p:nvPr/>
        </p:nvSpPr>
        <p:spPr>
          <a:xfrm>
            <a:off x="1380744" y="6719926"/>
            <a:ext cx="267005" cy="342900"/>
          </a:xfrm>
          <a:prstGeom prst="rect">
            <a:avLst/>
          </a:prstGeom>
          <a:noFill/>
          <a:ln/>
        </p:spPr>
        <p:txBody>
          <a:bodyPr wrap="squar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09</a:t>
            </a:r>
            <a:endParaRPr lang="en-US" sz="900" dirty="0"/>
          </a:p>
        </p:txBody>
      </p:sp>
      <p:sp>
        <p:nvSpPr>
          <p:cNvPr id="59" name="Text 57"/>
          <p:cNvSpPr txBox="1"/>
          <p:nvPr/>
        </p:nvSpPr>
        <p:spPr>
          <a:xfrm>
            <a:off x="1762049" y="6719926"/>
            <a:ext cx="4163263"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Assistance dédiée</a:t>
            </a:r>
            <a:endParaRPr lang="en-US" sz="1000" dirty="0"/>
          </a:p>
        </p:txBody>
      </p:sp>
      <p:sp>
        <p:nvSpPr>
          <p:cNvPr id="60" name="Text 58"/>
          <p:cNvSpPr txBox="1"/>
          <p:nvPr/>
        </p:nvSpPr>
        <p:spPr>
          <a:xfrm>
            <a:off x="1762049" y="6900977"/>
            <a:ext cx="4163263" cy="162763"/>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renforcée sur les 7 premiers jours post-bascule</a:t>
            </a:r>
            <a:endParaRPr lang="en-US" sz="900" dirty="0"/>
          </a:p>
        </p:txBody>
      </p:sp>
      <p:sp>
        <p:nvSpPr>
          <p:cNvPr id="61" name="Shape 59"/>
          <p:cNvSpPr/>
          <p:nvPr/>
        </p:nvSpPr>
        <p:spPr>
          <a:xfrm>
            <a:off x="6286500" y="6586423"/>
            <a:ext cx="4839005" cy="609905"/>
          </a:xfrm>
          <a:prstGeom prst="roundRect">
            <a:avLst>
              <a:gd name="adj" fmla="val 15592"/>
            </a:avLst>
          </a:prstGeom>
          <a:solidFill>
            <a:srgbClr val="F5F3FF"/>
          </a:solidFill>
          <a:ln/>
        </p:spPr>
        <p:txBody>
          <a:bodyPr/>
          <a:lstStyle/>
          <a:p>
            <a:endParaRPr lang="fr-CI"/>
          </a:p>
        </p:txBody>
      </p:sp>
      <p:sp>
        <p:nvSpPr>
          <p:cNvPr id="62" name="Shape 60"/>
          <p:cNvSpPr/>
          <p:nvPr/>
        </p:nvSpPr>
        <p:spPr>
          <a:xfrm>
            <a:off x="6286500" y="6586423"/>
            <a:ext cx="28346" cy="609905"/>
          </a:xfrm>
          <a:prstGeom prst="roundRect">
            <a:avLst>
              <a:gd name="adj" fmla="val 335489"/>
            </a:avLst>
          </a:prstGeom>
          <a:solidFill>
            <a:srgbClr val="6D28D9"/>
          </a:solidFill>
          <a:ln w="12700">
            <a:solidFill>
              <a:srgbClr val="6D28D9">
                <a:alpha val="0"/>
              </a:srgbClr>
            </a:solidFill>
            <a:prstDash val="solid"/>
          </a:ln>
        </p:spPr>
        <p:txBody>
          <a:bodyPr/>
          <a:lstStyle/>
          <a:p>
            <a:endParaRPr lang="fr-CI"/>
          </a:p>
        </p:txBody>
      </p:sp>
      <p:sp>
        <p:nvSpPr>
          <p:cNvPr id="63" name="Text 61"/>
          <p:cNvSpPr txBox="1"/>
          <p:nvPr/>
        </p:nvSpPr>
        <p:spPr>
          <a:xfrm>
            <a:off x="6448349" y="6719926"/>
            <a:ext cx="267005" cy="342900"/>
          </a:xfrm>
          <a:prstGeom prst="rect">
            <a:avLst/>
          </a:prstGeom>
          <a:noFill/>
          <a:ln/>
        </p:spPr>
        <p:txBody>
          <a:bodyPr wrap="squar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10</a:t>
            </a:r>
            <a:endParaRPr lang="en-US" sz="900" dirty="0"/>
          </a:p>
        </p:txBody>
      </p:sp>
      <p:sp>
        <p:nvSpPr>
          <p:cNvPr id="64" name="Text 62"/>
          <p:cNvSpPr txBox="1"/>
          <p:nvPr/>
        </p:nvSpPr>
        <p:spPr>
          <a:xfrm>
            <a:off x="6829654" y="6719926"/>
            <a:ext cx="4163263" cy="181051"/>
          </a:xfrm>
          <a:prstGeom prst="rect">
            <a:avLst/>
          </a:prstGeom>
          <a:noFill/>
          <a:ln/>
        </p:spPr>
        <p:txBody>
          <a:bodyPr wrap="none" lIns="0" tIns="0" rIns="0" bIns="0" rtlCol="0" anchor="ctr"/>
          <a:lstStyle/>
          <a:p>
            <a:pPr marL="0" indent="0" algn="l">
              <a:buNone/>
            </a:pPr>
            <a:r>
              <a:rPr lang="en-US" sz="1000" b="1" dirty="0">
                <a:solidFill>
                  <a:srgbClr val="1F2937"/>
                </a:solidFill>
                <a:latin typeface="Manrope" pitchFamily="34" charset="0"/>
                <a:ea typeface="Manrope" pitchFamily="34" charset="-122"/>
                <a:cs typeface="Manrope" pitchFamily="34" charset="-120"/>
              </a:rPr>
              <a:t>Message d'information clair</a:t>
            </a:r>
            <a:endParaRPr lang="en-US" sz="1000" dirty="0"/>
          </a:p>
        </p:txBody>
      </p:sp>
      <p:sp>
        <p:nvSpPr>
          <p:cNvPr id="65" name="Text 63"/>
          <p:cNvSpPr txBox="1"/>
          <p:nvPr/>
        </p:nvSpPr>
        <p:spPr>
          <a:xfrm>
            <a:off x="6829654" y="6900977"/>
            <a:ext cx="4163263" cy="162763"/>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envoyé à tous (in-app, SMS, email)</a:t>
            </a:r>
            <a:endParaRPr lang="en-US" sz="900" dirty="0"/>
          </a:p>
        </p:txBody>
      </p:sp>
      <p:sp>
        <p:nvSpPr>
          <p:cNvPr id="66" name="Shape 64"/>
          <p:cNvSpPr/>
          <p:nvPr/>
        </p:nvSpPr>
        <p:spPr>
          <a:xfrm>
            <a:off x="11697005" y="2762402"/>
            <a:ext cx="5715000" cy="6762902"/>
          </a:xfrm>
          <a:prstGeom prst="roundRect">
            <a:avLst>
              <a:gd name="adj" fmla="val 2336"/>
            </a:avLst>
          </a:prstGeom>
          <a:solidFill>
            <a:srgbClr val="1F2937"/>
          </a:solidFill>
          <a:ln w="12700">
            <a:solidFill>
              <a:srgbClr val="FFFFFF">
                <a:alpha val="0"/>
              </a:srgbClr>
            </a:solidFill>
            <a:prstDash val="solid"/>
          </a:ln>
        </p:spPr>
        <p:txBody>
          <a:bodyPr/>
          <a:lstStyle/>
          <a:p>
            <a:endParaRPr lang="fr-CI"/>
          </a:p>
        </p:txBody>
      </p:sp>
      <p:sp>
        <p:nvSpPr>
          <p:cNvPr id="67" name="Text 65"/>
          <p:cNvSpPr txBox="1"/>
          <p:nvPr/>
        </p:nvSpPr>
        <p:spPr>
          <a:xfrm>
            <a:off x="12001500" y="3010205"/>
            <a:ext cx="5143500" cy="152705"/>
          </a:xfrm>
          <a:prstGeom prst="rect">
            <a:avLst/>
          </a:prstGeom>
          <a:noFill/>
          <a:ln/>
        </p:spPr>
        <p:txBody>
          <a:bodyPr wrap="none" lIns="0" tIns="0" rIns="0" bIns="0" rtlCol="0" anchor="ctr"/>
          <a:lstStyle/>
          <a:p>
            <a:pPr marL="0" indent="0" algn="l">
              <a:buNone/>
            </a:pPr>
            <a:r>
              <a:rPr lang="en-US" sz="900" b="1" kern="0" spc="108" dirty="0">
                <a:solidFill>
                  <a:srgbClr val="A78BFA"/>
                </a:solidFill>
                <a:latin typeface="JetBrains Mono" pitchFamily="34" charset="0"/>
                <a:ea typeface="JetBrains Mono" pitchFamily="34" charset="-122"/>
                <a:cs typeface="JetBrains Mono" pitchFamily="34" charset="-120"/>
              </a:rPr>
              <a:t>32. Communication utilisateurs</a:t>
            </a:r>
            <a:endParaRPr lang="en-US" sz="900" dirty="0"/>
          </a:p>
        </p:txBody>
      </p:sp>
      <p:sp>
        <p:nvSpPr>
          <p:cNvPr id="68" name="Text 66"/>
          <p:cNvSpPr txBox="1"/>
          <p:nvPr/>
        </p:nvSpPr>
        <p:spPr>
          <a:xfrm>
            <a:off x="12001500" y="3238805"/>
            <a:ext cx="5143500" cy="286207"/>
          </a:xfrm>
          <a:prstGeom prst="rect">
            <a:avLst/>
          </a:prstGeom>
          <a:noFill/>
          <a:ln/>
        </p:spPr>
        <p:txBody>
          <a:bodyPr wrap="none" lIns="0" tIns="0" rIns="0" bIns="0" rtlCol="0" anchor="ctr"/>
          <a:lstStyle/>
          <a:p>
            <a:pPr marL="0" indent="0" algn="l">
              <a:buNone/>
            </a:pPr>
            <a:r>
              <a:rPr lang="en-US" sz="1600" b="1" dirty="0">
                <a:solidFill>
                  <a:srgbClr val="FFFFFF"/>
                </a:solidFill>
                <a:latin typeface="Manrope" pitchFamily="34" charset="0"/>
                <a:ea typeface="Manrope" pitchFamily="34" charset="-122"/>
                <a:cs typeface="Manrope" pitchFamily="34" charset="-120"/>
              </a:rPr>
              <a:t>Message officiel recommandé</a:t>
            </a:r>
            <a:endParaRPr lang="en-US" sz="1600" dirty="0"/>
          </a:p>
        </p:txBody>
      </p:sp>
      <p:sp>
        <p:nvSpPr>
          <p:cNvPr id="69" name="Shape 67"/>
          <p:cNvSpPr/>
          <p:nvPr/>
        </p:nvSpPr>
        <p:spPr>
          <a:xfrm>
            <a:off x="12001500" y="3733495"/>
            <a:ext cx="5143500" cy="2428646"/>
          </a:xfrm>
          <a:prstGeom prst="roundRect">
            <a:avLst>
              <a:gd name="adj" fmla="val 4706"/>
            </a:avLst>
          </a:prstGeom>
          <a:solidFill>
            <a:srgbClr val="374151"/>
          </a:solidFill>
          <a:ln/>
        </p:spPr>
        <p:txBody>
          <a:bodyPr/>
          <a:lstStyle/>
          <a:p>
            <a:endParaRPr lang="fr-CI"/>
          </a:p>
        </p:txBody>
      </p:sp>
      <p:sp>
        <p:nvSpPr>
          <p:cNvPr id="70" name="Shape 68"/>
          <p:cNvSpPr/>
          <p:nvPr/>
        </p:nvSpPr>
        <p:spPr>
          <a:xfrm>
            <a:off x="12001500" y="3733495"/>
            <a:ext cx="38405" cy="2428646"/>
          </a:xfrm>
          <a:prstGeom prst="roundRect">
            <a:avLst>
              <a:gd name="adj" fmla="val 297617"/>
            </a:avLst>
          </a:prstGeom>
          <a:solidFill>
            <a:srgbClr val="A78BFA"/>
          </a:solidFill>
          <a:ln w="12700">
            <a:solidFill>
              <a:srgbClr val="A78BFA">
                <a:alpha val="0"/>
              </a:srgbClr>
            </a:solidFill>
            <a:prstDash val="solid"/>
          </a:ln>
        </p:spPr>
        <p:txBody>
          <a:bodyPr/>
          <a:lstStyle/>
          <a:p>
            <a:endParaRPr lang="fr-CI"/>
          </a:p>
        </p:txBody>
      </p:sp>
      <p:sp>
        <p:nvSpPr>
          <p:cNvPr id="71" name="Text 69"/>
          <p:cNvSpPr txBox="1"/>
          <p:nvPr/>
        </p:nvSpPr>
        <p:spPr>
          <a:xfrm>
            <a:off x="12249302" y="3943807"/>
            <a:ext cx="4686300" cy="133502"/>
          </a:xfrm>
          <a:prstGeom prst="rect">
            <a:avLst/>
          </a:prstGeom>
          <a:noFill/>
          <a:ln/>
        </p:spPr>
        <p:txBody>
          <a:bodyPr wrap="none" lIns="0" tIns="0" rIns="0" bIns="0" rtlCol="0" anchor="ctr"/>
          <a:lstStyle/>
          <a:p>
            <a:pPr marL="0" indent="0" algn="l">
              <a:buNone/>
            </a:pPr>
            <a:r>
              <a:rPr lang="en-US" sz="800" b="1" kern="0" spc="83" dirty="0">
                <a:solidFill>
                  <a:srgbClr val="A78BFA"/>
                </a:solidFill>
                <a:latin typeface="JetBrains Mono" pitchFamily="34" charset="0"/>
                <a:ea typeface="JetBrains Mono" pitchFamily="34" charset="-122"/>
                <a:cs typeface="JetBrains Mono" pitchFamily="34" charset="-120"/>
              </a:rPr>
              <a:t>EXTRAIT</a:t>
            </a:r>
            <a:endParaRPr lang="en-US" sz="800" dirty="0"/>
          </a:p>
        </p:txBody>
      </p:sp>
      <p:sp>
        <p:nvSpPr>
          <p:cNvPr id="72" name="Text 70"/>
          <p:cNvSpPr txBox="1"/>
          <p:nvPr/>
        </p:nvSpPr>
        <p:spPr>
          <a:xfrm>
            <a:off x="12249302" y="4190695"/>
            <a:ext cx="4686300" cy="685800"/>
          </a:xfrm>
          <a:prstGeom prst="rect">
            <a:avLst/>
          </a:prstGeom>
          <a:noFill/>
          <a:ln/>
        </p:spPr>
        <p:txBody>
          <a:bodyPr wrap="square" lIns="0" tIns="0" rIns="0" bIns="0" rtlCol="0" anchor="ctr"/>
          <a:lstStyle/>
          <a:p>
            <a:pPr marL="0" indent="0" algn="l">
              <a:buNone/>
            </a:pPr>
            <a:r>
              <a:rPr lang="en-US" sz="1000" i="1" dirty="0">
                <a:solidFill>
                  <a:srgbClr val="FFFFFF"/>
                </a:solidFill>
                <a:latin typeface="Manrope" pitchFamily="34" charset="0"/>
                <a:ea typeface="Manrope" pitchFamily="34" charset="-122"/>
                <a:cs typeface="Manrope" pitchFamily="34" charset="-120"/>
              </a:rPr>
              <a:t>« Cher utilisateur, UPJUNOO PRO procède à une mise à jour majeure de sa plateforme afin d'améliorer la stabilité, la qualité du service et l'expérience utilisateur.</a:t>
            </a:r>
            <a:endParaRPr lang="en-US" sz="1000" dirty="0"/>
          </a:p>
        </p:txBody>
      </p:sp>
      <p:sp>
        <p:nvSpPr>
          <p:cNvPr id="73" name="Text 71"/>
          <p:cNvSpPr txBox="1"/>
          <p:nvPr/>
        </p:nvSpPr>
        <p:spPr>
          <a:xfrm>
            <a:off x="12249302" y="5004511"/>
            <a:ext cx="4686300" cy="457200"/>
          </a:xfrm>
          <a:prstGeom prst="rect">
            <a:avLst/>
          </a:prstGeom>
          <a:noFill/>
          <a:ln/>
        </p:spPr>
        <p:txBody>
          <a:bodyPr wrap="square" lIns="0" tIns="0" rIns="0" bIns="0" rtlCol="0" anchor="ctr"/>
          <a:lstStyle/>
          <a:p>
            <a:pPr marL="0" indent="0" algn="l">
              <a:buNone/>
            </a:pPr>
            <a:r>
              <a:rPr lang="en-US" sz="1000" i="1" dirty="0">
                <a:solidFill>
                  <a:srgbClr val="FFFFFF"/>
                </a:solidFill>
                <a:latin typeface="Manrope" pitchFamily="34" charset="0"/>
                <a:ea typeface="Manrope" pitchFamily="34" charset="-122"/>
                <a:cs typeface="Manrope" pitchFamily="34" charset="-120"/>
              </a:rPr>
              <a:t>Votre compte reste conservé. Il pourra vous être demandé de mettre à jour l'application ou de vous reconnecter par OTP.</a:t>
            </a:r>
            <a:endParaRPr lang="en-US" sz="1000" dirty="0"/>
          </a:p>
        </p:txBody>
      </p:sp>
      <p:sp>
        <p:nvSpPr>
          <p:cNvPr id="74" name="Text 72"/>
          <p:cNvSpPr txBox="1"/>
          <p:nvPr/>
        </p:nvSpPr>
        <p:spPr>
          <a:xfrm>
            <a:off x="12249302" y="5590642"/>
            <a:ext cx="4686300" cy="228600"/>
          </a:xfrm>
          <a:prstGeom prst="rect">
            <a:avLst/>
          </a:prstGeom>
          <a:noFill/>
          <a:ln/>
        </p:spPr>
        <p:txBody>
          <a:bodyPr wrap="none" lIns="0" tIns="0" rIns="0" bIns="0" rtlCol="0" anchor="ctr"/>
          <a:lstStyle/>
          <a:p>
            <a:pPr marL="0" indent="0" algn="l">
              <a:buNone/>
            </a:pPr>
            <a:r>
              <a:rPr lang="en-US" sz="1000" i="1" dirty="0">
                <a:solidFill>
                  <a:srgbClr val="FFFFFF"/>
                </a:solidFill>
                <a:latin typeface="Manrope" pitchFamily="34" charset="0"/>
                <a:ea typeface="Manrope" pitchFamily="34" charset="-122"/>
                <a:cs typeface="Manrope" pitchFamily="34" charset="-120"/>
              </a:rPr>
              <a:t>Notre assistance reste disponible pour vous accompagner. »</a:t>
            </a:r>
            <a:endParaRPr lang="en-US" sz="1000" dirty="0"/>
          </a:p>
        </p:txBody>
      </p:sp>
      <p:sp>
        <p:nvSpPr>
          <p:cNvPr id="75" name="Text 73"/>
          <p:cNvSpPr txBox="1"/>
          <p:nvPr/>
        </p:nvSpPr>
        <p:spPr>
          <a:xfrm>
            <a:off x="12001500" y="6351422"/>
            <a:ext cx="5143500" cy="133502"/>
          </a:xfrm>
          <a:prstGeom prst="rect">
            <a:avLst/>
          </a:prstGeom>
          <a:noFill/>
          <a:ln/>
        </p:spPr>
        <p:txBody>
          <a:bodyPr wrap="none" lIns="0" tIns="0" rIns="0" bIns="0" rtlCol="0" anchor="ctr"/>
          <a:lstStyle/>
          <a:p>
            <a:pPr marL="0" indent="0" algn="l">
              <a:buNone/>
            </a:pPr>
            <a:r>
              <a:rPr lang="en-US" sz="800" b="1" kern="0" spc="83" dirty="0">
                <a:solidFill>
                  <a:srgbClr val="A78BFA"/>
                </a:solidFill>
                <a:latin typeface="JetBrains Mono" pitchFamily="34" charset="0"/>
                <a:ea typeface="JetBrains Mono" pitchFamily="34" charset="-122"/>
                <a:cs typeface="JetBrains Mono" pitchFamily="34" charset="-120"/>
              </a:rPr>
              <a:t>CANAUX D'ENVOI</a:t>
            </a:r>
            <a:endParaRPr lang="en-US" sz="800" dirty="0"/>
          </a:p>
        </p:txBody>
      </p:sp>
      <p:sp>
        <p:nvSpPr>
          <p:cNvPr id="76" name="Shape 74"/>
          <p:cNvSpPr/>
          <p:nvPr/>
        </p:nvSpPr>
        <p:spPr>
          <a:xfrm>
            <a:off x="12001500" y="6580022"/>
            <a:ext cx="1095451" cy="286207"/>
          </a:xfrm>
          <a:prstGeom prst="roundRect">
            <a:avLst>
              <a:gd name="adj" fmla="val 49840"/>
            </a:avLst>
          </a:prstGeom>
          <a:solidFill>
            <a:srgbClr val="A78BFA"/>
          </a:solidFill>
          <a:ln w="12700">
            <a:solidFill>
              <a:srgbClr val="FFFFFF">
                <a:alpha val="0"/>
              </a:srgbClr>
            </a:solidFill>
            <a:prstDash val="solid"/>
          </a:ln>
        </p:spPr>
        <p:txBody>
          <a:bodyPr/>
          <a:lstStyle/>
          <a:p>
            <a:endParaRPr lang="fr-CI"/>
          </a:p>
        </p:txBody>
      </p:sp>
      <p:sp>
        <p:nvSpPr>
          <p:cNvPr id="77" name="Text 75"/>
          <p:cNvSpPr/>
          <p:nvPr/>
        </p:nvSpPr>
        <p:spPr>
          <a:xfrm>
            <a:off x="12001500" y="6580022"/>
            <a:ext cx="1095451"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1F2937"/>
                </a:solidFill>
                <a:latin typeface="Manrope" pitchFamily="34" charset="0"/>
                <a:ea typeface="Manrope" pitchFamily="34" charset="-122"/>
                <a:cs typeface="Manrope" pitchFamily="34" charset="-120"/>
              </a:rPr>
              <a:t>In-app banner</a:t>
            </a:r>
            <a:endParaRPr lang="en-US" sz="900" dirty="0"/>
          </a:p>
        </p:txBody>
      </p:sp>
      <p:sp>
        <p:nvSpPr>
          <p:cNvPr id="78" name="Shape 76"/>
          <p:cNvSpPr/>
          <p:nvPr/>
        </p:nvSpPr>
        <p:spPr>
          <a:xfrm>
            <a:off x="13164617" y="6580022"/>
            <a:ext cx="504749" cy="286207"/>
          </a:xfrm>
          <a:prstGeom prst="roundRect">
            <a:avLst>
              <a:gd name="adj" fmla="val 49840"/>
            </a:avLst>
          </a:prstGeom>
          <a:solidFill>
            <a:srgbClr val="A78BFA"/>
          </a:solidFill>
          <a:ln w="12700">
            <a:solidFill>
              <a:srgbClr val="FFFFFF">
                <a:alpha val="0"/>
              </a:srgbClr>
            </a:solidFill>
            <a:prstDash val="solid"/>
          </a:ln>
        </p:spPr>
        <p:txBody>
          <a:bodyPr/>
          <a:lstStyle/>
          <a:p>
            <a:endParaRPr lang="fr-CI"/>
          </a:p>
        </p:txBody>
      </p:sp>
      <p:sp>
        <p:nvSpPr>
          <p:cNvPr id="79" name="Text 77"/>
          <p:cNvSpPr/>
          <p:nvPr/>
        </p:nvSpPr>
        <p:spPr>
          <a:xfrm>
            <a:off x="13164617" y="6580022"/>
            <a:ext cx="505663"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1F2937"/>
                </a:solidFill>
                <a:latin typeface="Manrope" pitchFamily="34" charset="0"/>
                <a:ea typeface="Manrope" pitchFamily="34" charset="-122"/>
                <a:cs typeface="Manrope" pitchFamily="34" charset="-120"/>
              </a:rPr>
              <a:t>SMS</a:t>
            </a:r>
            <a:endParaRPr lang="en-US" sz="900" dirty="0"/>
          </a:p>
        </p:txBody>
      </p:sp>
      <p:sp>
        <p:nvSpPr>
          <p:cNvPr id="80" name="Shape 78"/>
          <p:cNvSpPr/>
          <p:nvPr/>
        </p:nvSpPr>
        <p:spPr>
          <a:xfrm>
            <a:off x="13741603" y="6580022"/>
            <a:ext cx="562356" cy="286207"/>
          </a:xfrm>
          <a:prstGeom prst="roundRect">
            <a:avLst>
              <a:gd name="adj" fmla="val 49840"/>
            </a:avLst>
          </a:prstGeom>
          <a:solidFill>
            <a:srgbClr val="A78BFA"/>
          </a:solidFill>
          <a:ln w="12700">
            <a:solidFill>
              <a:srgbClr val="FFFFFF">
                <a:alpha val="0"/>
              </a:srgbClr>
            </a:solidFill>
            <a:prstDash val="solid"/>
          </a:ln>
        </p:spPr>
        <p:txBody>
          <a:bodyPr/>
          <a:lstStyle/>
          <a:p>
            <a:endParaRPr lang="fr-CI"/>
          </a:p>
        </p:txBody>
      </p:sp>
      <p:sp>
        <p:nvSpPr>
          <p:cNvPr id="81" name="Text 79"/>
          <p:cNvSpPr/>
          <p:nvPr/>
        </p:nvSpPr>
        <p:spPr>
          <a:xfrm>
            <a:off x="13741603" y="6580022"/>
            <a:ext cx="562356"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1F2937"/>
                </a:solidFill>
                <a:latin typeface="Manrope" pitchFamily="34" charset="0"/>
                <a:ea typeface="Manrope" pitchFamily="34" charset="-122"/>
                <a:cs typeface="Manrope" pitchFamily="34" charset="-120"/>
              </a:rPr>
              <a:t>Email</a:t>
            </a:r>
            <a:endParaRPr lang="en-US" sz="900" dirty="0"/>
          </a:p>
        </p:txBody>
      </p:sp>
      <p:sp>
        <p:nvSpPr>
          <p:cNvPr id="82" name="Shape 80"/>
          <p:cNvSpPr/>
          <p:nvPr/>
        </p:nvSpPr>
        <p:spPr>
          <a:xfrm>
            <a:off x="14375282" y="6580022"/>
            <a:ext cx="1295705" cy="286207"/>
          </a:xfrm>
          <a:prstGeom prst="roundRect">
            <a:avLst>
              <a:gd name="adj" fmla="val 49840"/>
            </a:avLst>
          </a:prstGeom>
          <a:solidFill>
            <a:srgbClr val="4C1D95"/>
          </a:solidFill>
          <a:ln w="12700">
            <a:solidFill>
              <a:srgbClr val="FFFFFF">
                <a:alpha val="0"/>
              </a:srgbClr>
            </a:solidFill>
            <a:prstDash val="solid"/>
          </a:ln>
        </p:spPr>
        <p:txBody>
          <a:bodyPr/>
          <a:lstStyle/>
          <a:p>
            <a:endParaRPr lang="fr-CI"/>
          </a:p>
        </p:txBody>
      </p:sp>
      <p:sp>
        <p:nvSpPr>
          <p:cNvPr id="83" name="Text 81"/>
          <p:cNvSpPr/>
          <p:nvPr/>
        </p:nvSpPr>
        <p:spPr>
          <a:xfrm>
            <a:off x="14375282" y="6580022"/>
            <a:ext cx="1295705"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FFFFFF"/>
                </a:solidFill>
                <a:latin typeface="Manrope" pitchFamily="34" charset="0"/>
                <a:ea typeface="Manrope" pitchFamily="34" charset="-122"/>
                <a:cs typeface="Manrope" pitchFamily="34" charset="-120"/>
              </a:rPr>
              <a:t>Notification push</a:t>
            </a:r>
            <a:endParaRPr lang="en-US" sz="900" dirty="0"/>
          </a:p>
        </p:txBody>
      </p:sp>
      <p:sp>
        <p:nvSpPr>
          <p:cNvPr id="84" name="Text 82"/>
          <p:cNvSpPr txBox="1"/>
          <p:nvPr/>
        </p:nvSpPr>
        <p:spPr>
          <a:xfrm>
            <a:off x="12001500" y="7055510"/>
            <a:ext cx="5143500" cy="133502"/>
          </a:xfrm>
          <a:prstGeom prst="rect">
            <a:avLst/>
          </a:prstGeom>
          <a:noFill/>
          <a:ln/>
        </p:spPr>
        <p:txBody>
          <a:bodyPr wrap="none" lIns="0" tIns="0" rIns="0" bIns="0" rtlCol="0" anchor="ctr"/>
          <a:lstStyle/>
          <a:p>
            <a:pPr marL="0" indent="0" algn="l">
              <a:buNone/>
            </a:pPr>
            <a:r>
              <a:rPr lang="en-US" sz="800" b="1" kern="0" spc="83" dirty="0">
                <a:solidFill>
                  <a:srgbClr val="A78BFA"/>
                </a:solidFill>
                <a:latin typeface="JetBrains Mono" pitchFamily="34" charset="0"/>
                <a:ea typeface="JetBrains Mono" pitchFamily="34" charset="-122"/>
                <a:cs typeface="JetBrains Mono" pitchFamily="34" charset="-120"/>
              </a:rPr>
              <a:t>CALENDRIER</a:t>
            </a:r>
            <a:endParaRPr lang="en-US" sz="800" dirty="0"/>
          </a:p>
        </p:txBody>
      </p:sp>
      <p:sp>
        <p:nvSpPr>
          <p:cNvPr id="85" name="Text 83"/>
          <p:cNvSpPr txBox="1"/>
          <p:nvPr/>
        </p:nvSpPr>
        <p:spPr>
          <a:xfrm>
            <a:off x="12001500" y="7284110"/>
            <a:ext cx="51435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 J-7 : information préalable</a:t>
            </a:r>
            <a:endParaRPr lang="en-US" sz="900" dirty="0"/>
          </a:p>
        </p:txBody>
      </p:sp>
      <p:sp>
        <p:nvSpPr>
          <p:cNvPr id="86" name="Text 84"/>
          <p:cNvSpPr txBox="1"/>
          <p:nvPr/>
        </p:nvSpPr>
        <p:spPr>
          <a:xfrm>
            <a:off x="12001500" y="7482535"/>
            <a:ext cx="51435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 J-1 : rappel + lien APK nouvelle version</a:t>
            </a:r>
            <a:endParaRPr lang="en-US" sz="900" dirty="0"/>
          </a:p>
        </p:txBody>
      </p:sp>
      <p:sp>
        <p:nvSpPr>
          <p:cNvPr id="87" name="Text 85"/>
          <p:cNvSpPr txBox="1"/>
          <p:nvPr/>
        </p:nvSpPr>
        <p:spPr>
          <a:xfrm>
            <a:off x="12001500" y="7680960"/>
            <a:ext cx="51435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 J0 : confirmation + assistance dédiée</a:t>
            </a:r>
            <a:endParaRPr lang="en-US" sz="900" dirty="0"/>
          </a:p>
        </p:txBody>
      </p:sp>
      <p:sp>
        <p:nvSpPr>
          <p:cNvPr id="88" name="Text 86"/>
          <p:cNvSpPr txBox="1"/>
          <p:nvPr/>
        </p:nvSpPr>
        <p:spPr>
          <a:xfrm>
            <a:off x="12001500" y="7878470"/>
            <a:ext cx="5143500" cy="200254"/>
          </a:xfrm>
          <a:prstGeom prst="rect">
            <a:avLst/>
          </a:prstGeom>
          <a:noFill/>
          <a:ln/>
        </p:spPr>
        <p:txBody>
          <a:bodyPr wrap="none" lIns="0" tIns="0" rIns="0" bIns="0" rtlCol="0" anchor="ctr"/>
          <a:lstStyle/>
          <a:p>
            <a:pPr marL="0" indent="0" algn="l">
              <a:buNone/>
            </a:pPr>
            <a:r>
              <a:rPr lang="en-US" sz="900" dirty="0">
                <a:solidFill>
                  <a:srgbClr val="C4B5FD"/>
                </a:solidFill>
                <a:latin typeface="Manrope" pitchFamily="34" charset="0"/>
                <a:ea typeface="Manrope" pitchFamily="34" charset="-122"/>
                <a:cs typeface="Manrope" pitchFamily="34" charset="-120"/>
              </a:rPr>
              <a:t>· J+7 : bilan satisfaction</a:t>
            </a:r>
            <a:endParaRPr lang="en-US" sz="900" dirty="0"/>
          </a:p>
        </p:txBody>
      </p:sp>
      <p:sp>
        <p:nvSpPr>
          <p:cNvPr id="89" name="Shape 87"/>
          <p:cNvSpPr/>
          <p:nvPr/>
        </p:nvSpPr>
        <p:spPr>
          <a:xfrm>
            <a:off x="0" y="9791395"/>
            <a:ext cx="18288000" cy="495605"/>
          </a:xfrm>
          <a:prstGeom prst="rect">
            <a:avLst/>
          </a:prstGeom>
          <a:solidFill>
            <a:srgbClr val="FFFFFF"/>
          </a:solidFill>
          <a:ln/>
        </p:spPr>
        <p:txBody>
          <a:bodyPr/>
          <a:lstStyle/>
          <a:p>
            <a:endParaRPr lang="fr-CI"/>
          </a:p>
        </p:txBody>
      </p:sp>
      <p:sp>
        <p:nvSpPr>
          <p:cNvPr id="90" name="Shape 88"/>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91" name="Text 89"/>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92" name="Text 90"/>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56 / 59</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5681046" y="256946"/>
            <a:ext cx="2259482"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§33 Plan de retour arrière</a:t>
            </a:r>
            <a:endParaRPr lang="en-US" sz="900" dirty="0"/>
          </a:p>
        </p:txBody>
      </p:sp>
      <p:sp>
        <p:nvSpPr>
          <p:cNvPr id="10" name="Text 8"/>
          <p:cNvSpPr txBox="1"/>
          <p:nvPr/>
        </p:nvSpPr>
        <p:spPr>
          <a:xfrm>
            <a:off x="914400" y="1205179"/>
            <a:ext cx="3943807"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33. Plan de retour arrière (rollback)</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8479110" cy="553212"/>
          </a:xfrm>
          <a:prstGeom prst="rect">
            <a:avLst/>
          </a:prstGeom>
          <a:noFill/>
          <a:ln/>
        </p:spPr>
        <p:txBody>
          <a:bodyPr wrap="non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8 déclencheurs · 6 actions séquencées · 0 perte de donnée garantie.</a:t>
            </a:r>
            <a:endParaRPr lang="en-US" sz="3900" dirty="0"/>
          </a:p>
        </p:txBody>
      </p:sp>
      <p:pic>
        <p:nvPicPr>
          <p:cNvPr id="13" name="Image 0" descr="gen-dedup-df64d162f020a31f0f1540f9b520bb2d.jpg"/>
          <p:cNvPicPr>
            <a:picLocks noChangeAspect="1"/>
          </p:cNvPicPr>
          <p:nvPr/>
        </p:nvPicPr>
        <p:blipFill>
          <a:blip r:embed="rId2"/>
          <a:srcRect t="-13998" b="-13998"/>
          <a:stretch/>
        </p:blipFill>
        <p:spPr>
          <a:xfrm>
            <a:off x="914400" y="2667305"/>
            <a:ext cx="9525305" cy="6858000"/>
          </a:xfrm>
          <a:prstGeom prst="rect">
            <a:avLst/>
          </a:prstGeom>
        </p:spPr>
      </p:pic>
      <p:sp>
        <p:nvSpPr>
          <p:cNvPr id="14" name="Text 11"/>
          <p:cNvSpPr txBox="1"/>
          <p:nvPr/>
        </p:nvSpPr>
        <p:spPr>
          <a:xfrm>
            <a:off x="914400" y="9525305"/>
            <a:ext cx="9525305" cy="219456"/>
          </a:xfrm>
          <a:prstGeom prst="rect">
            <a:avLst/>
          </a:prstGeom>
          <a:noFill/>
          <a:ln/>
        </p:spPr>
        <p:txBody>
          <a:bodyPr wrap="none" lIns="0" tIns="0" rIns="0" bIns="0" rtlCol="0" anchor="ctr"/>
          <a:lstStyle/>
          <a:p>
            <a:pPr marL="0" indent="0" algn="ctr">
              <a:buNone/>
            </a:pPr>
            <a:r>
              <a:rPr lang="en-US" sz="1100" i="1" dirty="0">
                <a:solidFill>
                  <a:srgbClr val="6B7280"/>
                </a:solidFill>
                <a:latin typeface="Manrope" pitchFamily="34" charset="0"/>
                <a:ea typeface="Manrope" pitchFamily="34" charset="-122"/>
                <a:cs typeface="Manrope" pitchFamily="34" charset="-120"/>
              </a:rPr>
              <a:t>Fig. 53.1 — Arbre de décision rollback : OUI → réactivation ancienne version · NON → hypercare continue</a:t>
            </a:r>
            <a:endParaRPr lang="en-US" sz="1100" dirty="0"/>
          </a:p>
        </p:txBody>
      </p:sp>
      <p:sp>
        <p:nvSpPr>
          <p:cNvPr id="15" name="Shape 12"/>
          <p:cNvSpPr/>
          <p:nvPr/>
        </p:nvSpPr>
        <p:spPr>
          <a:xfrm>
            <a:off x="10744200" y="2667305"/>
            <a:ext cx="6667805" cy="3238805"/>
          </a:xfrm>
          <a:prstGeom prst="roundRect">
            <a:avLst>
              <a:gd name="adj" fmla="val 4122"/>
            </a:avLst>
          </a:prstGeom>
          <a:solidFill>
            <a:srgbClr val="FEE2E2"/>
          </a:solidFill>
          <a:ln w="25400">
            <a:solidFill>
              <a:srgbClr val="EF4444"/>
            </a:solidFill>
            <a:prstDash val="solid"/>
          </a:ln>
        </p:spPr>
        <p:txBody>
          <a:bodyPr/>
          <a:lstStyle/>
          <a:p>
            <a:endParaRPr lang="fr-CI"/>
          </a:p>
        </p:txBody>
      </p:sp>
      <p:sp>
        <p:nvSpPr>
          <p:cNvPr id="16" name="Text 13"/>
          <p:cNvSpPr txBox="1"/>
          <p:nvPr/>
        </p:nvSpPr>
        <p:spPr>
          <a:xfrm>
            <a:off x="11048695" y="2895905"/>
            <a:ext cx="6096305" cy="152705"/>
          </a:xfrm>
          <a:prstGeom prst="rect">
            <a:avLst/>
          </a:prstGeom>
          <a:noFill/>
          <a:ln/>
        </p:spPr>
        <p:txBody>
          <a:bodyPr wrap="none" lIns="0" tIns="0" rIns="0" bIns="0" rtlCol="0" anchor="ctr"/>
          <a:lstStyle/>
          <a:p>
            <a:pPr marL="0" indent="0" algn="l">
              <a:buNone/>
            </a:pPr>
            <a:r>
              <a:rPr lang="en-US" sz="900" b="1" kern="0" spc="108" dirty="0">
                <a:solidFill>
                  <a:srgbClr val="991B1B"/>
                </a:solidFill>
                <a:latin typeface="JetBrains Mono" pitchFamily="34" charset="0"/>
                <a:ea typeface="JetBrains Mono" pitchFamily="34" charset="-122"/>
                <a:cs typeface="JetBrains Mono" pitchFamily="34" charset="-120"/>
              </a:rPr>
              <a:t>8 DÉCLENCHEURS DE ROLLBACK</a:t>
            </a:r>
            <a:endParaRPr lang="en-US" sz="900" dirty="0"/>
          </a:p>
        </p:txBody>
      </p:sp>
      <p:sp>
        <p:nvSpPr>
          <p:cNvPr id="17" name="Text 14"/>
          <p:cNvSpPr txBox="1"/>
          <p:nvPr/>
        </p:nvSpPr>
        <p:spPr>
          <a:xfrm>
            <a:off x="11048695" y="3105302"/>
            <a:ext cx="6096305" cy="257861"/>
          </a:xfrm>
          <a:prstGeom prst="rect">
            <a:avLst/>
          </a:prstGeom>
          <a:noFill/>
          <a:ln/>
        </p:spPr>
        <p:txBody>
          <a:bodyPr wrap="none" lIns="0" tIns="0" rIns="0" bIns="0" rtlCol="0" anchor="ctr"/>
          <a:lstStyle/>
          <a:p>
            <a:pPr marL="0" indent="0" algn="l">
              <a:buNone/>
            </a:pPr>
            <a:r>
              <a:rPr lang="en-US" sz="1500" b="1" dirty="0">
                <a:solidFill>
                  <a:srgbClr val="991B1B"/>
                </a:solidFill>
                <a:latin typeface="Manrope" pitchFamily="34" charset="0"/>
                <a:ea typeface="Manrope" pitchFamily="34" charset="-122"/>
                <a:cs typeface="Manrope" pitchFamily="34" charset="-120"/>
              </a:rPr>
              <a:t>Si l'un de ces critères est observé en production</a:t>
            </a:r>
            <a:endParaRPr lang="en-US" sz="1500" dirty="0"/>
          </a:p>
        </p:txBody>
      </p:sp>
      <p:sp>
        <p:nvSpPr>
          <p:cNvPr id="18" name="Text 15"/>
          <p:cNvSpPr txBox="1"/>
          <p:nvPr/>
        </p:nvSpPr>
        <p:spPr>
          <a:xfrm>
            <a:off x="11048695" y="3552444"/>
            <a:ext cx="2971800" cy="171907"/>
          </a:xfrm>
          <a:prstGeom prst="rect">
            <a:avLst/>
          </a:prstGeom>
          <a:noFill/>
          <a:ln/>
        </p:spPr>
        <p:txBody>
          <a:bodyPr wrap="none" lIns="0" tIns="0" rIns="0" bIns="0" rtlCol="0" anchor="ctr"/>
          <a:lstStyle/>
          <a:p>
            <a:pPr marL="0" indent="0" algn="l">
              <a:buNone/>
            </a:pPr>
            <a:r>
              <a:rPr lang="en-US" sz="900" b="1" dirty="0">
                <a:solidFill>
                  <a:srgbClr val="EF4444"/>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Connexion impossible (majorité)</a:t>
            </a:r>
            <a:endParaRPr lang="en-US" sz="900" dirty="0"/>
          </a:p>
        </p:txBody>
      </p:sp>
      <p:sp>
        <p:nvSpPr>
          <p:cNvPr id="19" name="Text 16"/>
          <p:cNvSpPr txBox="1"/>
          <p:nvPr/>
        </p:nvSpPr>
        <p:spPr>
          <a:xfrm>
            <a:off x="14173200" y="3552444"/>
            <a:ext cx="2971800" cy="171907"/>
          </a:xfrm>
          <a:prstGeom prst="rect">
            <a:avLst/>
          </a:prstGeom>
          <a:noFill/>
          <a:ln/>
        </p:spPr>
        <p:txBody>
          <a:bodyPr wrap="none" lIns="0" tIns="0" rIns="0" bIns="0" rtlCol="0" anchor="ctr"/>
          <a:lstStyle/>
          <a:p>
            <a:pPr marL="0" indent="0" algn="l">
              <a:buNone/>
            </a:pPr>
            <a:r>
              <a:rPr lang="en-US" sz="900" b="1" dirty="0">
                <a:solidFill>
                  <a:srgbClr val="EF4444"/>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Courses impossibles</a:t>
            </a:r>
            <a:endParaRPr lang="en-US" sz="900" dirty="0"/>
          </a:p>
        </p:txBody>
      </p:sp>
      <p:sp>
        <p:nvSpPr>
          <p:cNvPr id="20" name="Text 17"/>
          <p:cNvSpPr txBox="1"/>
          <p:nvPr/>
        </p:nvSpPr>
        <p:spPr>
          <a:xfrm>
            <a:off x="11048695" y="3781044"/>
            <a:ext cx="2971800" cy="171907"/>
          </a:xfrm>
          <a:prstGeom prst="rect">
            <a:avLst/>
          </a:prstGeom>
          <a:noFill/>
          <a:ln/>
        </p:spPr>
        <p:txBody>
          <a:bodyPr wrap="none" lIns="0" tIns="0" rIns="0" bIns="0" rtlCol="0" anchor="ctr"/>
          <a:lstStyle/>
          <a:p>
            <a:pPr marL="0" indent="0" algn="l">
              <a:buNone/>
            </a:pPr>
            <a:r>
              <a:rPr lang="en-US" sz="900" b="1" dirty="0">
                <a:solidFill>
                  <a:srgbClr val="EF4444"/>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Livraisons impossibles</a:t>
            </a:r>
            <a:endParaRPr lang="en-US" sz="900" dirty="0"/>
          </a:p>
        </p:txBody>
      </p:sp>
      <p:sp>
        <p:nvSpPr>
          <p:cNvPr id="21" name="Text 18"/>
          <p:cNvSpPr txBox="1"/>
          <p:nvPr/>
        </p:nvSpPr>
        <p:spPr>
          <a:xfrm>
            <a:off x="14173200" y="3781044"/>
            <a:ext cx="2971800" cy="171907"/>
          </a:xfrm>
          <a:prstGeom prst="rect">
            <a:avLst/>
          </a:prstGeom>
          <a:noFill/>
          <a:ln/>
        </p:spPr>
        <p:txBody>
          <a:bodyPr wrap="none" lIns="0" tIns="0" rIns="0" bIns="0" rtlCol="0" anchor="ctr"/>
          <a:lstStyle/>
          <a:p>
            <a:pPr marL="0" indent="0" algn="l">
              <a:buNone/>
            </a:pPr>
            <a:r>
              <a:rPr lang="en-US" sz="900" b="1" dirty="0">
                <a:solidFill>
                  <a:srgbClr val="EF4444"/>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Wallets incohérents</a:t>
            </a:r>
            <a:endParaRPr lang="en-US" sz="900" dirty="0"/>
          </a:p>
        </p:txBody>
      </p:sp>
      <p:sp>
        <p:nvSpPr>
          <p:cNvPr id="22" name="Text 19"/>
          <p:cNvSpPr txBox="1"/>
          <p:nvPr/>
        </p:nvSpPr>
        <p:spPr>
          <a:xfrm>
            <a:off x="11048695" y="4009644"/>
            <a:ext cx="2971800" cy="171907"/>
          </a:xfrm>
          <a:prstGeom prst="rect">
            <a:avLst/>
          </a:prstGeom>
          <a:noFill/>
          <a:ln/>
        </p:spPr>
        <p:txBody>
          <a:bodyPr wrap="none" lIns="0" tIns="0" rIns="0" bIns="0" rtlCol="0" anchor="ctr"/>
          <a:lstStyle/>
          <a:p>
            <a:pPr marL="0" indent="0" algn="l">
              <a:buNone/>
            </a:pPr>
            <a:r>
              <a:rPr lang="en-US" sz="900" b="1" dirty="0">
                <a:solidFill>
                  <a:srgbClr val="EF4444"/>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Données perdues</a:t>
            </a:r>
            <a:endParaRPr lang="en-US" sz="900" dirty="0"/>
          </a:p>
        </p:txBody>
      </p:sp>
      <p:sp>
        <p:nvSpPr>
          <p:cNvPr id="23" name="Text 20"/>
          <p:cNvSpPr txBox="1"/>
          <p:nvPr/>
        </p:nvSpPr>
        <p:spPr>
          <a:xfrm>
            <a:off x="14173200" y="4009644"/>
            <a:ext cx="2971800" cy="171907"/>
          </a:xfrm>
          <a:prstGeom prst="rect">
            <a:avLst/>
          </a:prstGeom>
          <a:noFill/>
          <a:ln/>
        </p:spPr>
        <p:txBody>
          <a:bodyPr wrap="none" lIns="0" tIns="0" rIns="0" bIns="0" rtlCol="0" anchor="ctr"/>
          <a:lstStyle/>
          <a:p>
            <a:pPr marL="0" indent="0" algn="l">
              <a:buNone/>
            </a:pPr>
            <a:r>
              <a:rPr lang="en-US" sz="900" b="1" dirty="0">
                <a:solidFill>
                  <a:srgbClr val="EF4444"/>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Commissions fausses</a:t>
            </a:r>
            <a:endParaRPr lang="en-US" sz="900" dirty="0"/>
          </a:p>
        </p:txBody>
      </p:sp>
      <p:sp>
        <p:nvSpPr>
          <p:cNvPr id="24" name="Text 21"/>
          <p:cNvSpPr txBox="1"/>
          <p:nvPr/>
        </p:nvSpPr>
        <p:spPr>
          <a:xfrm>
            <a:off x="11048695" y="4238244"/>
            <a:ext cx="2971800" cy="171907"/>
          </a:xfrm>
          <a:prstGeom prst="rect">
            <a:avLst/>
          </a:prstGeom>
          <a:noFill/>
          <a:ln/>
        </p:spPr>
        <p:txBody>
          <a:bodyPr wrap="none" lIns="0" tIns="0" rIns="0" bIns="0" rtlCol="0" anchor="ctr"/>
          <a:lstStyle/>
          <a:p>
            <a:pPr marL="0" indent="0" algn="l">
              <a:buNone/>
            </a:pPr>
            <a:r>
              <a:rPr lang="en-US" sz="900" b="1" dirty="0">
                <a:solidFill>
                  <a:srgbClr val="EF4444"/>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Plateforme instable</a:t>
            </a:r>
            <a:endParaRPr lang="en-US" sz="900" dirty="0"/>
          </a:p>
        </p:txBody>
      </p:sp>
      <p:sp>
        <p:nvSpPr>
          <p:cNvPr id="25" name="Text 22"/>
          <p:cNvSpPr txBox="1"/>
          <p:nvPr/>
        </p:nvSpPr>
        <p:spPr>
          <a:xfrm>
            <a:off x="14173200" y="4238244"/>
            <a:ext cx="2971800" cy="171907"/>
          </a:xfrm>
          <a:prstGeom prst="rect">
            <a:avLst/>
          </a:prstGeom>
          <a:noFill/>
          <a:ln/>
        </p:spPr>
        <p:txBody>
          <a:bodyPr wrap="none" lIns="0" tIns="0" rIns="0" bIns="0" rtlCol="0" anchor="ctr"/>
          <a:lstStyle/>
          <a:p>
            <a:pPr marL="0" indent="0" algn="l">
              <a:buNone/>
            </a:pPr>
            <a:r>
              <a:rPr lang="en-US" sz="900" b="1" dirty="0">
                <a:solidFill>
                  <a:srgbClr val="EF4444"/>
                </a:solidFill>
                <a:latin typeface="Manrope" pitchFamily="34" charset="0"/>
                <a:ea typeface="Manrope" pitchFamily="34" charset="-122"/>
                <a:cs typeface="Manrope" pitchFamily="34" charset="-120"/>
              </a:rPr>
              <a:t>✗</a:t>
            </a:r>
            <a:r>
              <a:rPr lang="en-US" sz="900" dirty="0">
                <a:solidFill>
                  <a:srgbClr val="1F2937"/>
                </a:solidFill>
                <a:latin typeface="Manrope" pitchFamily="34" charset="0"/>
                <a:ea typeface="Manrope" pitchFamily="34" charset="-122"/>
                <a:cs typeface="Manrope" pitchFamily="34" charset="-120"/>
              </a:rPr>
              <a:t> Reporting inutilisable</a:t>
            </a:r>
            <a:endParaRPr lang="en-US" sz="900" dirty="0"/>
          </a:p>
        </p:txBody>
      </p:sp>
      <p:sp>
        <p:nvSpPr>
          <p:cNvPr id="26" name="Shape 23"/>
          <p:cNvSpPr/>
          <p:nvPr/>
        </p:nvSpPr>
        <p:spPr>
          <a:xfrm>
            <a:off x="10744200" y="6096305"/>
            <a:ext cx="6667805" cy="3429000"/>
          </a:xfrm>
          <a:prstGeom prst="roundRect">
            <a:avLst>
              <a:gd name="adj" fmla="val 3893"/>
            </a:avLst>
          </a:prstGeom>
          <a:solidFill>
            <a:srgbClr val="1F2937"/>
          </a:solidFill>
          <a:ln w="12700">
            <a:solidFill>
              <a:srgbClr val="FFFFFF">
                <a:alpha val="0"/>
              </a:srgbClr>
            </a:solidFill>
            <a:prstDash val="solid"/>
          </a:ln>
        </p:spPr>
        <p:txBody>
          <a:bodyPr/>
          <a:lstStyle/>
          <a:p>
            <a:endParaRPr lang="fr-CI"/>
          </a:p>
        </p:txBody>
      </p:sp>
      <p:sp>
        <p:nvSpPr>
          <p:cNvPr id="27" name="Text 24"/>
          <p:cNvSpPr txBox="1"/>
          <p:nvPr/>
        </p:nvSpPr>
        <p:spPr>
          <a:xfrm>
            <a:off x="11048695" y="6324905"/>
            <a:ext cx="6096305" cy="152705"/>
          </a:xfrm>
          <a:prstGeom prst="rect">
            <a:avLst/>
          </a:prstGeom>
          <a:noFill/>
          <a:ln/>
        </p:spPr>
        <p:txBody>
          <a:bodyPr wrap="none" lIns="0" tIns="0" rIns="0" bIns="0" rtlCol="0" anchor="ctr"/>
          <a:lstStyle/>
          <a:p>
            <a:pPr marL="0" indent="0" algn="l">
              <a:buNone/>
            </a:pPr>
            <a:r>
              <a:rPr lang="en-US" sz="900" b="1" kern="0" spc="108" dirty="0">
                <a:solidFill>
                  <a:srgbClr val="A78BFA"/>
                </a:solidFill>
                <a:latin typeface="JetBrains Mono" pitchFamily="34" charset="0"/>
                <a:ea typeface="JetBrains Mono" pitchFamily="34" charset="-122"/>
                <a:cs typeface="JetBrains Mono" pitchFamily="34" charset="-120"/>
              </a:rPr>
              <a:t>6 ACTIONS SÉQUENCÉES</a:t>
            </a:r>
            <a:endParaRPr lang="en-US" sz="900" dirty="0"/>
          </a:p>
        </p:txBody>
      </p:sp>
      <p:sp>
        <p:nvSpPr>
          <p:cNvPr id="28" name="Text 25"/>
          <p:cNvSpPr txBox="1"/>
          <p:nvPr/>
        </p:nvSpPr>
        <p:spPr>
          <a:xfrm>
            <a:off x="11048695" y="6534302"/>
            <a:ext cx="6096305" cy="257861"/>
          </a:xfrm>
          <a:prstGeom prst="rect">
            <a:avLst/>
          </a:prstGeom>
          <a:noFill/>
          <a:ln/>
        </p:spPr>
        <p:txBody>
          <a:bodyPr wrap="none" lIns="0" tIns="0" rIns="0" bIns="0" rtlCol="0" anchor="ctr"/>
          <a:lstStyle/>
          <a:p>
            <a:pPr marL="0" indent="0" algn="l">
              <a:buNone/>
            </a:pPr>
            <a:r>
              <a:rPr lang="en-US" sz="1500" b="1" dirty="0">
                <a:solidFill>
                  <a:srgbClr val="FFFFFF"/>
                </a:solidFill>
                <a:latin typeface="Manrope" pitchFamily="34" charset="0"/>
                <a:ea typeface="Manrope" pitchFamily="34" charset="-122"/>
                <a:cs typeface="Manrope" pitchFamily="34" charset="-120"/>
              </a:rPr>
              <a:t>Si rollback déclenché</a:t>
            </a:r>
            <a:endParaRPr lang="en-US" sz="1500" dirty="0"/>
          </a:p>
        </p:txBody>
      </p:sp>
      <p:sp>
        <p:nvSpPr>
          <p:cNvPr id="29" name="Shape 26"/>
          <p:cNvSpPr/>
          <p:nvPr/>
        </p:nvSpPr>
        <p:spPr>
          <a:xfrm>
            <a:off x="11048695" y="6981444"/>
            <a:ext cx="6096305" cy="390449"/>
          </a:xfrm>
          <a:prstGeom prst="roundRect">
            <a:avLst>
              <a:gd name="adj" fmla="val 19438"/>
            </a:avLst>
          </a:prstGeom>
          <a:solidFill>
            <a:srgbClr val="374151"/>
          </a:solidFill>
          <a:ln w="12700">
            <a:solidFill>
              <a:srgbClr val="FFFFFF">
                <a:alpha val="0"/>
              </a:srgbClr>
            </a:solidFill>
            <a:prstDash val="solid"/>
          </a:ln>
        </p:spPr>
        <p:txBody>
          <a:bodyPr/>
          <a:lstStyle/>
          <a:p>
            <a:endParaRPr lang="fr-CI"/>
          </a:p>
        </p:txBody>
      </p:sp>
      <p:sp>
        <p:nvSpPr>
          <p:cNvPr id="30" name="Text 27"/>
          <p:cNvSpPr txBox="1"/>
          <p:nvPr/>
        </p:nvSpPr>
        <p:spPr>
          <a:xfrm>
            <a:off x="11182198" y="7077456"/>
            <a:ext cx="191110" cy="200254"/>
          </a:xfrm>
          <a:prstGeom prst="rect">
            <a:avLst/>
          </a:prstGeom>
          <a:noFill/>
          <a:ln/>
        </p:spPr>
        <p:txBody>
          <a:bodyPr wrap="none" lIns="0" tIns="0" rIns="0" bIns="0" rtlCol="0" anchor="ctr"/>
          <a:lstStyle/>
          <a:p>
            <a:pPr marL="0" indent="0" algn="l">
              <a:buNone/>
            </a:pPr>
            <a:r>
              <a:rPr lang="en-US" sz="1200" b="1" dirty="0">
                <a:solidFill>
                  <a:srgbClr val="A78BFA"/>
                </a:solidFill>
                <a:latin typeface="JetBrains Mono" pitchFamily="34" charset="0"/>
                <a:ea typeface="JetBrains Mono" pitchFamily="34" charset="-122"/>
                <a:cs typeface="JetBrains Mono" pitchFamily="34" charset="-120"/>
              </a:rPr>
              <a:t>01</a:t>
            </a:r>
            <a:endParaRPr lang="en-US" sz="1200" dirty="0"/>
          </a:p>
        </p:txBody>
      </p:sp>
      <p:sp>
        <p:nvSpPr>
          <p:cNvPr id="31" name="Text 28"/>
          <p:cNvSpPr txBox="1"/>
          <p:nvPr/>
        </p:nvSpPr>
        <p:spPr>
          <a:xfrm>
            <a:off x="11498580" y="7086600"/>
            <a:ext cx="2071116" cy="181051"/>
          </a:xfrm>
          <a:prstGeom prst="rect">
            <a:avLst/>
          </a:prstGeom>
          <a:noFill/>
          <a:ln/>
        </p:spPr>
        <p:txBody>
          <a:bodyPr wrap="none" lIns="0" tIns="0" rIns="0" bIns="0" rtlCol="0" anchor="ctr"/>
          <a:lstStyle/>
          <a:p>
            <a:pPr marL="0" indent="0" algn="l">
              <a:buNone/>
            </a:pPr>
            <a:r>
              <a:rPr lang="en-US" sz="1000" b="1" dirty="0">
                <a:solidFill>
                  <a:srgbClr val="FFFFFF"/>
                </a:solidFill>
                <a:latin typeface="Manrope" pitchFamily="34" charset="0"/>
                <a:ea typeface="Manrope" pitchFamily="34" charset="-122"/>
                <a:cs typeface="Manrope" pitchFamily="34" charset="-120"/>
              </a:rPr>
              <a:t>Suspension du déploiement</a:t>
            </a:r>
            <a:endParaRPr lang="en-US" sz="1000" dirty="0"/>
          </a:p>
        </p:txBody>
      </p:sp>
      <p:sp>
        <p:nvSpPr>
          <p:cNvPr id="32" name="Shape 29"/>
          <p:cNvSpPr/>
          <p:nvPr/>
        </p:nvSpPr>
        <p:spPr>
          <a:xfrm>
            <a:off x="11048695" y="7448702"/>
            <a:ext cx="6096305" cy="390449"/>
          </a:xfrm>
          <a:prstGeom prst="roundRect">
            <a:avLst>
              <a:gd name="adj" fmla="val 19438"/>
            </a:avLst>
          </a:prstGeom>
          <a:solidFill>
            <a:srgbClr val="374151"/>
          </a:solidFill>
          <a:ln w="12700">
            <a:solidFill>
              <a:srgbClr val="FFFFFF">
                <a:alpha val="0"/>
              </a:srgbClr>
            </a:solidFill>
            <a:prstDash val="solid"/>
          </a:ln>
        </p:spPr>
        <p:txBody>
          <a:bodyPr/>
          <a:lstStyle/>
          <a:p>
            <a:endParaRPr lang="fr-CI"/>
          </a:p>
        </p:txBody>
      </p:sp>
      <p:sp>
        <p:nvSpPr>
          <p:cNvPr id="33" name="Text 30"/>
          <p:cNvSpPr txBox="1"/>
          <p:nvPr/>
        </p:nvSpPr>
        <p:spPr>
          <a:xfrm>
            <a:off x="11182198" y="7543800"/>
            <a:ext cx="191110" cy="200254"/>
          </a:xfrm>
          <a:prstGeom prst="rect">
            <a:avLst/>
          </a:prstGeom>
          <a:noFill/>
          <a:ln/>
        </p:spPr>
        <p:txBody>
          <a:bodyPr wrap="none" lIns="0" tIns="0" rIns="0" bIns="0" rtlCol="0" anchor="ctr"/>
          <a:lstStyle/>
          <a:p>
            <a:pPr marL="0" indent="0" algn="l">
              <a:buNone/>
            </a:pPr>
            <a:r>
              <a:rPr lang="en-US" sz="1200" b="1" dirty="0">
                <a:solidFill>
                  <a:srgbClr val="A78BFA"/>
                </a:solidFill>
                <a:latin typeface="JetBrains Mono" pitchFamily="34" charset="0"/>
                <a:ea typeface="JetBrains Mono" pitchFamily="34" charset="-122"/>
                <a:cs typeface="JetBrains Mono" pitchFamily="34" charset="-120"/>
              </a:rPr>
              <a:t>02</a:t>
            </a:r>
            <a:endParaRPr lang="en-US" sz="1200" dirty="0"/>
          </a:p>
        </p:txBody>
      </p:sp>
      <p:sp>
        <p:nvSpPr>
          <p:cNvPr id="34" name="Text 31"/>
          <p:cNvSpPr txBox="1"/>
          <p:nvPr/>
        </p:nvSpPr>
        <p:spPr>
          <a:xfrm>
            <a:off x="11498580" y="7552944"/>
            <a:ext cx="2573122" cy="181051"/>
          </a:xfrm>
          <a:prstGeom prst="rect">
            <a:avLst/>
          </a:prstGeom>
          <a:noFill/>
          <a:ln/>
        </p:spPr>
        <p:txBody>
          <a:bodyPr wrap="none" lIns="0" tIns="0" rIns="0" bIns="0" rtlCol="0" anchor="ctr"/>
          <a:lstStyle/>
          <a:p>
            <a:pPr marL="0" indent="0" algn="l">
              <a:buNone/>
            </a:pPr>
            <a:r>
              <a:rPr lang="en-US" sz="1000" b="1" dirty="0">
                <a:solidFill>
                  <a:srgbClr val="FFFFFF"/>
                </a:solidFill>
                <a:latin typeface="Manrope" pitchFamily="34" charset="0"/>
                <a:ea typeface="Manrope" pitchFamily="34" charset="-122"/>
                <a:cs typeface="Manrope" pitchFamily="34" charset="-120"/>
              </a:rPr>
              <a:t>Réactivation de l'ancienne version</a:t>
            </a:r>
            <a:endParaRPr lang="en-US" sz="1000" dirty="0"/>
          </a:p>
        </p:txBody>
      </p:sp>
      <p:sp>
        <p:nvSpPr>
          <p:cNvPr id="35" name="Shape 32"/>
          <p:cNvSpPr/>
          <p:nvPr/>
        </p:nvSpPr>
        <p:spPr>
          <a:xfrm>
            <a:off x="11048695" y="7915046"/>
            <a:ext cx="6096305" cy="390449"/>
          </a:xfrm>
          <a:prstGeom prst="roundRect">
            <a:avLst>
              <a:gd name="adj" fmla="val 19438"/>
            </a:avLst>
          </a:prstGeom>
          <a:solidFill>
            <a:srgbClr val="374151"/>
          </a:solidFill>
          <a:ln w="12700">
            <a:solidFill>
              <a:srgbClr val="FFFFFF">
                <a:alpha val="0"/>
              </a:srgbClr>
            </a:solidFill>
            <a:prstDash val="solid"/>
          </a:ln>
        </p:spPr>
        <p:txBody>
          <a:bodyPr/>
          <a:lstStyle/>
          <a:p>
            <a:endParaRPr lang="fr-CI"/>
          </a:p>
        </p:txBody>
      </p:sp>
      <p:sp>
        <p:nvSpPr>
          <p:cNvPr id="36" name="Text 33"/>
          <p:cNvSpPr txBox="1"/>
          <p:nvPr/>
        </p:nvSpPr>
        <p:spPr>
          <a:xfrm>
            <a:off x="11182198" y="8010144"/>
            <a:ext cx="191110" cy="200254"/>
          </a:xfrm>
          <a:prstGeom prst="rect">
            <a:avLst/>
          </a:prstGeom>
          <a:noFill/>
          <a:ln/>
        </p:spPr>
        <p:txBody>
          <a:bodyPr wrap="none" lIns="0" tIns="0" rIns="0" bIns="0" rtlCol="0" anchor="ctr"/>
          <a:lstStyle/>
          <a:p>
            <a:pPr marL="0" indent="0" algn="l">
              <a:buNone/>
            </a:pPr>
            <a:r>
              <a:rPr lang="en-US" sz="1200" b="1" dirty="0">
                <a:solidFill>
                  <a:srgbClr val="A78BFA"/>
                </a:solidFill>
                <a:latin typeface="JetBrains Mono" pitchFamily="34" charset="0"/>
                <a:ea typeface="JetBrains Mono" pitchFamily="34" charset="-122"/>
                <a:cs typeface="JetBrains Mono" pitchFamily="34" charset="-120"/>
              </a:rPr>
              <a:t>03</a:t>
            </a:r>
            <a:endParaRPr lang="en-US" sz="1200" dirty="0"/>
          </a:p>
        </p:txBody>
      </p:sp>
      <p:sp>
        <p:nvSpPr>
          <p:cNvPr id="37" name="Text 34"/>
          <p:cNvSpPr txBox="1"/>
          <p:nvPr/>
        </p:nvSpPr>
        <p:spPr>
          <a:xfrm>
            <a:off x="11498580" y="8020202"/>
            <a:ext cx="2301545" cy="181051"/>
          </a:xfrm>
          <a:prstGeom prst="rect">
            <a:avLst/>
          </a:prstGeom>
          <a:noFill/>
          <a:ln/>
        </p:spPr>
        <p:txBody>
          <a:bodyPr wrap="none" lIns="0" tIns="0" rIns="0" bIns="0" rtlCol="0" anchor="ctr"/>
          <a:lstStyle/>
          <a:p>
            <a:pPr marL="0" indent="0" algn="l">
              <a:buNone/>
            </a:pPr>
            <a:r>
              <a:rPr lang="en-US" sz="1000" b="1" dirty="0">
                <a:solidFill>
                  <a:srgbClr val="FFFFFF"/>
                </a:solidFill>
                <a:latin typeface="Manrope" pitchFamily="34" charset="0"/>
                <a:ea typeface="Manrope" pitchFamily="34" charset="-122"/>
                <a:cs typeface="Manrope" pitchFamily="34" charset="-120"/>
              </a:rPr>
              <a:t>Restauration de la sauvegarde</a:t>
            </a:r>
            <a:endParaRPr lang="en-US" sz="1000" dirty="0"/>
          </a:p>
        </p:txBody>
      </p:sp>
      <p:sp>
        <p:nvSpPr>
          <p:cNvPr id="38" name="Shape 35"/>
          <p:cNvSpPr/>
          <p:nvPr/>
        </p:nvSpPr>
        <p:spPr>
          <a:xfrm>
            <a:off x="11048695" y="8382305"/>
            <a:ext cx="6096305" cy="390449"/>
          </a:xfrm>
          <a:prstGeom prst="roundRect">
            <a:avLst>
              <a:gd name="adj" fmla="val 19438"/>
            </a:avLst>
          </a:prstGeom>
          <a:solidFill>
            <a:srgbClr val="374151"/>
          </a:solidFill>
          <a:ln w="12700">
            <a:solidFill>
              <a:srgbClr val="FFFFFF">
                <a:alpha val="0"/>
              </a:srgbClr>
            </a:solidFill>
            <a:prstDash val="solid"/>
          </a:ln>
        </p:spPr>
        <p:txBody>
          <a:bodyPr/>
          <a:lstStyle/>
          <a:p>
            <a:endParaRPr lang="fr-CI"/>
          </a:p>
        </p:txBody>
      </p:sp>
      <p:sp>
        <p:nvSpPr>
          <p:cNvPr id="39" name="Text 36"/>
          <p:cNvSpPr txBox="1"/>
          <p:nvPr/>
        </p:nvSpPr>
        <p:spPr>
          <a:xfrm>
            <a:off x="11182198" y="8477402"/>
            <a:ext cx="191110" cy="200254"/>
          </a:xfrm>
          <a:prstGeom prst="rect">
            <a:avLst/>
          </a:prstGeom>
          <a:noFill/>
          <a:ln/>
        </p:spPr>
        <p:txBody>
          <a:bodyPr wrap="none" lIns="0" tIns="0" rIns="0" bIns="0" rtlCol="0" anchor="ctr"/>
          <a:lstStyle/>
          <a:p>
            <a:pPr marL="0" indent="0" algn="l">
              <a:buNone/>
            </a:pPr>
            <a:r>
              <a:rPr lang="en-US" sz="1200" b="1" dirty="0">
                <a:solidFill>
                  <a:srgbClr val="A78BFA"/>
                </a:solidFill>
                <a:latin typeface="JetBrains Mono" pitchFamily="34" charset="0"/>
                <a:ea typeface="JetBrains Mono" pitchFamily="34" charset="-122"/>
                <a:cs typeface="JetBrains Mono" pitchFamily="34" charset="-120"/>
              </a:rPr>
              <a:t>04</a:t>
            </a:r>
            <a:endParaRPr lang="en-US" sz="1200" dirty="0"/>
          </a:p>
        </p:txBody>
      </p:sp>
      <p:sp>
        <p:nvSpPr>
          <p:cNvPr id="40" name="Text 37"/>
          <p:cNvSpPr txBox="1"/>
          <p:nvPr/>
        </p:nvSpPr>
        <p:spPr>
          <a:xfrm>
            <a:off x="11498580" y="8486546"/>
            <a:ext cx="2539289" cy="181051"/>
          </a:xfrm>
          <a:prstGeom prst="rect">
            <a:avLst/>
          </a:prstGeom>
          <a:noFill/>
          <a:ln/>
        </p:spPr>
        <p:txBody>
          <a:bodyPr wrap="none" lIns="0" tIns="0" rIns="0" bIns="0" rtlCol="0" anchor="ctr"/>
          <a:lstStyle/>
          <a:p>
            <a:pPr marL="0" indent="0" algn="l">
              <a:buNone/>
            </a:pPr>
            <a:r>
              <a:rPr lang="en-US" sz="1000" b="1" dirty="0">
                <a:solidFill>
                  <a:srgbClr val="FFFFFF"/>
                </a:solidFill>
                <a:latin typeface="Manrope" pitchFamily="34" charset="0"/>
                <a:ea typeface="Manrope" pitchFamily="34" charset="-122"/>
                <a:cs typeface="Manrope" pitchFamily="34" charset="-120"/>
              </a:rPr>
              <a:t>Analyse de l'incident (root cause)</a:t>
            </a:r>
            <a:endParaRPr lang="en-US" sz="1000" dirty="0"/>
          </a:p>
        </p:txBody>
      </p:sp>
      <p:sp>
        <p:nvSpPr>
          <p:cNvPr id="41" name="Shape 38"/>
          <p:cNvSpPr/>
          <p:nvPr/>
        </p:nvSpPr>
        <p:spPr>
          <a:xfrm>
            <a:off x="11048695" y="8848649"/>
            <a:ext cx="6096305" cy="390449"/>
          </a:xfrm>
          <a:prstGeom prst="roundRect">
            <a:avLst>
              <a:gd name="adj" fmla="val 19438"/>
            </a:avLst>
          </a:prstGeom>
          <a:solidFill>
            <a:srgbClr val="374151"/>
          </a:solidFill>
          <a:ln w="12700">
            <a:solidFill>
              <a:srgbClr val="FFFFFF">
                <a:alpha val="0"/>
              </a:srgbClr>
            </a:solidFill>
            <a:prstDash val="solid"/>
          </a:ln>
        </p:spPr>
        <p:txBody>
          <a:bodyPr/>
          <a:lstStyle/>
          <a:p>
            <a:endParaRPr lang="fr-CI"/>
          </a:p>
        </p:txBody>
      </p:sp>
      <p:sp>
        <p:nvSpPr>
          <p:cNvPr id="42" name="Text 39"/>
          <p:cNvSpPr txBox="1"/>
          <p:nvPr/>
        </p:nvSpPr>
        <p:spPr>
          <a:xfrm>
            <a:off x="11182198" y="8943746"/>
            <a:ext cx="191110" cy="200254"/>
          </a:xfrm>
          <a:prstGeom prst="rect">
            <a:avLst/>
          </a:prstGeom>
          <a:noFill/>
          <a:ln/>
        </p:spPr>
        <p:txBody>
          <a:bodyPr wrap="none" lIns="0" tIns="0" rIns="0" bIns="0" rtlCol="0" anchor="ctr"/>
          <a:lstStyle/>
          <a:p>
            <a:pPr marL="0" indent="0" algn="l">
              <a:buNone/>
            </a:pPr>
            <a:r>
              <a:rPr lang="en-US" sz="1200" b="1" dirty="0">
                <a:solidFill>
                  <a:srgbClr val="A78BFA"/>
                </a:solidFill>
                <a:latin typeface="JetBrains Mono" pitchFamily="34" charset="0"/>
                <a:ea typeface="JetBrains Mono" pitchFamily="34" charset="-122"/>
                <a:cs typeface="JetBrains Mono" pitchFamily="34" charset="-120"/>
              </a:rPr>
              <a:t>05</a:t>
            </a:r>
            <a:endParaRPr lang="en-US" sz="1200" dirty="0"/>
          </a:p>
        </p:txBody>
      </p:sp>
      <p:sp>
        <p:nvSpPr>
          <p:cNvPr id="43" name="Text 40"/>
          <p:cNvSpPr txBox="1"/>
          <p:nvPr/>
        </p:nvSpPr>
        <p:spPr>
          <a:xfrm>
            <a:off x="11498580" y="8953805"/>
            <a:ext cx="905256" cy="181051"/>
          </a:xfrm>
          <a:prstGeom prst="rect">
            <a:avLst/>
          </a:prstGeom>
          <a:noFill/>
          <a:ln/>
        </p:spPr>
        <p:txBody>
          <a:bodyPr wrap="none" lIns="0" tIns="0" rIns="0" bIns="0" rtlCol="0" anchor="ctr"/>
          <a:lstStyle/>
          <a:p>
            <a:pPr marL="0" indent="0" algn="l">
              <a:buNone/>
            </a:pPr>
            <a:r>
              <a:rPr lang="en-US" sz="1000" b="1" dirty="0">
                <a:solidFill>
                  <a:srgbClr val="FFFFFF"/>
                </a:solidFill>
                <a:latin typeface="Manrope" pitchFamily="34" charset="0"/>
                <a:ea typeface="Manrope" pitchFamily="34" charset="-122"/>
                <a:cs typeface="Manrope" pitchFamily="34" charset="-120"/>
              </a:rPr>
              <a:t>Correction</a:t>
            </a:r>
            <a:endParaRPr lang="en-US" sz="1000" dirty="0"/>
          </a:p>
        </p:txBody>
      </p:sp>
      <p:sp>
        <p:nvSpPr>
          <p:cNvPr id="44" name="Shape 41"/>
          <p:cNvSpPr/>
          <p:nvPr/>
        </p:nvSpPr>
        <p:spPr>
          <a:xfrm>
            <a:off x="11048695" y="9315907"/>
            <a:ext cx="6096305" cy="390449"/>
          </a:xfrm>
          <a:prstGeom prst="roundRect">
            <a:avLst>
              <a:gd name="adj" fmla="val 19438"/>
            </a:avLst>
          </a:prstGeom>
          <a:solidFill>
            <a:srgbClr val="4C1D95"/>
          </a:solidFill>
          <a:ln w="12700">
            <a:solidFill>
              <a:srgbClr val="FFFFFF">
                <a:alpha val="0"/>
              </a:srgbClr>
            </a:solidFill>
            <a:prstDash val="solid"/>
          </a:ln>
        </p:spPr>
        <p:txBody>
          <a:bodyPr/>
          <a:lstStyle/>
          <a:p>
            <a:endParaRPr lang="fr-CI"/>
          </a:p>
        </p:txBody>
      </p:sp>
      <p:sp>
        <p:nvSpPr>
          <p:cNvPr id="45" name="Text 42"/>
          <p:cNvSpPr txBox="1"/>
          <p:nvPr/>
        </p:nvSpPr>
        <p:spPr>
          <a:xfrm>
            <a:off x="11182198" y="9411005"/>
            <a:ext cx="191110" cy="200254"/>
          </a:xfrm>
          <a:prstGeom prst="rect">
            <a:avLst/>
          </a:prstGeom>
          <a:noFill/>
          <a:ln/>
        </p:spPr>
        <p:txBody>
          <a:bodyPr wrap="none" lIns="0" tIns="0" rIns="0" bIns="0" rtlCol="0" anchor="ctr"/>
          <a:lstStyle/>
          <a:p>
            <a:pPr marL="0" indent="0" algn="l">
              <a:buNone/>
            </a:pPr>
            <a:r>
              <a:rPr lang="en-US" sz="1200" b="1" dirty="0">
                <a:solidFill>
                  <a:srgbClr val="C4B5FD"/>
                </a:solidFill>
                <a:latin typeface="JetBrains Mono" pitchFamily="34" charset="0"/>
                <a:ea typeface="JetBrains Mono" pitchFamily="34" charset="-122"/>
                <a:cs typeface="JetBrains Mono" pitchFamily="34" charset="-120"/>
              </a:rPr>
              <a:t>06</a:t>
            </a:r>
            <a:endParaRPr lang="en-US" sz="1200" dirty="0"/>
          </a:p>
        </p:txBody>
      </p:sp>
      <p:sp>
        <p:nvSpPr>
          <p:cNvPr id="46" name="Text 43"/>
          <p:cNvSpPr txBox="1"/>
          <p:nvPr/>
        </p:nvSpPr>
        <p:spPr>
          <a:xfrm>
            <a:off x="11498580" y="9420149"/>
            <a:ext cx="2097634" cy="181051"/>
          </a:xfrm>
          <a:prstGeom prst="rect">
            <a:avLst/>
          </a:prstGeom>
          <a:noFill/>
          <a:ln/>
        </p:spPr>
        <p:txBody>
          <a:bodyPr wrap="none" lIns="0" tIns="0" rIns="0" bIns="0" rtlCol="0" anchor="ctr"/>
          <a:lstStyle/>
          <a:p>
            <a:pPr marL="0" indent="0" algn="l">
              <a:buNone/>
            </a:pPr>
            <a:r>
              <a:rPr lang="en-US" sz="1000" b="1" dirty="0">
                <a:solidFill>
                  <a:srgbClr val="FFFFFF"/>
                </a:solidFill>
                <a:latin typeface="Manrope" pitchFamily="34" charset="0"/>
                <a:ea typeface="Manrope" pitchFamily="34" charset="-122"/>
                <a:cs typeface="Manrope" pitchFamily="34" charset="-120"/>
              </a:rPr>
              <a:t>Nouveau test avant relance</a:t>
            </a:r>
            <a:endParaRPr lang="en-US" sz="1000" dirty="0"/>
          </a:p>
        </p:txBody>
      </p:sp>
      <p:sp>
        <p:nvSpPr>
          <p:cNvPr id="47" name="Shape 44"/>
          <p:cNvSpPr/>
          <p:nvPr/>
        </p:nvSpPr>
        <p:spPr>
          <a:xfrm>
            <a:off x="0" y="9791395"/>
            <a:ext cx="18288000" cy="495605"/>
          </a:xfrm>
          <a:prstGeom prst="rect">
            <a:avLst/>
          </a:prstGeom>
          <a:solidFill>
            <a:srgbClr val="FFFFFF"/>
          </a:solidFill>
          <a:ln/>
        </p:spPr>
        <p:txBody>
          <a:bodyPr/>
          <a:lstStyle/>
          <a:p>
            <a:endParaRPr lang="fr-CI"/>
          </a:p>
        </p:txBody>
      </p:sp>
      <p:sp>
        <p:nvSpPr>
          <p:cNvPr id="48" name="Shape 45"/>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49" name="Text 46"/>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50" name="Text 47"/>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57 / 59</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4" name="Shape 2"/>
          <p:cNvSpPr/>
          <p:nvPr/>
        </p:nvSpPr>
        <p:spPr>
          <a:xfrm>
            <a:off x="0" y="0"/>
            <a:ext cx="18288000" cy="685800"/>
          </a:xfrm>
          <a:prstGeom prst="rect">
            <a:avLst/>
          </a:prstGeom>
          <a:solidFill>
            <a:srgbClr val="FFFFFF"/>
          </a:solidFill>
          <a:ln/>
        </p:spPr>
        <p:txBody>
          <a:bodyPr/>
          <a:lstStyle/>
          <a:p>
            <a:endParaRPr lang="fr-CI"/>
          </a:p>
        </p:txBody>
      </p:sp>
      <p:sp>
        <p:nvSpPr>
          <p:cNvPr id="5"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6"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7"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8"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9" name="Text 7"/>
          <p:cNvSpPr txBox="1"/>
          <p:nvPr/>
        </p:nvSpPr>
        <p:spPr>
          <a:xfrm>
            <a:off x="15871241" y="256946"/>
            <a:ext cx="2154326"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Parties XIII &amp; XIV — §34-36</a:t>
            </a:r>
            <a:endParaRPr lang="en-US" sz="900" dirty="0"/>
          </a:p>
        </p:txBody>
      </p:sp>
      <p:sp>
        <p:nvSpPr>
          <p:cNvPr id="10" name="Text 8"/>
          <p:cNvSpPr txBox="1"/>
          <p:nvPr/>
        </p:nvSpPr>
        <p:spPr>
          <a:xfrm>
            <a:off x="914400" y="1205179"/>
            <a:ext cx="3610966"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34. à 36. · Hypercare &amp; livrables</a:t>
            </a:r>
            <a:endParaRPr lang="en-US" sz="1000" dirty="0"/>
          </a:p>
        </p:txBody>
      </p:sp>
      <p:sp>
        <p:nvSpPr>
          <p:cNvPr id="11" name="Shape 9"/>
          <p:cNvSpPr/>
          <p:nvPr/>
        </p:nvSpPr>
        <p:spPr>
          <a:xfrm>
            <a:off x="914400" y="1205179"/>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2" name="Text 10"/>
          <p:cNvSpPr txBox="1"/>
          <p:nvPr/>
        </p:nvSpPr>
        <p:spPr>
          <a:xfrm>
            <a:off x="914400" y="1543507"/>
            <a:ext cx="16193110" cy="1095451"/>
          </a:xfrm>
          <a:prstGeom prst="rect">
            <a:avLst/>
          </a:prstGeom>
          <a:noFill/>
          <a:ln/>
        </p:spPr>
        <p:txBody>
          <a:bodyPr wrap="square" lIns="0" tIns="0" rIns="0" bIns="0" rtlCol="0" anchor="ctr"/>
          <a:lstStyle/>
          <a:p>
            <a:pPr marL="0" indent="0" algn="l">
              <a:buNone/>
            </a:pPr>
            <a:r>
              <a:rPr lang="en-US" sz="3900" b="1" kern="0" spc="-58" dirty="0">
                <a:solidFill>
                  <a:srgbClr val="1F2937"/>
                </a:solidFill>
                <a:latin typeface="Manrope" pitchFamily="34" charset="0"/>
                <a:ea typeface="Manrope" pitchFamily="34" charset="-122"/>
                <a:cs typeface="Manrope" pitchFamily="34" charset="-120"/>
              </a:rPr>
              <a:t>Hypercare 15-30 jours post-bascule &amp; livrables complets de recette + migration.</a:t>
            </a:r>
            <a:endParaRPr lang="en-US" sz="3900" dirty="0"/>
          </a:p>
        </p:txBody>
      </p:sp>
      <p:sp>
        <p:nvSpPr>
          <p:cNvPr id="13" name="Text 11"/>
          <p:cNvSpPr txBox="1"/>
          <p:nvPr/>
        </p:nvSpPr>
        <p:spPr>
          <a:xfrm>
            <a:off x="914400" y="2667305"/>
            <a:ext cx="16497605" cy="152705"/>
          </a:xfrm>
          <a:prstGeom prst="rect">
            <a:avLst/>
          </a:prstGeom>
          <a:noFill/>
          <a:ln/>
        </p:spPr>
        <p:txBody>
          <a:bodyPr wrap="none" lIns="0" tIns="0" rIns="0" bIns="0" rtlCol="0" anchor="ctr"/>
          <a:lstStyle/>
          <a:p>
            <a:pPr marL="0" indent="0" algn="l">
              <a:buNone/>
            </a:pPr>
            <a:r>
              <a:rPr lang="en-US" sz="900" b="1" kern="0" spc="108" dirty="0">
                <a:solidFill>
                  <a:srgbClr val="6D28D9"/>
                </a:solidFill>
                <a:latin typeface="JetBrains Mono" pitchFamily="34" charset="0"/>
                <a:ea typeface="JetBrains Mono" pitchFamily="34" charset="-122"/>
                <a:cs typeface="JetBrains Mono" pitchFamily="34" charset="-120"/>
              </a:rPr>
              <a:t>34. Période d'hypercare — 15 à 30 jours après mise en production</a:t>
            </a:r>
            <a:endParaRPr lang="en-US" sz="900" dirty="0"/>
          </a:p>
        </p:txBody>
      </p:sp>
      <p:sp>
        <p:nvSpPr>
          <p:cNvPr id="14" name="Shape 12"/>
          <p:cNvSpPr/>
          <p:nvPr/>
        </p:nvSpPr>
        <p:spPr>
          <a:xfrm>
            <a:off x="914400" y="3047695"/>
            <a:ext cx="5391302" cy="2457907"/>
          </a:xfrm>
          <a:prstGeom prst="roundRect">
            <a:avLst>
              <a:gd name="adj" fmla="val 5432"/>
            </a:avLst>
          </a:prstGeom>
          <a:solidFill>
            <a:srgbClr val="FAFAFC"/>
          </a:solidFill>
          <a:ln w="12700">
            <a:solidFill>
              <a:srgbClr val="E5E7EB"/>
            </a:solidFill>
            <a:prstDash val="solid"/>
          </a:ln>
        </p:spPr>
        <p:txBody>
          <a:bodyPr/>
          <a:lstStyle/>
          <a:p>
            <a:endParaRPr lang="fr-CI"/>
          </a:p>
        </p:txBody>
      </p:sp>
      <p:sp>
        <p:nvSpPr>
          <p:cNvPr id="15" name="Text 13"/>
          <p:cNvSpPr txBox="1"/>
          <p:nvPr/>
        </p:nvSpPr>
        <p:spPr>
          <a:xfrm>
            <a:off x="1133856" y="3267151"/>
            <a:ext cx="4953305" cy="238658"/>
          </a:xfrm>
          <a:prstGeom prst="rect">
            <a:avLst/>
          </a:prstGeom>
          <a:noFill/>
          <a:ln/>
        </p:spPr>
        <p:txBody>
          <a:bodyPr wrap="none" lIns="0" tIns="0" rIns="0" bIns="0" rtlCol="0" anchor="ctr"/>
          <a:lstStyle/>
          <a:p>
            <a:pPr marL="0" indent="0" algn="l">
              <a:buNone/>
            </a:pPr>
            <a:r>
              <a:rPr lang="en-US" sz="1500" b="1" dirty="0">
                <a:solidFill>
                  <a:srgbClr val="1F2937"/>
                </a:solidFill>
                <a:latin typeface="Manrope" pitchFamily="34" charset="0"/>
                <a:ea typeface="Manrope" pitchFamily="34" charset="-122"/>
                <a:cs typeface="Manrope" pitchFamily="34" charset="-120"/>
              </a:rPr>
              <a:t>Indicateurs techniques</a:t>
            </a:r>
            <a:endParaRPr lang="en-US" sz="1500" dirty="0"/>
          </a:p>
        </p:txBody>
      </p:sp>
      <p:pic>
        <p:nvPicPr>
          <p:cNvPr id="16" name="Image 0" descr="gen-dedup-f07bb3bbc30382f69fe6e1471c427d6b.png"/>
          <p:cNvPicPr>
            <a:picLocks noChangeAspect="1"/>
          </p:cNvPicPr>
          <p:nvPr/>
        </p:nvPicPr>
        <p:blipFill>
          <a:blip r:embed="rId2"/>
          <a:srcRect l="-385" r="-385"/>
          <a:stretch/>
        </p:blipFill>
        <p:spPr>
          <a:xfrm>
            <a:off x="1133856" y="3581705"/>
            <a:ext cx="761695" cy="28346"/>
          </a:xfrm>
          <a:prstGeom prst="rect">
            <a:avLst/>
          </a:prstGeom>
        </p:spPr>
      </p:pic>
      <p:sp>
        <p:nvSpPr>
          <p:cNvPr id="17" name="Text 14"/>
          <p:cNvSpPr txBox="1"/>
          <p:nvPr/>
        </p:nvSpPr>
        <p:spPr>
          <a:xfrm>
            <a:off x="1133856" y="3743554"/>
            <a:ext cx="4953305"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Disponibilité plateforme</a:t>
            </a:r>
            <a:endParaRPr lang="en-US" sz="900" dirty="0"/>
          </a:p>
        </p:txBody>
      </p:sp>
      <p:sp>
        <p:nvSpPr>
          <p:cNvPr id="18" name="Text 15"/>
          <p:cNvSpPr txBox="1"/>
          <p:nvPr/>
        </p:nvSpPr>
        <p:spPr>
          <a:xfrm>
            <a:off x="1133856" y="3935578"/>
            <a:ext cx="4953305"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Crashs application</a:t>
            </a:r>
            <a:endParaRPr lang="en-US" sz="900" dirty="0"/>
          </a:p>
        </p:txBody>
      </p:sp>
      <p:sp>
        <p:nvSpPr>
          <p:cNvPr id="19" name="Text 16"/>
          <p:cNvSpPr txBox="1"/>
          <p:nvPr/>
        </p:nvSpPr>
        <p:spPr>
          <a:xfrm>
            <a:off x="1133856" y="4127602"/>
            <a:ext cx="4953305"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Erreurs API</a:t>
            </a:r>
            <a:endParaRPr lang="en-US" sz="900" dirty="0"/>
          </a:p>
        </p:txBody>
      </p:sp>
      <p:sp>
        <p:nvSpPr>
          <p:cNvPr id="20" name="Text 17"/>
          <p:cNvSpPr txBox="1"/>
          <p:nvPr/>
        </p:nvSpPr>
        <p:spPr>
          <a:xfrm>
            <a:off x="1133856" y="4319626"/>
            <a:ext cx="4953305"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Temps de réponse</a:t>
            </a:r>
            <a:endParaRPr lang="en-US" sz="900" dirty="0"/>
          </a:p>
        </p:txBody>
      </p:sp>
      <p:sp>
        <p:nvSpPr>
          <p:cNvPr id="21" name="Text 18"/>
          <p:cNvSpPr txBox="1"/>
          <p:nvPr/>
        </p:nvSpPr>
        <p:spPr>
          <a:xfrm>
            <a:off x="1133856" y="4511650"/>
            <a:ext cx="4953305"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Échec OTP</a:t>
            </a:r>
            <a:endParaRPr lang="en-US" sz="900" dirty="0"/>
          </a:p>
        </p:txBody>
      </p:sp>
      <p:sp>
        <p:nvSpPr>
          <p:cNvPr id="22" name="Text 19"/>
          <p:cNvSpPr txBox="1"/>
          <p:nvPr/>
        </p:nvSpPr>
        <p:spPr>
          <a:xfrm>
            <a:off x="1133856" y="4703674"/>
            <a:ext cx="4953305"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Échec notification</a:t>
            </a:r>
            <a:endParaRPr lang="en-US" sz="900" dirty="0"/>
          </a:p>
        </p:txBody>
      </p:sp>
      <p:sp>
        <p:nvSpPr>
          <p:cNvPr id="23" name="Text 20"/>
          <p:cNvSpPr txBox="1"/>
          <p:nvPr/>
        </p:nvSpPr>
        <p:spPr>
          <a:xfrm>
            <a:off x="1133856" y="4895698"/>
            <a:ext cx="4953305"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Erreurs paiement</a:t>
            </a:r>
            <a:endParaRPr lang="en-US" sz="900" dirty="0"/>
          </a:p>
        </p:txBody>
      </p:sp>
      <p:sp>
        <p:nvSpPr>
          <p:cNvPr id="24" name="Text 21"/>
          <p:cNvSpPr txBox="1"/>
          <p:nvPr/>
        </p:nvSpPr>
        <p:spPr>
          <a:xfrm>
            <a:off x="1133856" y="5086807"/>
            <a:ext cx="4953305"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Erreurs GPS</a:t>
            </a:r>
            <a:endParaRPr lang="en-US" sz="900" dirty="0"/>
          </a:p>
        </p:txBody>
      </p:sp>
      <p:sp>
        <p:nvSpPr>
          <p:cNvPr id="25" name="Shape 22"/>
          <p:cNvSpPr/>
          <p:nvPr/>
        </p:nvSpPr>
        <p:spPr>
          <a:xfrm>
            <a:off x="6470294" y="3047695"/>
            <a:ext cx="5391302" cy="2457907"/>
          </a:xfrm>
          <a:prstGeom prst="roundRect">
            <a:avLst>
              <a:gd name="adj" fmla="val 5432"/>
            </a:avLst>
          </a:prstGeom>
          <a:solidFill>
            <a:srgbClr val="F5F3FF"/>
          </a:solidFill>
          <a:ln w="12700">
            <a:solidFill>
              <a:srgbClr val="DDD6FE"/>
            </a:solidFill>
            <a:prstDash val="solid"/>
          </a:ln>
        </p:spPr>
        <p:txBody>
          <a:bodyPr/>
          <a:lstStyle/>
          <a:p>
            <a:endParaRPr lang="fr-CI"/>
          </a:p>
        </p:txBody>
      </p:sp>
      <p:sp>
        <p:nvSpPr>
          <p:cNvPr id="26" name="Text 23"/>
          <p:cNvSpPr txBox="1"/>
          <p:nvPr/>
        </p:nvSpPr>
        <p:spPr>
          <a:xfrm>
            <a:off x="6689750" y="3267151"/>
            <a:ext cx="4953305" cy="238658"/>
          </a:xfrm>
          <a:prstGeom prst="rect">
            <a:avLst/>
          </a:prstGeom>
          <a:noFill/>
          <a:ln/>
        </p:spPr>
        <p:txBody>
          <a:bodyPr wrap="none" lIns="0" tIns="0" rIns="0" bIns="0" rtlCol="0" anchor="ctr"/>
          <a:lstStyle/>
          <a:p>
            <a:pPr marL="0" indent="0" algn="l">
              <a:buNone/>
            </a:pPr>
            <a:r>
              <a:rPr lang="en-US" sz="1500" b="1" dirty="0">
                <a:solidFill>
                  <a:srgbClr val="1F2937"/>
                </a:solidFill>
                <a:latin typeface="Manrope" pitchFamily="34" charset="0"/>
                <a:ea typeface="Manrope" pitchFamily="34" charset="-122"/>
                <a:cs typeface="Manrope" pitchFamily="34" charset="-120"/>
              </a:rPr>
              <a:t>Indicateurs opérationnels</a:t>
            </a:r>
            <a:endParaRPr lang="en-US" sz="1500" dirty="0"/>
          </a:p>
        </p:txBody>
      </p:sp>
      <p:pic>
        <p:nvPicPr>
          <p:cNvPr id="27" name="Image 1" descr="gen-dedup-f07bb3bbc30382f69fe6e1471c427d6b.png"/>
          <p:cNvPicPr>
            <a:picLocks noChangeAspect="1"/>
          </p:cNvPicPr>
          <p:nvPr/>
        </p:nvPicPr>
        <p:blipFill>
          <a:blip r:embed="rId2"/>
          <a:srcRect l="-385" r="-385"/>
          <a:stretch/>
        </p:blipFill>
        <p:spPr>
          <a:xfrm>
            <a:off x="6689750" y="3581705"/>
            <a:ext cx="761695" cy="28346"/>
          </a:xfrm>
          <a:prstGeom prst="rect">
            <a:avLst/>
          </a:prstGeom>
        </p:spPr>
      </p:pic>
      <p:sp>
        <p:nvSpPr>
          <p:cNvPr id="28" name="Text 24"/>
          <p:cNvSpPr txBox="1"/>
          <p:nvPr/>
        </p:nvSpPr>
        <p:spPr>
          <a:xfrm>
            <a:off x="6689750" y="3743554"/>
            <a:ext cx="4953305"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Chauffeurs / livreurs connectés</a:t>
            </a:r>
            <a:endParaRPr lang="en-US" sz="900" dirty="0"/>
          </a:p>
        </p:txBody>
      </p:sp>
      <p:sp>
        <p:nvSpPr>
          <p:cNvPr id="29" name="Text 25"/>
          <p:cNvSpPr txBox="1"/>
          <p:nvPr/>
        </p:nvSpPr>
        <p:spPr>
          <a:xfrm>
            <a:off x="6689750" y="3935578"/>
            <a:ext cx="4953305"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Courses demandées</a:t>
            </a:r>
            <a:endParaRPr lang="en-US" sz="900" dirty="0"/>
          </a:p>
        </p:txBody>
      </p:sp>
      <p:sp>
        <p:nvSpPr>
          <p:cNvPr id="30" name="Text 26"/>
          <p:cNvSpPr txBox="1"/>
          <p:nvPr/>
        </p:nvSpPr>
        <p:spPr>
          <a:xfrm>
            <a:off x="6689750" y="4127602"/>
            <a:ext cx="4953305"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Courses acceptées</a:t>
            </a:r>
            <a:endParaRPr lang="en-US" sz="900" dirty="0"/>
          </a:p>
        </p:txBody>
      </p:sp>
      <p:sp>
        <p:nvSpPr>
          <p:cNvPr id="31" name="Text 27"/>
          <p:cNvSpPr txBox="1"/>
          <p:nvPr/>
        </p:nvSpPr>
        <p:spPr>
          <a:xfrm>
            <a:off x="6689750" y="4319626"/>
            <a:ext cx="4953305"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Courses terminées</a:t>
            </a:r>
            <a:endParaRPr lang="en-US" sz="900" dirty="0"/>
          </a:p>
        </p:txBody>
      </p:sp>
      <p:sp>
        <p:nvSpPr>
          <p:cNvPr id="32" name="Text 28"/>
          <p:cNvSpPr txBox="1"/>
          <p:nvPr/>
        </p:nvSpPr>
        <p:spPr>
          <a:xfrm>
            <a:off x="6689750" y="4511650"/>
            <a:ext cx="4953305"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Livraisons terminées</a:t>
            </a:r>
            <a:endParaRPr lang="en-US" sz="900" dirty="0"/>
          </a:p>
        </p:txBody>
      </p:sp>
      <p:sp>
        <p:nvSpPr>
          <p:cNvPr id="33" name="Text 29"/>
          <p:cNvSpPr txBox="1"/>
          <p:nvPr/>
        </p:nvSpPr>
        <p:spPr>
          <a:xfrm>
            <a:off x="6689750" y="4703674"/>
            <a:ext cx="4953305"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Demandes annulées</a:t>
            </a:r>
            <a:endParaRPr lang="en-US" sz="900" dirty="0"/>
          </a:p>
        </p:txBody>
      </p:sp>
      <p:sp>
        <p:nvSpPr>
          <p:cNvPr id="34" name="Text 30"/>
          <p:cNvSpPr txBox="1"/>
          <p:nvPr/>
        </p:nvSpPr>
        <p:spPr>
          <a:xfrm>
            <a:off x="6689750" y="4895698"/>
            <a:ext cx="4953305"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Réclamations</a:t>
            </a:r>
            <a:endParaRPr lang="en-US" sz="900" dirty="0"/>
          </a:p>
        </p:txBody>
      </p:sp>
      <p:sp>
        <p:nvSpPr>
          <p:cNvPr id="35" name="Text 31"/>
          <p:cNvSpPr txBox="1"/>
          <p:nvPr/>
        </p:nvSpPr>
        <p:spPr>
          <a:xfrm>
            <a:off x="6689750" y="5086807"/>
            <a:ext cx="4953305" cy="200254"/>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Temps moyen d'affectation</a:t>
            </a:r>
            <a:endParaRPr lang="en-US" sz="900" dirty="0"/>
          </a:p>
        </p:txBody>
      </p:sp>
      <p:sp>
        <p:nvSpPr>
          <p:cNvPr id="36" name="Shape 32"/>
          <p:cNvSpPr/>
          <p:nvPr/>
        </p:nvSpPr>
        <p:spPr>
          <a:xfrm>
            <a:off x="12027103" y="3047695"/>
            <a:ext cx="5391302" cy="2457907"/>
          </a:xfrm>
          <a:prstGeom prst="roundRect">
            <a:avLst>
              <a:gd name="adj" fmla="val 5432"/>
            </a:avLst>
          </a:prstGeom>
          <a:solidFill>
            <a:srgbClr val="1F2937"/>
          </a:solidFill>
          <a:ln w="12700">
            <a:solidFill>
              <a:srgbClr val="FFFFFF">
                <a:alpha val="0"/>
              </a:srgbClr>
            </a:solidFill>
            <a:prstDash val="solid"/>
          </a:ln>
        </p:spPr>
        <p:txBody>
          <a:bodyPr/>
          <a:lstStyle/>
          <a:p>
            <a:endParaRPr lang="fr-CI"/>
          </a:p>
        </p:txBody>
      </p:sp>
      <p:sp>
        <p:nvSpPr>
          <p:cNvPr id="37" name="Text 33"/>
          <p:cNvSpPr txBox="1"/>
          <p:nvPr/>
        </p:nvSpPr>
        <p:spPr>
          <a:xfrm>
            <a:off x="12236501" y="3258007"/>
            <a:ext cx="4972507" cy="257861"/>
          </a:xfrm>
          <a:prstGeom prst="rect">
            <a:avLst/>
          </a:prstGeom>
          <a:noFill/>
          <a:ln/>
        </p:spPr>
        <p:txBody>
          <a:bodyPr wrap="none" lIns="0" tIns="0" rIns="0" bIns="0" rtlCol="0" anchor="ctr"/>
          <a:lstStyle/>
          <a:p>
            <a:pPr marL="0" indent="0" algn="l">
              <a:buNone/>
            </a:pPr>
            <a:r>
              <a:rPr lang="en-US" sz="1500" b="1" dirty="0">
                <a:solidFill>
                  <a:srgbClr val="FFFFFF"/>
                </a:solidFill>
                <a:latin typeface="Manrope" pitchFamily="34" charset="0"/>
                <a:ea typeface="Manrope" pitchFamily="34" charset="-122"/>
                <a:cs typeface="Manrope" pitchFamily="34" charset="-120"/>
              </a:rPr>
              <a:t>Indicateurs financiers</a:t>
            </a:r>
            <a:endParaRPr lang="en-US" sz="1500" dirty="0"/>
          </a:p>
        </p:txBody>
      </p:sp>
      <p:pic>
        <p:nvPicPr>
          <p:cNvPr id="38" name="Image 2" descr="gen-dedup-5b23655439dddeb3d68f393e10aa30d6.png"/>
          <p:cNvPicPr>
            <a:picLocks noChangeAspect="1"/>
          </p:cNvPicPr>
          <p:nvPr/>
        </p:nvPicPr>
        <p:blipFill>
          <a:blip r:embed="rId3"/>
          <a:srcRect l="-385" r="-385"/>
          <a:stretch/>
        </p:blipFill>
        <p:spPr>
          <a:xfrm>
            <a:off x="12236501" y="3590849"/>
            <a:ext cx="761695" cy="28346"/>
          </a:xfrm>
          <a:prstGeom prst="rect">
            <a:avLst/>
          </a:prstGeom>
        </p:spPr>
      </p:pic>
      <p:sp>
        <p:nvSpPr>
          <p:cNvPr id="39" name="Text 34"/>
          <p:cNvSpPr txBox="1"/>
          <p:nvPr/>
        </p:nvSpPr>
        <p:spPr>
          <a:xfrm>
            <a:off x="12236501" y="3752698"/>
            <a:ext cx="4972507"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Recharges wallet</a:t>
            </a:r>
            <a:endParaRPr lang="en-US" sz="900" dirty="0"/>
          </a:p>
        </p:txBody>
      </p:sp>
      <p:sp>
        <p:nvSpPr>
          <p:cNvPr id="40" name="Text 35"/>
          <p:cNvSpPr txBox="1"/>
          <p:nvPr/>
        </p:nvSpPr>
        <p:spPr>
          <a:xfrm>
            <a:off x="12236501" y="3944722"/>
            <a:ext cx="4972507"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Débits commissions</a:t>
            </a:r>
            <a:endParaRPr lang="en-US" sz="900" dirty="0"/>
          </a:p>
        </p:txBody>
      </p:sp>
      <p:sp>
        <p:nvSpPr>
          <p:cNvPr id="41" name="Text 36"/>
          <p:cNvSpPr txBox="1"/>
          <p:nvPr/>
        </p:nvSpPr>
        <p:spPr>
          <a:xfrm>
            <a:off x="12236501" y="4136746"/>
            <a:ext cx="4972507"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Soldes</a:t>
            </a:r>
            <a:endParaRPr lang="en-US" sz="900" dirty="0"/>
          </a:p>
        </p:txBody>
      </p:sp>
      <p:sp>
        <p:nvSpPr>
          <p:cNvPr id="42" name="Text 37"/>
          <p:cNvSpPr txBox="1"/>
          <p:nvPr/>
        </p:nvSpPr>
        <p:spPr>
          <a:xfrm>
            <a:off x="12236501" y="4328770"/>
            <a:ext cx="4972507"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Transactions échouées</a:t>
            </a:r>
            <a:endParaRPr lang="en-US" sz="900" dirty="0"/>
          </a:p>
        </p:txBody>
      </p:sp>
      <p:sp>
        <p:nvSpPr>
          <p:cNvPr id="43" name="Text 38"/>
          <p:cNvSpPr txBox="1"/>
          <p:nvPr/>
        </p:nvSpPr>
        <p:spPr>
          <a:xfrm>
            <a:off x="12236501" y="4520794"/>
            <a:ext cx="4972507"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Écarts financiers</a:t>
            </a:r>
            <a:endParaRPr lang="en-US" sz="900" dirty="0"/>
          </a:p>
        </p:txBody>
      </p:sp>
      <p:sp>
        <p:nvSpPr>
          <p:cNvPr id="44" name="Text 39"/>
          <p:cNvSpPr txBox="1"/>
          <p:nvPr/>
        </p:nvSpPr>
        <p:spPr>
          <a:xfrm>
            <a:off x="12236501" y="4712818"/>
            <a:ext cx="4972507"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Commissions plateforme</a:t>
            </a:r>
            <a:endParaRPr lang="en-US" sz="900" dirty="0"/>
          </a:p>
        </p:txBody>
      </p:sp>
      <p:sp>
        <p:nvSpPr>
          <p:cNvPr id="45" name="Text 40"/>
          <p:cNvSpPr txBox="1"/>
          <p:nvPr/>
        </p:nvSpPr>
        <p:spPr>
          <a:xfrm>
            <a:off x="12236501" y="4904842"/>
            <a:ext cx="4972507"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Commissions partenaires</a:t>
            </a:r>
            <a:endParaRPr lang="en-US" sz="900" dirty="0"/>
          </a:p>
        </p:txBody>
      </p:sp>
      <p:sp>
        <p:nvSpPr>
          <p:cNvPr id="46" name="Text 41"/>
          <p:cNvSpPr txBox="1"/>
          <p:nvPr/>
        </p:nvSpPr>
        <p:spPr>
          <a:xfrm>
            <a:off x="12236501" y="5096866"/>
            <a:ext cx="4972507" cy="200254"/>
          </a:xfrm>
          <a:prstGeom prst="rect">
            <a:avLst/>
          </a:prstGeom>
          <a:noFill/>
          <a:ln/>
        </p:spPr>
        <p:txBody>
          <a:bodyPr wrap="none" lIns="0" tIns="0" rIns="0" bIns="0" rtlCol="0" anchor="ctr"/>
          <a:lstStyle/>
          <a:p>
            <a:pPr marL="0" indent="0" algn="l">
              <a:buNone/>
            </a:pPr>
            <a:r>
              <a:rPr lang="en-US" sz="900" dirty="0">
                <a:solidFill>
                  <a:srgbClr val="E5E7EB"/>
                </a:solidFill>
                <a:latin typeface="Manrope" pitchFamily="34" charset="0"/>
                <a:ea typeface="Manrope" pitchFamily="34" charset="-122"/>
                <a:cs typeface="Manrope" pitchFamily="34" charset="-120"/>
              </a:rPr>
              <a:t>· Commissions franchises</a:t>
            </a:r>
            <a:endParaRPr lang="en-US" sz="900" dirty="0"/>
          </a:p>
        </p:txBody>
      </p:sp>
      <p:sp>
        <p:nvSpPr>
          <p:cNvPr id="47" name="Text 42"/>
          <p:cNvSpPr txBox="1"/>
          <p:nvPr/>
        </p:nvSpPr>
        <p:spPr>
          <a:xfrm>
            <a:off x="914400" y="6286500"/>
            <a:ext cx="16497605" cy="152705"/>
          </a:xfrm>
          <a:prstGeom prst="rect">
            <a:avLst/>
          </a:prstGeom>
          <a:noFill/>
          <a:ln/>
        </p:spPr>
        <p:txBody>
          <a:bodyPr wrap="none" lIns="0" tIns="0" rIns="0" bIns="0" rtlCol="0" anchor="ctr"/>
          <a:lstStyle/>
          <a:p>
            <a:pPr marL="0" indent="0" algn="l">
              <a:buNone/>
            </a:pPr>
            <a:r>
              <a:rPr lang="en-US" sz="900" b="1" kern="0" spc="108" dirty="0">
                <a:solidFill>
                  <a:srgbClr val="6D28D9"/>
                </a:solidFill>
                <a:latin typeface="JetBrains Mono" pitchFamily="34" charset="0"/>
                <a:ea typeface="JetBrains Mono" pitchFamily="34" charset="-122"/>
                <a:cs typeface="JetBrains Mono" pitchFamily="34" charset="-120"/>
              </a:rPr>
              <a:t>35. &amp; 36. Livrables attendus — recette + migration</a:t>
            </a:r>
            <a:endParaRPr lang="en-US" sz="900" dirty="0"/>
          </a:p>
        </p:txBody>
      </p:sp>
      <p:sp>
        <p:nvSpPr>
          <p:cNvPr id="48" name="Shape 43"/>
          <p:cNvSpPr/>
          <p:nvPr/>
        </p:nvSpPr>
        <p:spPr>
          <a:xfrm>
            <a:off x="914400" y="6667805"/>
            <a:ext cx="8153705" cy="2428646"/>
          </a:xfrm>
          <a:prstGeom prst="roundRect">
            <a:avLst>
              <a:gd name="adj" fmla="val 5497"/>
            </a:avLst>
          </a:prstGeom>
          <a:solidFill>
            <a:srgbClr val="FFFFFF"/>
          </a:solidFill>
          <a:ln w="12700">
            <a:solidFill>
              <a:srgbClr val="E5E7EB"/>
            </a:solidFill>
            <a:prstDash val="solid"/>
          </a:ln>
        </p:spPr>
        <p:txBody>
          <a:bodyPr/>
          <a:lstStyle/>
          <a:p>
            <a:endParaRPr lang="fr-CI"/>
          </a:p>
        </p:txBody>
      </p:sp>
      <p:sp>
        <p:nvSpPr>
          <p:cNvPr id="49" name="Text 44"/>
          <p:cNvSpPr txBox="1"/>
          <p:nvPr/>
        </p:nvSpPr>
        <p:spPr>
          <a:xfrm>
            <a:off x="1133856" y="6886346"/>
            <a:ext cx="7715707"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§35 — Livrables de recette (14)</a:t>
            </a:r>
            <a:endParaRPr lang="en-US" sz="1300" dirty="0"/>
          </a:p>
        </p:txBody>
      </p:sp>
      <p:pic>
        <p:nvPicPr>
          <p:cNvPr id="50" name="Image 3" descr="gen-dedup-0e42ea9ca782c8909016c85de7308baf.png"/>
          <p:cNvPicPr>
            <a:picLocks noChangeAspect="1"/>
          </p:cNvPicPr>
          <p:nvPr/>
        </p:nvPicPr>
        <p:blipFill>
          <a:blip r:embed="rId4"/>
          <a:srcRect l="-445" r="-445"/>
          <a:stretch/>
        </p:blipFill>
        <p:spPr>
          <a:xfrm>
            <a:off x="1133856" y="7172554"/>
            <a:ext cx="381305" cy="28346"/>
          </a:xfrm>
          <a:prstGeom prst="rect">
            <a:avLst/>
          </a:prstGeom>
        </p:spPr>
      </p:pic>
      <p:sp>
        <p:nvSpPr>
          <p:cNvPr id="51" name="Text 45"/>
          <p:cNvSpPr txBox="1"/>
          <p:nvPr/>
        </p:nvSpPr>
        <p:spPr>
          <a:xfrm>
            <a:off x="1133856" y="7334402"/>
            <a:ext cx="3791102"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Plan de recette</a:t>
            </a:r>
            <a:endParaRPr lang="en-US" sz="900" dirty="0"/>
          </a:p>
        </p:txBody>
      </p:sp>
      <p:sp>
        <p:nvSpPr>
          <p:cNvPr id="52" name="Text 46"/>
          <p:cNvSpPr txBox="1"/>
          <p:nvPr/>
        </p:nvSpPr>
        <p:spPr>
          <a:xfrm>
            <a:off x="5057546" y="7334402"/>
            <a:ext cx="3791102"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Liste des use cases</a:t>
            </a:r>
            <a:endParaRPr lang="en-US" sz="900" dirty="0"/>
          </a:p>
        </p:txBody>
      </p:sp>
      <p:sp>
        <p:nvSpPr>
          <p:cNvPr id="53" name="Text 47"/>
          <p:cNvSpPr txBox="1"/>
          <p:nvPr/>
        </p:nvSpPr>
        <p:spPr>
          <a:xfrm>
            <a:off x="1133856" y="7563002"/>
            <a:ext cx="3791102"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Liste des comptes test</a:t>
            </a:r>
            <a:endParaRPr lang="en-US" sz="900" dirty="0"/>
          </a:p>
        </p:txBody>
      </p:sp>
      <p:sp>
        <p:nvSpPr>
          <p:cNvPr id="54" name="Text 48"/>
          <p:cNvSpPr txBox="1"/>
          <p:nvPr/>
        </p:nvSpPr>
        <p:spPr>
          <a:xfrm>
            <a:off x="5057546" y="7563002"/>
            <a:ext cx="3791102"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Liste des engins</a:t>
            </a:r>
            <a:endParaRPr lang="en-US" sz="900" dirty="0"/>
          </a:p>
        </p:txBody>
      </p:sp>
      <p:sp>
        <p:nvSpPr>
          <p:cNvPr id="55" name="Text 49"/>
          <p:cNvSpPr txBox="1"/>
          <p:nvPr/>
        </p:nvSpPr>
        <p:spPr>
          <a:xfrm>
            <a:off x="1133856" y="7791602"/>
            <a:ext cx="3791102"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Liste des partenaires</a:t>
            </a:r>
            <a:endParaRPr lang="en-US" sz="900" dirty="0"/>
          </a:p>
        </p:txBody>
      </p:sp>
      <p:sp>
        <p:nvSpPr>
          <p:cNvPr id="56" name="Text 50"/>
          <p:cNvSpPr txBox="1"/>
          <p:nvPr/>
        </p:nvSpPr>
        <p:spPr>
          <a:xfrm>
            <a:off x="5057546" y="7791602"/>
            <a:ext cx="3791102"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Liste des franchises</a:t>
            </a:r>
            <a:endParaRPr lang="en-US" sz="900" dirty="0"/>
          </a:p>
        </p:txBody>
      </p:sp>
      <p:sp>
        <p:nvSpPr>
          <p:cNvPr id="57" name="Text 51"/>
          <p:cNvSpPr txBox="1"/>
          <p:nvPr/>
        </p:nvSpPr>
        <p:spPr>
          <a:xfrm>
            <a:off x="1133856" y="8020202"/>
            <a:ext cx="3791102"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Grille de test</a:t>
            </a:r>
            <a:endParaRPr lang="en-US" sz="900" dirty="0"/>
          </a:p>
        </p:txBody>
      </p:sp>
      <p:sp>
        <p:nvSpPr>
          <p:cNvPr id="58" name="Text 52"/>
          <p:cNvSpPr txBox="1"/>
          <p:nvPr/>
        </p:nvSpPr>
        <p:spPr>
          <a:xfrm>
            <a:off x="5057546" y="8020202"/>
            <a:ext cx="3791102"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Registre anomalies</a:t>
            </a:r>
            <a:endParaRPr lang="en-US" sz="900" dirty="0"/>
          </a:p>
        </p:txBody>
      </p:sp>
      <p:sp>
        <p:nvSpPr>
          <p:cNvPr id="59" name="Text 53"/>
          <p:cNvSpPr txBox="1"/>
          <p:nvPr/>
        </p:nvSpPr>
        <p:spPr>
          <a:xfrm>
            <a:off x="1133856" y="8248802"/>
            <a:ext cx="3791102"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Rapport recette interne</a:t>
            </a:r>
            <a:endParaRPr lang="en-US" sz="900" dirty="0"/>
          </a:p>
        </p:txBody>
      </p:sp>
      <p:sp>
        <p:nvSpPr>
          <p:cNvPr id="60" name="Text 54"/>
          <p:cNvSpPr txBox="1"/>
          <p:nvPr/>
        </p:nvSpPr>
        <p:spPr>
          <a:xfrm>
            <a:off x="5057546" y="8248802"/>
            <a:ext cx="3791102"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Rapport test réel</a:t>
            </a:r>
            <a:endParaRPr lang="en-US" sz="900" dirty="0"/>
          </a:p>
        </p:txBody>
      </p:sp>
      <p:sp>
        <p:nvSpPr>
          <p:cNvPr id="61" name="Text 55"/>
          <p:cNvSpPr txBox="1"/>
          <p:nvPr/>
        </p:nvSpPr>
        <p:spPr>
          <a:xfrm>
            <a:off x="1133856" y="8477402"/>
            <a:ext cx="3791102"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Rapport financier</a:t>
            </a:r>
            <a:endParaRPr lang="en-US" sz="900" dirty="0"/>
          </a:p>
        </p:txBody>
      </p:sp>
      <p:sp>
        <p:nvSpPr>
          <p:cNvPr id="62" name="Text 56"/>
          <p:cNvSpPr txBox="1"/>
          <p:nvPr/>
        </p:nvSpPr>
        <p:spPr>
          <a:xfrm>
            <a:off x="5057546" y="8477402"/>
            <a:ext cx="3791102"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Rapport reporting</a:t>
            </a:r>
            <a:endParaRPr lang="en-US" sz="900" dirty="0"/>
          </a:p>
        </p:txBody>
      </p:sp>
      <p:sp>
        <p:nvSpPr>
          <p:cNvPr id="63" name="Text 57"/>
          <p:cNvSpPr txBox="1"/>
          <p:nvPr/>
        </p:nvSpPr>
        <p:spPr>
          <a:xfrm>
            <a:off x="1133856" y="8706002"/>
            <a:ext cx="3791102"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Rapport technique</a:t>
            </a:r>
            <a:endParaRPr lang="en-US" sz="900" dirty="0"/>
          </a:p>
        </p:txBody>
      </p:sp>
      <p:sp>
        <p:nvSpPr>
          <p:cNvPr id="64" name="Text 58"/>
          <p:cNvSpPr txBox="1"/>
          <p:nvPr/>
        </p:nvSpPr>
        <p:spPr>
          <a:xfrm>
            <a:off x="5057546" y="8706002"/>
            <a:ext cx="3791102"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Rapport de validation</a:t>
            </a:r>
            <a:endParaRPr lang="en-US" sz="900" dirty="0"/>
          </a:p>
        </p:txBody>
      </p:sp>
      <p:sp>
        <p:nvSpPr>
          <p:cNvPr id="65" name="Shape 59"/>
          <p:cNvSpPr/>
          <p:nvPr/>
        </p:nvSpPr>
        <p:spPr>
          <a:xfrm>
            <a:off x="9258300" y="6667805"/>
            <a:ext cx="8153705" cy="2428646"/>
          </a:xfrm>
          <a:prstGeom prst="roundRect">
            <a:avLst>
              <a:gd name="adj" fmla="val 5497"/>
            </a:avLst>
          </a:prstGeom>
          <a:solidFill>
            <a:srgbClr val="F5F3FF"/>
          </a:solidFill>
          <a:ln w="12700">
            <a:solidFill>
              <a:srgbClr val="DDD6FE"/>
            </a:solidFill>
            <a:prstDash val="solid"/>
          </a:ln>
        </p:spPr>
        <p:txBody>
          <a:bodyPr/>
          <a:lstStyle/>
          <a:p>
            <a:endParaRPr lang="fr-CI"/>
          </a:p>
        </p:txBody>
      </p:sp>
      <p:sp>
        <p:nvSpPr>
          <p:cNvPr id="66" name="Text 60"/>
          <p:cNvSpPr txBox="1"/>
          <p:nvPr/>
        </p:nvSpPr>
        <p:spPr>
          <a:xfrm>
            <a:off x="9477756" y="6886346"/>
            <a:ext cx="7715707" cy="228600"/>
          </a:xfrm>
          <a:prstGeom prst="rect">
            <a:avLst/>
          </a:prstGeom>
          <a:noFill/>
          <a:ln/>
        </p:spPr>
        <p:txBody>
          <a:bodyPr wrap="none" lIns="0" tIns="0" rIns="0" bIns="0" rtlCol="0" anchor="ctr"/>
          <a:lstStyle/>
          <a:p>
            <a:pPr marL="0" indent="0" algn="l">
              <a:buNone/>
            </a:pPr>
            <a:r>
              <a:rPr lang="en-US" sz="1300" b="1" dirty="0">
                <a:solidFill>
                  <a:srgbClr val="1F2937"/>
                </a:solidFill>
                <a:latin typeface="Manrope" pitchFamily="34" charset="0"/>
                <a:ea typeface="Manrope" pitchFamily="34" charset="-122"/>
                <a:cs typeface="Manrope" pitchFamily="34" charset="-120"/>
              </a:rPr>
              <a:t>§36 — Livrables de migration (11)</a:t>
            </a:r>
            <a:endParaRPr lang="en-US" sz="1300" dirty="0"/>
          </a:p>
        </p:txBody>
      </p:sp>
      <p:pic>
        <p:nvPicPr>
          <p:cNvPr id="67" name="Image 4" descr="gen-dedup-0e42ea9ca782c8909016c85de7308baf.png"/>
          <p:cNvPicPr>
            <a:picLocks noChangeAspect="1"/>
          </p:cNvPicPr>
          <p:nvPr/>
        </p:nvPicPr>
        <p:blipFill>
          <a:blip r:embed="rId4"/>
          <a:srcRect l="-445" r="-445"/>
          <a:stretch/>
        </p:blipFill>
        <p:spPr>
          <a:xfrm>
            <a:off x="9477756" y="7172554"/>
            <a:ext cx="381305" cy="28346"/>
          </a:xfrm>
          <a:prstGeom prst="rect">
            <a:avLst/>
          </a:prstGeom>
        </p:spPr>
      </p:pic>
      <p:sp>
        <p:nvSpPr>
          <p:cNvPr id="68" name="Text 61"/>
          <p:cNvSpPr txBox="1"/>
          <p:nvPr/>
        </p:nvSpPr>
        <p:spPr>
          <a:xfrm>
            <a:off x="9477756" y="7334402"/>
            <a:ext cx="3791102"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Cartographie des données</a:t>
            </a:r>
            <a:endParaRPr lang="en-US" sz="900" dirty="0"/>
          </a:p>
        </p:txBody>
      </p:sp>
      <p:sp>
        <p:nvSpPr>
          <p:cNvPr id="69" name="Text 62"/>
          <p:cNvSpPr txBox="1"/>
          <p:nvPr/>
        </p:nvSpPr>
        <p:spPr>
          <a:xfrm>
            <a:off x="13401446" y="7334402"/>
            <a:ext cx="3791102"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Script de migration</a:t>
            </a:r>
            <a:endParaRPr lang="en-US" sz="900" dirty="0"/>
          </a:p>
        </p:txBody>
      </p:sp>
      <p:sp>
        <p:nvSpPr>
          <p:cNvPr id="70" name="Text 63"/>
          <p:cNvSpPr txBox="1"/>
          <p:nvPr/>
        </p:nvSpPr>
        <p:spPr>
          <a:xfrm>
            <a:off x="9477756" y="7563002"/>
            <a:ext cx="3791102"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Rapport migration à blanc</a:t>
            </a:r>
            <a:endParaRPr lang="en-US" sz="900" dirty="0"/>
          </a:p>
        </p:txBody>
      </p:sp>
      <p:sp>
        <p:nvSpPr>
          <p:cNvPr id="71" name="Text 64"/>
          <p:cNvSpPr txBox="1"/>
          <p:nvPr/>
        </p:nvSpPr>
        <p:spPr>
          <a:xfrm>
            <a:off x="13401446" y="7563002"/>
            <a:ext cx="3791102"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Rapport de sauvegarde</a:t>
            </a:r>
            <a:endParaRPr lang="en-US" sz="900" dirty="0"/>
          </a:p>
        </p:txBody>
      </p:sp>
      <p:sp>
        <p:nvSpPr>
          <p:cNvPr id="72" name="Text 65"/>
          <p:cNvSpPr txBox="1"/>
          <p:nvPr/>
        </p:nvSpPr>
        <p:spPr>
          <a:xfrm>
            <a:off x="9477756" y="7791602"/>
            <a:ext cx="3791102"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Rapport contrôle soldes</a:t>
            </a:r>
            <a:endParaRPr lang="en-US" sz="900" dirty="0"/>
          </a:p>
        </p:txBody>
      </p:sp>
      <p:sp>
        <p:nvSpPr>
          <p:cNvPr id="73" name="Text 66"/>
          <p:cNvSpPr txBox="1"/>
          <p:nvPr/>
        </p:nvSpPr>
        <p:spPr>
          <a:xfrm>
            <a:off x="13401446" y="7791602"/>
            <a:ext cx="3791102"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Rapport contrôle utilisateurs</a:t>
            </a:r>
            <a:endParaRPr lang="en-US" sz="900" dirty="0"/>
          </a:p>
        </p:txBody>
      </p:sp>
      <p:sp>
        <p:nvSpPr>
          <p:cNvPr id="74" name="Text 67"/>
          <p:cNvSpPr txBox="1"/>
          <p:nvPr/>
        </p:nvSpPr>
        <p:spPr>
          <a:xfrm>
            <a:off x="9477756" y="8020202"/>
            <a:ext cx="3791102"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Rapport contrôle partenaires</a:t>
            </a:r>
            <a:endParaRPr lang="en-US" sz="900" dirty="0"/>
          </a:p>
        </p:txBody>
      </p:sp>
      <p:sp>
        <p:nvSpPr>
          <p:cNvPr id="75" name="Text 68"/>
          <p:cNvSpPr txBox="1"/>
          <p:nvPr/>
        </p:nvSpPr>
        <p:spPr>
          <a:xfrm>
            <a:off x="13401446" y="8020202"/>
            <a:ext cx="3791102"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Rapport contrôle franchises</a:t>
            </a:r>
            <a:endParaRPr lang="en-US" sz="900" dirty="0"/>
          </a:p>
        </p:txBody>
      </p:sp>
      <p:sp>
        <p:nvSpPr>
          <p:cNvPr id="76" name="Text 69"/>
          <p:cNvSpPr txBox="1"/>
          <p:nvPr/>
        </p:nvSpPr>
        <p:spPr>
          <a:xfrm>
            <a:off x="9477756" y="8248802"/>
            <a:ext cx="3791102"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Procès-verbal Go / No-Go</a:t>
            </a:r>
            <a:endParaRPr lang="en-US" sz="900" dirty="0"/>
          </a:p>
        </p:txBody>
      </p:sp>
      <p:sp>
        <p:nvSpPr>
          <p:cNvPr id="77" name="Text 70"/>
          <p:cNvSpPr txBox="1"/>
          <p:nvPr/>
        </p:nvSpPr>
        <p:spPr>
          <a:xfrm>
            <a:off x="13401446" y="8248802"/>
            <a:ext cx="3791102"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Plan de retour arrière</a:t>
            </a:r>
            <a:endParaRPr lang="en-US" sz="900" dirty="0"/>
          </a:p>
        </p:txBody>
      </p:sp>
      <p:sp>
        <p:nvSpPr>
          <p:cNvPr id="78" name="Text 71"/>
          <p:cNvSpPr txBox="1"/>
          <p:nvPr/>
        </p:nvSpPr>
        <p:spPr>
          <a:xfrm>
            <a:off x="9477756" y="8477402"/>
            <a:ext cx="7715707" cy="171907"/>
          </a:xfrm>
          <a:prstGeom prst="rect">
            <a:avLst/>
          </a:prstGeom>
          <a:noFill/>
          <a:ln/>
        </p:spPr>
        <p:txBody>
          <a:bodyPr wrap="none" lIns="0" tIns="0" rIns="0" bIns="0" rtlCol="0" anchor="ctr"/>
          <a:lstStyle/>
          <a:p>
            <a:pPr marL="0" indent="0" algn="l">
              <a:buNone/>
            </a:pPr>
            <a:r>
              <a:rPr lang="en-US" sz="900" dirty="0">
                <a:solidFill>
                  <a:srgbClr val="4B5563"/>
                </a:solidFill>
                <a:latin typeface="Manrope" pitchFamily="34" charset="0"/>
                <a:ea typeface="Manrope" pitchFamily="34" charset="-122"/>
                <a:cs typeface="Manrope" pitchFamily="34" charset="-120"/>
              </a:rPr>
              <a:t>· Rapport post-déploiement (hypercare)</a:t>
            </a:r>
            <a:endParaRPr lang="en-US" sz="900" dirty="0"/>
          </a:p>
        </p:txBody>
      </p:sp>
      <p:sp>
        <p:nvSpPr>
          <p:cNvPr id="79" name="Shape 72"/>
          <p:cNvSpPr/>
          <p:nvPr/>
        </p:nvSpPr>
        <p:spPr>
          <a:xfrm>
            <a:off x="914400" y="9010498"/>
            <a:ext cx="16497605" cy="533095"/>
          </a:xfrm>
          <a:prstGeom prst="roundRect">
            <a:avLst>
              <a:gd name="adj" fmla="val 17839"/>
            </a:avLst>
          </a:prstGeom>
          <a:solidFill>
            <a:srgbClr val="1F2937"/>
          </a:solidFill>
          <a:ln w="12700">
            <a:solidFill>
              <a:srgbClr val="FFFFFF">
                <a:alpha val="0"/>
              </a:srgbClr>
            </a:solidFill>
            <a:prstDash val="solid"/>
          </a:ln>
        </p:spPr>
        <p:txBody>
          <a:bodyPr/>
          <a:lstStyle/>
          <a:p>
            <a:endParaRPr lang="fr-CI"/>
          </a:p>
        </p:txBody>
      </p:sp>
      <p:sp>
        <p:nvSpPr>
          <p:cNvPr id="80" name="Text 73"/>
          <p:cNvSpPr txBox="1"/>
          <p:nvPr/>
        </p:nvSpPr>
        <p:spPr>
          <a:xfrm>
            <a:off x="1218895" y="9191549"/>
            <a:ext cx="428854" cy="152705"/>
          </a:xfrm>
          <a:prstGeom prst="rect">
            <a:avLst/>
          </a:prstGeom>
          <a:noFill/>
          <a:ln/>
        </p:spPr>
        <p:txBody>
          <a:bodyPr wrap="none" lIns="0" tIns="0" rIns="0" bIns="0" rtlCol="0" anchor="ctr"/>
          <a:lstStyle/>
          <a:p>
            <a:pPr marL="0" indent="0" algn="l">
              <a:buNone/>
            </a:pPr>
            <a:r>
              <a:rPr lang="en-US" sz="900" b="1" kern="0" spc="126" dirty="0">
                <a:solidFill>
                  <a:srgbClr val="A78BFA"/>
                </a:solidFill>
                <a:latin typeface="JetBrains Mono" pitchFamily="34" charset="0"/>
                <a:ea typeface="JetBrains Mono" pitchFamily="34" charset="-122"/>
                <a:cs typeface="JetBrains Mono" pitchFamily="34" charset="-120"/>
              </a:rPr>
              <a:t>Total</a:t>
            </a:r>
            <a:endParaRPr lang="en-US" sz="900" dirty="0"/>
          </a:p>
        </p:txBody>
      </p:sp>
      <p:sp>
        <p:nvSpPr>
          <p:cNvPr id="81" name="Text 74"/>
          <p:cNvSpPr txBox="1"/>
          <p:nvPr/>
        </p:nvSpPr>
        <p:spPr>
          <a:xfrm>
            <a:off x="1870862" y="9163202"/>
            <a:ext cx="15259507" cy="210312"/>
          </a:xfrm>
          <a:prstGeom prst="rect">
            <a:avLst/>
          </a:prstGeom>
          <a:noFill/>
          <a:ln/>
        </p:spPr>
        <p:txBody>
          <a:bodyPr wrap="none" lIns="0" tIns="0" rIns="0" bIns="0" rtlCol="0" anchor="ctr"/>
          <a:lstStyle/>
          <a:p>
            <a:pPr marL="0" indent="0" algn="l">
              <a:buNone/>
            </a:pPr>
            <a:r>
              <a:rPr lang="en-US" sz="1200" b="1" dirty="0">
                <a:solidFill>
                  <a:srgbClr val="FFFFFF"/>
                </a:solidFill>
                <a:latin typeface="Manrope" pitchFamily="34" charset="0"/>
                <a:ea typeface="Manrope" pitchFamily="34" charset="-122"/>
                <a:cs typeface="Manrope" pitchFamily="34" charset="-120"/>
              </a:rPr>
              <a:t>25 livrables documentaires</a:t>
            </a:r>
            <a:r>
              <a:rPr lang="en-US" sz="1200" dirty="0">
                <a:solidFill>
                  <a:srgbClr val="FFFFFF"/>
                </a:solidFill>
                <a:latin typeface="Manrope" pitchFamily="34" charset="0"/>
                <a:ea typeface="Manrope" pitchFamily="34" charset="-122"/>
                <a:cs typeface="Manrope" pitchFamily="34" charset="-120"/>
              </a:rPr>
              <a:t> tracés, signés et archivés à l'issue de l'opération.</a:t>
            </a:r>
            <a:endParaRPr lang="en-US" sz="1200" dirty="0"/>
          </a:p>
        </p:txBody>
      </p:sp>
      <p:sp>
        <p:nvSpPr>
          <p:cNvPr id="82" name="Shape 75"/>
          <p:cNvSpPr/>
          <p:nvPr/>
        </p:nvSpPr>
        <p:spPr>
          <a:xfrm>
            <a:off x="0" y="9791395"/>
            <a:ext cx="18288000" cy="495605"/>
          </a:xfrm>
          <a:prstGeom prst="rect">
            <a:avLst/>
          </a:prstGeom>
          <a:solidFill>
            <a:srgbClr val="FFFFFF"/>
          </a:solidFill>
          <a:ln/>
        </p:spPr>
        <p:txBody>
          <a:bodyPr/>
          <a:lstStyle/>
          <a:p>
            <a:endParaRPr lang="fr-CI"/>
          </a:p>
        </p:txBody>
      </p:sp>
      <p:sp>
        <p:nvSpPr>
          <p:cNvPr id="83" name="Shape 76"/>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84" name="Text 77"/>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85" name="Text 78"/>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58 / 59</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sp>
        <p:nvSpPr>
          <p:cNvPr id="3" name="Shape 1"/>
          <p:cNvSpPr/>
          <p:nvPr/>
        </p:nvSpPr>
        <p:spPr>
          <a:xfrm>
            <a:off x="0" y="0"/>
            <a:ext cx="18288000" cy="10287000"/>
          </a:xfrm>
          <a:prstGeom prst="rect">
            <a:avLst/>
          </a:prstGeom>
          <a:solidFill>
            <a:srgbClr val="FFFFFF"/>
          </a:solidFill>
          <a:ln w="12700">
            <a:solidFill>
              <a:srgbClr val="FFFFFF">
                <a:alpha val="0"/>
              </a:srgbClr>
            </a:solidFill>
            <a:prstDash val="solid"/>
          </a:ln>
        </p:spPr>
        <p:txBody>
          <a:bodyPr/>
          <a:lstStyle/>
          <a:p>
            <a:endParaRPr lang="fr-CI"/>
          </a:p>
        </p:txBody>
      </p:sp>
      <p:pic>
        <p:nvPicPr>
          <p:cNvPr id="4" name="Image 0" descr="gen-dedup-9ad4fc5b3123d29126d217f3ea323ed3.jpg"/>
          <p:cNvPicPr>
            <a:picLocks noChangeAspect="1"/>
          </p:cNvPicPr>
          <p:nvPr/>
        </p:nvPicPr>
        <p:blipFill>
          <a:blip r:embed="rId2"/>
          <a:stretch>
            <a:fillRect/>
          </a:stretch>
        </p:blipFill>
        <p:spPr>
          <a:xfrm>
            <a:off x="8382305" y="685800"/>
            <a:ext cx="9905695" cy="8384131"/>
          </a:xfrm>
          <a:prstGeom prst="rect">
            <a:avLst/>
          </a:prstGeom>
        </p:spPr>
      </p:pic>
      <p:pic>
        <p:nvPicPr>
          <p:cNvPr id="5" name="Image 1" descr="gen-dedup-9a40bdda73c100e1d131c94ba3034e2a.png"/>
          <p:cNvPicPr>
            <a:picLocks noChangeAspect="1"/>
          </p:cNvPicPr>
          <p:nvPr/>
        </p:nvPicPr>
        <p:blipFill>
          <a:blip r:embed="rId3"/>
          <a:srcRect t="-201" b="-201"/>
          <a:stretch/>
        </p:blipFill>
        <p:spPr>
          <a:xfrm>
            <a:off x="0" y="0"/>
            <a:ext cx="75895" cy="10287000"/>
          </a:xfrm>
          <a:prstGeom prst="rect">
            <a:avLst/>
          </a:prstGeom>
        </p:spPr>
      </p:pic>
      <p:sp>
        <p:nvSpPr>
          <p:cNvPr id="6" name="Shape 2"/>
          <p:cNvSpPr/>
          <p:nvPr/>
        </p:nvSpPr>
        <p:spPr>
          <a:xfrm>
            <a:off x="0" y="0"/>
            <a:ext cx="18288000" cy="685800"/>
          </a:xfrm>
          <a:prstGeom prst="rect">
            <a:avLst/>
          </a:prstGeom>
          <a:solidFill>
            <a:srgbClr val="FFFFFF"/>
          </a:solidFill>
          <a:ln/>
        </p:spPr>
        <p:txBody>
          <a:bodyPr/>
          <a:lstStyle/>
          <a:p>
            <a:endParaRPr lang="fr-CI"/>
          </a:p>
        </p:txBody>
      </p:sp>
      <p:sp>
        <p:nvSpPr>
          <p:cNvPr id="7" name="Shape 3"/>
          <p:cNvSpPr/>
          <p:nvPr/>
        </p:nvSpPr>
        <p:spPr>
          <a:xfrm>
            <a:off x="0" y="676656"/>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8" name="Shape 4"/>
          <p:cNvSpPr/>
          <p:nvPr/>
        </p:nvSpPr>
        <p:spPr>
          <a:xfrm>
            <a:off x="609905" y="209398"/>
            <a:ext cx="267005" cy="267005"/>
          </a:xfrm>
          <a:prstGeom prst="roundRect">
            <a:avLst>
              <a:gd name="adj" fmla="val 21575"/>
            </a:avLst>
          </a:prstGeom>
          <a:solidFill>
            <a:srgbClr val="6D28D9"/>
          </a:solidFill>
          <a:ln w="12700">
            <a:solidFill>
              <a:srgbClr val="FFFFFF">
                <a:alpha val="0"/>
              </a:srgbClr>
            </a:solidFill>
            <a:prstDash val="solid"/>
          </a:ln>
        </p:spPr>
        <p:txBody>
          <a:bodyPr/>
          <a:lstStyle/>
          <a:p>
            <a:endParaRPr lang="fr-CI"/>
          </a:p>
        </p:txBody>
      </p:sp>
      <p:sp>
        <p:nvSpPr>
          <p:cNvPr id="9" name="Shape 5"/>
          <p:cNvSpPr/>
          <p:nvPr/>
        </p:nvSpPr>
        <p:spPr>
          <a:xfrm>
            <a:off x="666598" y="267005"/>
            <a:ext cx="152705" cy="152705"/>
          </a:xfrm>
          <a:prstGeom prst="roundRect">
            <a:avLst>
              <a:gd name="adj" fmla="val 18563"/>
            </a:avLst>
          </a:prstGeom>
          <a:noFill/>
          <a:ln w="25400">
            <a:solidFill>
              <a:srgbClr val="FFFFFF"/>
            </a:solidFill>
            <a:prstDash val="solid"/>
          </a:ln>
        </p:spPr>
        <p:txBody>
          <a:bodyPr/>
          <a:lstStyle/>
          <a:p>
            <a:endParaRPr lang="fr-CI"/>
          </a:p>
        </p:txBody>
      </p:sp>
      <p:sp>
        <p:nvSpPr>
          <p:cNvPr id="10" name="Text 6"/>
          <p:cNvSpPr txBox="1"/>
          <p:nvPr/>
        </p:nvSpPr>
        <p:spPr>
          <a:xfrm>
            <a:off x="1009498" y="237744"/>
            <a:ext cx="1172261" cy="210312"/>
          </a:xfrm>
          <a:prstGeom prst="rect">
            <a:avLst/>
          </a:prstGeom>
          <a:noFill/>
          <a:ln/>
        </p:spPr>
        <p:txBody>
          <a:bodyPr wrap="none" lIns="0" tIns="0" rIns="0" bIns="0" rtlCol="0" anchor="ctr"/>
          <a:lstStyle/>
          <a:p>
            <a:pPr marL="0" indent="0" algn="l">
              <a:buNone/>
            </a:pPr>
            <a:r>
              <a:rPr lang="en-US" sz="1200" b="1" kern="0" spc="72" dirty="0">
                <a:solidFill>
                  <a:srgbClr val="1F2937"/>
                </a:solidFill>
                <a:latin typeface="Manrope" pitchFamily="34" charset="0"/>
                <a:ea typeface="Manrope" pitchFamily="34" charset="-122"/>
                <a:cs typeface="Manrope" pitchFamily="34" charset="-120"/>
              </a:rPr>
              <a:t>UPJUNOO PRO</a:t>
            </a:r>
            <a:endParaRPr lang="en-US" sz="1200" dirty="0"/>
          </a:p>
        </p:txBody>
      </p:sp>
      <p:sp>
        <p:nvSpPr>
          <p:cNvPr id="11" name="Text 7"/>
          <p:cNvSpPr txBox="1"/>
          <p:nvPr/>
        </p:nvSpPr>
        <p:spPr>
          <a:xfrm>
            <a:off x="15940735" y="256946"/>
            <a:ext cx="1912925" cy="171907"/>
          </a:xfrm>
          <a:prstGeom prst="rect">
            <a:avLst/>
          </a:prstGeom>
          <a:noFill/>
          <a:ln/>
        </p:spPr>
        <p:txBody>
          <a:bodyPr wrap="none" lIns="0" tIns="0" rIns="0" bIns="0" rtlCol="0" anchor="ctr"/>
          <a:lstStyle/>
          <a:p>
            <a:pPr marL="0" indent="0" algn="l">
              <a:buNone/>
            </a:pPr>
            <a:r>
              <a:rPr lang="en-US" sz="900" kern="0" spc="78" dirty="0">
                <a:solidFill>
                  <a:srgbClr val="6B7280"/>
                </a:solidFill>
                <a:latin typeface="Manrope" pitchFamily="34" charset="0"/>
                <a:ea typeface="Manrope" pitchFamily="34" charset="-122"/>
                <a:cs typeface="Manrope" pitchFamily="34" charset="-120"/>
              </a:rPr>
              <a:t>Partie XV — Conclusion</a:t>
            </a:r>
            <a:endParaRPr lang="en-US" sz="900" dirty="0"/>
          </a:p>
        </p:txBody>
      </p:sp>
      <p:sp>
        <p:nvSpPr>
          <p:cNvPr id="12" name="Text 8"/>
          <p:cNvSpPr txBox="1"/>
          <p:nvPr/>
        </p:nvSpPr>
        <p:spPr>
          <a:xfrm>
            <a:off x="914400" y="1395374"/>
            <a:ext cx="3219602" cy="181051"/>
          </a:xfrm>
          <a:prstGeom prst="rect">
            <a:avLst/>
          </a:prstGeom>
          <a:noFill/>
          <a:ln/>
        </p:spPr>
        <p:txBody>
          <a:bodyPr wrap="none" lIns="0" tIns="0" rIns="0" bIns="0" rtlCol="0" anchor="ctr"/>
          <a:lstStyle/>
          <a:p>
            <a:pPr marL="0" indent="0" algn="l">
              <a:buNone/>
            </a:pPr>
            <a:r>
              <a:rPr lang="en-US" sz="1000" b="1" kern="0" spc="189" dirty="0">
                <a:solidFill>
                  <a:srgbClr val="6D28D9"/>
                </a:solidFill>
                <a:latin typeface="Manrope" pitchFamily="34" charset="0"/>
                <a:ea typeface="Manrope" pitchFamily="34" charset="-122"/>
                <a:cs typeface="Manrope" pitchFamily="34" charset="-120"/>
              </a:rPr>
              <a:t>Conclusion &amp; feuille de route</a:t>
            </a:r>
            <a:endParaRPr lang="en-US" sz="1000" dirty="0"/>
          </a:p>
        </p:txBody>
      </p:sp>
      <p:sp>
        <p:nvSpPr>
          <p:cNvPr id="13" name="Shape 9"/>
          <p:cNvSpPr/>
          <p:nvPr/>
        </p:nvSpPr>
        <p:spPr>
          <a:xfrm>
            <a:off x="914400" y="1395374"/>
            <a:ext cx="267005" cy="19202"/>
          </a:xfrm>
          <a:prstGeom prst="rect">
            <a:avLst/>
          </a:prstGeom>
          <a:solidFill>
            <a:srgbClr val="6D28D9"/>
          </a:solidFill>
          <a:ln w="12700">
            <a:solidFill>
              <a:srgbClr val="FFFFFF">
                <a:alpha val="0"/>
              </a:srgbClr>
            </a:solidFill>
            <a:prstDash val="solid"/>
          </a:ln>
        </p:spPr>
        <p:txBody>
          <a:bodyPr/>
          <a:lstStyle/>
          <a:p>
            <a:endParaRPr lang="fr-CI"/>
          </a:p>
        </p:txBody>
      </p:sp>
      <p:sp>
        <p:nvSpPr>
          <p:cNvPr id="14" name="Text 10"/>
          <p:cNvSpPr txBox="1"/>
          <p:nvPr/>
        </p:nvSpPr>
        <p:spPr>
          <a:xfrm>
            <a:off x="914400" y="1809598"/>
            <a:ext cx="7810805" cy="2486254"/>
          </a:xfrm>
          <a:prstGeom prst="rect">
            <a:avLst/>
          </a:prstGeom>
          <a:noFill/>
          <a:ln/>
        </p:spPr>
        <p:txBody>
          <a:bodyPr wrap="square" lIns="0" tIns="0" rIns="0" bIns="0" rtlCol="0" anchor="ctr"/>
          <a:lstStyle/>
          <a:p>
            <a:pPr marL="0" indent="0" algn="l">
              <a:buNone/>
            </a:pPr>
            <a:r>
              <a:rPr lang="en-US" sz="4600" b="1" kern="0" spc="-93" dirty="0">
                <a:solidFill>
                  <a:srgbClr val="1F2937"/>
                </a:solidFill>
                <a:latin typeface="Manrope" pitchFamily="34" charset="0"/>
                <a:ea typeface="Manrope" pitchFamily="34" charset="-122"/>
                <a:cs typeface="Manrope" pitchFamily="34" charset="-120"/>
              </a:rPr>
              <a:t>Un projet de</a:t>
            </a:r>
            <a:endParaRPr lang="en-US" sz="4600" dirty="0"/>
          </a:p>
          <a:p>
            <a:pPr marL="0" indent="0" algn="l">
              <a:buNone/>
            </a:pPr>
            <a:r>
              <a:rPr lang="en-US" sz="4600" b="1" kern="0" spc="-93" dirty="0">
                <a:solidFill>
                  <a:srgbClr val="1F2937"/>
                </a:solidFill>
                <a:latin typeface="Manrope" pitchFamily="34" charset="0"/>
                <a:ea typeface="Manrope" pitchFamily="34" charset="-122"/>
                <a:cs typeface="Manrope" pitchFamily="34" charset="-120"/>
              </a:rPr>
              <a:t>migration stratégique,</a:t>
            </a:r>
            <a:endParaRPr lang="en-US" sz="4600" dirty="0"/>
          </a:p>
          <a:p>
            <a:pPr marL="0" indent="0" algn="l">
              <a:buNone/>
            </a:pPr>
            <a:r>
              <a:rPr lang="en-US" sz="4600" b="1" kern="0" spc="-93" dirty="0">
                <a:solidFill>
                  <a:srgbClr val="1F2937"/>
                </a:solidFill>
                <a:latin typeface="Manrope" pitchFamily="34" charset="0"/>
                <a:ea typeface="Manrope" pitchFamily="34" charset="-122"/>
                <a:cs typeface="Manrope" pitchFamily="34" charset="-120"/>
              </a:rPr>
              <a:t>pas une simple</a:t>
            </a:r>
            <a:endParaRPr lang="en-US" sz="4600" dirty="0"/>
          </a:p>
          <a:p>
            <a:pPr marL="0" indent="0" algn="l">
              <a:buNone/>
            </a:pPr>
            <a:r>
              <a:rPr lang="en-US" sz="4600" b="1" kern="0" spc="-93" dirty="0">
                <a:solidFill>
                  <a:srgbClr val="1F2937"/>
                </a:solidFill>
                <a:latin typeface="Manrope" pitchFamily="34" charset="0"/>
                <a:ea typeface="Manrope" pitchFamily="34" charset="-122"/>
                <a:cs typeface="Manrope" pitchFamily="34" charset="-120"/>
              </a:rPr>
              <a:t>mise à jour.</a:t>
            </a:r>
            <a:endParaRPr lang="en-US" sz="4600" dirty="0"/>
          </a:p>
        </p:txBody>
      </p:sp>
      <p:sp>
        <p:nvSpPr>
          <p:cNvPr id="15" name="Text 11"/>
          <p:cNvSpPr txBox="1"/>
          <p:nvPr/>
        </p:nvSpPr>
        <p:spPr>
          <a:xfrm>
            <a:off x="914400" y="5315407"/>
            <a:ext cx="7429500" cy="1067105"/>
          </a:xfrm>
          <a:prstGeom prst="rect">
            <a:avLst/>
          </a:prstGeom>
          <a:noFill/>
          <a:ln/>
        </p:spPr>
        <p:txBody>
          <a:bodyPr wrap="square" lIns="0" tIns="0" rIns="0" bIns="0" rtlCol="0" anchor="ctr"/>
          <a:lstStyle/>
          <a:p>
            <a:pPr marL="0" indent="0" algn="l">
              <a:buNone/>
            </a:pPr>
            <a:r>
              <a:rPr lang="en-US" sz="1300" dirty="0">
                <a:solidFill>
                  <a:srgbClr val="4B5563"/>
                </a:solidFill>
                <a:latin typeface="Manrope" pitchFamily="34" charset="0"/>
                <a:ea typeface="Manrope" pitchFamily="34" charset="-122"/>
                <a:cs typeface="Manrope" pitchFamily="34" charset="-120"/>
              </a:rPr>
              <a:t>Le redéveloppement total de UPJUNOO PRO représente une opportunité majeure de fiabiliser la plateforme, d'améliorer l'expérience utilisateur et de structurer durablement l'exploitation multiservices. La réussite du basculement dépendra de la rigueur de la recette, de la qualité de la journée du </a:t>
            </a:r>
            <a:r>
              <a:rPr lang="en-US" sz="1300" b="1" dirty="0">
                <a:solidFill>
                  <a:srgbClr val="6D28D9"/>
                </a:solidFill>
                <a:latin typeface="Manrope" pitchFamily="34" charset="0"/>
                <a:ea typeface="Manrope" pitchFamily="34" charset="-122"/>
                <a:cs typeface="Manrope" pitchFamily="34" charset="-120"/>
              </a:rPr>
              <a:t>dimanche 21 juin 2026</a:t>
            </a:r>
            <a:r>
              <a:rPr lang="en-US" sz="1300" dirty="0">
                <a:solidFill>
                  <a:srgbClr val="4B5563"/>
                </a:solidFill>
                <a:latin typeface="Manrope" pitchFamily="34" charset="0"/>
                <a:ea typeface="Manrope" pitchFamily="34" charset="-122"/>
                <a:cs typeface="Manrope" pitchFamily="34" charset="-120"/>
              </a:rPr>
              <a:t> et de la maîtrise des données existantes.</a:t>
            </a:r>
            <a:endParaRPr lang="en-US" sz="1300" dirty="0"/>
          </a:p>
        </p:txBody>
      </p:sp>
      <p:sp>
        <p:nvSpPr>
          <p:cNvPr id="16" name="Text 12"/>
          <p:cNvSpPr txBox="1"/>
          <p:nvPr/>
        </p:nvSpPr>
        <p:spPr>
          <a:xfrm>
            <a:off x="914400" y="6858000"/>
            <a:ext cx="7429500" cy="133502"/>
          </a:xfrm>
          <a:prstGeom prst="rect">
            <a:avLst/>
          </a:prstGeom>
          <a:noFill/>
          <a:ln/>
        </p:spPr>
        <p:txBody>
          <a:bodyPr wrap="none" lIns="0" tIns="0" rIns="0" bIns="0" rtlCol="0" anchor="ctr"/>
          <a:lstStyle/>
          <a:p>
            <a:pPr marL="0" indent="0" algn="l">
              <a:buNone/>
            </a:pPr>
            <a:r>
              <a:rPr lang="en-US" sz="800" b="1" kern="0" spc="116" dirty="0">
                <a:solidFill>
                  <a:srgbClr val="6D28D9"/>
                </a:solidFill>
                <a:latin typeface="JetBrains Mono" pitchFamily="34" charset="0"/>
                <a:ea typeface="JetBrains Mono" pitchFamily="34" charset="-122"/>
                <a:cs typeface="JetBrains Mono" pitchFamily="34" charset="-120"/>
              </a:rPr>
              <a:t>→ 4 jalons clés du projet</a:t>
            </a:r>
            <a:endParaRPr lang="en-US" sz="800" dirty="0"/>
          </a:p>
        </p:txBody>
      </p:sp>
      <p:sp>
        <p:nvSpPr>
          <p:cNvPr id="17" name="Shape 13"/>
          <p:cNvSpPr/>
          <p:nvPr/>
        </p:nvSpPr>
        <p:spPr>
          <a:xfrm>
            <a:off x="914400" y="7125005"/>
            <a:ext cx="3666744" cy="629107"/>
          </a:xfrm>
          <a:prstGeom prst="roundRect">
            <a:avLst>
              <a:gd name="adj" fmla="val 15116"/>
            </a:avLst>
          </a:prstGeom>
          <a:solidFill>
            <a:srgbClr val="F5F3FF"/>
          </a:solidFill>
          <a:ln/>
        </p:spPr>
        <p:txBody>
          <a:bodyPr/>
          <a:lstStyle/>
          <a:p>
            <a:endParaRPr lang="fr-CI"/>
          </a:p>
        </p:txBody>
      </p:sp>
      <p:sp>
        <p:nvSpPr>
          <p:cNvPr id="18" name="Shape 14"/>
          <p:cNvSpPr/>
          <p:nvPr/>
        </p:nvSpPr>
        <p:spPr>
          <a:xfrm>
            <a:off x="914400" y="7125005"/>
            <a:ext cx="28346" cy="629107"/>
          </a:xfrm>
          <a:prstGeom prst="roundRect">
            <a:avLst>
              <a:gd name="adj" fmla="val 335489"/>
            </a:avLst>
          </a:prstGeom>
          <a:solidFill>
            <a:srgbClr val="6D28D9"/>
          </a:solidFill>
          <a:ln w="12700">
            <a:solidFill>
              <a:srgbClr val="6D28D9">
                <a:alpha val="0"/>
              </a:srgbClr>
            </a:solidFill>
            <a:prstDash val="solid"/>
          </a:ln>
        </p:spPr>
        <p:txBody>
          <a:bodyPr/>
          <a:lstStyle/>
          <a:p>
            <a:endParaRPr lang="fr-CI"/>
          </a:p>
        </p:txBody>
      </p:sp>
      <p:sp>
        <p:nvSpPr>
          <p:cNvPr id="19" name="Text 15"/>
          <p:cNvSpPr txBox="1"/>
          <p:nvPr/>
        </p:nvSpPr>
        <p:spPr>
          <a:xfrm>
            <a:off x="1076249" y="7258507"/>
            <a:ext cx="3372307"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J-3 · 18 JUIN</a:t>
            </a:r>
            <a:endParaRPr lang="en-US" sz="800" dirty="0"/>
          </a:p>
        </p:txBody>
      </p:sp>
      <p:sp>
        <p:nvSpPr>
          <p:cNvPr id="20" name="Text 16"/>
          <p:cNvSpPr txBox="1"/>
          <p:nvPr/>
        </p:nvSpPr>
        <p:spPr>
          <a:xfrm>
            <a:off x="1076249" y="7410298"/>
            <a:ext cx="3372307" cy="200254"/>
          </a:xfrm>
          <a:prstGeom prst="rect">
            <a:avLst/>
          </a:prstGeom>
          <a:noFill/>
          <a:ln/>
        </p:spPr>
        <p:txBody>
          <a:bodyPr wrap="none" lIns="0" tIns="0" rIns="0" bIns="0" rtlCol="0" anchor="ctr"/>
          <a:lstStyle/>
          <a:p>
            <a:pPr marL="0" indent="0" algn="l">
              <a:buNone/>
            </a:pPr>
            <a:r>
              <a:rPr lang="en-US" sz="1100" b="1" dirty="0">
                <a:solidFill>
                  <a:srgbClr val="1F2937"/>
                </a:solidFill>
                <a:latin typeface="Manrope" pitchFamily="34" charset="0"/>
                <a:ea typeface="Manrope" pitchFamily="34" charset="-122"/>
                <a:cs typeface="Manrope" pitchFamily="34" charset="-120"/>
              </a:rPr>
              <a:t>Préparation</a:t>
            </a:r>
            <a:endParaRPr lang="en-US" sz="1100" dirty="0"/>
          </a:p>
        </p:txBody>
      </p:sp>
      <p:sp>
        <p:nvSpPr>
          <p:cNvPr id="21" name="Shape 17"/>
          <p:cNvSpPr/>
          <p:nvPr/>
        </p:nvSpPr>
        <p:spPr>
          <a:xfrm>
            <a:off x="4677156" y="7125005"/>
            <a:ext cx="3666744" cy="629107"/>
          </a:xfrm>
          <a:prstGeom prst="roundRect">
            <a:avLst>
              <a:gd name="adj" fmla="val 15116"/>
            </a:avLst>
          </a:prstGeom>
          <a:solidFill>
            <a:srgbClr val="1F2937"/>
          </a:solidFill>
          <a:ln/>
        </p:spPr>
        <p:txBody>
          <a:bodyPr/>
          <a:lstStyle/>
          <a:p>
            <a:endParaRPr lang="fr-CI"/>
          </a:p>
        </p:txBody>
      </p:sp>
      <p:sp>
        <p:nvSpPr>
          <p:cNvPr id="22" name="Shape 18"/>
          <p:cNvSpPr/>
          <p:nvPr/>
        </p:nvSpPr>
        <p:spPr>
          <a:xfrm>
            <a:off x="4677156" y="7125005"/>
            <a:ext cx="28346" cy="629107"/>
          </a:xfrm>
          <a:prstGeom prst="roundRect">
            <a:avLst>
              <a:gd name="adj" fmla="val 335489"/>
            </a:avLst>
          </a:prstGeom>
          <a:solidFill>
            <a:srgbClr val="A78BFA"/>
          </a:solidFill>
          <a:ln w="12700">
            <a:solidFill>
              <a:srgbClr val="A78BFA">
                <a:alpha val="0"/>
              </a:srgbClr>
            </a:solidFill>
            <a:prstDash val="solid"/>
          </a:ln>
        </p:spPr>
        <p:txBody>
          <a:bodyPr/>
          <a:lstStyle/>
          <a:p>
            <a:endParaRPr lang="fr-CI"/>
          </a:p>
        </p:txBody>
      </p:sp>
      <p:sp>
        <p:nvSpPr>
          <p:cNvPr id="23" name="Text 19"/>
          <p:cNvSpPr txBox="1"/>
          <p:nvPr/>
        </p:nvSpPr>
        <p:spPr>
          <a:xfrm>
            <a:off x="4839005" y="7258507"/>
            <a:ext cx="3372307" cy="143561"/>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J0 · 21 JUIN ★</a:t>
            </a:r>
            <a:endParaRPr lang="en-US" sz="800" dirty="0"/>
          </a:p>
        </p:txBody>
      </p:sp>
      <p:sp>
        <p:nvSpPr>
          <p:cNvPr id="24" name="Text 20"/>
          <p:cNvSpPr txBox="1"/>
          <p:nvPr/>
        </p:nvSpPr>
        <p:spPr>
          <a:xfrm>
            <a:off x="4839005" y="7420356"/>
            <a:ext cx="3372307" cy="200254"/>
          </a:xfrm>
          <a:prstGeom prst="rect">
            <a:avLst/>
          </a:prstGeom>
          <a:noFill/>
          <a:ln/>
        </p:spPr>
        <p:txBody>
          <a:bodyPr wrap="none" lIns="0" tIns="0" rIns="0" bIns="0" rtlCol="0" anchor="ctr"/>
          <a:lstStyle/>
          <a:p>
            <a:pPr marL="0" indent="0" algn="l">
              <a:buNone/>
            </a:pPr>
            <a:r>
              <a:rPr lang="en-US" sz="1100" b="1" dirty="0">
                <a:solidFill>
                  <a:srgbClr val="FFFFFF"/>
                </a:solidFill>
                <a:latin typeface="Manrope" pitchFamily="34" charset="0"/>
                <a:ea typeface="Manrope" pitchFamily="34" charset="-122"/>
                <a:cs typeface="Manrope" pitchFamily="34" charset="-120"/>
              </a:rPr>
              <a:t>Test réel — 40 engins</a:t>
            </a:r>
            <a:endParaRPr lang="en-US" sz="1100" dirty="0"/>
          </a:p>
        </p:txBody>
      </p:sp>
      <p:sp>
        <p:nvSpPr>
          <p:cNvPr id="25" name="Shape 21"/>
          <p:cNvSpPr/>
          <p:nvPr/>
        </p:nvSpPr>
        <p:spPr>
          <a:xfrm>
            <a:off x="914400" y="7848295"/>
            <a:ext cx="3666744" cy="619049"/>
          </a:xfrm>
          <a:prstGeom prst="roundRect">
            <a:avLst>
              <a:gd name="adj" fmla="val 15362"/>
            </a:avLst>
          </a:prstGeom>
          <a:solidFill>
            <a:srgbClr val="F5F3FF"/>
          </a:solidFill>
          <a:ln/>
        </p:spPr>
        <p:txBody>
          <a:bodyPr/>
          <a:lstStyle/>
          <a:p>
            <a:endParaRPr lang="fr-CI"/>
          </a:p>
        </p:txBody>
      </p:sp>
      <p:sp>
        <p:nvSpPr>
          <p:cNvPr id="26" name="Shape 22"/>
          <p:cNvSpPr/>
          <p:nvPr/>
        </p:nvSpPr>
        <p:spPr>
          <a:xfrm>
            <a:off x="914400" y="7848295"/>
            <a:ext cx="28346" cy="619049"/>
          </a:xfrm>
          <a:prstGeom prst="roundRect">
            <a:avLst>
              <a:gd name="adj" fmla="val 335489"/>
            </a:avLst>
          </a:prstGeom>
          <a:solidFill>
            <a:srgbClr val="6D28D9"/>
          </a:solidFill>
          <a:ln w="12700">
            <a:solidFill>
              <a:srgbClr val="6D28D9">
                <a:alpha val="0"/>
              </a:srgbClr>
            </a:solidFill>
            <a:prstDash val="solid"/>
          </a:ln>
        </p:spPr>
        <p:txBody>
          <a:bodyPr/>
          <a:lstStyle/>
          <a:p>
            <a:endParaRPr lang="fr-CI"/>
          </a:p>
        </p:txBody>
      </p:sp>
      <p:sp>
        <p:nvSpPr>
          <p:cNvPr id="27" name="Text 23"/>
          <p:cNvSpPr txBox="1"/>
          <p:nvPr/>
        </p:nvSpPr>
        <p:spPr>
          <a:xfrm>
            <a:off x="1076249" y="7981798"/>
            <a:ext cx="3372307" cy="133502"/>
          </a:xfrm>
          <a:prstGeom prst="rect">
            <a:avLst/>
          </a:prstGeom>
          <a:noFill/>
          <a:ln/>
        </p:spPr>
        <p:txBody>
          <a:bodyPr wrap="none" lIns="0" tIns="0" rIns="0" bIns="0" rtlCol="0" anchor="ctr"/>
          <a:lstStyle/>
          <a:p>
            <a:pPr marL="0" indent="0" algn="l">
              <a:buNone/>
            </a:pPr>
            <a:r>
              <a:rPr lang="en-US" sz="800" b="1" dirty="0">
                <a:solidFill>
                  <a:srgbClr val="6D28D9"/>
                </a:solidFill>
                <a:latin typeface="JetBrains Mono" pitchFamily="34" charset="0"/>
                <a:ea typeface="JetBrains Mono" pitchFamily="34" charset="-122"/>
                <a:cs typeface="JetBrains Mono" pitchFamily="34" charset="-120"/>
              </a:rPr>
              <a:t>J+3 · 24 JUIN</a:t>
            </a:r>
            <a:endParaRPr lang="en-US" sz="800" dirty="0"/>
          </a:p>
        </p:txBody>
      </p:sp>
      <p:sp>
        <p:nvSpPr>
          <p:cNvPr id="28" name="Text 24"/>
          <p:cNvSpPr txBox="1"/>
          <p:nvPr/>
        </p:nvSpPr>
        <p:spPr>
          <a:xfrm>
            <a:off x="1076249" y="8134502"/>
            <a:ext cx="3372307" cy="200254"/>
          </a:xfrm>
          <a:prstGeom prst="rect">
            <a:avLst/>
          </a:prstGeom>
          <a:noFill/>
          <a:ln/>
        </p:spPr>
        <p:txBody>
          <a:bodyPr wrap="none" lIns="0" tIns="0" rIns="0" bIns="0" rtlCol="0" anchor="ctr"/>
          <a:lstStyle/>
          <a:p>
            <a:pPr marL="0" indent="0" algn="l">
              <a:buNone/>
            </a:pPr>
            <a:r>
              <a:rPr lang="en-US" sz="1100" b="1" dirty="0">
                <a:solidFill>
                  <a:srgbClr val="1F2937"/>
                </a:solidFill>
                <a:latin typeface="Manrope" pitchFamily="34" charset="0"/>
                <a:ea typeface="Manrope" pitchFamily="34" charset="-122"/>
                <a:cs typeface="Manrope" pitchFamily="34" charset="-120"/>
              </a:rPr>
              <a:t>Migration à blanc</a:t>
            </a:r>
            <a:endParaRPr lang="en-US" sz="1100" dirty="0"/>
          </a:p>
        </p:txBody>
      </p:sp>
      <p:sp>
        <p:nvSpPr>
          <p:cNvPr id="29" name="Shape 25"/>
          <p:cNvSpPr/>
          <p:nvPr/>
        </p:nvSpPr>
        <p:spPr>
          <a:xfrm>
            <a:off x="4677156" y="7848295"/>
            <a:ext cx="3666744" cy="619049"/>
          </a:xfrm>
          <a:prstGeom prst="roundRect">
            <a:avLst>
              <a:gd name="adj" fmla="val 15362"/>
            </a:avLst>
          </a:prstGeom>
          <a:solidFill>
            <a:srgbClr val="1F2937"/>
          </a:solidFill>
          <a:ln/>
        </p:spPr>
        <p:txBody>
          <a:bodyPr/>
          <a:lstStyle/>
          <a:p>
            <a:endParaRPr lang="fr-CI"/>
          </a:p>
        </p:txBody>
      </p:sp>
      <p:sp>
        <p:nvSpPr>
          <p:cNvPr id="30" name="Shape 26"/>
          <p:cNvSpPr/>
          <p:nvPr/>
        </p:nvSpPr>
        <p:spPr>
          <a:xfrm>
            <a:off x="4677156" y="7848295"/>
            <a:ext cx="28346" cy="619049"/>
          </a:xfrm>
          <a:prstGeom prst="roundRect">
            <a:avLst>
              <a:gd name="adj" fmla="val 335489"/>
            </a:avLst>
          </a:prstGeom>
          <a:solidFill>
            <a:srgbClr val="A78BFA"/>
          </a:solidFill>
          <a:ln w="12700">
            <a:solidFill>
              <a:srgbClr val="A78BFA">
                <a:alpha val="0"/>
              </a:srgbClr>
            </a:solidFill>
            <a:prstDash val="solid"/>
          </a:ln>
        </p:spPr>
        <p:txBody>
          <a:bodyPr/>
          <a:lstStyle/>
          <a:p>
            <a:endParaRPr lang="fr-CI"/>
          </a:p>
        </p:txBody>
      </p:sp>
      <p:sp>
        <p:nvSpPr>
          <p:cNvPr id="31" name="Text 27"/>
          <p:cNvSpPr txBox="1"/>
          <p:nvPr/>
        </p:nvSpPr>
        <p:spPr>
          <a:xfrm>
            <a:off x="4839005" y="7981798"/>
            <a:ext cx="3372307" cy="133502"/>
          </a:xfrm>
          <a:prstGeom prst="rect">
            <a:avLst/>
          </a:prstGeom>
          <a:noFill/>
          <a:ln/>
        </p:spPr>
        <p:txBody>
          <a:bodyPr wrap="none" lIns="0" tIns="0" rIns="0" bIns="0" rtlCol="0" anchor="ctr"/>
          <a:lstStyle/>
          <a:p>
            <a:pPr marL="0" indent="0" algn="l">
              <a:buNone/>
            </a:pPr>
            <a:r>
              <a:rPr lang="en-US" sz="800" b="1" dirty="0">
                <a:solidFill>
                  <a:srgbClr val="A78BFA"/>
                </a:solidFill>
                <a:latin typeface="JetBrains Mono" pitchFamily="34" charset="0"/>
                <a:ea typeface="JetBrains Mono" pitchFamily="34" charset="-122"/>
                <a:cs typeface="JetBrains Mono" pitchFamily="34" charset="-120"/>
              </a:rPr>
              <a:t>J+4 · 25 JUIN 🏁</a:t>
            </a:r>
            <a:endParaRPr lang="en-US" sz="800" dirty="0"/>
          </a:p>
        </p:txBody>
      </p:sp>
      <p:sp>
        <p:nvSpPr>
          <p:cNvPr id="32" name="Text 28"/>
          <p:cNvSpPr txBox="1"/>
          <p:nvPr/>
        </p:nvSpPr>
        <p:spPr>
          <a:xfrm>
            <a:off x="4839005" y="8134502"/>
            <a:ext cx="3372307" cy="200254"/>
          </a:xfrm>
          <a:prstGeom prst="rect">
            <a:avLst/>
          </a:prstGeom>
          <a:noFill/>
          <a:ln/>
        </p:spPr>
        <p:txBody>
          <a:bodyPr wrap="none" lIns="0" tIns="0" rIns="0" bIns="0" rtlCol="0" anchor="ctr"/>
          <a:lstStyle/>
          <a:p>
            <a:pPr marL="0" indent="0" algn="l">
              <a:buNone/>
            </a:pPr>
            <a:r>
              <a:rPr lang="en-US" sz="1100" b="1" dirty="0">
                <a:solidFill>
                  <a:srgbClr val="FFFFFF"/>
                </a:solidFill>
                <a:latin typeface="Manrope" pitchFamily="34" charset="0"/>
                <a:ea typeface="Manrope" pitchFamily="34" charset="-122"/>
                <a:cs typeface="Manrope" pitchFamily="34" charset="-120"/>
              </a:rPr>
              <a:t>Go / No-Go production</a:t>
            </a:r>
            <a:endParaRPr lang="en-US" sz="1100" dirty="0"/>
          </a:p>
        </p:txBody>
      </p:sp>
      <p:sp>
        <p:nvSpPr>
          <p:cNvPr id="33" name="Shape 29"/>
          <p:cNvSpPr/>
          <p:nvPr/>
        </p:nvSpPr>
        <p:spPr>
          <a:xfrm>
            <a:off x="914400" y="8762695"/>
            <a:ext cx="1705356"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34" name="Text 30"/>
          <p:cNvSpPr/>
          <p:nvPr/>
        </p:nvSpPr>
        <p:spPr>
          <a:xfrm>
            <a:off x="914400" y="8762695"/>
            <a:ext cx="1705356"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7 services multiservices</a:t>
            </a:r>
            <a:endParaRPr lang="en-US" sz="900" dirty="0"/>
          </a:p>
        </p:txBody>
      </p:sp>
      <p:sp>
        <p:nvSpPr>
          <p:cNvPr id="35" name="Shape 31"/>
          <p:cNvSpPr/>
          <p:nvPr/>
        </p:nvSpPr>
        <p:spPr>
          <a:xfrm>
            <a:off x="2688336" y="8762695"/>
            <a:ext cx="1028700"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36" name="Text 32"/>
          <p:cNvSpPr/>
          <p:nvPr/>
        </p:nvSpPr>
        <p:spPr>
          <a:xfrm>
            <a:off x="2688336" y="8762695"/>
            <a:ext cx="1028700"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29 use cases</a:t>
            </a:r>
            <a:endParaRPr lang="en-US" sz="900" dirty="0"/>
          </a:p>
        </p:txBody>
      </p:sp>
      <p:sp>
        <p:nvSpPr>
          <p:cNvPr id="37" name="Shape 33"/>
          <p:cNvSpPr/>
          <p:nvPr/>
        </p:nvSpPr>
        <p:spPr>
          <a:xfrm>
            <a:off x="3785616" y="8762695"/>
            <a:ext cx="1819656" cy="286207"/>
          </a:xfrm>
          <a:prstGeom prst="roundRect">
            <a:avLst>
              <a:gd name="adj" fmla="val 49840"/>
            </a:avLst>
          </a:prstGeom>
          <a:solidFill>
            <a:srgbClr val="EDE9FE"/>
          </a:solidFill>
          <a:ln w="12700">
            <a:solidFill>
              <a:srgbClr val="FFFFFF">
                <a:alpha val="0"/>
              </a:srgbClr>
            </a:solidFill>
            <a:prstDash val="solid"/>
          </a:ln>
        </p:spPr>
        <p:txBody>
          <a:bodyPr/>
          <a:lstStyle/>
          <a:p>
            <a:endParaRPr lang="fr-CI"/>
          </a:p>
        </p:txBody>
      </p:sp>
      <p:sp>
        <p:nvSpPr>
          <p:cNvPr id="38" name="Text 34"/>
          <p:cNvSpPr/>
          <p:nvPr/>
        </p:nvSpPr>
        <p:spPr>
          <a:xfrm>
            <a:off x="3785616" y="8762695"/>
            <a:ext cx="1819656"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6D28D9"/>
                </a:solidFill>
                <a:latin typeface="Manrope" pitchFamily="34" charset="0"/>
                <a:ea typeface="Manrope" pitchFamily="34" charset="-122"/>
                <a:cs typeface="Manrope" pitchFamily="34" charset="-120"/>
              </a:rPr>
              <a:t>59 sections documentées</a:t>
            </a:r>
            <a:endParaRPr lang="en-US" sz="900" dirty="0"/>
          </a:p>
        </p:txBody>
      </p:sp>
      <p:sp>
        <p:nvSpPr>
          <p:cNvPr id="39" name="Shape 35"/>
          <p:cNvSpPr/>
          <p:nvPr/>
        </p:nvSpPr>
        <p:spPr>
          <a:xfrm>
            <a:off x="5680253" y="8762695"/>
            <a:ext cx="933602" cy="286207"/>
          </a:xfrm>
          <a:prstGeom prst="roundRect">
            <a:avLst>
              <a:gd name="adj" fmla="val 49840"/>
            </a:avLst>
          </a:prstGeom>
          <a:solidFill>
            <a:srgbClr val="1F2937"/>
          </a:solidFill>
          <a:ln w="12700">
            <a:solidFill>
              <a:srgbClr val="FFFFFF">
                <a:alpha val="0"/>
              </a:srgbClr>
            </a:solidFill>
            <a:prstDash val="solid"/>
          </a:ln>
        </p:spPr>
        <p:txBody>
          <a:bodyPr/>
          <a:lstStyle/>
          <a:p>
            <a:endParaRPr lang="fr-CI"/>
          </a:p>
        </p:txBody>
      </p:sp>
      <p:sp>
        <p:nvSpPr>
          <p:cNvPr id="40" name="Text 36"/>
          <p:cNvSpPr/>
          <p:nvPr/>
        </p:nvSpPr>
        <p:spPr>
          <a:xfrm>
            <a:off x="5680253" y="8762695"/>
            <a:ext cx="933602" cy="286207"/>
          </a:xfrm>
          <a:prstGeom prst="rect">
            <a:avLst/>
          </a:prstGeom>
          <a:solidFill>
            <a:srgbClr val="FFFFFF">
              <a:alpha val="0"/>
            </a:srgbClr>
          </a:solidFill>
          <a:ln>
            <a:solidFill>
              <a:srgbClr val="FFFFFF">
                <a:alpha val="0"/>
              </a:srgbClr>
            </a:solidFill>
          </a:ln>
        </p:spPr>
        <p:txBody>
          <a:bodyPr wrap="none" lIns="114300" tIns="63500" rIns="114300" bIns="63500" rtlCol="0" anchor="ctr"/>
          <a:lstStyle/>
          <a:p>
            <a:pPr marL="0" indent="0" algn="ctr">
              <a:buNone/>
            </a:pPr>
            <a:r>
              <a:rPr lang="en-US" sz="900" b="1" kern="0" spc="20" dirty="0">
                <a:solidFill>
                  <a:srgbClr val="FFFFFF"/>
                </a:solidFill>
                <a:latin typeface="Manrope" pitchFamily="34" charset="0"/>
                <a:ea typeface="Manrope" pitchFamily="34" charset="-122"/>
                <a:cs typeface="Manrope" pitchFamily="34" charset="-120"/>
              </a:rPr>
              <a:t>25 livrables</a:t>
            </a:r>
            <a:endParaRPr lang="en-US" sz="900" dirty="0"/>
          </a:p>
        </p:txBody>
      </p:sp>
      <p:sp>
        <p:nvSpPr>
          <p:cNvPr id="41" name="Text 37"/>
          <p:cNvSpPr txBox="1"/>
          <p:nvPr/>
        </p:nvSpPr>
        <p:spPr>
          <a:xfrm>
            <a:off x="914400" y="9201607"/>
            <a:ext cx="7429500" cy="162763"/>
          </a:xfrm>
          <a:prstGeom prst="rect">
            <a:avLst/>
          </a:prstGeom>
          <a:noFill/>
          <a:ln/>
        </p:spPr>
        <p:txBody>
          <a:bodyPr wrap="none" lIns="0" tIns="0" rIns="0" bIns="0" rtlCol="0" anchor="ctr"/>
          <a:lstStyle/>
          <a:p>
            <a:pPr marL="0" indent="0" algn="l">
              <a:buNone/>
            </a:pPr>
            <a:r>
              <a:rPr lang="en-US" sz="900" kern="0" spc="39" dirty="0">
                <a:solidFill>
                  <a:srgbClr val="6B7280"/>
                </a:solidFill>
                <a:latin typeface="JetBrains Mono" pitchFamily="34" charset="0"/>
                <a:ea typeface="JetBrains Mono" pitchFamily="34" charset="-122"/>
                <a:cs typeface="JetBrains Mono" pitchFamily="34" charset="-120"/>
              </a:rPr>
              <a:t>FIN DU DOCUMENT — UPJUNOO PRO · NOUVELLE VERSION MULTISERVICES · 2026</a:t>
            </a:r>
            <a:endParaRPr lang="en-US" sz="900" dirty="0"/>
          </a:p>
        </p:txBody>
      </p:sp>
      <p:sp>
        <p:nvSpPr>
          <p:cNvPr id="42" name="Shape 38"/>
          <p:cNvSpPr/>
          <p:nvPr/>
        </p:nvSpPr>
        <p:spPr>
          <a:xfrm>
            <a:off x="0" y="9791395"/>
            <a:ext cx="18288000" cy="495605"/>
          </a:xfrm>
          <a:prstGeom prst="rect">
            <a:avLst/>
          </a:prstGeom>
          <a:solidFill>
            <a:srgbClr val="FFFFFF"/>
          </a:solidFill>
          <a:ln/>
        </p:spPr>
        <p:txBody>
          <a:bodyPr/>
          <a:lstStyle/>
          <a:p>
            <a:endParaRPr lang="fr-CI"/>
          </a:p>
        </p:txBody>
      </p:sp>
      <p:sp>
        <p:nvSpPr>
          <p:cNvPr id="43" name="Shape 39"/>
          <p:cNvSpPr/>
          <p:nvPr/>
        </p:nvSpPr>
        <p:spPr>
          <a:xfrm>
            <a:off x="0" y="9791395"/>
            <a:ext cx="18288000" cy="9144"/>
          </a:xfrm>
          <a:prstGeom prst="rect">
            <a:avLst/>
          </a:prstGeom>
          <a:solidFill>
            <a:srgbClr val="E5E7EB"/>
          </a:solidFill>
          <a:ln w="12700">
            <a:solidFill>
              <a:srgbClr val="E5E7EB">
                <a:alpha val="0"/>
              </a:srgbClr>
            </a:solidFill>
            <a:prstDash val="solid"/>
          </a:ln>
        </p:spPr>
        <p:txBody>
          <a:bodyPr/>
          <a:lstStyle/>
          <a:p>
            <a:endParaRPr lang="fr-CI"/>
          </a:p>
        </p:txBody>
      </p:sp>
      <p:sp>
        <p:nvSpPr>
          <p:cNvPr id="44" name="Text 40"/>
          <p:cNvSpPr txBox="1"/>
          <p:nvPr/>
        </p:nvSpPr>
        <p:spPr>
          <a:xfrm>
            <a:off x="609905" y="9953244"/>
            <a:ext cx="2969971" cy="171907"/>
          </a:xfrm>
          <a:prstGeom prst="rect">
            <a:avLst/>
          </a:prstGeom>
          <a:noFill/>
          <a:ln/>
        </p:spPr>
        <p:txBody>
          <a:bodyPr wrap="none" lIns="0" tIns="0" rIns="0" bIns="0" rtlCol="0" anchor="ctr"/>
          <a:lstStyle/>
          <a:p>
            <a:pPr marL="0" indent="0" algn="l">
              <a:buNone/>
            </a:pPr>
            <a:r>
              <a:rPr lang="en-US" sz="900" dirty="0">
                <a:solidFill>
                  <a:srgbClr val="6B7280"/>
                </a:solidFill>
                <a:latin typeface="Manrope" pitchFamily="34" charset="0"/>
                <a:ea typeface="Manrope" pitchFamily="34" charset="-122"/>
                <a:cs typeface="Manrope" pitchFamily="34" charset="-120"/>
              </a:rPr>
              <a:t>UPJUNOO PRO · Plan de recette &amp; migration</a:t>
            </a:r>
            <a:endParaRPr lang="en-US" sz="900" dirty="0"/>
          </a:p>
        </p:txBody>
      </p:sp>
      <p:sp>
        <p:nvSpPr>
          <p:cNvPr id="45" name="Text 41"/>
          <p:cNvSpPr txBox="1"/>
          <p:nvPr/>
        </p:nvSpPr>
        <p:spPr>
          <a:xfrm>
            <a:off x="17196206" y="9958730"/>
            <a:ext cx="523951" cy="162763"/>
          </a:xfrm>
          <a:prstGeom prst="rect">
            <a:avLst/>
          </a:prstGeom>
          <a:noFill/>
          <a:ln/>
        </p:spPr>
        <p:txBody>
          <a:bodyPr wrap="none" lIns="0" tIns="0" rIns="0" bIns="0" rtlCol="0" anchor="ctr"/>
          <a:lstStyle/>
          <a:p>
            <a:pPr marL="0" indent="0" algn="l">
              <a:buNone/>
            </a:pPr>
            <a:r>
              <a:rPr lang="en-US" sz="900" b="1" dirty="0">
                <a:solidFill>
                  <a:srgbClr val="6D28D9"/>
                </a:solidFill>
                <a:latin typeface="JetBrains Mono" pitchFamily="34" charset="0"/>
                <a:ea typeface="JetBrains Mono" pitchFamily="34" charset="-122"/>
                <a:cs typeface="JetBrains Mono" pitchFamily="34" charset="-120"/>
              </a:rPr>
              <a:t>59 / 59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13361</Words>
  <Application>Microsoft Office PowerPoint</Application>
  <PresentationFormat>Personnalisé</PresentationFormat>
  <Paragraphs>2582</Paragraphs>
  <Slides>59</Slides>
  <Notes>30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59</vt:i4>
      </vt:variant>
    </vt:vector>
  </HeadingPairs>
  <TitlesOfParts>
    <vt:vector size="63" baseType="lpstr">
      <vt:lpstr>Arial</vt:lpstr>
      <vt:lpstr>JetBrains Mono</vt:lpstr>
      <vt:lpstr>Manrope</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MARIE FRANCE ACKAH</cp:lastModifiedBy>
  <cp:revision>2</cp:revision>
  <dcterms:created xsi:type="dcterms:W3CDTF">2026-06-18T13:01:03Z</dcterms:created>
  <dcterms:modified xsi:type="dcterms:W3CDTF">2026-06-18T13:12:24Z</dcterms:modified>
</cp:coreProperties>
</file>